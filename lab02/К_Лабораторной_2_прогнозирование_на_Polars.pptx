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303" r:id="rId6"/>
    <p:sldId id="302" r:id="rId7"/>
    <p:sldId id="304" r:id="rId8"/>
    <p:sldId id="305" r:id="rId9"/>
    <p:sldId id="260" r:id="rId10"/>
    <p:sldId id="261" r:id="rId11"/>
    <p:sldId id="262" r:id="rId12"/>
    <p:sldId id="306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4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0E81B-DB89-4A3F-8E4A-7F0C0040D8F5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E6341-1B79-46F3-A489-24C8AAC43A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757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8F83-2336-48AC-A658-97EDDB324A87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3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17C9-3600-4B63-965D-A24F14D11655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23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D255A-A926-4393-900E-6606387151E3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54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38F5B-5C4C-4F54-B57E-013A82D6973C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07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D2169-167D-4DB9-BE6F-1DF544FA524A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9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A8F9-FEED-4239-9650-F56A0EE9516D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3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2C28-E49F-451B-8D83-92F58C5EDDB2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82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E9D3D-8D27-4F97-99EB-81B236AAD2AD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84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5776-8287-4C58-BD40-A1829103A38F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58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0907E-D894-4632-993D-95A2D330FE35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3C997-92F8-4045-BEC3-41BC2DAD4145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68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B8967-7017-4919-A175-923B1A30243D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0819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FA976-2930-4F4B-8288-7A1DB0D783DF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92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048E-7C00-416F-A530-8331B8C0B286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8259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5AF05-767D-46E8-A7AC-58E8D529A9F3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32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D6F3-9A01-4293-AE19-247EC0532E48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49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AD054-8E14-485D-B30D-0B103DCAD15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4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9A950DD-9ABE-446B-95BC-7FEBCBCDAF50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2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9.15950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Прогнозирование временных рядов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2A5F5"/>
                </a:solidFill>
                <a:latin typeface="Calibri"/>
              </a:defRPr>
            </a:pPr>
            <a:r>
              <a:t>Polars · Fourier-признаки · EWMA · Рекурсивный прогноз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Лабораторная работа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rPr dirty="0" err="1" smtClean="0"/>
              <a:t>Датасет</a:t>
            </a:r>
            <a:r>
              <a:rPr lang="ru-RU" dirty="0" smtClean="0"/>
              <a:t> (пример)</a:t>
            </a:r>
            <a:r>
              <a:rPr dirty="0" smtClean="0"/>
              <a:t>: </a:t>
            </a:r>
            <a:r>
              <a:rPr dirty="0" err="1"/>
              <a:t>энергопотребление</a:t>
            </a:r>
            <a:r>
              <a:rPr dirty="0"/>
              <a:t> </a:t>
            </a:r>
            <a:r>
              <a:rPr dirty="0" err="1"/>
              <a:t>Германии</a:t>
            </a:r>
            <a:r>
              <a:rPr dirty="0"/>
              <a:t> · 12 </a:t>
            </a:r>
            <a:r>
              <a:rPr dirty="0" err="1"/>
              <a:t>лет</a:t>
            </a:r>
            <a:r>
              <a:rPr dirty="0"/>
              <a:t> · </a:t>
            </a:r>
            <a:r>
              <a:rPr dirty="0" err="1"/>
              <a:t>дневные</a:t>
            </a:r>
            <a:r>
              <a:rPr dirty="0"/>
              <a:t> </a:t>
            </a:r>
            <a:r>
              <a:rPr dirty="0" err="1"/>
              <a:t>данные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029200" y="3749039"/>
            <a:ext cx="2103120" cy="381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Содержание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1.  Что такое временной ряд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2.  Почему нельзя делать shuffle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3.  Признаки из прошлого: лаги и скользящие статистики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4.  EWMA — экспоненциально взвешенное среднее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5.  Циклические признаки: sin/cos и ряды Фурье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6.  Polars: Lazy API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7.  Рекурсивный прогноз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8.  Стационарность и тест Дики-Фуллера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9.  Загрузка и первичный анализ данных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10. Визуализация: матрица рассеяния и временной ряд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11. Автокорреляция: ACF и PACF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12. AR(1) — авторегрессия первого порядка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13. Базовые и продвинутые признаки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14. Обучение моделей и оценка результатов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Что такое временной ряд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rPr dirty="0" err="1"/>
              <a:t>Раздел</a:t>
            </a:r>
            <a:r>
              <a:rPr dirty="0"/>
              <a:t>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Временной</a:t>
            </a:r>
            <a:r>
              <a:rPr dirty="0"/>
              <a:t> </a:t>
            </a:r>
            <a:r>
              <a:rPr dirty="0" err="1"/>
              <a:t>ряд</a:t>
            </a:r>
            <a:r>
              <a:rPr dirty="0"/>
              <a:t> — </a:t>
            </a:r>
            <a:r>
              <a:rPr dirty="0" err="1"/>
              <a:t>последовательность</a:t>
            </a:r>
            <a:r>
              <a:rPr dirty="0"/>
              <a:t> </a:t>
            </a:r>
            <a:r>
              <a:rPr dirty="0" err="1"/>
              <a:t>наблюдений</a:t>
            </a:r>
            <a:r>
              <a:rPr dirty="0"/>
              <a:t> y₁, y₂, ..., </a:t>
            </a: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dirty="0"/>
              <a:t>, </a:t>
            </a:r>
            <a:r>
              <a:rPr dirty="0" err="1"/>
              <a:t>упорядоченных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времени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Главное</a:t>
            </a:r>
            <a:r>
              <a:rPr dirty="0"/>
              <a:t> </a:t>
            </a:r>
            <a:r>
              <a:rPr dirty="0" err="1"/>
              <a:t>отличие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обычной</a:t>
            </a:r>
            <a:r>
              <a:rPr dirty="0"/>
              <a:t> </a:t>
            </a:r>
            <a:r>
              <a:rPr dirty="0" err="1"/>
              <a:t>таблицы</a:t>
            </a:r>
            <a:r>
              <a:rPr dirty="0"/>
              <a:t>: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строк</a:t>
            </a:r>
            <a:r>
              <a:rPr dirty="0"/>
              <a:t> </a:t>
            </a:r>
            <a:r>
              <a:rPr dirty="0" err="1"/>
              <a:t>несёт</a:t>
            </a:r>
            <a:r>
              <a:rPr dirty="0"/>
              <a:t> </a:t>
            </a:r>
            <a:r>
              <a:rPr dirty="0" err="1"/>
              <a:t>смысл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Перемешать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 — </a:t>
            </a:r>
            <a:r>
              <a:rPr dirty="0" err="1"/>
              <a:t>значит</a:t>
            </a:r>
            <a:r>
              <a:rPr dirty="0"/>
              <a:t> </a:t>
            </a:r>
            <a:r>
              <a:rPr dirty="0" err="1"/>
              <a:t>уничтожить</a:t>
            </a:r>
            <a:r>
              <a:rPr dirty="0"/>
              <a:t> </a:t>
            </a:r>
            <a:r>
              <a:rPr dirty="0" err="1"/>
              <a:t>информацию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энергопотребление</a:t>
            </a:r>
            <a:r>
              <a:rPr dirty="0"/>
              <a:t> </a:t>
            </a:r>
            <a:r>
              <a:rPr dirty="0" err="1"/>
              <a:t>Германии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дням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12 </a:t>
            </a:r>
            <a:r>
              <a:rPr dirty="0" err="1" smtClean="0"/>
              <a:t>лет</a:t>
            </a:r>
            <a:r>
              <a:rPr lang="en-US" dirty="0" smtClean="0"/>
              <a:t>;</a:t>
            </a:r>
          </a:p>
          <a:p>
            <a:pPr>
              <a:spcBef>
                <a:spcPts val="400"/>
              </a:spcBef>
              <a:defRPr sz="1400">
                <a:solidFill>
                  <a:srgbClr val="B0C4DE"/>
                </a:solidFill>
              </a:defRPr>
            </a:pPr>
            <a:r>
              <a:rPr lang="ru-RU" dirty="0"/>
              <a:t>Для энергопотребления: зимой потребляют больше (сезонность),</a:t>
            </a:r>
          </a:p>
          <a:p>
            <a:pPr>
              <a:spcBef>
                <a:spcPts val="600"/>
              </a:spcBef>
              <a:defRPr sz="1400">
                <a:solidFill>
                  <a:srgbClr val="B0C4DE"/>
                </a:solidFill>
              </a:defRPr>
            </a:pPr>
            <a:r>
              <a:rPr lang="ru-RU" dirty="0"/>
              <a:t>  из года в год потребление растёт (тренд),</a:t>
            </a:r>
          </a:p>
          <a:p>
            <a:pPr>
              <a:spcBef>
                <a:spcPts val="600"/>
              </a:spcBef>
              <a:defRPr sz="1400">
                <a:solidFill>
                  <a:srgbClr val="B0C4DE"/>
                </a:solidFill>
              </a:defRPr>
            </a:pPr>
            <a:r>
              <a:rPr lang="ru-RU" dirty="0"/>
              <a:t>  погода и праздники добавляют шум.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A5F5"/>
                </a:solidFill>
                <a:latin typeface="Calibri"/>
              </a:defRPr>
            </a:pPr>
            <a:r>
              <a:t>Три компонента ряда: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058400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●  </a:t>
            </a:r>
            <a:r>
              <a:rPr dirty="0" err="1"/>
              <a:t>Тренд</a:t>
            </a:r>
            <a:r>
              <a:rPr dirty="0"/>
              <a:t> (</a:t>
            </a:r>
            <a:r>
              <a:rPr dirty="0" smtClean="0"/>
              <a:t>T</a:t>
            </a:r>
            <a:r>
              <a:rPr baseline="-25000" dirty="0" smtClean="0"/>
              <a:t>t</a:t>
            </a:r>
            <a:r>
              <a:rPr dirty="0"/>
              <a:t>) — </a:t>
            </a:r>
            <a:r>
              <a:rPr dirty="0" err="1"/>
              <a:t>долгосрочное</a:t>
            </a:r>
            <a:r>
              <a:rPr dirty="0"/>
              <a:t> </a:t>
            </a:r>
            <a:r>
              <a:rPr dirty="0" err="1"/>
              <a:t>направление</a:t>
            </a:r>
            <a:r>
              <a:rPr dirty="0"/>
              <a:t> (</a:t>
            </a:r>
            <a:r>
              <a:rPr dirty="0" err="1"/>
              <a:t>рост</a:t>
            </a:r>
            <a:r>
              <a:rPr dirty="0"/>
              <a:t>, </a:t>
            </a:r>
            <a:r>
              <a:rPr dirty="0" err="1"/>
              <a:t>спад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●  </a:t>
            </a:r>
            <a:r>
              <a:rPr dirty="0" err="1"/>
              <a:t>Сезонность</a:t>
            </a:r>
            <a:r>
              <a:rPr dirty="0"/>
              <a:t> (</a:t>
            </a:r>
            <a:r>
              <a:rPr dirty="0" smtClean="0"/>
              <a:t>S</a:t>
            </a:r>
            <a:r>
              <a:rPr baseline="-25000" dirty="0" smtClean="0"/>
              <a:t>t</a:t>
            </a:r>
            <a:r>
              <a:rPr dirty="0"/>
              <a:t>) — </a:t>
            </a:r>
            <a:r>
              <a:rPr dirty="0" err="1"/>
              <a:t>циклические</a:t>
            </a:r>
            <a:r>
              <a:rPr dirty="0"/>
              <a:t> </a:t>
            </a:r>
            <a:r>
              <a:rPr dirty="0" err="1"/>
              <a:t>повторения</a:t>
            </a:r>
            <a:r>
              <a:rPr dirty="0"/>
              <a:t> (</a:t>
            </a:r>
            <a:r>
              <a:rPr dirty="0" err="1"/>
              <a:t>недельные</a:t>
            </a:r>
            <a:r>
              <a:rPr dirty="0"/>
              <a:t>, </a:t>
            </a:r>
            <a:r>
              <a:rPr dirty="0" err="1"/>
              <a:t>годовые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●  </a:t>
            </a:r>
            <a:r>
              <a:rPr dirty="0" err="1"/>
              <a:t>Шум</a:t>
            </a:r>
            <a:r>
              <a:rPr dirty="0"/>
              <a:t> (</a:t>
            </a:r>
            <a:r>
              <a:rPr dirty="0" err="1" smtClean="0"/>
              <a:t>ε</a:t>
            </a:r>
            <a:r>
              <a:rPr baseline="-25000" dirty="0" err="1" smtClean="0"/>
              <a:t>t</a:t>
            </a:r>
            <a:r>
              <a:rPr dirty="0"/>
              <a:t>) — </a:t>
            </a:r>
            <a:r>
              <a:rPr dirty="0" err="1"/>
              <a:t>остаток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объясняет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726"/>
                </a:solidFill>
                <a:latin typeface="Calibri"/>
              </a:defRPr>
            </a:pPr>
            <a:r>
              <a:rPr dirty="0" err="1"/>
              <a:t>Аддитивная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:  </a:t>
            </a: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dirty="0" smtClean="0"/>
              <a:t> </a:t>
            </a:r>
            <a:r>
              <a:rPr dirty="0"/>
              <a:t>= </a:t>
            </a:r>
            <a:r>
              <a:rPr dirty="0" smtClean="0"/>
              <a:t>T</a:t>
            </a:r>
            <a:r>
              <a:rPr baseline="-25000" dirty="0" smtClean="0"/>
              <a:t>t</a:t>
            </a:r>
            <a:r>
              <a:rPr dirty="0" smtClean="0"/>
              <a:t> </a:t>
            </a:r>
            <a:r>
              <a:rPr dirty="0"/>
              <a:t>+ </a:t>
            </a:r>
            <a:r>
              <a:rPr dirty="0" smtClean="0"/>
              <a:t>S</a:t>
            </a:r>
            <a:r>
              <a:rPr baseline="-25000" dirty="0" smtClean="0"/>
              <a:t>t</a:t>
            </a:r>
            <a:r>
              <a:rPr dirty="0" smtClean="0"/>
              <a:t> </a:t>
            </a:r>
            <a:r>
              <a:rPr dirty="0"/>
              <a:t>+ </a:t>
            </a:r>
            <a:r>
              <a:rPr dirty="0" err="1" smtClean="0"/>
              <a:t>ε</a:t>
            </a:r>
            <a:r>
              <a:rPr baseline="-25000" dirty="0" err="1" smtClean="0"/>
              <a:t>t</a:t>
            </a:r>
            <a:endParaRPr baseline="-25000" dirty="0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Компоненты временного ряда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Тренд · Сезонность · Шум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698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A5F5"/>
                </a:solidFill>
                <a:latin typeface="Calibri"/>
              </a:defRPr>
            </a:pPr>
            <a:r>
              <a:t>Тренд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754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Долгосрочное направление ряда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Может быть восходящим, нисходящим или отсутствовать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В данных по энергопотреблению: рост из года в год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7011" y="286683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  <a:latin typeface="Calibri"/>
              </a:defRPr>
            </a:pPr>
            <a:r>
              <a:rPr dirty="0" err="1"/>
              <a:t>Сезонность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87011" y="332327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Циклические</a:t>
            </a:r>
            <a:r>
              <a:rPr dirty="0"/>
              <a:t> </a:t>
            </a:r>
            <a:r>
              <a:rPr dirty="0" err="1"/>
              <a:t>повторения</a:t>
            </a:r>
            <a:r>
              <a:rPr dirty="0"/>
              <a:t> с </a:t>
            </a:r>
            <a:r>
              <a:rPr dirty="0" err="1"/>
              <a:t>фиксированным</a:t>
            </a:r>
            <a:r>
              <a:rPr dirty="0"/>
              <a:t> </a:t>
            </a:r>
            <a:r>
              <a:rPr dirty="0" err="1"/>
              <a:t>периодом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Недельная</a:t>
            </a:r>
            <a:r>
              <a:rPr dirty="0"/>
              <a:t> (P=7), </a:t>
            </a:r>
            <a:r>
              <a:rPr dirty="0" err="1"/>
              <a:t>годовая</a:t>
            </a:r>
            <a:r>
              <a:rPr dirty="0"/>
              <a:t> (P=365.25)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Зимой</a:t>
            </a:r>
            <a:r>
              <a:rPr dirty="0"/>
              <a:t> </a:t>
            </a:r>
            <a:r>
              <a:rPr dirty="0" err="1"/>
              <a:t>энергопотребление</a:t>
            </a:r>
            <a:r>
              <a:rPr dirty="0"/>
              <a:t> </a:t>
            </a:r>
            <a:r>
              <a:rPr dirty="0" err="1"/>
              <a:t>выше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летом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37453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BB6A"/>
                </a:solidFill>
                <a:latin typeface="Calibri"/>
              </a:defRPr>
            </a:pPr>
            <a:r>
              <a:rPr dirty="0" err="1"/>
              <a:t>Шум</a:t>
            </a:r>
            <a:r>
              <a:rPr dirty="0"/>
              <a:t> / </a:t>
            </a:r>
            <a:r>
              <a:rPr dirty="0" err="1"/>
              <a:t>Остаток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4252031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То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объяснить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Праздники</a:t>
            </a:r>
            <a:r>
              <a:rPr dirty="0"/>
              <a:t>, </a:t>
            </a:r>
            <a:r>
              <a:rPr dirty="0" err="1"/>
              <a:t>аномальная</a:t>
            </a:r>
            <a:r>
              <a:rPr dirty="0"/>
              <a:t> </a:t>
            </a:r>
            <a:r>
              <a:rPr dirty="0" err="1"/>
              <a:t>погода</a:t>
            </a:r>
            <a:r>
              <a:rPr dirty="0"/>
              <a:t>, </a:t>
            </a:r>
            <a:r>
              <a:rPr dirty="0" err="1"/>
              <a:t>отключения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напоминать</a:t>
            </a:r>
            <a:r>
              <a:rPr dirty="0"/>
              <a:t> </a:t>
            </a:r>
            <a:r>
              <a:rPr dirty="0" err="1"/>
              <a:t>белый</a:t>
            </a:r>
            <a:r>
              <a:rPr dirty="0"/>
              <a:t> </a:t>
            </a:r>
            <a:r>
              <a:rPr dirty="0" err="1"/>
              <a:t>шум</a:t>
            </a:r>
            <a:endParaRPr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6422" y="242389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Когда какую модель выбирать?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6422" y="611721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B47BC"/>
                </a:solidFill>
                <a:latin typeface="Calibri"/>
              </a:defRPr>
            </a:pPr>
            <a:r>
              <a:rPr lang="ru-RU" dirty="0" smtClean="0"/>
              <a:t>Аддитивная </a:t>
            </a:r>
            <a:r>
              <a:rPr lang="en-US" dirty="0" smtClean="0"/>
              <a:t>vs </a:t>
            </a:r>
            <a:r>
              <a:rPr lang="ru-RU" dirty="0" smtClean="0"/>
              <a:t>Мультипликативная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035040" y="59963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B47BC"/>
                </a:solidFill>
                <a:latin typeface="Calibri"/>
              </a:defRPr>
            </a:pPr>
            <a:r>
              <a:rPr lang="ru-RU" dirty="0" smtClean="0"/>
              <a:t>Математические представления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035040" y="1017931"/>
            <a:ext cx="5029200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Аддитивная</a:t>
            </a:r>
            <a:r>
              <a:rPr dirty="0"/>
              <a:t>: </a:t>
            </a: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dirty="0" smtClean="0"/>
              <a:t> </a:t>
            </a:r>
            <a:r>
              <a:rPr dirty="0"/>
              <a:t>= </a:t>
            </a:r>
            <a:r>
              <a:rPr dirty="0" smtClean="0"/>
              <a:t>T</a:t>
            </a:r>
            <a:r>
              <a:rPr baseline="-25000" dirty="0" smtClean="0"/>
              <a:t>t</a:t>
            </a:r>
            <a:r>
              <a:rPr dirty="0" smtClean="0"/>
              <a:t> </a:t>
            </a:r>
            <a:r>
              <a:rPr dirty="0"/>
              <a:t>+ </a:t>
            </a:r>
            <a:r>
              <a:rPr dirty="0" smtClean="0"/>
              <a:t>S</a:t>
            </a:r>
            <a:r>
              <a:rPr baseline="-25000" dirty="0" smtClean="0"/>
              <a:t>t</a:t>
            </a:r>
            <a:r>
              <a:rPr dirty="0" smtClean="0"/>
              <a:t> </a:t>
            </a:r>
            <a:r>
              <a:rPr dirty="0"/>
              <a:t>+ </a:t>
            </a:r>
            <a:r>
              <a:rPr dirty="0" err="1" smtClean="0"/>
              <a:t>ε</a:t>
            </a:r>
            <a:r>
              <a:rPr baseline="-25000" dirty="0" err="1" smtClean="0"/>
              <a:t>t</a:t>
            </a:r>
            <a:endParaRPr baseline="-25000" dirty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Мультипликативная</a:t>
            </a:r>
            <a:r>
              <a:rPr dirty="0"/>
              <a:t>: </a:t>
            </a: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dirty="0" smtClean="0"/>
              <a:t> </a:t>
            </a:r>
            <a:r>
              <a:rPr dirty="0"/>
              <a:t>= </a:t>
            </a:r>
            <a:r>
              <a:rPr dirty="0" smtClean="0"/>
              <a:t>T</a:t>
            </a:r>
            <a:r>
              <a:rPr baseline="-25000" dirty="0" smtClean="0"/>
              <a:t>t</a:t>
            </a:r>
            <a:r>
              <a:rPr dirty="0" smtClean="0"/>
              <a:t> </a:t>
            </a:r>
            <a:r>
              <a:rPr dirty="0"/>
              <a:t>× </a:t>
            </a:r>
            <a:r>
              <a:rPr dirty="0" smtClean="0"/>
              <a:t>S</a:t>
            </a:r>
            <a:r>
              <a:rPr baseline="-25000" dirty="0" smtClean="0"/>
              <a:t>t</a:t>
            </a:r>
            <a:r>
              <a:rPr dirty="0" smtClean="0"/>
              <a:t> </a:t>
            </a:r>
            <a:r>
              <a:rPr dirty="0"/>
              <a:t>× </a:t>
            </a:r>
            <a:r>
              <a:rPr dirty="0" err="1" smtClean="0"/>
              <a:t>ε</a:t>
            </a:r>
            <a:r>
              <a:rPr baseline="-25000" dirty="0" err="1" smtClean="0"/>
              <a:t>t</a:t>
            </a:r>
            <a:r>
              <a:rPr lang="ru-RU" baseline="-25000" dirty="0" smtClean="0"/>
              <a:t>,</a:t>
            </a:r>
            <a:r>
              <a:rPr lang="ru-RU" dirty="0" smtClean="0"/>
              <a:t> </a:t>
            </a:r>
            <a:r>
              <a:rPr lang="ru-RU" baseline="-25000" dirty="0" smtClean="0"/>
              <a:t>где</a:t>
            </a:r>
            <a:r>
              <a:rPr lang="ru-RU" baseline="-25000" dirty="0"/>
              <a:t>: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lang="ru-RU" baseline="-25000" dirty="0" err="1" smtClean="0"/>
              <a:t>Yt</a:t>
            </a:r>
            <a:r>
              <a:rPr lang="ru-RU" baseline="-25000" dirty="0" smtClean="0"/>
              <a:t> </a:t>
            </a:r>
            <a:r>
              <a:rPr lang="ru-RU" baseline="-25000" dirty="0"/>
              <a:t>— значение временного ряда в момент времени t;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lang="ru-RU" baseline="-25000" dirty="0" err="1" smtClean="0"/>
              <a:t>Tt</a:t>
            </a:r>
            <a:r>
              <a:rPr lang="ru-RU" baseline="-25000" dirty="0" smtClean="0"/>
              <a:t> </a:t>
            </a:r>
            <a:r>
              <a:rPr lang="ru-RU" baseline="-25000" dirty="0"/>
              <a:t>— трендовая компонента;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lang="ru-RU" baseline="-25000" dirty="0" err="1" smtClean="0"/>
              <a:t>St</a:t>
            </a:r>
            <a:r>
              <a:rPr lang="ru-RU" baseline="-25000" dirty="0" smtClean="0"/>
              <a:t> </a:t>
            </a:r>
            <a:r>
              <a:rPr lang="ru-RU" baseline="-25000" dirty="0"/>
              <a:t>— сезонная компонента;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lang="ru-RU" baseline="-25000" dirty="0" err="1" smtClean="0"/>
              <a:t>Rt</a:t>
            </a:r>
            <a:r>
              <a:rPr lang="ru-RU" baseline="-25000" dirty="0" smtClean="0"/>
              <a:t> </a:t>
            </a:r>
            <a:r>
              <a:rPr lang="ru-RU" baseline="-25000" dirty="0"/>
              <a:t>— остаточный компонент (шум).</a:t>
            </a:r>
            <a:endParaRPr lang="ru-RU" baseline="-25000" dirty="0" smtClean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endParaRPr baseline="-25000" dirty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b="1" dirty="0" err="1"/>
              <a:t>Выбор</a:t>
            </a:r>
            <a:r>
              <a:rPr b="1" dirty="0"/>
              <a:t> </a:t>
            </a:r>
            <a:r>
              <a:rPr b="1" dirty="0" err="1"/>
              <a:t>зависит</a:t>
            </a:r>
            <a:r>
              <a:rPr b="1" dirty="0"/>
              <a:t> </a:t>
            </a:r>
            <a:r>
              <a:rPr b="1" dirty="0" err="1"/>
              <a:t>от</a:t>
            </a:r>
            <a:r>
              <a:rPr b="1" dirty="0"/>
              <a:t> </a:t>
            </a:r>
            <a:r>
              <a:rPr b="1" dirty="0" err="1"/>
              <a:t>того</a:t>
            </a:r>
            <a:r>
              <a:rPr b="1" dirty="0"/>
              <a:t>, </a:t>
            </a:r>
            <a:r>
              <a:rPr b="1" dirty="0" err="1"/>
              <a:t>растёт</a:t>
            </a:r>
            <a:r>
              <a:rPr b="1" dirty="0"/>
              <a:t> </a:t>
            </a:r>
            <a:r>
              <a:rPr b="1" dirty="0" err="1"/>
              <a:t>ли</a:t>
            </a:r>
            <a:r>
              <a:rPr b="1" dirty="0"/>
              <a:t> </a:t>
            </a:r>
            <a:r>
              <a:rPr b="1" dirty="0" err="1"/>
              <a:t>амплитуда</a:t>
            </a:r>
            <a:endParaRPr b="1" dirty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b="1" dirty="0" err="1"/>
              <a:t>колебаний</a:t>
            </a:r>
            <a:r>
              <a:rPr b="1" dirty="0"/>
              <a:t> с </a:t>
            </a:r>
            <a:r>
              <a:rPr b="1" dirty="0" err="1"/>
              <a:t>ростом</a:t>
            </a:r>
            <a:r>
              <a:rPr b="1" dirty="0"/>
              <a:t> </a:t>
            </a:r>
            <a:r>
              <a:rPr b="1" dirty="0" err="1"/>
              <a:t>тренда</a:t>
            </a:r>
            <a:endParaRPr b="1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27" name="Прямоугольник 26"/>
          <p:cNvSpPr/>
          <p:nvPr/>
        </p:nvSpPr>
        <p:spPr>
          <a:xfrm>
            <a:off x="696422" y="1051882"/>
            <a:ext cx="461448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CCCCCC"/>
                </a:solidFill>
                <a:latin typeface="Calibri"/>
              </a:rPr>
              <a:t>Аддитивная и мультипликативная модели — это два разных подхода к анализу временных рядов, которые по-разному описывают взаимосвязь между трендом, сезонностью и случайными колебаниями.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714999" y="2460302"/>
            <a:ext cx="4806126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smtClean="0">
                <a:solidFill>
                  <a:srgbClr val="CCCCCC"/>
                </a:solidFill>
                <a:latin typeface="Calibri"/>
              </a:rPr>
              <a:t>Аддитивную </a:t>
            </a:r>
            <a:r>
              <a:rPr lang="ru-RU" sz="1600" b="1" dirty="0">
                <a:solidFill>
                  <a:srgbClr val="CCCCCC"/>
                </a:solidFill>
                <a:latin typeface="Calibri"/>
              </a:rPr>
              <a:t>модель стоит выбрать, если: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CCCCCC"/>
                </a:solidFill>
                <a:latin typeface="Calibri"/>
              </a:rPr>
              <a:t>Амплитуда сезонных колебаний примерно одинакова на всём протяжении ряда.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CCCCCC"/>
                </a:solidFill>
                <a:latin typeface="Calibri"/>
              </a:rPr>
              <a:t>Разброс значений вокруг тренда стабилен.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CCCCCC"/>
                </a:solidFill>
                <a:latin typeface="Calibri"/>
              </a:rPr>
              <a:t>Данные могут включать отрицательные значения или значения, близкие к нулю</a:t>
            </a:r>
            <a:r>
              <a:rPr lang="ru-RU" sz="1600" dirty="0" smtClean="0">
                <a:solidFill>
                  <a:srgbClr val="CCCCCC"/>
                </a:solidFill>
                <a:latin typeface="Calibri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CCCCCC"/>
              </a:solidFill>
              <a:latin typeface="Calibri"/>
            </a:endParaRPr>
          </a:p>
          <a:p>
            <a:r>
              <a:rPr lang="ru-RU" sz="1600" dirty="0">
                <a:solidFill>
                  <a:srgbClr val="CCCCCC"/>
                </a:solidFill>
                <a:latin typeface="Calibri"/>
              </a:rPr>
              <a:t> </a:t>
            </a:r>
            <a:r>
              <a:rPr lang="ru-RU" sz="1600" b="1" dirty="0" smtClean="0">
                <a:solidFill>
                  <a:srgbClr val="CCCCCC"/>
                </a:solidFill>
                <a:latin typeface="Calibri"/>
              </a:rPr>
              <a:t>Мультипликативную </a:t>
            </a:r>
            <a:r>
              <a:rPr lang="ru-RU" sz="1600" b="1" dirty="0">
                <a:solidFill>
                  <a:srgbClr val="CCCCCC"/>
                </a:solidFill>
                <a:latin typeface="Calibri"/>
              </a:rPr>
              <a:t>модель предпочтительнее, если: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CCCCCC"/>
                </a:solidFill>
                <a:latin typeface="Calibri"/>
              </a:rPr>
              <a:t>Амплитуда сезонных колебаний растёт или уменьшается вместе с уровнем тренда.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CCCCCC"/>
                </a:solidFill>
                <a:latin typeface="Calibri"/>
              </a:rPr>
              <a:t>Наблюдается нелинейный, экспоненциальный рост/спад.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CCCCCC"/>
                </a:solidFill>
                <a:latin typeface="Calibri"/>
              </a:rPr>
              <a:t>Данные строго положительны и далеки от нуля</a:t>
            </a:r>
            <a:r>
              <a:rPr lang="ru-RU" dirty="0">
                <a:solidFill>
                  <a:srgbClr val="333333"/>
                </a:solidFill>
                <a:latin typeface="YS Text"/>
              </a:rPr>
              <a:t>.</a:t>
            </a:r>
          </a:p>
          <a:p>
            <a:r>
              <a:rPr lang="ru-RU" dirty="0">
                <a:solidFill>
                  <a:srgbClr val="333333"/>
                </a:solidFill>
                <a:latin typeface="YS Text"/>
              </a:rPr>
              <a:t> </a:t>
            </a:r>
            <a:endParaRPr lang="ru-RU" b="0" dirty="0">
              <a:solidFill>
                <a:srgbClr val="333333"/>
              </a:solidFill>
              <a:effectLst/>
              <a:latin typeface="YS Text"/>
            </a:endParaRPr>
          </a:p>
        </p:txBody>
      </p:sp>
      <p:pic>
        <p:nvPicPr>
          <p:cNvPr id="3080" name="Picture 8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722" y="3928419"/>
            <a:ext cx="5829300" cy="272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51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6946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0215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smtClean="0"/>
              <a:t>К</a:t>
            </a:r>
            <a:r>
              <a:rPr lang="ru-RU" dirty="0" smtClean="0"/>
              <a:t>росс-</a:t>
            </a:r>
            <a:r>
              <a:rPr lang="ru-RU" dirty="0" err="1" smtClean="0"/>
              <a:t>валидация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rPr dirty="0" err="1"/>
              <a:t>Тренд</a:t>
            </a:r>
            <a:r>
              <a:rPr dirty="0"/>
              <a:t> · </a:t>
            </a:r>
            <a:r>
              <a:rPr dirty="0" err="1"/>
              <a:t>Сезонность</a:t>
            </a:r>
            <a:r>
              <a:rPr dirty="0"/>
              <a:t> · </a:t>
            </a:r>
            <a:r>
              <a:rPr dirty="0" err="1"/>
              <a:t>Шум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40145" y="1179763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A5F5"/>
                </a:solidFill>
                <a:latin typeface="Calibri"/>
              </a:defRPr>
            </a:pPr>
            <a:r>
              <a:rPr lang="ru-RU" dirty="0" smtClean="0"/>
              <a:t>Определение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40145" y="1509180"/>
            <a:ext cx="5985164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lang="ru-RU" sz="1600" dirty="0"/>
              <a:t>С</a:t>
            </a:r>
            <a:r>
              <a:rPr lang="ru-RU" sz="1600" dirty="0" smtClean="0"/>
              <a:t>татистический </a:t>
            </a:r>
            <a:r>
              <a:rPr lang="ru-RU" sz="1600" dirty="0"/>
              <a:t>метод оценки и сравнения алгоритмов машинного обучения, который помогает определить эффективность модели на независимых данных. </a:t>
            </a:r>
            <a:endParaRPr lang="ru-RU" sz="1600" dirty="0" smtClean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lang="ru-RU" sz="1600" dirty="0" smtClean="0"/>
              <a:t>Суть: разделение </a:t>
            </a:r>
            <a:r>
              <a:rPr lang="ru-RU" sz="1600" dirty="0"/>
              <a:t>набора данных на несколько подмножеств, где одна часть используется для обучения модели, а другая — для её проверки.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314439" y="3336651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A726"/>
                </a:solidFill>
                <a:latin typeface="Calibri"/>
              </a:defRPr>
            </a:pPr>
            <a:r>
              <a:rPr lang="ru-RU" sz="2200" dirty="0"/>
              <a:t>К</a:t>
            </a:r>
            <a:r>
              <a:rPr lang="ru-RU" sz="2200" dirty="0" smtClean="0"/>
              <a:t>лючевые </a:t>
            </a:r>
            <a:r>
              <a:rPr lang="ru-RU" sz="2200" dirty="0"/>
              <a:t>преимущества 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314437" y="3702858"/>
            <a:ext cx="524440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Более надежная оценка производительности</a:t>
            </a:r>
            <a:r>
              <a:rPr lang="ru-RU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 — модель проверяется на нескольких различных подмножествах данных</a:t>
            </a:r>
          </a:p>
          <a:p>
            <a:r>
              <a:rPr lang="ru-R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Максимальное использование доступных данных</a:t>
            </a:r>
            <a:r>
              <a:rPr lang="ru-RU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 — особенно важно, когда данных мало</a:t>
            </a:r>
          </a:p>
          <a:p>
            <a:r>
              <a:rPr lang="ru-R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Выявление нестабильности модели</a:t>
            </a:r>
            <a:r>
              <a:rPr lang="ru-RU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 — если результаты сильно варьируются на разных </a:t>
            </a:r>
            <a:r>
              <a:rPr lang="ru-RU" sz="1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фолдах</a:t>
            </a:r>
            <a:r>
              <a:rPr lang="ru-RU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, это сигнал о проблемах</a:t>
            </a:r>
          </a:p>
          <a:p>
            <a:r>
              <a:rPr lang="ru-R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Защита от переобучения</a:t>
            </a:r>
            <a:r>
              <a:rPr lang="ru-RU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 — помогает создать модель, которая лучше обобщает данные</a:t>
            </a:r>
          </a:p>
          <a:p>
            <a:r>
              <a:rPr lang="ru-R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Оптимизация </a:t>
            </a:r>
            <a:r>
              <a:rPr lang="ru-RU" sz="16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гиперпараметров</a:t>
            </a:r>
            <a:r>
              <a:rPr lang="ru-RU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 — позволяет объективно сравнивать различные конфигурации модели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5964" y="1179763"/>
            <a:ext cx="5329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6BB6A"/>
                </a:solidFill>
                <a:latin typeface="Calibri"/>
              </a:defRPr>
            </a:pPr>
            <a:r>
              <a:rPr lang="ru-RU" sz="2200" dirty="0" smtClean="0"/>
              <a:t>Почему </a:t>
            </a:r>
            <a:r>
              <a:rPr lang="ru-RU" sz="2200" dirty="0"/>
              <a:t>кросс-</a:t>
            </a:r>
            <a:r>
              <a:rPr lang="ru-RU" sz="2200" dirty="0" err="1"/>
              <a:t>валидация</a:t>
            </a:r>
            <a:r>
              <a:rPr lang="ru-RU" sz="2200" dirty="0"/>
              <a:t> так важна?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313054" y="1509180"/>
            <a:ext cx="550487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lang="ru-RU" sz="1600" dirty="0" smtClean="0"/>
              <a:t>Основная </a:t>
            </a:r>
            <a:r>
              <a:rPr lang="ru-RU" sz="1600" dirty="0"/>
              <a:t>проблема при разработке моделей </a:t>
            </a:r>
            <a:r>
              <a:rPr lang="ru-RU" sz="1600" dirty="0" smtClean="0"/>
              <a:t>машинного обучения — </a:t>
            </a:r>
            <a:r>
              <a:rPr lang="ru-RU" sz="1600" dirty="0"/>
              <a:t>это баланс между переобучением (</a:t>
            </a:r>
            <a:r>
              <a:rPr lang="ru-RU" sz="1600" dirty="0" err="1"/>
              <a:t>overfitting</a:t>
            </a:r>
            <a:r>
              <a:rPr lang="ru-RU" sz="1600" dirty="0"/>
              <a:t>) и </a:t>
            </a:r>
            <a:r>
              <a:rPr lang="ru-RU" sz="1600" dirty="0" err="1"/>
              <a:t>недообучением</a:t>
            </a:r>
            <a:r>
              <a:rPr lang="ru-RU" sz="1600" dirty="0"/>
              <a:t> (</a:t>
            </a:r>
            <a:r>
              <a:rPr lang="ru-RU" sz="1600" dirty="0" err="1"/>
              <a:t>underfitting</a:t>
            </a:r>
            <a:r>
              <a:rPr lang="ru-RU" sz="1600" dirty="0"/>
              <a:t>). Модель, которая переобучена, прекрасно работает на тренировочных данных, но показывает плохие результаты на новых данных. А </a:t>
            </a:r>
            <a:r>
              <a:rPr lang="ru-RU" sz="1600" dirty="0" err="1"/>
              <a:t>недообученная</a:t>
            </a:r>
            <a:r>
              <a:rPr lang="ru-RU" sz="1600" dirty="0"/>
              <a:t> модель просто не способна уловить закономерности даже в тренировочных данных.</a:t>
            </a:r>
            <a:endParaRPr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10363199" y="5807075"/>
            <a:ext cx="1142245" cy="669925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868813"/>
              </p:ext>
            </p:extLst>
          </p:nvPr>
        </p:nvGraphicFramePr>
        <p:xfrm>
          <a:off x="310800" y="3202201"/>
          <a:ext cx="5870634" cy="3448190"/>
        </p:xfrm>
        <a:graphic>
          <a:graphicData uri="http://schemas.openxmlformats.org/drawingml/2006/table">
            <a:tbl>
              <a:tblPr/>
              <a:tblGrid>
                <a:gridCol w="1956878">
                  <a:extLst>
                    <a:ext uri="{9D8B030D-6E8A-4147-A177-3AD203B41FA5}">
                      <a16:colId xmlns:a16="http://schemas.microsoft.com/office/drawing/2014/main" val="3485441866"/>
                    </a:ext>
                  </a:extLst>
                </a:gridCol>
                <a:gridCol w="1956878">
                  <a:extLst>
                    <a:ext uri="{9D8B030D-6E8A-4147-A177-3AD203B41FA5}">
                      <a16:colId xmlns:a16="http://schemas.microsoft.com/office/drawing/2014/main" val="706881183"/>
                    </a:ext>
                  </a:extLst>
                </a:gridCol>
                <a:gridCol w="1956878">
                  <a:extLst>
                    <a:ext uri="{9D8B030D-6E8A-4147-A177-3AD203B41FA5}">
                      <a16:colId xmlns:a16="http://schemas.microsoft.com/office/drawing/2014/main" val="2777111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effectLst/>
                        </a:rPr>
                        <a:t>Сценарий использования</a:t>
                      </a:r>
                      <a:endParaRPr lang="ru-RU" sz="1000" b="0">
                        <a:effectLst/>
                      </a:endParaRPr>
                    </a:p>
                  </a:txBody>
                  <a:tcPr marL="70877" marR="70877" marT="53158" marB="53158" anchor="ctr">
                    <a:lnL w="12700" cap="flat" cmpd="sng" algn="ctr">
                      <a:solidFill>
                        <a:srgbClr val="906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73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6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effectLst/>
                        </a:rPr>
                        <a:t>Без кросс-валидации</a:t>
                      </a:r>
                      <a:endParaRPr lang="ru-RU" sz="1000" b="0">
                        <a:effectLst/>
                      </a:endParaRPr>
                    </a:p>
                  </a:txBody>
                  <a:tcPr marL="70877" marR="70877" marT="53158" marB="53158" anchor="ctr">
                    <a:lnL w="12700" cap="flat" cmpd="sng" algn="ctr">
                      <a:solidFill>
                        <a:srgbClr val="B073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71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73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effectLst/>
                        </a:rPr>
                        <a:t>С кросс-валидацией</a:t>
                      </a:r>
                      <a:endParaRPr lang="ru-RU" sz="1000" b="0">
                        <a:effectLst/>
                      </a:endParaRPr>
                    </a:p>
                  </a:txBody>
                  <a:tcPr marL="70877" marR="70877" marT="53158" marB="53158" anchor="ctr">
                    <a:lnL w="12700" cap="flat" cmpd="sng" algn="ctr">
                      <a:solidFill>
                        <a:srgbClr val="F071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71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71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857769"/>
                  </a:ext>
                </a:extLst>
              </a:tr>
              <a:tr h="1063158"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Малый объем данных</a:t>
                      </a:r>
                    </a:p>
                  </a:txBody>
                  <a:tcPr marL="70877" marR="70877" marT="53158" marB="5315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1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Высокий риск переобучения, нестабильные результаты</a:t>
                      </a:r>
                    </a:p>
                  </a:txBody>
                  <a:tcPr marL="70877" marR="70877" marT="53158" marB="5315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1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Более стабильные оценки, эффективное использование данных</a:t>
                      </a:r>
                    </a:p>
                  </a:txBody>
                  <a:tcPr marL="70877" marR="70877" marT="53158" marB="5315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1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194440"/>
                  </a:ext>
                </a:extLst>
              </a:tr>
              <a:tr h="1063158"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Несбалансированные классы</a:t>
                      </a:r>
                    </a:p>
                  </a:txBody>
                  <a:tcPr marL="70877" marR="70877" marT="53158" marB="53158" anchor="ctr">
                    <a:lnL w="12700" cap="flat" cmpd="sng" algn="ctr">
                      <a:solidFill>
                        <a:srgbClr val="1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1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Искаженные метрики, модель смещена к мажоритарному классу</a:t>
                      </a:r>
                    </a:p>
                  </a:txBody>
                  <a:tcPr marL="70877" marR="70877" marT="53158" marB="53158" anchor="ctr">
                    <a:lnL w="12700" cap="flat" cmpd="sng" algn="ctr">
                      <a:solidFill>
                        <a:srgbClr val="1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1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Стратифицированные методы обеспечивают корректную оценку</a:t>
                      </a:r>
                    </a:p>
                  </a:txBody>
                  <a:tcPr marL="70877" marR="70877" marT="53158" marB="53158" anchor="ctr">
                    <a:lnL w="12700" cap="flat" cmpd="sng" algn="ctr">
                      <a:solidFill>
                        <a:srgbClr val="1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1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03909"/>
                  </a:ext>
                </a:extLst>
              </a:tr>
              <a:tr h="1063158"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Временные ряды</a:t>
                      </a:r>
                    </a:p>
                  </a:txBody>
                  <a:tcPr marL="70877" marR="70877" marT="53158" marB="53158" anchor="ctr">
                    <a:lnL w="12700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Утечка данных из будущего в прошлое, нереалистичные оценки</a:t>
                      </a:r>
                    </a:p>
                  </a:txBody>
                  <a:tcPr marL="70877" marR="70877" marT="53158" marB="53158" anchor="ctr">
                    <a:lnL w="12700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Специальные временные методы кросс-</a:t>
                      </a:r>
                      <a:r>
                        <a:rPr lang="ru-RU" sz="1000" dirty="0" err="1">
                          <a:effectLst/>
                        </a:rPr>
                        <a:t>валидации</a:t>
                      </a:r>
                      <a:r>
                        <a:rPr lang="ru-RU" sz="1000" dirty="0">
                          <a:effectLst/>
                        </a:rPr>
                        <a:t> сохраняют хронологию</a:t>
                      </a:r>
                    </a:p>
                  </a:txBody>
                  <a:tcPr marL="70877" marR="70877" marT="53158" marB="53158" anchor="ctr">
                    <a:lnL w="12700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7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840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42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6946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0215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lang="ru-RU" sz="2800" b="1" dirty="0"/>
              <a:t>Основные методы кросс-</a:t>
            </a:r>
            <a:r>
              <a:rPr lang="ru-RU" sz="2800" b="1" dirty="0" err="1"/>
              <a:t>валидации</a:t>
            </a:r>
            <a:r>
              <a:rPr lang="ru-RU" sz="2800" b="1" dirty="0"/>
              <a:t> и их особенности</a:t>
            </a:r>
          </a:p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dirty="0" smtClean="0"/>
              <a:t>K-fold</a:t>
            </a:r>
            <a:r>
              <a:rPr lang="ru-RU" dirty="0" smtClean="0"/>
              <a:t> 					      </a:t>
            </a:r>
            <a:r>
              <a:rPr lang="en-US" dirty="0" smtClean="0"/>
              <a:t>Stratified K-fold</a:t>
            </a:r>
            <a:r>
              <a:rPr lang="ru-RU" dirty="0" smtClean="0"/>
              <a:t> 	         	   </a:t>
            </a:r>
            <a:r>
              <a:rPr lang="en-US" dirty="0" smtClean="0"/>
              <a:t>Leave-One-Out</a:t>
            </a:r>
            <a:r>
              <a:rPr lang="ru-RU" dirty="0"/>
              <a:t>	</a:t>
            </a:r>
            <a:r>
              <a:rPr lang="ru-RU" dirty="0" smtClean="0"/>
              <a:t>	      </a:t>
            </a:r>
            <a:r>
              <a:rPr lang="en-US" dirty="0" smtClean="0"/>
              <a:t>Time </a:t>
            </a:r>
            <a:r>
              <a:rPr lang="en-US" dirty="0"/>
              <a:t>Series CV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10363199" y="5807075"/>
            <a:ext cx="1142245" cy="669925"/>
          </a:xfrm>
        </p:spPr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9028252" y="1060781"/>
            <a:ext cx="2791427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/>
              <a:t>Для </a:t>
            </a:r>
            <a:r>
              <a:rPr lang="ru-RU" sz="1400" dirty="0"/>
              <a:t>временных рядов стандартные методы кросс-</a:t>
            </a:r>
            <a:r>
              <a:rPr lang="ru-RU" sz="1400" dirty="0" err="1"/>
              <a:t>валидации</a:t>
            </a:r>
            <a:r>
              <a:rPr lang="ru-RU" sz="1400" dirty="0"/>
              <a:t> могут привести к </a:t>
            </a:r>
            <a:r>
              <a:rPr lang="ru-RU" sz="1400" dirty="0" err="1"/>
              <a:t>переоцениванию</a:t>
            </a:r>
            <a:r>
              <a:rPr lang="ru-RU" sz="1400" dirty="0"/>
              <a:t> производительности модели из-за временной структуры данных. Методы кросс-</a:t>
            </a:r>
            <a:r>
              <a:rPr lang="ru-RU" sz="1400" dirty="0" err="1"/>
              <a:t>валидации</a:t>
            </a:r>
            <a:r>
              <a:rPr lang="ru-RU" sz="1400" dirty="0"/>
              <a:t> временных рядов учитывают временную составляющую</a:t>
            </a:r>
            <a:r>
              <a:rPr lang="ru-RU" sz="1400" dirty="0" smtClean="0"/>
              <a:t>.</a:t>
            </a:r>
          </a:p>
          <a:p>
            <a:pPr algn="just"/>
            <a:endParaRPr lang="ru-RU" sz="1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dirty="0" err="1"/>
              <a:t>Expanding</a:t>
            </a:r>
            <a:r>
              <a:rPr lang="ru-RU" sz="1400" dirty="0"/>
              <a:t> </a:t>
            </a:r>
            <a:r>
              <a:rPr lang="ru-RU" sz="1400" dirty="0" err="1"/>
              <a:t>Window</a:t>
            </a:r>
            <a:r>
              <a:rPr lang="ru-RU" sz="1400" dirty="0"/>
              <a:t>: начинается с небольшого обучающего набора, который постепенно увеличивается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dirty="0" err="1"/>
              <a:t>Sliding</a:t>
            </a:r>
            <a:r>
              <a:rPr lang="ru-RU" sz="1400" dirty="0"/>
              <a:t> </a:t>
            </a:r>
            <a:r>
              <a:rPr lang="ru-RU" sz="1400" dirty="0" err="1"/>
              <a:t>Window</a:t>
            </a:r>
            <a:r>
              <a:rPr lang="ru-RU" sz="1400" dirty="0"/>
              <a:t>: использует окно фиксированного размера, которое "скользит" по временному ряду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dirty="0"/>
              <a:t>Оба метода обеспечивают, что будущие данные не используются для прогнозирования прошлых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326565" y="1054322"/>
            <a:ext cx="287052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err="1"/>
              <a:t>Stratified</a:t>
            </a:r>
            <a:r>
              <a:rPr lang="ru-RU" sz="1400" dirty="0"/>
              <a:t> K-</a:t>
            </a:r>
            <a:r>
              <a:rPr lang="ru-RU" sz="1400" dirty="0" err="1"/>
              <a:t>fold</a:t>
            </a:r>
            <a:r>
              <a:rPr lang="ru-RU" sz="1400" dirty="0"/>
              <a:t> </a:t>
            </a:r>
            <a:r>
              <a:rPr lang="ru-RU" sz="1400" dirty="0" err="1"/>
              <a:t>Cross-Validation</a:t>
            </a:r>
            <a:endParaRPr lang="ru-RU" sz="1400" dirty="0"/>
          </a:p>
          <a:p>
            <a:pPr algn="just"/>
            <a:r>
              <a:rPr lang="ru-RU" sz="1400" dirty="0"/>
              <a:t>Стратифицированная k-</a:t>
            </a:r>
            <a:r>
              <a:rPr lang="ru-RU" sz="1400" dirty="0" err="1"/>
              <a:t>fold</a:t>
            </a:r>
            <a:r>
              <a:rPr lang="ru-RU" sz="1400" dirty="0"/>
              <a:t> кросс-</a:t>
            </a:r>
            <a:r>
              <a:rPr lang="ru-RU" sz="1400" dirty="0" err="1"/>
              <a:t>валидация</a:t>
            </a:r>
            <a:r>
              <a:rPr lang="ru-RU" sz="1400" dirty="0"/>
              <a:t> — модификация обычного k-</a:t>
            </a:r>
            <a:r>
              <a:rPr lang="ru-RU" sz="1400" dirty="0" err="1"/>
              <a:t>fold</a:t>
            </a:r>
            <a:r>
              <a:rPr lang="ru-RU" sz="1400" dirty="0"/>
              <a:t> метода, которая сохраняет пропорцию классов в каждом </a:t>
            </a:r>
            <a:r>
              <a:rPr lang="ru-RU" sz="1400" dirty="0" err="1"/>
              <a:t>фолде</a:t>
            </a:r>
            <a:r>
              <a:rPr lang="ru-RU" sz="1400" dirty="0"/>
              <a:t>. Это особенно важно для несбалансированных наборов данных, где некоторые классы представлены значительно меньшим числом примеров</a:t>
            </a:r>
            <a:r>
              <a:rPr lang="ru-RU" sz="1400" dirty="0" smtClean="0"/>
              <a:t>.</a:t>
            </a:r>
          </a:p>
          <a:p>
            <a:pPr algn="just"/>
            <a:endParaRPr lang="ru-RU" sz="1400" dirty="0"/>
          </a:p>
          <a:p>
            <a:pPr algn="just"/>
            <a:r>
              <a:rPr lang="ru-RU" sz="1400" dirty="0"/>
              <a:t>Ключевые особенности: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dirty="0"/>
              <a:t>Сохраняет соотношение классов в каждом </a:t>
            </a:r>
            <a:r>
              <a:rPr lang="ru-RU" sz="1400" dirty="0" err="1"/>
              <a:t>фолде</a:t>
            </a:r>
            <a:r>
              <a:rPr lang="ru-RU" sz="1400" dirty="0"/>
              <a:t>, аналогичное исходному набору данных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dirty="0"/>
              <a:t>Снижает дисперсию оценки для несбалансированных наборов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dirty="0"/>
              <a:t>Рекомендуется по умолчанию для задач классификации</a:t>
            </a:r>
            <a:endParaRPr lang="ru-RU" sz="1400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6275795" y="1158151"/>
            <a:ext cx="2577297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Leave-One-Out Cross-Validation (</a:t>
            </a:r>
            <a:r>
              <a:rPr lang="en-US" sz="1400" dirty="0" smtClean="0"/>
              <a:t>LOOCV)</a:t>
            </a:r>
            <a:r>
              <a:rPr lang="ru-RU" sz="1400" dirty="0" smtClean="0"/>
              <a:t> — предельный случай k-</a:t>
            </a:r>
            <a:r>
              <a:rPr lang="ru-RU" sz="1400" dirty="0" err="1" smtClean="0"/>
              <a:t>fold</a:t>
            </a:r>
            <a:r>
              <a:rPr lang="ru-RU" sz="1400" dirty="0" smtClean="0"/>
              <a:t> кросс-</a:t>
            </a:r>
            <a:r>
              <a:rPr lang="ru-RU" sz="1400" dirty="0" err="1" smtClean="0"/>
              <a:t>валидации</a:t>
            </a:r>
            <a:r>
              <a:rPr lang="ru-RU" sz="1400" dirty="0" smtClean="0"/>
              <a:t>, где k равно количеству наблюдений. Для каждой итерации используется одно наблюдение как тестовое, а все остальные — как обучающие.</a:t>
            </a:r>
          </a:p>
          <a:p>
            <a:pPr algn="just"/>
            <a:endParaRPr lang="ru-RU" sz="1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dirty="0"/>
              <a:t>Преимущество: максимальное использование данных для обучения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dirty="0"/>
              <a:t>Недостаток: высокая вычислительная сложность для больших наборов данных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dirty="0"/>
              <a:t>Хорошо работает на очень малых выборках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185195" y="1027700"/>
            <a:ext cx="308812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/>
              <a:t>K-</a:t>
            </a:r>
            <a:r>
              <a:rPr lang="ru-RU" sz="1400" dirty="0" err="1"/>
              <a:t>fold</a:t>
            </a:r>
            <a:r>
              <a:rPr lang="ru-RU" sz="1400" dirty="0"/>
              <a:t> </a:t>
            </a:r>
            <a:r>
              <a:rPr lang="ru-RU" sz="1400" dirty="0" err="1"/>
              <a:t>Cross-Validation</a:t>
            </a:r>
            <a:endParaRPr lang="ru-RU" sz="1400" dirty="0"/>
          </a:p>
          <a:p>
            <a:pPr algn="just"/>
            <a:r>
              <a:rPr lang="ru-RU" sz="1400" dirty="0"/>
              <a:t>Самый распространенный метод кросс-</a:t>
            </a:r>
            <a:r>
              <a:rPr lang="ru-RU" sz="1400" dirty="0" err="1"/>
              <a:t>валидации</a:t>
            </a:r>
            <a:r>
              <a:rPr lang="ru-RU" sz="1400" dirty="0"/>
              <a:t> — k-</a:t>
            </a:r>
            <a:r>
              <a:rPr lang="ru-RU" sz="1400" dirty="0" err="1"/>
              <a:t>fold</a:t>
            </a:r>
            <a:r>
              <a:rPr lang="ru-RU" sz="1400" dirty="0"/>
              <a:t> (k-блочная) кросс-</a:t>
            </a:r>
            <a:r>
              <a:rPr lang="ru-RU" sz="1400" dirty="0" err="1"/>
              <a:t>валидация</a:t>
            </a:r>
            <a:r>
              <a:rPr lang="ru-RU" sz="1400" dirty="0"/>
              <a:t>. При этом подходе набор данных делится на k равных частей (</a:t>
            </a:r>
            <a:r>
              <a:rPr lang="ru-RU" sz="1400" dirty="0" err="1"/>
              <a:t>фолдов</a:t>
            </a:r>
            <a:r>
              <a:rPr lang="ru-RU" sz="1400" dirty="0"/>
              <a:t>). Процесс обучения повторяется k раз, каждый раз используя одну из частей как тестовую, а остальные (k-1) части — как обучающие.</a:t>
            </a:r>
          </a:p>
          <a:p>
            <a:pPr algn="just"/>
            <a:r>
              <a:rPr lang="ru-RU" sz="1400" dirty="0"/>
              <a:t>Особенности K-</a:t>
            </a:r>
            <a:r>
              <a:rPr lang="ru-RU" sz="1400" dirty="0" err="1"/>
              <a:t>fold</a:t>
            </a:r>
            <a:r>
              <a:rPr lang="ru-RU" sz="1400" dirty="0"/>
              <a:t> кросс-</a:t>
            </a:r>
            <a:r>
              <a:rPr lang="ru-RU" sz="1400" dirty="0" err="1"/>
              <a:t>валидации</a:t>
            </a:r>
            <a:r>
              <a:rPr lang="ru-RU" sz="1400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dirty="0"/>
              <a:t>Обычно выбирают k=5 или k=10 (эмпирически доказано, что это обеспечивает хороший баланс между смещением и дисперсией оценки)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dirty="0"/>
              <a:t>Каждое наблюдение используется и для обучения, и для тестирования, но в разных итерациях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dirty="0"/>
              <a:t>Итоговая метрика — это среднее значение метрик, полученных на каждом из k тестов</a:t>
            </a:r>
          </a:p>
        </p:txBody>
      </p:sp>
    </p:spTree>
    <p:extLst>
      <p:ext uri="{BB962C8B-B14F-4D97-AF65-F5344CB8AC3E}">
        <p14:creationId xmlns:p14="http://schemas.microsoft.com/office/powerpoint/2010/main" val="14136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6946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0215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lang="ru-RU" sz="2800" b="1" dirty="0" smtClean="0"/>
              <a:t>Систематизация методов кросс-</a:t>
            </a:r>
            <a:r>
              <a:rPr lang="ru-RU" sz="2800" b="1" dirty="0" err="1" smtClean="0"/>
              <a:t>валидации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dirty="0" smtClean="0"/>
              <a:t>K-fold</a:t>
            </a:r>
            <a:r>
              <a:rPr lang="ru-RU" dirty="0" smtClean="0"/>
              <a:t> 				</a:t>
            </a:r>
            <a:r>
              <a:rPr lang="en-US" dirty="0" smtClean="0"/>
              <a:t>Stratified K-fold</a:t>
            </a:r>
            <a:r>
              <a:rPr lang="ru-RU" dirty="0" smtClean="0"/>
              <a:t> 			</a:t>
            </a:r>
            <a:r>
              <a:rPr lang="en-US" dirty="0" smtClean="0"/>
              <a:t>Leave-One-Out</a:t>
            </a:r>
            <a:r>
              <a:rPr lang="ru-RU" dirty="0"/>
              <a:t>	</a:t>
            </a:r>
            <a:r>
              <a:rPr lang="ru-RU" dirty="0" smtClean="0"/>
              <a:t>				</a:t>
            </a:r>
            <a:r>
              <a:rPr lang="en-US" dirty="0" smtClean="0"/>
              <a:t>Time </a:t>
            </a:r>
            <a:r>
              <a:rPr lang="en-US" dirty="0"/>
              <a:t>Series CV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10363199" y="5807075"/>
            <a:ext cx="1142245" cy="669925"/>
          </a:xfrm>
        </p:spPr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858508"/>
              </p:ext>
            </p:extLst>
          </p:nvPr>
        </p:nvGraphicFramePr>
        <p:xfrm>
          <a:off x="879675" y="1238491"/>
          <a:ext cx="10538084" cy="5218253"/>
        </p:xfrm>
        <a:graphic>
          <a:graphicData uri="http://schemas.openxmlformats.org/drawingml/2006/table">
            <a:tbl>
              <a:tblPr/>
              <a:tblGrid>
                <a:gridCol w="2634521">
                  <a:extLst>
                    <a:ext uri="{9D8B030D-6E8A-4147-A177-3AD203B41FA5}">
                      <a16:colId xmlns:a16="http://schemas.microsoft.com/office/drawing/2014/main" val="2166982724"/>
                    </a:ext>
                  </a:extLst>
                </a:gridCol>
                <a:gridCol w="2634521">
                  <a:extLst>
                    <a:ext uri="{9D8B030D-6E8A-4147-A177-3AD203B41FA5}">
                      <a16:colId xmlns:a16="http://schemas.microsoft.com/office/drawing/2014/main" val="1900581551"/>
                    </a:ext>
                  </a:extLst>
                </a:gridCol>
                <a:gridCol w="2634521">
                  <a:extLst>
                    <a:ext uri="{9D8B030D-6E8A-4147-A177-3AD203B41FA5}">
                      <a16:colId xmlns:a16="http://schemas.microsoft.com/office/drawing/2014/main" val="3653695494"/>
                    </a:ext>
                  </a:extLst>
                </a:gridCol>
                <a:gridCol w="2634521">
                  <a:extLst>
                    <a:ext uri="{9D8B030D-6E8A-4147-A177-3AD203B41FA5}">
                      <a16:colId xmlns:a16="http://schemas.microsoft.com/office/drawing/2014/main" val="1054260613"/>
                    </a:ext>
                  </a:extLst>
                </a:gridCol>
              </a:tblGrid>
              <a:tr h="591761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Метод кросс-</a:t>
                      </a:r>
                      <a:r>
                        <a:rPr lang="ru-RU" sz="1400" b="1" dirty="0" err="1">
                          <a:effectLst/>
                        </a:rPr>
                        <a:t>валидации</a:t>
                      </a:r>
                      <a:endParaRPr lang="ru-RU" sz="1400" b="0" dirty="0">
                        <a:effectLst/>
                      </a:endParaRP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C02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2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2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Преимущества</a:t>
                      </a:r>
                      <a:endParaRPr lang="ru-RU" sz="1400" b="0">
                        <a:effectLst/>
                      </a:endParaRP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402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2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2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Недостатки</a:t>
                      </a:r>
                      <a:endParaRPr lang="ru-RU" sz="1400" b="0">
                        <a:effectLst/>
                      </a:endParaRP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C02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2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Рекомендуемые случаи</a:t>
                      </a:r>
                      <a:endParaRPr lang="ru-RU" sz="1400" b="0">
                        <a:effectLst/>
                      </a:endParaRP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A01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84917"/>
                  </a:ext>
                </a:extLst>
              </a:tr>
              <a:tr h="1398707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K-fold</a:t>
                      </a:r>
                    </a:p>
                  </a:txBody>
                  <a:tcPr marL="49687" marR="49687" marT="37265" marB="372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Простота, хороший баланс между смещением и дисперсией</a:t>
                      </a:r>
                    </a:p>
                  </a:txBody>
                  <a:tcPr marL="49687" marR="49687" marT="37265" marB="372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Не учитывает распределение классов</a:t>
                      </a:r>
                    </a:p>
                  </a:txBody>
                  <a:tcPr marL="49687" marR="49687" marT="37265" marB="372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Общие задачи с достаточным количеством данных</a:t>
                      </a:r>
                    </a:p>
                  </a:txBody>
                  <a:tcPr marL="49687" marR="49687" marT="37265" marB="372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305612"/>
                  </a:ext>
                </a:extLst>
              </a:tr>
              <a:tr h="123731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Stratified K-fold</a:t>
                      </a: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Сохраняет распределение классов, снижает дисперсию</a:t>
                      </a: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Требует больше вычислений, чем обычный k-fold</a:t>
                      </a: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Несбалансированные наборы данных, классификация</a:t>
                      </a: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8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223303"/>
                  </a:ext>
                </a:extLst>
              </a:tr>
              <a:tr h="107592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Leave-One-Out</a:t>
                      </a: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Максимальное использование данных для обучения</a:t>
                      </a: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Высокая вычислительная сложность</a:t>
                      </a: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Очень малые наборы данных</a:t>
                      </a: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E0A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143448"/>
                  </a:ext>
                </a:extLst>
              </a:tr>
              <a:tr h="914539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Time Series CV</a:t>
                      </a: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Учитывает временную структуру данных</a:t>
                      </a: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Сложнее в реализации и интерпретации</a:t>
                      </a: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Временные ряды, последовательные данные</a:t>
                      </a:r>
                    </a:p>
                  </a:txBody>
                  <a:tcPr marL="49687" marR="49687" marT="37265" marB="37265" anchor="ctr">
                    <a:lnL w="12700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B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534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90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lang="ru-RU" dirty="0" smtClean="0"/>
              <a:t>использовать</a:t>
            </a:r>
            <a:r>
              <a:rPr dirty="0" smtClean="0"/>
              <a:t> shuffle</a:t>
            </a:r>
            <a:r>
              <a:rPr lang="ru-RU" dirty="0" smtClean="0"/>
              <a:t> во временных рядах?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2 · Data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259" y="950321"/>
            <a:ext cx="12108872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lang="ru-RU" b="1" dirty="0" err="1"/>
              <a:t>KFold</a:t>
            </a:r>
            <a:r>
              <a:rPr lang="ru-RU" b="1" dirty="0"/>
              <a:t>(</a:t>
            </a:r>
            <a:r>
              <a:rPr lang="ru-RU" b="1" dirty="0" err="1"/>
              <a:t>shuffle</a:t>
            </a:r>
            <a:r>
              <a:rPr lang="ru-RU" b="1" dirty="0"/>
              <a:t>=</a:t>
            </a:r>
            <a:r>
              <a:rPr lang="ru-RU" b="1" dirty="0" err="1"/>
              <a:t>True</a:t>
            </a:r>
            <a:r>
              <a:rPr lang="ru-RU" b="1" dirty="0"/>
              <a:t>)</a:t>
            </a:r>
            <a:r>
              <a:rPr lang="ru-RU" dirty="0"/>
              <a:t> — это вариант стратегии кросс-</a:t>
            </a:r>
            <a:r>
              <a:rPr lang="ru-RU" dirty="0" err="1"/>
              <a:t>валидации</a:t>
            </a:r>
            <a:r>
              <a:rPr lang="ru-RU" dirty="0"/>
              <a:t> из библиотеки </a:t>
            </a:r>
            <a:r>
              <a:rPr lang="ru-RU" dirty="0" err="1" smtClean="0"/>
              <a:t>scikit-learn</a:t>
            </a:r>
            <a:endParaRPr lang="ru-RU"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lang="ru-RU" dirty="0"/>
              <a:t>Параметр </a:t>
            </a:r>
            <a:r>
              <a:rPr lang="ru-RU" dirty="0" err="1"/>
              <a:t>shuffle</a:t>
            </a:r>
            <a:r>
              <a:rPr lang="ru-RU" dirty="0"/>
              <a:t>=</a:t>
            </a:r>
            <a:r>
              <a:rPr lang="ru-RU" dirty="0" err="1"/>
              <a:t>True</a:t>
            </a:r>
            <a:r>
              <a:rPr lang="ru-RU" dirty="0"/>
              <a:t> добавляет важный шаг: перед тем как разбить данные на </a:t>
            </a:r>
            <a:r>
              <a:rPr lang="ru-RU" dirty="0" err="1"/>
              <a:t>фолды</a:t>
            </a:r>
            <a:r>
              <a:rPr lang="ru-RU" dirty="0"/>
              <a:t>, их индексы перемешиваются. </a:t>
            </a:r>
            <a:endParaRPr lang="ru-RU" dirty="0" smtClean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lang="ru-RU" dirty="0" smtClean="0"/>
              <a:t>То </a:t>
            </a:r>
            <a:r>
              <a:rPr lang="ru-RU" dirty="0"/>
              <a:t>есть алгоритм сначала случайным образом переставляет все образцы, а уже потом делит на части.</a:t>
            </a:r>
            <a:endParaRPr lang="ru-RU" dirty="0" smtClean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 smtClean="0"/>
              <a:t>KFold</a:t>
            </a:r>
            <a:r>
              <a:rPr dirty="0" smtClean="0"/>
              <a:t>(shuffle=True</a:t>
            </a:r>
            <a:r>
              <a:rPr dirty="0"/>
              <a:t>) </a:t>
            </a:r>
            <a:r>
              <a:rPr dirty="0" err="1"/>
              <a:t>перемешивает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—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видит</a:t>
            </a:r>
            <a:r>
              <a:rPr dirty="0"/>
              <a:t> «</a:t>
            </a:r>
            <a:r>
              <a:rPr dirty="0" err="1"/>
              <a:t>будущее</a:t>
            </a:r>
            <a:r>
              <a:rPr dirty="0"/>
              <a:t>»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обучении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называется</a:t>
            </a:r>
            <a:r>
              <a:rPr dirty="0"/>
              <a:t> data leakage (</a:t>
            </a:r>
            <a:r>
              <a:rPr dirty="0" err="1"/>
              <a:t>утечка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кросс-валидации</a:t>
            </a:r>
            <a:r>
              <a:rPr dirty="0"/>
              <a:t> </a:t>
            </a:r>
            <a:r>
              <a:rPr dirty="0" err="1"/>
              <a:t>завышен</a:t>
            </a:r>
            <a:r>
              <a:rPr dirty="0"/>
              <a:t>, а в </a:t>
            </a:r>
            <a:r>
              <a:rPr dirty="0" err="1"/>
              <a:t>реальности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провалится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|-- train (2010–2018) --|-- test (2019) --|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         </a:t>
            </a:r>
            <a:r>
              <a:rPr lang="ru-RU" dirty="0" smtClean="0"/>
              <a:t>                            </a:t>
            </a:r>
            <a:r>
              <a:rPr dirty="0" err="1" smtClean="0"/>
              <a:t>прошлое</a:t>
            </a:r>
            <a:r>
              <a:rPr dirty="0" smtClean="0"/>
              <a:t>              </a:t>
            </a:r>
            <a:r>
              <a:rPr dirty="0" err="1"/>
              <a:t>будущее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Calibri"/>
              </a:defRPr>
            </a:pPr>
            <a:r>
              <a:t>Правильное разделение — по времени: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937760"/>
            <a:ext cx="10058400" cy="13716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Fold 1: |</a:t>
            </a:r>
            <a:r>
              <a:rPr dirty="0" err="1"/>
              <a:t>train|test</a:t>
            </a:r>
            <a:r>
              <a:rPr dirty="0"/>
              <a:t>|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lang="ru-RU" dirty="0" smtClean="0"/>
              <a:t>                                        </a:t>
            </a:r>
            <a:r>
              <a:rPr dirty="0" smtClean="0"/>
              <a:t>Fold </a:t>
            </a:r>
            <a:r>
              <a:rPr dirty="0"/>
              <a:t>2: |train </a:t>
            </a:r>
            <a:r>
              <a:rPr dirty="0" err="1"/>
              <a:t>train|test</a:t>
            </a:r>
            <a:r>
              <a:rPr dirty="0"/>
              <a:t>|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lang="ru-RU" dirty="0" smtClean="0"/>
              <a:t>                                        </a:t>
            </a:r>
            <a:r>
              <a:rPr dirty="0" smtClean="0"/>
              <a:t>Fold </a:t>
            </a:r>
            <a:r>
              <a:rPr dirty="0"/>
              <a:t>3: |train </a:t>
            </a:r>
            <a:r>
              <a:rPr dirty="0" err="1"/>
              <a:t>train</a:t>
            </a:r>
            <a:r>
              <a:rPr dirty="0"/>
              <a:t> </a:t>
            </a:r>
            <a:r>
              <a:rPr dirty="0" err="1"/>
              <a:t>train|test</a:t>
            </a:r>
            <a:r>
              <a:rPr dirty="0"/>
              <a:t>|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lang="ru-RU" dirty="0" smtClean="0"/>
              <a:t>                                        </a:t>
            </a:r>
            <a:r>
              <a:rPr dirty="0" err="1" smtClean="0"/>
              <a:t>Никакого</a:t>
            </a:r>
            <a:r>
              <a:rPr dirty="0" smtClean="0"/>
              <a:t> </a:t>
            </a:r>
            <a:r>
              <a:rPr dirty="0" err="1"/>
              <a:t>заглядывания</a:t>
            </a:r>
            <a:r>
              <a:rPr dirty="0"/>
              <a:t> </a:t>
            </a:r>
            <a:r>
              <a:rPr dirty="0" err="1"/>
              <a:t>вперёд</a:t>
            </a:r>
            <a:endParaRPr dirty="0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TimeSeriesSplit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Кросс-валидация для временных рядов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Calibri"/>
              </a:defRPr>
            </a:pPr>
            <a:r>
              <a:t>Каждый фолд строго продолжается по времени: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33914"/>
            <a:ext cx="100584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Train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предшествует</a:t>
            </a:r>
            <a:r>
              <a:rPr dirty="0"/>
              <a:t> test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времени</a:t>
            </a:r>
            <a:endParaRPr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Размер</a:t>
            </a:r>
            <a:r>
              <a:rPr dirty="0"/>
              <a:t> train </a:t>
            </a:r>
            <a:r>
              <a:rPr dirty="0" err="1"/>
              <a:t>растёт</a:t>
            </a:r>
            <a:r>
              <a:rPr dirty="0"/>
              <a:t> с </a:t>
            </a:r>
            <a:r>
              <a:rPr dirty="0" err="1"/>
              <a:t>каждым</a:t>
            </a:r>
            <a:r>
              <a:rPr dirty="0"/>
              <a:t> </a:t>
            </a:r>
            <a:r>
              <a:rPr dirty="0" err="1"/>
              <a:t>фолдом</a:t>
            </a:r>
            <a:endParaRPr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Test — </a:t>
            </a:r>
            <a:r>
              <a:rPr dirty="0" err="1"/>
              <a:t>фиксированного</a:t>
            </a:r>
            <a:r>
              <a:rPr dirty="0"/>
              <a:t> </a:t>
            </a:r>
            <a:r>
              <a:rPr dirty="0" err="1"/>
              <a:t>размера</a:t>
            </a:r>
            <a:r>
              <a:rPr dirty="0"/>
              <a:t> (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растёт</a:t>
            </a:r>
            <a:r>
              <a:rPr dirty="0"/>
              <a:t>)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Скользящее</a:t>
            </a:r>
            <a:r>
              <a:rPr dirty="0"/>
              <a:t> </a:t>
            </a:r>
            <a:r>
              <a:rPr dirty="0" err="1"/>
              <a:t>окно</a:t>
            </a:r>
            <a:r>
              <a:rPr dirty="0"/>
              <a:t>: </a:t>
            </a:r>
            <a:r>
              <a:rPr dirty="0" err="1"/>
              <a:t>каждое</a:t>
            </a:r>
            <a:r>
              <a:rPr dirty="0"/>
              <a:t> </a:t>
            </a:r>
            <a:r>
              <a:rPr dirty="0" err="1"/>
              <a:t>наблюдение</a:t>
            </a:r>
            <a:r>
              <a:rPr dirty="0"/>
              <a:t> test </a:t>
            </a:r>
            <a:r>
              <a:rPr dirty="0" err="1"/>
              <a:t>ровно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раз</a:t>
            </a:r>
            <a:endParaRPr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Лаги (lags)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3 · Признаки из прошлого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A5F5"/>
                </a:solidFill>
                <a:latin typeface="Calibri"/>
              </a:defRPr>
            </a:pPr>
            <a:r>
              <a:rPr dirty="0" err="1"/>
              <a:t>Лаговые</a:t>
            </a:r>
            <a:r>
              <a:rPr dirty="0"/>
              <a:t> </a:t>
            </a:r>
            <a:r>
              <a:rPr dirty="0" err="1"/>
              <a:t>признаки</a:t>
            </a:r>
            <a:r>
              <a:rPr dirty="0"/>
              <a:t> — </a:t>
            </a:r>
            <a:r>
              <a:rPr dirty="0" err="1"/>
              <a:t>значения</a:t>
            </a:r>
            <a:r>
              <a:rPr dirty="0"/>
              <a:t> </a:t>
            </a:r>
            <a:r>
              <a:rPr dirty="0" err="1"/>
              <a:t>ряда</a:t>
            </a:r>
            <a:r>
              <a:rPr dirty="0"/>
              <a:t> в </a:t>
            </a:r>
            <a:r>
              <a:rPr dirty="0" err="1"/>
              <a:t>прошлые</a:t>
            </a:r>
            <a:r>
              <a:rPr dirty="0"/>
              <a:t> </a:t>
            </a:r>
            <a:r>
              <a:rPr dirty="0" err="1"/>
              <a:t>моменты</a:t>
            </a:r>
            <a:r>
              <a:rPr dirty="0"/>
              <a:t> </a:t>
            </a:r>
            <a:r>
              <a:rPr dirty="0" err="1"/>
              <a:t>времени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10659" y="1735665"/>
            <a:ext cx="2382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A726"/>
                </a:solidFill>
                <a:latin typeface="Calibri"/>
              </a:defRPr>
            </a:pPr>
            <a:r>
              <a:rPr dirty="0" err="1" smtClean="0"/>
              <a:t>lag</a:t>
            </a:r>
            <a:r>
              <a:rPr baseline="-25000" dirty="0" err="1" smtClean="0"/>
              <a:t>k</a:t>
            </a:r>
            <a:r>
              <a:rPr baseline="-25000" dirty="0" smtClean="0"/>
              <a:t>(t</a:t>
            </a:r>
            <a:r>
              <a:rPr baseline="-25000" dirty="0"/>
              <a:t>) </a:t>
            </a:r>
            <a:r>
              <a:rPr dirty="0"/>
              <a:t>= </a:t>
            </a: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baseline="-25000" dirty="0" smtClean="0"/>
              <a:t>-k</a:t>
            </a:r>
            <a:endParaRPr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5760720" y="2103883"/>
            <a:ext cx="5453781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Значение</a:t>
            </a:r>
            <a:r>
              <a:rPr dirty="0"/>
              <a:t> </a:t>
            </a:r>
            <a:r>
              <a:rPr dirty="0" err="1"/>
              <a:t>потребления</a:t>
            </a:r>
            <a:r>
              <a:rPr dirty="0"/>
              <a:t> </a:t>
            </a:r>
            <a:r>
              <a:rPr dirty="0" err="1"/>
              <a:t>неделю</a:t>
            </a:r>
            <a:r>
              <a:rPr dirty="0"/>
              <a:t> </a:t>
            </a:r>
            <a:r>
              <a:rPr dirty="0" err="1"/>
              <a:t>назад</a:t>
            </a:r>
            <a:r>
              <a:rPr dirty="0"/>
              <a:t> — </a:t>
            </a:r>
            <a:r>
              <a:rPr dirty="0" err="1"/>
              <a:t>сильный</a:t>
            </a:r>
            <a:r>
              <a:rPr dirty="0"/>
              <a:t> </a:t>
            </a:r>
            <a:r>
              <a:rPr dirty="0" err="1"/>
              <a:t>предиктор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сегодняшнего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Лаг</a:t>
            </a:r>
            <a:r>
              <a:rPr dirty="0"/>
              <a:t> 1: </a:t>
            </a:r>
            <a:r>
              <a:rPr dirty="0" err="1"/>
              <a:t>вчера</a:t>
            </a:r>
            <a:r>
              <a:rPr dirty="0"/>
              <a:t>, </a:t>
            </a:r>
            <a:r>
              <a:rPr dirty="0" err="1"/>
              <a:t>лаг</a:t>
            </a:r>
            <a:r>
              <a:rPr dirty="0"/>
              <a:t> 7: </a:t>
            </a:r>
            <a:r>
              <a:rPr dirty="0" err="1"/>
              <a:t>неделю</a:t>
            </a:r>
            <a:r>
              <a:rPr dirty="0"/>
              <a:t> </a:t>
            </a:r>
            <a:r>
              <a:rPr dirty="0" err="1"/>
              <a:t>назад</a:t>
            </a:r>
            <a:r>
              <a:rPr dirty="0"/>
              <a:t>, </a:t>
            </a:r>
            <a:r>
              <a:rPr dirty="0" err="1"/>
              <a:t>лаг</a:t>
            </a:r>
            <a:r>
              <a:rPr dirty="0"/>
              <a:t> 30: </a:t>
            </a:r>
            <a:r>
              <a:rPr dirty="0" err="1"/>
              <a:t>месяц</a:t>
            </a:r>
            <a:r>
              <a:rPr dirty="0"/>
              <a:t> </a:t>
            </a:r>
            <a:r>
              <a:rPr dirty="0" err="1"/>
              <a:t>назад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В </a:t>
            </a:r>
            <a:r>
              <a:rPr dirty="0" err="1"/>
              <a:t>Polars</a:t>
            </a:r>
            <a:r>
              <a:rPr dirty="0"/>
              <a:t>: </a:t>
            </a:r>
            <a:r>
              <a:rPr dirty="0" err="1"/>
              <a:t>pl.col</a:t>
            </a:r>
            <a:r>
              <a:rPr dirty="0"/>
              <a:t>("Consumption").shift(7)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b="1" u="sng" dirty="0" err="1"/>
              <a:t>Обязательно</a:t>
            </a:r>
            <a:r>
              <a:rPr b="1" u="sng" dirty="0"/>
              <a:t> </a:t>
            </a:r>
            <a:r>
              <a:rPr b="1" u="sng" dirty="0" err="1"/>
              <a:t>отсортировать</a:t>
            </a:r>
            <a:r>
              <a:rPr b="1" u="sng" dirty="0"/>
              <a:t> </a:t>
            </a:r>
            <a:r>
              <a:rPr b="1" u="sng" dirty="0" err="1"/>
              <a:t>по</a:t>
            </a:r>
            <a:r>
              <a:rPr b="1" u="sng" dirty="0"/>
              <a:t> Date </a:t>
            </a:r>
            <a:r>
              <a:rPr b="1" u="sng" dirty="0" err="1"/>
              <a:t>перед</a:t>
            </a:r>
            <a:r>
              <a:rPr b="1" u="sng" dirty="0"/>
              <a:t> </a:t>
            </a:r>
            <a:r>
              <a:rPr b="1" u="sng" dirty="0" err="1"/>
              <a:t>созданием</a:t>
            </a:r>
            <a:r>
              <a:rPr b="1" u="sng" dirty="0"/>
              <a:t> </a:t>
            </a:r>
            <a:r>
              <a:rPr b="1" u="sng" dirty="0" err="1" smtClean="0"/>
              <a:t>лагов</a:t>
            </a:r>
            <a:r>
              <a:rPr lang="ru-RU" b="1" u="sng" dirty="0" smtClean="0"/>
              <a:t>!!!</a:t>
            </a:r>
            <a:endParaRPr b="1" u="sng" dirty="0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362883" y="2319327"/>
            <a:ext cx="497325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CCCCCC"/>
                </a:solidFill>
                <a:latin typeface="Calibri"/>
              </a:rPr>
              <a:t>- </a:t>
            </a:r>
            <a:r>
              <a:rPr lang="en-US" dirty="0" smtClean="0">
                <a:solidFill>
                  <a:srgbClr val="CCCCCC"/>
                </a:solidFill>
                <a:latin typeface="Calibri"/>
              </a:rPr>
              <a:t>l</a:t>
            </a:r>
            <a:r>
              <a:rPr lang="ru-RU" dirty="0" err="1" smtClean="0">
                <a:solidFill>
                  <a:srgbClr val="CCCCCC"/>
                </a:solidFill>
                <a:latin typeface="Calibri"/>
              </a:rPr>
              <a:t>ag</a:t>
            </a:r>
            <a:r>
              <a:rPr lang="ru-RU" baseline="-25000" dirty="0" err="1" smtClean="0">
                <a:solidFill>
                  <a:srgbClr val="CCCCCC"/>
                </a:solidFill>
                <a:latin typeface="Calibri"/>
              </a:rPr>
              <a:t>k</a:t>
            </a:r>
            <a:r>
              <a:rPr lang="ru-RU" baseline="-25000" dirty="0" smtClean="0">
                <a:solidFill>
                  <a:srgbClr val="CCCCCC"/>
                </a:solidFill>
                <a:latin typeface="Calibri"/>
              </a:rPr>
              <a:t>(t</a:t>
            </a:r>
            <a:r>
              <a:rPr lang="ru-RU" baseline="-25000" dirty="0">
                <a:solidFill>
                  <a:srgbClr val="CCCCCC"/>
                </a:solidFill>
                <a:latin typeface="Calibri"/>
              </a:rPr>
              <a:t>)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 — значение лаговой переменной с запаздыванием k для момента времени t.</a:t>
            </a:r>
          </a:p>
          <a:p>
            <a:r>
              <a:rPr lang="ru-RU" dirty="0" smtClean="0">
                <a:solidFill>
                  <a:srgbClr val="CCCCCC"/>
                </a:solidFill>
                <a:latin typeface="Calibri"/>
              </a:rPr>
              <a:t>- </a:t>
            </a:r>
            <a:r>
              <a:rPr lang="ru-RU" dirty="0" err="1" smtClean="0">
                <a:solidFill>
                  <a:srgbClr val="CCCCCC"/>
                </a:solidFill>
                <a:latin typeface="Calibri"/>
              </a:rPr>
              <a:t>y</a:t>
            </a:r>
            <a:r>
              <a:rPr lang="ru-RU" baseline="-25000" dirty="0" err="1" smtClean="0">
                <a:solidFill>
                  <a:srgbClr val="CCCCCC"/>
                </a:solidFill>
                <a:latin typeface="Calibri"/>
              </a:rPr>
              <a:t>t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 — значение временного ряда в момент времени t.</a:t>
            </a:r>
          </a:p>
          <a:p>
            <a:r>
              <a:rPr lang="ru-RU" dirty="0" smtClean="0">
                <a:solidFill>
                  <a:srgbClr val="CCCCCC"/>
                </a:solidFill>
                <a:latin typeface="Calibri"/>
              </a:rPr>
              <a:t>- k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 — величина лага (целое положительное число: 1, 2, 3 и т.д.).</a:t>
            </a:r>
          </a:p>
          <a:p>
            <a:r>
              <a:rPr lang="ru-RU" dirty="0" smtClean="0">
                <a:solidFill>
                  <a:srgbClr val="CCCCCC"/>
                </a:solidFill>
                <a:latin typeface="Calibri"/>
              </a:rPr>
              <a:t>- t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 — текущий момент времени (обычно дискретные шаги 1, 2, ..., n, где n — общее количество наблюдений).</a:t>
            </a:r>
          </a:p>
          <a:p>
            <a:r>
              <a:rPr lang="ru-RU" dirty="0">
                <a:solidFill>
                  <a:srgbClr val="CCCCCC"/>
                </a:solidFill>
                <a:latin typeface="Calibri"/>
              </a:rPr>
              <a:t> </a:t>
            </a:r>
            <a:endParaRPr lang="en-US" dirty="0" smtClean="0">
              <a:solidFill>
                <a:srgbClr val="CCCCCC"/>
              </a:solidFill>
              <a:latin typeface="Calibri"/>
            </a:endParaRPr>
          </a:p>
          <a:p>
            <a:r>
              <a:rPr lang="ru-RU" b="1" u="sng" dirty="0" smtClean="0">
                <a:solidFill>
                  <a:srgbClr val="CCCCCC"/>
                </a:solidFill>
                <a:latin typeface="Calibri"/>
              </a:rPr>
              <a:t>Важное условие</a:t>
            </a:r>
            <a:r>
              <a:rPr lang="en-US" b="1" u="sng" dirty="0" smtClean="0">
                <a:solidFill>
                  <a:srgbClr val="CCCCCC"/>
                </a:solidFill>
                <a:latin typeface="Calibri"/>
              </a:rPr>
              <a:t>!</a:t>
            </a:r>
            <a:endParaRPr lang="ru-RU" b="1" u="sng" dirty="0">
              <a:solidFill>
                <a:srgbClr val="CCCCCC"/>
              </a:solidFill>
              <a:latin typeface="Calibri"/>
            </a:endParaRPr>
          </a:p>
          <a:p>
            <a:r>
              <a:rPr lang="ru-RU" dirty="0">
                <a:solidFill>
                  <a:srgbClr val="CCCCCC"/>
                </a:solidFill>
                <a:latin typeface="Calibri"/>
              </a:rPr>
              <a:t>Значение </a:t>
            </a:r>
            <a:r>
              <a:rPr lang="ru-RU" dirty="0" err="1" smtClean="0">
                <a:solidFill>
                  <a:srgbClr val="CCCCCC"/>
                </a:solidFill>
                <a:latin typeface="Calibri"/>
              </a:rPr>
              <a:t>lag</a:t>
            </a:r>
            <a:r>
              <a:rPr lang="ru-RU" baseline="-25000" dirty="0" err="1" smtClean="0">
                <a:solidFill>
                  <a:srgbClr val="CCCCCC"/>
                </a:solidFill>
                <a:latin typeface="Calibri"/>
              </a:rPr>
              <a:t>k</a:t>
            </a:r>
            <a:r>
              <a:rPr lang="ru-RU" baseline="-25000" dirty="0" smtClean="0">
                <a:solidFill>
                  <a:srgbClr val="CCCCCC"/>
                </a:solidFill>
                <a:latin typeface="Calibri"/>
              </a:rPr>
              <a:t>(t</a:t>
            </a:r>
            <a:r>
              <a:rPr lang="ru-RU" baseline="-25000" dirty="0">
                <a:solidFill>
                  <a:srgbClr val="CCCCCC"/>
                </a:solidFill>
                <a:latin typeface="Calibri"/>
              </a:rPr>
              <a:t>)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 определено только при условии k &lt; t. 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Если k ≥ t, то для момента времени t не существует значения ряда с опережением k, и функция считается неопределённой.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Лаги (lags)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3 · Признаки из прошлого</a:t>
            </a: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599007" y="1298448"/>
            <a:ext cx="1092243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Зачем это нужно</a:t>
            </a:r>
            <a:r>
              <a:rPr lang="en-US" b="1" dirty="0" smtClean="0"/>
              <a:t>?</a:t>
            </a:r>
            <a:endParaRPr lang="ru-RU" b="1" dirty="0" smtClean="0"/>
          </a:p>
          <a:p>
            <a:r>
              <a:rPr lang="ru-RU" dirty="0" smtClean="0"/>
              <a:t>Идея </a:t>
            </a:r>
            <a:r>
              <a:rPr lang="ru-RU" dirty="0"/>
              <a:t>в том, чтобы взять исторические данные и превратить их в новые признаки для модели. То есть мы создаём новые переменные — «запаздывания», — которые показывают, каким было значение ряда k периодов назад. </a:t>
            </a:r>
            <a:endParaRPr lang="en-US" dirty="0" smtClean="0">
              <a:hlinkClick r:id="rId2"/>
            </a:endParaRPr>
          </a:p>
          <a:p>
            <a:endParaRPr lang="en-US" dirty="0">
              <a:hlinkClick r:id="rId2"/>
            </a:endParaRPr>
          </a:p>
          <a:p>
            <a:r>
              <a:rPr lang="ru-RU" b="1" dirty="0" smtClean="0"/>
              <a:t>Зачем </a:t>
            </a:r>
            <a:r>
              <a:rPr lang="ru-RU" b="1" dirty="0"/>
              <a:t>это нужно на практике?</a:t>
            </a:r>
            <a:r>
              <a:rPr lang="ru-RU" dirty="0"/>
              <a:t> </a:t>
            </a:r>
            <a:endParaRPr lang="en-US" dirty="0" smtClean="0"/>
          </a:p>
          <a:p>
            <a:r>
              <a:rPr lang="ru-RU" dirty="0" smtClean="0"/>
              <a:t>Такие </a:t>
            </a:r>
            <a:r>
              <a:rPr lang="ru-RU" dirty="0"/>
              <a:t>лаги часто становятся важными входными признаками в моделях прогнозирования временных рядов. </a:t>
            </a:r>
            <a:endParaRPr lang="en-US" dirty="0" smtClean="0"/>
          </a:p>
          <a:p>
            <a:endParaRPr lang="en-US" dirty="0"/>
          </a:p>
          <a:p>
            <a:r>
              <a:rPr lang="ru-RU" dirty="0" smtClean="0"/>
              <a:t>Например</a:t>
            </a:r>
            <a:r>
              <a:rPr lang="ru-RU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моделях ARIMA (авторегрессия, интегрированное скользящее среднее) значения ряда на прошлых шагах используются как предикторы.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задачах прогнозирования (прогноз продаж, спроса, трафика) лаги помогают учесть инерцию процесса: как значение вчера или неделю назад влияет на сегодняшний прогноз.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анализе сезонности лаги (особенно с периодом, кратным сезону) помогают выявить периодические паттерны.</a:t>
            </a:r>
          </a:p>
        </p:txBody>
      </p:sp>
    </p:spTree>
    <p:extLst>
      <p:ext uri="{BB962C8B-B14F-4D97-AF65-F5344CB8AC3E}">
        <p14:creationId xmlns:p14="http://schemas.microsoft.com/office/powerpoint/2010/main" val="212413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Скользящие статистики (rolling)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Сглаживание и локальный тренд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Calibri"/>
              </a:defRPr>
            </a:pPr>
            <a:r>
              <a:rPr dirty="0" err="1" smtClean="0"/>
              <a:t>Скользящее</a:t>
            </a:r>
            <a:r>
              <a:rPr dirty="0" smtClean="0"/>
              <a:t> </a:t>
            </a:r>
            <a:r>
              <a:rPr dirty="0" err="1" smtClean="0"/>
              <a:t>среднее</a:t>
            </a:r>
            <a:r>
              <a:rPr dirty="0" smtClean="0"/>
              <a:t> </a:t>
            </a:r>
            <a:r>
              <a:rPr dirty="0" err="1" smtClean="0"/>
              <a:t>по</a:t>
            </a:r>
            <a:r>
              <a:rPr dirty="0" smtClean="0"/>
              <a:t> </a:t>
            </a:r>
            <a:r>
              <a:rPr dirty="0" err="1" smtClean="0"/>
              <a:t>окну</a:t>
            </a:r>
            <a:r>
              <a:rPr dirty="0" smtClean="0"/>
              <a:t> </a:t>
            </a:r>
            <a:r>
              <a:rPr dirty="0" err="1" smtClean="0"/>
              <a:t>фиксированной</a:t>
            </a:r>
            <a:r>
              <a:rPr dirty="0" smtClean="0"/>
              <a:t> </a:t>
            </a:r>
            <a:r>
              <a:rPr dirty="0" err="1" smtClean="0"/>
              <a:t>ширины</a:t>
            </a:r>
            <a:r>
              <a:rPr dirty="0" smtClean="0"/>
              <a:t>: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-2185300" y="1871942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726"/>
                </a:solidFill>
                <a:latin typeface="Calibri"/>
              </a:defRPr>
            </a:pPr>
            <a:r>
              <a:rPr dirty="0" err="1" smtClean="0"/>
              <a:t>roll_mean_w</a:t>
            </a:r>
            <a:r>
              <a:rPr baseline="-25000" dirty="0" err="1" smtClean="0"/>
              <a:t>t</a:t>
            </a:r>
            <a:r>
              <a:rPr dirty="0" smtClean="0"/>
              <a:t> </a:t>
            </a:r>
            <a:r>
              <a:rPr dirty="0"/>
              <a:t>= (1/w) × Σ </a:t>
            </a:r>
            <a:r>
              <a:rPr dirty="0" err="1" smtClean="0"/>
              <a:t>y</a:t>
            </a:r>
            <a:r>
              <a:rPr baseline="-25000" dirty="0" err="1" smtClean="0"/>
              <a:t>t-i</a:t>
            </a:r>
            <a:r>
              <a:rPr baseline="-25000" dirty="0" smtClean="0"/>
              <a:t>,  </a:t>
            </a:r>
            <a:r>
              <a:rPr baseline="-25000" dirty="0" err="1"/>
              <a:t>i</a:t>
            </a:r>
            <a:r>
              <a:rPr baseline="-25000" dirty="0"/>
              <a:t>=0..</a:t>
            </a:r>
            <a:r>
              <a:rPr baseline="-25000" dirty="0" smtClean="0"/>
              <a:t>w-1</a:t>
            </a:r>
            <a:endParaRPr lang="ru-RU" baseline="-25000" dirty="0" smtClean="0"/>
          </a:p>
          <a:p>
            <a:pPr algn="ctr">
              <a:defRPr sz="2200" b="1">
                <a:solidFill>
                  <a:srgbClr val="FFA726"/>
                </a:solidFill>
                <a:latin typeface="Calibri"/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200611" y="1399806"/>
            <a:ext cx="458589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скользит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ряду</a:t>
            </a:r>
            <a:r>
              <a:rPr dirty="0"/>
              <a:t>, </a:t>
            </a:r>
            <a:r>
              <a:rPr dirty="0" err="1"/>
              <a:t>сглаживает</a:t>
            </a:r>
            <a:r>
              <a:rPr dirty="0"/>
              <a:t> </a:t>
            </a:r>
            <a:r>
              <a:rPr dirty="0" err="1"/>
              <a:t>шум</a:t>
            </a:r>
            <a:r>
              <a:rPr dirty="0"/>
              <a:t>, </a:t>
            </a:r>
            <a:r>
              <a:rPr dirty="0" err="1"/>
              <a:t>выделяет</a:t>
            </a:r>
            <a:r>
              <a:rPr dirty="0"/>
              <a:t>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тренд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rolling_mean</a:t>
            </a:r>
            <a:r>
              <a:rPr dirty="0"/>
              <a:t>(</a:t>
            </a:r>
            <a:r>
              <a:rPr dirty="0" err="1"/>
              <a:t>window_size</a:t>
            </a:r>
            <a:r>
              <a:rPr dirty="0"/>
              <a:t>=7) — </a:t>
            </a:r>
            <a:r>
              <a:rPr dirty="0" err="1"/>
              <a:t>недельное</a:t>
            </a:r>
            <a:r>
              <a:rPr dirty="0"/>
              <a:t> </a:t>
            </a:r>
            <a:r>
              <a:rPr dirty="0" err="1"/>
              <a:t>сглаживание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rolling_std</a:t>
            </a:r>
            <a:r>
              <a:rPr dirty="0"/>
              <a:t>(</a:t>
            </a:r>
            <a:r>
              <a:rPr dirty="0" err="1"/>
              <a:t>window_size</a:t>
            </a:r>
            <a:r>
              <a:rPr dirty="0"/>
              <a:t>=7) — </a:t>
            </a:r>
            <a:r>
              <a:rPr dirty="0" err="1"/>
              <a:t>разброс</a:t>
            </a:r>
            <a:r>
              <a:rPr dirty="0"/>
              <a:t> в </a:t>
            </a:r>
            <a:r>
              <a:rPr dirty="0" err="1"/>
              <a:t>окне</a:t>
            </a:r>
            <a:r>
              <a:rPr dirty="0"/>
              <a:t> (</a:t>
            </a:r>
            <a:r>
              <a:rPr dirty="0" err="1"/>
              <a:t>волатильность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rolling_min</a:t>
            </a:r>
            <a:r>
              <a:rPr dirty="0"/>
              <a:t> / </a:t>
            </a:r>
            <a:r>
              <a:rPr dirty="0" err="1"/>
              <a:t>rolling_max</a:t>
            </a:r>
            <a:r>
              <a:rPr dirty="0"/>
              <a:t> — </a:t>
            </a:r>
            <a:r>
              <a:rPr dirty="0" err="1"/>
              <a:t>экстремумы</a:t>
            </a:r>
            <a:r>
              <a:rPr dirty="0"/>
              <a:t> в </a:t>
            </a:r>
            <a:r>
              <a:rPr dirty="0" err="1"/>
              <a:t>окне</a:t>
            </a:r>
            <a:endParaRPr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567849"/>
              </p:ext>
            </p:extLst>
          </p:nvPr>
        </p:nvGraphicFramePr>
        <p:xfrm>
          <a:off x="914400" y="4572000"/>
          <a:ext cx="10058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/>
                        <a:t>Операция</a:t>
                      </a:r>
                      <a:endParaRPr sz="1600" dirty="0"/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Метод Polars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Что делает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sz="1600" dirty="0" err="1"/>
                        <a:t>Сдвиг</a:t>
                      </a:r>
                      <a:endParaRPr sz="1600" dirty="0"/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sz="1600"/>
                        <a:t>.shift(k)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sz="1600" dirty="0" err="1"/>
                        <a:t>Лаг</a:t>
                      </a:r>
                      <a:r>
                        <a:rPr sz="1600" dirty="0"/>
                        <a:t>: </a:t>
                      </a:r>
                      <a:r>
                        <a:rPr sz="1600" dirty="0" err="1" smtClean="0"/>
                        <a:t>y</a:t>
                      </a:r>
                      <a:r>
                        <a:rPr sz="1600" baseline="-25000" dirty="0" err="1" smtClean="0"/>
                        <a:t>t</a:t>
                      </a:r>
                      <a:r>
                        <a:rPr sz="1600" baseline="-25000" dirty="0" smtClean="0"/>
                        <a:t>-k</a:t>
                      </a:r>
                      <a:endParaRPr sz="1600" baseline="-25000" dirty="0"/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sz="1600" dirty="0" err="1"/>
                        <a:t>Разность</a:t>
                      </a:r>
                      <a:endParaRPr sz="1600" dirty="0"/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sz="1600" dirty="0"/>
                        <a:t>.diff()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sz="1600" dirty="0" err="1" smtClean="0"/>
                        <a:t>y</a:t>
                      </a:r>
                      <a:r>
                        <a:rPr sz="1600" baseline="-25000" dirty="0" err="1" smtClean="0"/>
                        <a:t>t</a:t>
                      </a:r>
                      <a:r>
                        <a:rPr sz="1600" dirty="0" smtClean="0"/>
                        <a:t> </a:t>
                      </a:r>
                      <a:r>
                        <a:rPr sz="1600" dirty="0"/>
                        <a:t>- </a:t>
                      </a:r>
                      <a:r>
                        <a:rPr sz="1600" dirty="0" smtClean="0"/>
                        <a:t>y</a:t>
                      </a:r>
                      <a:r>
                        <a:rPr sz="1600" baseline="-25000" dirty="0" smtClean="0"/>
                        <a:t>t-1</a:t>
                      </a:r>
                      <a:endParaRPr sz="1600" baseline="-25000" dirty="0"/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sz="1600"/>
                        <a:t>Скользящее среднее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sz="1600" dirty="0"/>
                        <a:t>.</a:t>
                      </a:r>
                      <a:r>
                        <a:rPr sz="1600" dirty="0" err="1"/>
                        <a:t>rolling_mean</a:t>
                      </a:r>
                      <a:r>
                        <a:rPr sz="1600" dirty="0"/>
                        <a:t>(</a:t>
                      </a:r>
                      <a:r>
                        <a:rPr sz="1600" dirty="0" err="1"/>
                        <a:t>window_size</a:t>
                      </a:r>
                      <a:r>
                        <a:rPr sz="1600" dirty="0"/>
                        <a:t>=w)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sz="1600" dirty="0" err="1"/>
                        <a:t>Среднее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по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окну</a:t>
                      </a:r>
                      <a:endParaRPr sz="1600" dirty="0"/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sz="1600"/>
                        <a:t>Скользящее СКО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sz="1600" dirty="0"/>
                        <a:t>.</a:t>
                      </a:r>
                      <a:r>
                        <a:rPr sz="1600" dirty="0" err="1"/>
                        <a:t>rolling_std</a:t>
                      </a:r>
                      <a:r>
                        <a:rPr sz="1600" dirty="0"/>
                        <a:t>(</a:t>
                      </a:r>
                      <a:r>
                        <a:rPr sz="1600" dirty="0" err="1"/>
                        <a:t>window_size</a:t>
                      </a:r>
                      <a:r>
                        <a:rPr sz="1600" dirty="0"/>
                        <a:t>=w)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sz="1600" dirty="0" err="1"/>
                        <a:t>Разброс</a:t>
                      </a:r>
                      <a:r>
                        <a:rPr sz="1600" dirty="0"/>
                        <a:t> в </a:t>
                      </a:r>
                      <a:r>
                        <a:rPr sz="1600" dirty="0" err="1"/>
                        <a:t>окне</a:t>
                      </a:r>
                      <a:endParaRPr sz="1600" dirty="0"/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15" name="Прямоугольник 14"/>
          <p:cNvSpPr/>
          <p:nvPr/>
        </p:nvSpPr>
        <p:spPr>
          <a:xfrm>
            <a:off x="430578" y="2103120"/>
            <a:ext cx="6469091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w — ширина окна (</a:t>
            </a:r>
            <a:r>
              <a:rPr lang="ru-RU" sz="1400" dirty="0" err="1"/>
              <a:t>window</a:t>
            </a:r>
            <a:r>
              <a:rPr lang="ru-RU" sz="1400" dirty="0"/>
              <a:t> </a:t>
            </a:r>
            <a:r>
              <a:rPr lang="ru-RU" sz="1400" dirty="0" err="1"/>
              <a:t>size</a:t>
            </a:r>
            <a:r>
              <a:rPr lang="ru-RU" sz="1400" dirty="0"/>
              <a:t>). Это количество последних значений временного ряда, которые мы берём для расчёта среднего.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err="1" smtClean="0"/>
              <a:t>y</a:t>
            </a:r>
            <a:r>
              <a:rPr lang="ru-RU" sz="1400" baseline="-25000" dirty="0" err="1" smtClean="0"/>
              <a:t>t</a:t>
            </a:r>
            <a:r>
              <a:rPr lang="ru-RU" sz="1400" baseline="-25000" dirty="0" smtClean="0"/>
              <a:t>-i</a:t>
            </a:r>
            <a:r>
              <a:rPr lang="ru-RU" sz="1400" dirty="0"/>
              <a:t> — значение временного ряда в момент времени t-i.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i — индекс, который пробегает значения от 0 до w-1. С его помощью мы «сдвигаем» окно: для текущего момента времени t в сумму входят значения y в точках t, t-1, t-2, ..., t-w+1.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 1/w — коэффициент, который даёт среднее арифметическое.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EWMA — экспоненциально взвешенное среднее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Calibri"/>
              </a:defRPr>
            </a:pPr>
            <a:r>
              <a:t>Более старым наблюдениям — меньшие веса, веса убывают экспоненциально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6437"/>
            <a:ext cx="574335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A726"/>
                </a:solidFill>
                <a:latin typeface="Calibri"/>
              </a:defRPr>
            </a:pPr>
            <a:r>
              <a:rPr dirty="0" err="1" smtClean="0"/>
              <a:t>ewm</a:t>
            </a:r>
            <a:r>
              <a:rPr baseline="-25000" dirty="0" err="1" smtClean="0"/>
              <a:t>t</a:t>
            </a:r>
            <a:r>
              <a:rPr dirty="0" smtClean="0"/>
              <a:t> </a:t>
            </a:r>
            <a:r>
              <a:rPr dirty="0"/>
              <a:t>= α · </a:t>
            </a: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dirty="0" smtClean="0"/>
              <a:t> </a:t>
            </a:r>
            <a:r>
              <a:rPr dirty="0"/>
              <a:t>+ (1 - α) · </a:t>
            </a:r>
            <a:r>
              <a:rPr dirty="0" smtClean="0"/>
              <a:t>ewm</a:t>
            </a:r>
            <a:r>
              <a:rPr baseline="-25000" dirty="0" smtClean="0"/>
              <a:t>t-1</a:t>
            </a:r>
            <a:endParaRPr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-2428369" y="25607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726"/>
                </a:solidFill>
                <a:latin typeface="Calibri"/>
              </a:defRPr>
            </a:pPr>
            <a:r>
              <a:rPr dirty="0" err="1"/>
              <a:t>где</a:t>
            </a:r>
            <a:r>
              <a:rPr dirty="0"/>
              <a:t>  α = 2 / (span + 1)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66123"/>
            <a:ext cx="603041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EWMA </a:t>
            </a:r>
            <a:r>
              <a:rPr dirty="0" err="1"/>
              <a:t>взвешивает</a:t>
            </a:r>
            <a:r>
              <a:rPr dirty="0"/>
              <a:t> </a:t>
            </a:r>
            <a:r>
              <a:rPr dirty="0" err="1"/>
              <a:t>недавние</a:t>
            </a:r>
            <a:r>
              <a:rPr dirty="0"/>
              <a:t> </a:t>
            </a:r>
            <a:r>
              <a:rPr dirty="0" err="1"/>
              <a:t>точки</a:t>
            </a:r>
            <a:r>
              <a:rPr dirty="0"/>
              <a:t> </a:t>
            </a:r>
            <a:r>
              <a:rPr dirty="0" err="1"/>
              <a:t>сильнее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простое</a:t>
            </a:r>
            <a:r>
              <a:rPr dirty="0"/>
              <a:t> </a:t>
            </a:r>
            <a:r>
              <a:rPr dirty="0" err="1"/>
              <a:t>скользящее</a:t>
            </a:r>
            <a:r>
              <a:rPr dirty="0"/>
              <a:t> </a:t>
            </a:r>
            <a:r>
              <a:rPr dirty="0" err="1"/>
              <a:t>среднее</a:t>
            </a:r>
            <a:endParaRPr dirty="0"/>
          </a:p>
          <a:p>
            <a:pPr algn="just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span,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глаже</a:t>
            </a:r>
            <a:r>
              <a:rPr dirty="0"/>
              <a:t> </a:t>
            </a:r>
            <a:r>
              <a:rPr dirty="0" err="1"/>
              <a:t>кривая</a:t>
            </a:r>
            <a:r>
              <a:rPr dirty="0"/>
              <a:t> и </a:t>
            </a:r>
            <a:r>
              <a:rPr dirty="0" err="1"/>
              <a:t>медленнее</a:t>
            </a:r>
            <a:r>
              <a:rPr dirty="0"/>
              <a:t> </a:t>
            </a:r>
            <a:r>
              <a:rPr dirty="0" err="1"/>
              <a:t>реакция</a:t>
            </a:r>
            <a:endParaRPr dirty="0"/>
          </a:p>
          <a:p>
            <a:pPr algn="just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В </a:t>
            </a:r>
            <a:r>
              <a:rPr dirty="0" err="1"/>
              <a:t>Polars</a:t>
            </a:r>
            <a:r>
              <a:rPr dirty="0"/>
              <a:t>: .</a:t>
            </a:r>
            <a:r>
              <a:rPr dirty="0" err="1"/>
              <a:t>ewm_mean</a:t>
            </a:r>
            <a:r>
              <a:rPr dirty="0"/>
              <a:t>(span=30)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117148"/>
              </p:ext>
            </p:extLst>
          </p:nvPr>
        </p:nvGraphicFramePr>
        <p:xfrm>
          <a:off x="914400" y="5227637"/>
          <a:ext cx="10058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Метод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Память о прошлом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Реакция на скачок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rolling_mean(w=7)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Равномерная, 7 дней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Резкая, потом забывает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ewm_mean(span=30)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Экспоненциальная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dirty="0" err="1"/>
                        <a:t>Плавная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затухает</a:t>
                      </a:r>
                      <a:endParaRPr dirty="0"/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423685" y="3272938"/>
            <a:ext cx="996580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solidFill>
                  <a:srgbClr val="CCCCCC"/>
                </a:solidFill>
                <a:latin typeface="Calibri"/>
              </a:rPr>
              <a:t>- </a:t>
            </a:r>
            <a:r>
              <a:rPr lang="ru-RU" dirty="0" err="1" smtClean="0">
                <a:solidFill>
                  <a:srgbClr val="CCCCCC"/>
                </a:solidFill>
                <a:latin typeface="Calibri"/>
              </a:rPr>
              <a:t>ewm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ₜ — значение EWM-среднего в момент времени t.</a:t>
            </a:r>
          </a:p>
          <a:p>
            <a:pPr algn="just"/>
            <a:r>
              <a:rPr lang="en-US" dirty="0" smtClean="0">
                <a:solidFill>
                  <a:srgbClr val="CCCCCC"/>
                </a:solidFill>
                <a:latin typeface="Calibri"/>
              </a:rPr>
              <a:t>- </a:t>
            </a:r>
            <a:r>
              <a:rPr lang="ru-RU" dirty="0" smtClean="0">
                <a:solidFill>
                  <a:srgbClr val="CCCCCC"/>
                </a:solidFill>
                <a:latin typeface="Calibri"/>
              </a:rPr>
              <a:t>y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ₜ — текущее значение временного ряда в момент t.</a:t>
            </a:r>
          </a:p>
          <a:p>
            <a:pPr algn="just"/>
            <a:r>
              <a:rPr lang="en-US" dirty="0" smtClean="0">
                <a:solidFill>
                  <a:srgbClr val="CCCCCC"/>
                </a:solidFill>
                <a:latin typeface="Calibri"/>
              </a:rPr>
              <a:t>- </a:t>
            </a:r>
            <a:r>
              <a:rPr lang="ru-RU" dirty="0" smtClean="0">
                <a:solidFill>
                  <a:srgbClr val="CCCCCC"/>
                </a:solidFill>
                <a:latin typeface="Calibri"/>
              </a:rPr>
              <a:t>α 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 — фактор сглаживания (</a:t>
            </a:r>
            <a:r>
              <a:rPr lang="ru-RU" dirty="0" err="1">
                <a:solidFill>
                  <a:srgbClr val="CCCCCC"/>
                </a:solidFill>
                <a:latin typeface="Calibri"/>
              </a:rPr>
              <a:t>smoothing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 </a:t>
            </a:r>
            <a:r>
              <a:rPr lang="ru-RU" dirty="0" err="1">
                <a:solidFill>
                  <a:srgbClr val="CCCCCC"/>
                </a:solidFill>
                <a:latin typeface="Calibri"/>
              </a:rPr>
              <a:t>factor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). Это число от 0 до 1 (0 &lt; α ≤ 1). Он определяет, насколько быстро веса прошлых данных «увядают».</a:t>
            </a:r>
          </a:p>
          <a:p>
            <a:pPr marL="285750" indent="-285750" algn="just">
              <a:buFontTx/>
              <a:buChar char="-"/>
            </a:pPr>
            <a:r>
              <a:rPr lang="ru-RU" dirty="0" err="1" smtClean="0">
                <a:solidFill>
                  <a:srgbClr val="CCCCCC"/>
                </a:solidFill>
                <a:latin typeface="Calibri"/>
              </a:rPr>
              <a:t>ewm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ₜ₋₁ — значение EWM-среднего в предыдущий момент времени (t-1</a:t>
            </a:r>
            <a:r>
              <a:rPr lang="ru-RU" dirty="0" smtClean="0">
                <a:solidFill>
                  <a:srgbClr val="CCCCCC"/>
                </a:solidFill>
                <a:latin typeface="Calibri"/>
              </a:rPr>
              <a:t>).</a:t>
            </a:r>
            <a:endParaRPr lang="en-US" dirty="0" smtClean="0">
              <a:solidFill>
                <a:srgbClr val="CCCCCC"/>
              </a:solidFill>
              <a:latin typeface="Calibri"/>
            </a:endParaRPr>
          </a:p>
          <a:p>
            <a:pPr algn="just"/>
            <a:r>
              <a:rPr lang="en-US" dirty="0" smtClean="0">
                <a:solidFill>
                  <a:srgbClr val="CCCCCC"/>
                </a:solidFill>
                <a:latin typeface="Calibri"/>
              </a:rPr>
              <a:t>-    </a:t>
            </a:r>
            <a:r>
              <a:rPr lang="ru-RU" dirty="0" err="1" smtClean="0">
                <a:solidFill>
                  <a:srgbClr val="CCCCCC"/>
                </a:solidFill>
                <a:latin typeface="Calibri"/>
              </a:rPr>
              <a:t>span</a:t>
            </a:r>
            <a:r>
              <a:rPr lang="ru-RU" dirty="0" smtClean="0">
                <a:solidFill>
                  <a:srgbClr val="CCCCCC"/>
                </a:solidFill>
                <a:latin typeface="Calibri"/>
              </a:rPr>
              <a:t> 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задают как «период» сглаживания</a:t>
            </a:r>
            <a:endParaRPr lang="ru-RU" dirty="0">
              <a:solidFill>
                <a:srgbClr val="CCCCCC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Проблема календарных признаков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5 · sin/cos кодировка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День недели 1 (понедельник) и 7 (воскресенье) — модель видит числа 1 и 7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Модель воспринимает их как «далеко друг от друга», хотя это соседи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Месяц 12 и месяц 1 — та же проблема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Линейные модели не «понимают» цикличность чисел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A5F5"/>
                </a:solidFill>
                <a:latin typeface="Calibri"/>
              </a:defRPr>
            </a:pPr>
            <a:r>
              <a:t>Решение — sin/cos кодировка: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A726"/>
                </a:solidFill>
                <a:latin typeface="Calibri"/>
              </a:defRPr>
            </a:pPr>
            <a:r>
              <a:rPr dirty="0"/>
              <a:t>sin(2π · d / 7),   cos(2π · d / 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Понедельник и воскресенье оказываются рядом на единичной окружности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Цикл замыкается: 1 → 7 → 1 — непрерывно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Модель получает два признака вместо одного, но с правильной топологией</a:t>
            </a: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Ряды</a:t>
            </a:r>
            <a:r>
              <a:rPr dirty="0"/>
              <a:t> </a:t>
            </a:r>
            <a:r>
              <a:rPr dirty="0" err="1"/>
              <a:t>Фурье</a:t>
            </a:r>
            <a:r>
              <a:rPr dirty="0"/>
              <a:t> — </a:t>
            </a:r>
            <a:r>
              <a:rPr dirty="0" err="1"/>
              <a:t>обобщение</a:t>
            </a:r>
            <a:r>
              <a:rPr dirty="0"/>
              <a:t> </a:t>
            </a:r>
            <a:r>
              <a:rPr dirty="0" err="1"/>
              <a:t>сезонности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Разложение в гармонический ряд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Calibri"/>
              </a:defRPr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ряд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период</a:t>
            </a:r>
            <a:r>
              <a:rPr dirty="0"/>
              <a:t> P, </a:t>
            </a:r>
            <a:r>
              <a:rPr dirty="0" err="1"/>
              <a:t>сезонность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разложить</a:t>
            </a:r>
            <a:r>
              <a:rPr dirty="0"/>
              <a:t> в </a:t>
            </a:r>
            <a:r>
              <a:rPr dirty="0" err="1"/>
              <a:t>ряд</a:t>
            </a:r>
            <a:r>
              <a:rPr dirty="0"/>
              <a:t> </a:t>
            </a:r>
            <a:r>
              <a:rPr dirty="0" err="1"/>
              <a:t>Фурье</a:t>
            </a:r>
            <a:r>
              <a:rPr dirty="0"/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909985"/>
            <a:ext cx="66762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726"/>
                </a:solidFill>
                <a:latin typeface="Calibri"/>
              </a:defRPr>
            </a:pPr>
            <a:r>
              <a:rPr dirty="0"/>
              <a:t>S(t) = Σ [</a:t>
            </a:r>
            <a:r>
              <a:rPr dirty="0" err="1" smtClean="0"/>
              <a:t>a</a:t>
            </a:r>
            <a:r>
              <a:rPr baseline="-25000" dirty="0" err="1" smtClean="0"/>
              <a:t>k</a:t>
            </a:r>
            <a:r>
              <a:rPr dirty="0" smtClean="0"/>
              <a:t> </a:t>
            </a:r>
            <a:r>
              <a:rPr dirty="0"/>
              <a:t>sin(2π</a:t>
            </a:r>
            <a:r>
              <a:rPr dirty="0" err="1"/>
              <a:t>kt</a:t>
            </a:r>
            <a:r>
              <a:rPr dirty="0"/>
              <a:t>/P) + </a:t>
            </a:r>
            <a:r>
              <a:rPr dirty="0" err="1" smtClean="0"/>
              <a:t>b</a:t>
            </a:r>
            <a:r>
              <a:rPr baseline="-25000" dirty="0" err="1" smtClean="0"/>
              <a:t>k</a:t>
            </a:r>
            <a:r>
              <a:rPr dirty="0" smtClean="0"/>
              <a:t> </a:t>
            </a:r>
            <a:r>
              <a:rPr dirty="0"/>
              <a:t>cos(2π</a:t>
            </a:r>
            <a:r>
              <a:rPr dirty="0" err="1"/>
              <a:t>kt</a:t>
            </a:r>
            <a:r>
              <a:rPr dirty="0"/>
              <a:t>/P)],  k=1..K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5362" y="1984107"/>
            <a:ext cx="4882538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пара</a:t>
            </a:r>
            <a:r>
              <a:rPr dirty="0"/>
              <a:t> (sin, cos)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гармоники</a:t>
            </a:r>
            <a:r>
              <a:rPr dirty="0"/>
              <a:t> k — </a:t>
            </a:r>
            <a:r>
              <a:rPr dirty="0" err="1"/>
              <a:t>один</a:t>
            </a:r>
            <a:r>
              <a:rPr dirty="0"/>
              <a:t> «</a:t>
            </a:r>
            <a:r>
              <a:rPr dirty="0" err="1"/>
              <a:t>этаж</a:t>
            </a:r>
            <a:r>
              <a:rPr dirty="0"/>
              <a:t>» </a:t>
            </a:r>
            <a:r>
              <a:rPr dirty="0" err="1"/>
              <a:t>сезонной</a:t>
            </a:r>
            <a:r>
              <a:rPr dirty="0"/>
              <a:t> </a:t>
            </a:r>
            <a:r>
              <a:rPr dirty="0" err="1"/>
              <a:t>волны</a:t>
            </a:r>
            <a:endParaRPr dirty="0"/>
          </a:p>
          <a:p>
            <a:pPr algn="just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K,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сложнее</a:t>
            </a:r>
            <a:r>
              <a:rPr dirty="0"/>
              <a:t> </a:t>
            </a:r>
            <a:r>
              <a:rPr dirty="0" err="1"/>
              <a:t>форму</a:t>
            </a:r>
            <a:r>
              <a:rPr dirty="0"/>
              <a:t> </a:t>
            </a:r>
            <a:r>
              <a:rPr dirty="0" err="1"/>
              <a:t>сезонности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описать</a:t>
            </a:r>
            <a:endParaRPr dirty="0"/>
          </a:p>
          <a:p>
            <a:pPr algn="just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энергопотребления</a:t>
            </a:r>
            <a:r>
              <a:rPr dirty="0"/>
              <a:t>: P=7 (</a:t>
            </a:r>
            <a:r>
              <a:rPr dirty="0" err="1"/>
              <a:t>недельная</a:t>
            </a:r>
            <a:r>
              <a:rPr dirty="0"/>
              <a:t>), P=365.25 (</a:t>
            </a:r>
            <a:r>
              <a:rPr dirty="0" err="1"/>
              <a:t>годовая</a:t>
            </a:r>
            <a:r>
              <a:rPr dirty="0"/>
              <a:t>)</a:t>
            </a:r>
          </a:p>
          <a:p>
            <a:pPr algn="just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сама</a:t>
            </a:r>
            <a:r>
              <a:rPr dirty="0"/>
              <a:t> </a:t>
            </a:r>
            <a:r>
              <a:rPr dirty="0" err="1"/>
              <a:t>подберёт</a:t>
            </a:r>
            <a:r>
              <a:rPr dirty="0"/>
              <a:t> </a:t>
            </a:r>
            <a:r>
              <a:rPr dirty="0" err="1"/>
              <a:t>коэффициенты</a:t>
            </a:r>
            <a:r>
              <a:rPr dirty="0"/>
              <a:t> </a:t>
            </a:r>
            <a:r>
              <a:rPr dirty="0" err="1" smtClean="0"/>
              <a:t>a</a:t>
            </a:r>
            <a:r>
              <a:rPr baseline="-25000" dirty="0" err="1" smtClean="0"/>
              <a:t>k</a:t>
            </a:r>
            <a:r>
              <a:rPr dirty="0"/>
              <a:t>, </a:t>
            </a:r>
            <a:r>
              <a:rPr dirty="0" err="1" smtClean="0"/>
              <a:t>b</a:t>
            </a:r>
            <a:r>
              <a:rPr baseline="-25000" dirty="0" err="1" smtClean="0"/>
              <a:t>k</a:t>
            </a:r>
            <a:r>
              <a:rPr dirty="0" smtClean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регрессию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Недельная</a:t>
            </a:r>
            <a:r>
              <a:rPr dirty="0"/>
              <a:t> </a:t>
            </a:r>
            <a:r>
              <a:rPr dirty="0" err="1" smtClean="0"/>
              <a:t>сезонность</a:t>
            </a:r>
            <a:endParaRPr lang="en-US" dirty="0" smtClean="0"/>
          </a:p>
          <a:p>
            <a:pPr algn="ctr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smtClean="0"/>
              <a:t> (2*pi * col("</a:t>
            </a:r>
            <a:r>
              <a:rPr dirty="0" err="1" smtClean="0"/>
              <a:t>dayofyear</a:t>
            </a:r>
            <a:r>
              <a:rPr dirty="0" smtClean="0"/>
              <a:t>") * k / 7).sin().alias(f"fourier_7_k{k}_sin")</a:t>
            </a:r>
          </a:p>
          <a:p>
            <a:pPr lvl="4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smtClean="0"/>
              <a:t>(2*pi * col("</a:t>
            </a:r>
            <a:r>
              <a:rPr dirty="0" err="1" smtClean="0"/>
              <a:t>dayofyear</a:t>
            </a:r>
            <a:r>
              <a:rPr dirty="0" smtClean="0"/>
              <a:t>") * k / 7).cos().alias(f"fourier_7_k{k}_cos")</a:t>
            </a:r>
            <a:endParaRPr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548640" y="2459535"/>
            <a:ext cx="601420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solidFill>
                  <a:srgbClr val="CCCCCC"/>
                </a:solidFill>
                <a:latin typeface="Calibri"/>
              </a:rPr>
              <a:t>- </a:t>
            </a:r>
            <a:r>
              <a:rPr lang="ru-RU" dirty="0" smtClean="0">
                <a:solidFill>
                  <a:srgbClr val="CCCCCC"/>
                </a:solidFill>
                <a:latin typeface="Calibri"/>
              </a:rPr>
              <a:t>a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ₖ и bₖ — некоторые числа (коэффициенты).</a:t>
            </a:r>
          </a:p>
          <a:p>
            <a:pPr algn="just"/>
            <a:r>
              <a:rPr lang="en-US" dirty="0" smtClean="0">
                <a:solidFill>
                  <a:srgbClr val="CCCCCC"/>
                </a:solidFill>
                <a:latin typeface="Calibri"/>
              </a:rPr>
              <a:t>- </a:t>
            </a:r>
            <a:r>
              <a:rPr lang="ru-RU" dirty="0" err="1" smtClean="0">
                <a:solidFill>
                  <a:srgbClr val="CCCCCC"/>
                </a:solidFill>
                <a:latin typeface="Calibri"/>
              </a:rPr>
              <a:t>sin</a:t>
            </a:r>
            <a:r>
              <a:rPr lang="ru-RU" dirty="0" smtClean="0">
                <a:solidFill>
                  <a:srgbClr val="CCCCCC"/>
                </a:solidFill>
                <a:latin typeface="Calibri"/>
              </a:rPr>
              <a:t>(2π</a:t>
            </a:r>
            <a:r>
              <a:rPr lang="ru-RU" dirty="0" err="1" smtClean="0">
                <a:solidFill>
                  <a:srgbClr val="CCCCCC"/>
                </a:solidFill>
                <a:latin typeface="Calibri"/>
              </a:rPr>
              <a:t>kt</a:t>
            </a:r>
            <a:r>
              <a:rPr lang="ru-RU" dirty="0" smtClean="0">
                <a:solidFill>
                  <a:srgbClr val="CCCCCC"/>
                </a:solidFill>
                <a:latin typeface="Calibri"/>
              </a:rPr>
              <a:t>/P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) и </a:t>
            </a:r>
            <a:r>
              <a:rPr lang="ru-RU" dirty="0" err="1">
                <a:solidFill>
                  <a:srgbClr val="CCCCCC"/>
                </a:solidFill>
                <a:latin typeface="Calibri"/>
              </a:rPr>
              <a:t>cos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(2π</a:t>
            </a:r>
            <a:r>
              <a:rPr lang="ru-RU" dirty="0" err="1">
                <a:solidFill>
                  <a:srgbClr val="CCCCCC"/>
                </a:solidFill>
                <a:latin typeface="Calibri"/>
              </a:rPr>
              <a:t>kt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/P) — тригонометрические функции. Для каждого k строится своя пара слагаемых: синус и косинус с одним и тем же аргументом 2π</a:t>
            </a:r>
            <a:r>
              <a:rPr lang="ru-RU" dirty="0" err="1">
                <a:solidFill>
                  <a:srgbClr val="CCCCCC"/>
                </a:solidFill>
                <a:latin typeface="Calibri"/>
              </a:rPr>
              <a:t>kt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/P.</a:t>
            </a:r>
          </a:p>
          <a:p>
            <a:pPr algn="just"/>
            <a:r>
              <a:rPr lang="en-US" dirty="0" smtClean="0">
                <a:solidFill>
                  <a:srgbClr val="CCCCCC"/>
                </a:solidFill>
                <a:latin typeface="Calibri"/>
              </a:rPr>
              <a:t>- </a:t>
            </a:r>
            <a:r>
              <a:rPr lang="ru-RU" dirty="0" smtClean="0">
                <a:solidFill>
                  <a:srgbClr val="CCCCCC"/>
                </a:solidFill>
                <a:latin typeface="Calibri"/>
              </a:rPr>
              <a:t>P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 — некоторая константа (часто её называют периодом). 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Она показывает, через какой интервал функция повторяется (периодичность).</a:t>
            </a:r>
          </a:p>
          <a:p>
            <a:pPr algn="just"/>
            <a:r>
              <a:rPr lang="en-US" dirty="0" smtClean="0">
                <a:solidFill>
                  <a:srgbClr val="CCCCCC"/>
                </a:solidFill>
                <a:latin typeface="Calibri"/>
              </a:rPr>
              <a:t>- </a:t>
            </a:r>
            <a:r>
              <a:rPr lang="ru-RU" dirty="0" smtClean="0">
                <a:solidFill>
                  <a:srgbClr val="CCCCCC"/>
                </a:solidFill>
                <a:latin typeface="Calibri"/>
              </a:rPr>
              <a:t>t</a:t>
            </a:r>
            <a:r>
              <a:rPr lang="ru-RU" dirty="0">
                <a:solidFill>
                  <a:srgbClr val="CCCCCC"/>
                </a:solidFill>
                <a:latin typeface="Calibri"/>
              </a:rPr>
              <a:t> — переменная, обычно представляющая время или другую независимую величину.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Polars: Lazy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6 · Отложенное выполнение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Calibri"/>
              </a:defRPr>
            </a:pPr>
            <a:r>
              <a:t>Polars строит план запроса, оптимизирует его и выполняет только при .collect()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t>df.lazy().with_columns([...]).filter([...]).collect()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  <a:latin typeface="Calibri"/>
              </a:defRPr>
            </a:pPr>
            <a:r>
              <a:t>Зачем: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339" y="3231446"/>
            <a:ext cx="1058852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Оптимизатор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решает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колонки</a:t>
            </a:r>
            <a:r>
              <a:rPr dirty="0"/>
              <a:t> </a:t>
            </a:r>
            <a:r>
              <a:rPr dirty="0" err="1"/>
              <a:t>реально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—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считает</a:t>
            </a:r>
            <a:r>
              <a:rPr dirty="0"/>
              <a:t> </a:t>
            </a:r>
            <a:r>
              <a:rPr dirty="0" err="1"/>
              <a:t>лишнее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Пайплайн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20 .</a:t>
            </a:r>
            <a:r>
              <a:rPr dirty="0" err="1"/>
              <a:t>with_columns</a:t>
            </a:r>
            <a:r>
              <a:rPr dirty="0"/>
              <a:t>() </a:t>
            </a:r>
            <a:r>
              <a:rPr dirty="0" err="1"/>
              <a:t>выполнится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проход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smtClean="0"/>
              <a:t> </a:t>
            </a:r>
            <a:r>
              <a:rPr lang="ru-RU" dirty="0" smtClean="0"/>
              <a:t>текущего небольшого набора</a:t>
            </a:r>
            <a:r>
              <a:rPr dirty="0" smtClean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критично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привычка</a:t>
            </a:r>
            <a:r>
              <a:rPr dirty="0"/>
              <a:t> </a:t>
            </a:r>
            <a:r>
              <a:rPr dirty="0" err="1"/>
              <a:t>важна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больших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Аналогично</a:t>
            </a:r>
            <a:r>
              <a:rPr dirty="0"/>
              <a:t> Spark: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строится</a:t>
            </a:r>
            <a:r>
              <a:rPr dirty="0"/>
              <a:t> </a:t>
            </a:r>
            <a:r>
              <a:rPr dirty="0" smtClean="0"/>
              <a:t>DAG</a:t>
            </a:r>
            <a:r>
              <a:rPr lang="en-US" dirty="0" smtClean="0"/>
              <a:t> (</a:t>
            </a:r>
            <a:r>
              <a:rPr lang="ru-RU" dirty="0" smtClean="0"/>
              <a:t>ориентированный </a:t>
            </a:r>
            <a:r>
              <a:rPr lang="ru-RU" dirty="0"/>
              <a:t>ациклический </a:t>
            </a:r>
            <a:r>
              <a:rPr lang="ru-RU" dirty="0" smtClean="0"/>
              <a:t>граф </a:t>
            </a:r>
            <a:r>
              <a:rPr lang="ru-RU" dirty="0"/>
              <a:t>— план того, какие операции нужно выполнить, в каком порядке и какие данные для этого понадобятся.</a:t>
            </a:r>
            <a:r>
              <a:rPr lang="en-US" dirty="0" smtClean="0"/>
              <a:t>)</a:t>
            </a:r>
            <a:r>
              <a:rPr dirty="0" smtClean="0"/>
              <a:t>, </a:t>
            </a:r>
            <a:r>
              <a:rPr dirty="0" err="1"/>
              <a:t>потом</a:t>
            </a:r>
            <a:r>
              <a:rPr dirty="0"/>
              <a:t> </a:t>
            </a:r>
            <a:r>
              <a:rPr dirty="0" err="1"/>
              <a:t>выполняется</a:t>
            </a:r>
            <a:endParaRPr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5303520"/>
          <a:ext cx="10058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Операция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Метод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Что делает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EWMA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.ewm_mean(span=s)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Экспоненциальное сглаживание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Сортировка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.sort("Date")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dirty="0" err="1"/>
                        <a:t>Обязательно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перед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лагами</a:t>
                      </a:r>
                      <a:endParaRPr dirty="0"/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Рекурсивный прогноз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7 · Multi-step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A5F5"/>
                </a:solidFill>
                <a:latin typeface="Calibri"/>
              </a:defRPr>
            </a:pPr>
            <a:r>
              <a:t>Прямой прогноз (one-step-ahead):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предсказывает</a:t>
            </a:r>
            <a:r>
              <a:rPr dirty="0"/>
              <a:t> </a:t>
            </a:r>
            <a:r>
              <a:rPr dirty="0" smtClean="0"/>
              <a:t>y</a:t>
            </a:r>
            <a:r>
              <a:rPr baseline="-25000" dirty="0" smtClean="0"/>
              <a:t>t+1</a:t>
            </a:r>
            <a:r>
              <a:rPr dirty="0" smtClean="0"/>
              <a:t>, </a:t>
            </a:r>
            <a:r>
              <a:rPr dirty="0" err="1"/>
              <a:t>имея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истинные</a:t>
            </a:r>
            <a:r>
              <a:rPr dirty="0"/>
              <a:t> </a:t>
            </a:r>
            <a:r>
              <a:rPr dirty="0" err="1"/>
              <a:t>признаки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Нереалистично</a:t>
            </a:r>
            <a:r>
              <a:rPr dirty="0"/>
              <a:t>: в </a:t>
            </a:r>
            <a:r>
              <a:rPr dirty="0" err="1"/>
              <a:t>момент</a:t>
            </a:r>
            <a:r>
              <a:rPr dirty="0"/>
              <a:t> t+1 </a:t>
            </a:r>
            <a:r>
              <a:rPr dirty="0" err="1"/>
              <a:t>лаг</a:t>
            </a:r>
            <a:r>
              <a:rPr dirty="0"/>
              <a:t> </a:t>
            </a: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dirty="0" smtClean="0"/>
              <a:t> </a:t>
            </a:r>
            <a:r>
              <a:rPr dirty="0" err="1"/>
              <a:t>ещё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известен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шага</a:t>
            </a:r>
            <a:r>
              <a:rPr dirty="0"/>
              <a:t> t+2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  <a:latin typeface="Calibri"/>
              </a:defRPr>
            </a:pPr>
            <a:r>
              <a:t>Рекурсивный прогноз (multi-step):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На каждом шаге модель подставляет собственный прогноз как новое значение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Пересчитывает признаки (лаги, скользящие средние) и предсказывает следующий шаг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Проблема: ошибки накапливаются (error accumulation)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7926" y="4937760"/>
            <a:ext cx="9954228" cy="13716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Шаг</a:t>
            </a:r>
            <a:r>
              <a:rPr dirty="0"/>
              <a:t> 1: </a:t>
            </a:r>
            <a:r>
              <a:rPr dirty="0" err="1"/>
              <a:t>предсказываем</a:t>
            </a:r>
            <a:r>
              <a:rPr dirty="0"/>
              <a:t> </a:t>
            </a:r>
            <a:r>
              <a:rPr dirty="0" smtClean="0"/>
              <a:t>ŷ</a:t>
            </a:r>
            <a:r>
              <a:rPr baseline="-25000" dirty="0" smtClean="0"/>
              <a:t>t+1</a:t>
            </a:r>
            <a:r>
              <a:rPr dirty="0" smtClean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известных</a:t>
            </a:r>
            <a:r>
              <a:rPr dirty="0"/>
              <a:t> </a:t>
            </a:r>
            <a:r>
              <a:rPr dirty="0" err="1"/>
              <a:t>лагов</a:t>
            </a: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lang="ru-RU" dirty="0" smtClean="0"/>
              <a:t>						</a:t>
            </a:r>
            <a:r>
              <a:rPr dirty="0" err="1" smtClean="0"/>
              <a:t>Шаг</a:t>
            </a:r>
            <a:r>
              <a:rPr dirty="0" smtClean="0"/>
              <a:t> </a:t>
            </a:r>
            <a:r>
              <a:rPr dirty="0"/>
              <a:t>2: </a:t>
            </a:r>
            <a:r>
              <a:rPr dirty="0" smtClean="0"/>
              <a:t>lag</a:t>
            </a:r>
            <a:r>
              <a:rPr baseline="-25000" dirty="0" smtClean="0"/>
              <a:t>1</a:t>
            </a:r>
            <a:r>
              <a:rPr dirty="0" smtClean="0"/>
              <a:t> </a:t>
            </a:r>
            <a:r>
              <a:rPr dirty="0"/>
              <a:t>= </a:t>
            </a:r>
            <a:r>
              <a:rPr dirty="0" smtClean="0"/>
              <a:t>ŷ</a:t>
            </a:r>
            <a:r>
              <a:rPr baseline="-25000" dirty="0" smtClean="0"/>
              <a:t>t+1</a:t>
            </a:r>
            <a:r>
              <a:rPr dirty="0" smtClean="0"/>
              <a:t>, </a:t>
            </a:r>
            <a:r>
              <a:rPr dirty="0" err="1"/>
              <a:t>пересчитываем</a:t>
            </a:r>
            <a:r>
              <a:rPr dirty="0"/>
              <a:t> rolling/EWMA, </a:t>
            </a:r>
            <a:r>
              <a:rPr dirty="0" err="1"/>
              <a:t>предсказываем</a:t>
            </a:r>
            <a:r>
              <a:rPr dirty="0"/>
              <a:t> </a:t>
            </a:r>
            <a:r>
              <a:rPr dirty="0" smtClean="0"/>
              <a:t>ŷ</a:t>
            </a:r>
            <a:r>
              <a:rPr baseline="-25000" dirty="0" smtClean="0"/>
              <a:t>t+2</a:t>
            </a:r>
            <a:endParaRPr baseline="-25000"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lang="ru-RU" dirty="0" smtClean="0"/>
              <a:t>						</a:t>
            </a:r>
            <a:r>
              <a:rPr dirty="0" err="1" smtClean="0"/>
              <a:t>Шаг</a:t>
            </a:r>
            <a:r>
              <a:rPr dirty="0" smtClean="0"/>
              <a:t> </a:t>
            </a:r>
            <a:r>
              <a:rPr dirty="0"/>
              <a:t>3: </a:t>
            </a:r>
            <a:r>
              <a:rPr dirty="0" smtClean="0"/>
              <a:t>lag</a:t>
            </a:r>
            <a:r>
              <a:rPr baseline="-25000" dirty="0" smtClean="0"/>
              <a:t>1</a:t>
            </a:r>
            <a:r>
              <a:rPr dirty="0" smtClean="0"/>
              <a:t> </a:t>
            </a:r>
            <a:r>
              <a:rPr dirty="0"/>
              <a:t>= </a:t>
            </a:r>
            <a:r>
              <a:rPr dirty="0" smtClean="0"/>
              <a:t>ŷ</a:t>
            </a:r>
            <a:r>
              <a:rPr baseline="-25000" dirty="0" smtClean="0"/>
              <a:t>t+2</a:t>
            </a:r>
            <a:r>
              <a:rPr lang="ru-RU" dirty="0" smtClean="0"/>
              <a:t> </a:t>
            </a:r>
            <a:r>
              <a:rPr dirty="0" smtClean="0"/>
              <a:t>, lag</a:t>
            </a:r>
            <a:r>
              <a:rPr baseline="-25000" dirty="0" smtClean="0"/>
              <a:t>7</a:t>
            </a:r>
            <a:r>
              <a:rPr dirty="0" smtClean="0"/>
              <a:t> </a:t>
            </a:r>
            <a:r>
              <a:rPr dirty="0"/>
              <a:t>= </a:t>
            </a:r>
            <a:r>
              <a:rPr dirty="0" smtClean="0"/>
              <a:t>ŷ</a:t>
            </a:r>
            <a:r>
              <a:rPr baseline="-25000" dirty="0" smtClean="0"/>
              <a:t>t+1</a:t>
            </a:r>
            <a:r>
              <a:rPr dirty="0" smtClean="0"/>
              <a:t>, </a:t>
            </a:r>
            <a:r>
              <a:rPr dirty="0" err="1"/>
              <a:t>пересчитываем</a:t>
            </a:r>
            <a:r>
              <a:rPr dirty="0"/>
              <a:t>, </a:t>
            </a:r>
            <a:r>
              <a:rPr dirty="0" err="1"/>
              <a:t>предсказываем</a:t>
            </a:r>
            <a:r>
              <a:rPr dirty="0"/>
              <a:t> </a:t>
            </a:r>
            <a:r>
              <a:rPr dirty="0" smtClean="0"/>
              <a:t>ŷ</a:t>
            </a:r>
            <a:r>
              <a:rPr baseline="-25000" dirty="0" smtClean="0"/>
              <a:t>t+3</a:t>
            </a:r>
            <a:endParaRPr baseline="-25000" dirty="0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Рекурсивный прогноз: когда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Плюсы, минусы, условия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  <a:latin typeface="Calibri"/>
              </a:defRPr>
            </a:pPr>
            <a:r>
              <a:t>Когда работает хорошо: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Ряд стационарен (тренд удалён)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Окно прогноза короткое (дни, не месяцы)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Модель улавливает сезонность через Фурье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Сезонность — не только через лаги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  <a:latin typeface="Calibri"/>
              </a:defRPr>
            </a:pPr>
            <a:r>
              <a:t>Главные риски: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Error accumulation — ошибки копятся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Завышенный прогноз на шаге 1 →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завышенные лаги на шаге 2 → ...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Долгий горизонт → экспоненциальный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рост неопределённости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A5F5"/>
                </a:solidFill>
                <a:latin typeface="Calibri"/>
              </a:defRPr>
            </a:pPr>
            <a:r>
              <a:t>Ключевая идея: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Модель подставляет свой прогноз как факт. Это позволяет предсказывать на много шагов вперёд, но каждый новый шаг опирается на предыдущие прогнозы, а не на реальные данные.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Стационарность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8 · Тест Дики-Фуллера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Calibri"/>
              </a:defRPr>
            </a:pPr>
            <a:r>
              <a:t>Ряд стационарен, если его среднее, дисперсия и автокорреляция не меняются со временем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F5350"/>
                </a:solidFill>
                <a:latin typeface="Calibri"/>
              </a:defRPr>
            </a:pPr>
            <a:r>
              <a:t>Энергопотребление НЕ стационарно: есть тренд и сезонность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  <a:latin typeface="Calibri"/>
              </a:defRPr>
            </a:pPr>
            <a:r>
              <a:t>Тест Дики-Фуллера (ADF):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H₀: ряд имеет единичный корень (не стационарен)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H₁: ряд стационарен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Если p &lt; 0.05 — ряд стационарен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Выравнивание тренда: добавляем разницу между максимумом тренда и текущим значением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2284" y="5151120"/>
            <a:ext cx="5636872" cy="109728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t>from statsmodels.tsa.stattools import adfuller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t>result = adfuller(series)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t>print(f"ADF={result[0]:.4f}, p={result[1]:.4f}")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Загрузка и первичный 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9 · Polars LazyFrame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10058400" cy="2532888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URL = "https://raw.githubusercontent.com/jenfly/opsd/..."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lf = pl.scan_csv(URL)  # LazyFrame — план вычислений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# Схема данных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schema = lf.schema  # {Date: Utf8, Consumption: Utf8, ...}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# Количество строк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n_rows = lf.select(pl.len()).collect().item()  # ~4383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# Доля пропусков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null_stats = lf.select([pl.col(c).is_null().mean() for c in lf.columns]).collect()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36023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scan_csv</a:t>
            </a:r>
            <a:r>
              <a:rPr dirty="0"/>
              <a:t>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LazyFrame</a:t>
            </a:r>
            <a:r>
              <a:rPr dirty="0"/>
              <a:t> — </a:t>
            </a:r>
            <a:r>
              <a:rPr dirty="0" err="1"/>
              <a:t>ничего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вычисляется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.collect()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Схема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типы</a:t>
            </a:r>
            <a:r>
              <a:rPr dirty="0"/>
              <a:t> </a:t>
            </a:r>
            <a:r>
              <a:rPr dirty="0" err="1"/>
              <a:t>колонок</a:t>
            </a:r>
            <a:r>
              <a:rPr dirty="0"/>
              <a:t> (</a:t>
            </a:r>
            <a:r>
              <a:rPr dirty="0" err="1"/>
              <a:t>всё</a:t>
            </a:r>
            <a:r>
              <a:rPr dirty="0"/>
              <a:t> Utf8 — </a:t>
            </a:r>
            <a:r>
              <a:rPr dirty="0" err="1"/>
              <a:t>строки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CSV)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Пропуски</a:t>
            </a:r>
            <a:r>
              <a:rPr dirty="0"/>
              <a:t>: Wind и Solar </a:t>
            </a:r>
            <a:r>
              <a:rPr dirty="0" err="1"/>
              <a:t>имеют</a:t>
            </a:r>
            <a:r>
              <a:rPr dirty="0"/>
              <a:t> ~25% null (</a:t>
            </a:r>
            <a:r>
              <a:rPr dirty="0" err="1"/>
              <a:t>появились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Далее</a:t>
            </a:r>
            <a:r>
              <a:rPr dirty="0"/>
              <a:t> </a:t>
            </a:r>
            <a:r>
              <a:rPr dirty="0" err="1"/>
              <a:t>приводим</a:t>
            </a:r>
            <a:r>
              <a:rPr dirty="0"/>
              <a:t> </a:t>
            </a:r>
            <a:r>
              <a:rPr dirty="0" err="1"/>
              <a:t>типы</a:t>
            </a:r>
            <a:r>
              <a:rPr dirty="0"/>
              <a:t>: Date → Date, </a:t>
            </a:r>
            <a:r>
              <a:rPr dirty="0" err="1"/>
              <a:t>числа</a:t>
            </a:r>
            <a:r>
              <a:rPr dirty="0"/>
              <a:t> → Float64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Приведение типов в Polars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with_columns + cast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058400" cy="242316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lf = </a:t>
            </a:r>
            <a:r>
              <a:rPr dirty="0" err="1"/>
              <a:t>lf.with_columns</a:t>
            </a:r>
            <a:r>
              <a:rPr dirty="0"/>
              <a:t>([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pl.col</a:t>
            </a:r>
            <a:r>
              <a:rPr dirty="0"/>
              <a:t>("Date").</a:t>
            </a:r>
            <a:r>
              <a:rPr dirty="0" err="1"/>
              <a:t>str.to_date</a:t>
            </a:r>
            <a:r>
              <a:rPr dirty="0"/>
              <a:t>(format="%Y-%m-%d"),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pl.col</a:t>
            </a:r>
            <a:r>
              <a:rPr dirty="0"/>
              <a:t>("Consumption").cast(pl.Float64),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pl.col</a:t>
            </a:r>
            <a:r>
              <a:rPr dirty="0"/>
              <a:t>("Wind").cast(pl.Float64),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pl.col</a:t>
            </a:r>
            <a:r>
              <a:rPr dirty="0"/>
              <a:t>("Solar").cast(pl.Float64),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pl.col</a:t>
            </a:r>
            <a:r>
              <a:rPr dirty="0"/>
              <a:t>("</a:t>
            </a:r>
            <a:r>
              <a:rPr dirty="0" err="1"/>
              <a:t>Wind+Solar</a:t>
            </a:r>
            <a:r>
              <a:rPr dirty="0"/>
              <a:t>").cast(pl.Float64),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])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Собираем</a:t>
            </a:r>
            <a:r>
              <a:rPr dirty="0"/>
              <a:t> в eager-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визуализации</a:t>
            </a: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lf.collect</a:t>
            </a:r>
            <a:r>
              <a:rPr dirty="0"/>
              <a:t>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str.to_date() — парсинг строки в дату по формату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cast(pl.Float64) — преобразование в 64-битный float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collect() — выполняет план и возвращает DataFrame (eager)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После этого df — обычный DataFrame Polars, готовый для визуализации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Матрица рассеяния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10 · Визуализация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Calibri"/>
              </a:defRPr>
            </a:pPr>
            <a:r>
              <a:rPr dirty="0" err="1"/>
              <a:t>Аналог</a:t>
            </a:r>
            <a:r>
              <a:rPr dirty="0"/>
              <a:t> </a:t>
            </a:r>
            <a:r>
              <a:rPr dirty="0" err="1"/>
              <a:t>sns.pairplot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 smtClean="0"/>
              <a:t>matplotlib</a:t>
            </a:r>
            <a:r>
              <a:rPr dirty="0"/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Сетка</a:t>
            </a:r>
            <a:r>
              <a:rPr dirty="0"/>
              <a:t> 4×4: Consumption, Wind, Solar, </a:t>
            </a:r>
            <a:r>
              <a:rPr dirty="0" err="1"/>
              <a:t>Wind+Solar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Диагональ</a:t>
            </a:r>
            <a:r>
              <a:rPr dirty="0"/>
              <a:t> — </a:t>
            </a:r>
            <a:r>
              <a:rPr dirty="0" err="1"/>
              <a:t>гистограммы</a:t>
            </a:r>
            <a:r>
              <a:rPr dirty="0"/>
              <a:t> </a:t>
            </a:r>
            <a:r>
              <a:rPr dirty="0" err="1"/>
              <a:t>распределения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Внедиагональ</a:t>
            </a:r>
            <a:r>
              <a:rPr dirty="0"/>
              <a:t> — scatter с </a:t>
            </a:r>
            <a:r>
              <a:rPr dirty="0" err="1"/>
              <a:t>прозрачностью</a:t>
            </a:r>
            <a:r>
              <a:rPr dirty="0"/>
              <a:t> (alpha=0.1)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Линия</a:t>
            </a:r>
            <a:r>
              <a:rPr dirty="0"/>
              <a:t> </a:t>
            </a:r>
            <a:r>
              <a:rPr dirty="0" err="1"/>
              <a:t>тренда</a:t>
            </a:r>
            <a:r>
              <a:rPr dirty="0"/>
              <a:t> — </a:t>
            </a:r>
            <a:r>
              <a:rPr dirty="0" err="1"/>
              <a:t>np.polyfit</a:t>
            </a:r>
            <a:r>
              <a:rPr dirty="0"/>
              <a:t>(x, y, 1) + </a:t>
            </a:r>
            <a:r>
              <a:rPr dirty="0" err="1"/>
              <a:t>np.polyval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Маска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NaN</a:t>
            </a:r>
            <a:r>
              <a:rPr dirty="0"/>
              <a:t>: ~(</a:t>
            </a:r>
            <a:r>
              <a:rPr dirty="0" err="1"/>
              <a:t>np.isnan</a:t>
            </a:r>
            <a:r>
              <a:rPr dirty="0"/>
              <a:t>(x) | </a:t>
            </a:r>
            <a:r>
              <a:rPr dirty="0" err="1"/>
              <a:t>np.isnan</a:t>
            </a:r>
            <a:r>
              <a:rPr dirty="0"/>
              <a:t>(y))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10058400" cy="18288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for </a:t>
            </a:r>
            <a:r>
              <a:rPr dirty="0" err="1"/>
              <a:t>i</a:t>
            </a:r>
            <a:r>
              <a:rPr dirty="0"/>
              <a:t>, </a:t>
            </a:r>
            <a:r>
              <a:rPr dirty="0" err="1"/>
              <a:t>row_col</a:t>
            </a:r>
            <a:r>
              <a:rPr dirty="0"/>
              <a:t> in enumerate(</a:t>
            </a:r>
            <a:r>
              <a:rPr dirty="0" err="1"/>
              <a:t>data_cols</a:t>
            </a:r>
            <a:r>
              <a:rPr dirty="0"/>
              <a:t>):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    for j, </a:t>
            </a:r>
            <a:r>
              <a:rPr dirty="0" err="1"/>
              <a:t>col_col</a:t>
            </a:r>
            <a:r>
              <a:rPr dirty="0"/>
              <a:t> in enumerate(</a:t>
            </a:r>
            <a:r>
              <a:rPr dirty="0" err="1"/>
              <a:t>data_cols</a:t>
            </a:r>
            <a:r>
              <a:rPr dirty="0"/>
              <a:t>):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        if </a:t>
            </a:r>
            <a:r>
              <a:rPr dirty="0" err="1"/>
              <a:t>i</a:t>
            </a:r>
            <a:r>
              <a:rPr dirty="0"/>
              <a:t> == j: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ax.hist</a:t>
            </a:r>
            <a:r>
              <a:rPr dirty="0"/>
              <a:t>(</a:t>
            </a:r>
            <a:r>
              <a:rPr dirty="0" err="1"/>
              <a:t>x_c</a:t>
            </a:r>
            <a:r>
              <a:rPr dirty="0"/>
              <a:t>, bins=50)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        else: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ax.scatter</a:t>
            </a:r>
            <a:r>
              <a:rPr dirty="0"/>
              <a:t>(</a:t>
            </a:r>
            <a:r>
              <a:rPr dirty="0" err="1"/>
              <a:t>x_c</a:t>
            </a:r>
            <a:r>
              <a:rPr dirty="0"/>
              <a:t>, </a:t>
            </a:r>
            <a:r>
              <a:rPr dirty="0" err="1"/>
              <a:t>y_c</a:t>
            </a:r>
            <a:r>
              <a:rPr dirty="0"/>
              <a:t>, s=3, alpha=0.1)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coeffs</a:t>
            </a:r>
            <a:r>
              <a:rPr dirty="0"/>
              <a:t> = </a:t>
            </a:r>
            <a:r>
              <a:rPr dirty="0" err="1"/>
              <a:t>np.polyfit</a:t>
            </a:r>
            <a:r>
              <a:rPr dirty="0"/>
              <a:t>(</a:t>
            </a:r>
            <a:r>
              <a:rPr dirty="0" err="1"/>
              <a:t>x_c</a:t>
            </a:r>
            <a:r>
              <a:rPr dirty="0"/>
              <a:t>, </a:t>
            </a:r>
            <a:r>
              <a:rPr dirty="0" err="1"/>
              <a:t>y_c</a:t>
            </a:r>
            <a:r>
              <a:rPr dirty="0"/>
              <a:t>, 1)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Временной ряд энергопотребления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Дневные данные · 2006–2017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058400" cy="13716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t>fig, ax = plt.subplots(figsize=(16, 5))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t>dates = df.get_column("Date").to_numpy()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t>consumption = df.get_column("Consumption").to_numpy()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t>ax.plot(dates, consumption, linewidth=0.5, color="#1565C0")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Линия тонкая (linewidth=0.5) — 4380 точек, толстая линия будет сплошной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Видна недельная сезонность (пики и провалы)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Видна годовая сезонность (зимой выше)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Тренд — слабый, потребление примерно стабильно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Plotly-версия: go.Scattergl для интерактивности и скорости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Автокорреляция (ACF)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11 · Корреляция ряда с собственными лагами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A5F5"/>
                </a:solidFill>
                <a:latin typeface="Calibri"/>
              </a:defRPr>
            </a:pPr>
            <a:r>
              <a:rPr dirty="0"/>
              <a:t>ACF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лаге</a:t>
            </a:r>
            <a:r>
              <a:rPr dirty="0"/>
              <a:t> k — </a:t>
            </a:r>
            <a:r>
              <a:rPr dirty="0" err="1"/>
              <a:t>корреляция</a:t>
            </a:r>
            <a:r>
              <a:rPr dirty="0"/>
              <a:t> </a:t>
            </a: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dirty="0" smtClean="0"/>
              <a:t> </a:t>
            </a:r>
            <a:r>
              <a:rPr dirty="0"/>
              <a:t>и </a:t>
            </a: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baseline="-25000" dirty="0" smtClean="0"/>
              <a:t>-k</a:t>
            </a:r>
            <a:endParaRPr baseline="-2500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Показывает степень взаимосвязи переменной с самой собой в разные моменты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Позволяет выявлять тренд и сезонность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Постоянно положительная корреляция → наличие тренда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Пики на лагах 7, 14, 21, 28 → недельная сезонность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t># Подмножество 2012-01-01 — 2013-01-31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t>acf_data = df.filter(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t>    (pl.col("Date") &gt;= pl.date(2012, 1, 1)) &amp;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t>    (pl.col("Date") &lt;= pl.date(2013, 1, 31))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t>).select("Consumption").to_numpy().ravel()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ACF vs PACF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Полная и частная автокорреляция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A5F5"/>
                </a:solidFill>
                <a:latin typeface="Calibri"/>
              </a:defRPr>
            </a:pPr>
            <a:r>
              <a:t>ACF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Корреляция</a:t>
            </a:r>
            <a:r>
              <a:rPr dirty="0"/>
              <a:t> </a:t>
            </a: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dirty="0" smtClean="0"/>
              <a:t> </a:t>
            </a:r>
            <a:r>
              <a:rPr dirty="0"/>
              <a:t>и </a:t>
            </a:r>
            <a:r>
              <a:rPr dirty="0" err="1" smtClean="0"/>
              <a:t>y</a:t>
            </a:r>
            <a:r>
              <a:rPr lang="en-US" baseline="-25000" dirty="0" err="1" smtClean="0"/>
              <a:t>t</a:t>
            </a:r>
            <a:r>
              <a:rPr lang="en-US" baseline="-25000" dirty="0" smtClean="0"/>
              <a:t>-k</a:t>
            </a:r>
            <a:endParaRPr lang="en-US" baseline="-25000" dirty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lang="ru-RU" dirty="0" smtClean="0"/>
              <a:t> </a:t>
            </a:r>
            <a:r>
              <a:rPr dirty="0" err="1" smtClean="0"/>
              <a:t>Учитывает</a:t>
            </a:r>
            <a:r>
              <a:rPr dirty="0" smtClean="0"/>
              <a:t> </a:t>
            </a:r>
            <a:r>
              <a:rPr dirty="0"/>
              <a:t>и </a:t>
            </a:r>
            <a:r>
              <a:rPr dirty="0" err="1"/>
              <a:t>прямые</a:t>
            </a:r>
            <a:r>
              <a:rPr dirty="0"/>
              <a:t>, и </a:t>
            </a:r>
            <a:r>
              <a:rPr dirty="0" err="1"/>
              <a:t>косвенные</a:t>
            </a:r>
            <a:r>
              <a:rPr dirty="0"/>
              <a:t> </a:t>
            </a:r>
            <a:r>
              <a:rPr dirty="0" err="1"/>
              <a:t>связи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dirty="0" smtClean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smtClean="0"/>
              <a:t>y</a:t>
            </a:r>
            <a:r>
              <a:rPr lang="ru-RU" baseline="-25000" dirty="0" smtClean="0"/>
              <a:t> </a:t>
            </a:r>
            <a:r>
              <a:rPr baseline="-25000" dirty="0" smtClean="0"/>
              <a:t>t-1</a:t>
            </a:r>
            <a:r>
              <a:rPr dirty="0" smtClean="0"/>
              <a:t>, </a:t>
            </a:r>
            <a:r>
              <a:rPr dirty="0"/>
              <a:t>а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smtClean="0"/>
              <a:t>y</a:t>
            </a:r>
            <a:r>
              <a:rPr baseline="-25000" dirty="0" smtClean="0"/>
              <a:t>t-2</a:t>
            </a:r>
            <a:r>
              <a:rPr dirty="0" smtClean="0"/>
              <a:t>,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то</a:t>
            </a:r>
            <a:r>
              <a:rPr dirty="0"/>
              <a:t> ACF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лаге</a:t>
            </a:r>
            <a:r>
              <a:rPr dirty="0"/>
              <a:t> 2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высокой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прямой</a:t>
            </a:r>
            <a:r>
              <a:rPr dirty="0"/>
              <a:t> </a:t>
            </a:r>
            <a:r>
              <a:rPr dirty="0" err="1"/>
              <a:t>связи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B47BC"/>
                </a:solidFill>
                <a:latin typeface="Calibri"/>
              </a:defRPr>
            </a:pPr>
            <a:r>
              <a:t>PACF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Убирает</a:t>
            </a:r>
            <a:r>
              <a:rPr dirty="0"/>
              <a:t> </a:t>
            </a:r>
            <a:r>
              <a:rPr dirty="0" err="1"/>
              <a:t>влияние</a:t>
            </a:r>
            <a:r>
              <a:rPr dirty="0"/>
              <a:t> </a:t>
            </a:r>
            <a:r>
              <a:rPr dirty="0" err="1"/>
              <a:t>промежуточных</a:t>
            </a:r>
            <a:r>
              <a:rPr dirty="0"/>
              <a:t> </a:t>
            </a:r>
            <a:r>
              <a:rPr dirty="0" err="1"/>
              <a:t>лагов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/>
              <a:t>PACF(k) = </a:t>
            </a:r>
            <a:r>
              <a:rPr dirty="0" err="1"/>
              <a:t>коэффициент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baseline="-25000" dirty="0" smtClean="0"/>
              <a:t>-k</a:t>
            </a:r>
            <a:endParaRPr baseline="-25000" dirty="0"/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/>
              <a:t>  в </a:t>
            </a:r>
            <a:r>
              <a:rPr dirty="0" err="1"/>
              <a:t>регрессии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лаги</a:t>
            </a:r>
            <a:r>
              <a:rPr dirty="0"/>
              <a:t> 1..k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Отвечает</a:t>
            </a:r>
            <a:r>
              <a:rPr dirty="0"/>
              <a:t>: «</a:t>
            </a:r>
            <a:r>
              <a:rPr dirty="0" err="1"/>
              <a:t>какая</a:t>
            </a:r>
            <a:r>
              <a:rPr dirty="0"/>
              <a:t> </a:t>
            </a:r>
            <a:r>
              <a:rPr dirty="0" err="1"/>
              <a:t>доля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 </a:t>
            </a:r>
            <a:r>
              <a:rPr dirty="0" err="1"/>
              <a:t>остаётся</a:t>
            </a:r>
            <a:r>
              <a:rPr dirty="0"/>
              <a:t>,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учесть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близкие</a:t>
            </a:r>
            <a:r>
              <a:rPr dirty="0"/>
              <a:t> </a:t>
            </a:r>
            <a:r>
              <a:rPr dirty="0" err="1"/>
              <a:t>лаги</a:t>
            </a:r>
            <a:r>
              <a:rPr dirty="0"/>
              <a:t>?»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726"/>
                </a:solidFill>
                <a:latin typeface="Calibri"/>
              </a:defRPr>
            </a:pPr>
            <a:r>
              <a:t>Классический паттерн AR(1):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05840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ACF </a:t>
            </a:r>
            <a:r>
              <a:rPr dirty="0" err="1"/>
              <a:t>затухает</a:t>
            </a:r>
            <a:r>
              <a:rPr dirty="0"/>
              <a:t> </a:t>
            </a:r>
            <a:r>
              <a:rPr dirty="0" err="1"/>
              <a:t>экспоненциально</a:t>
            </a:r>
            <a:r>
              <a:rPr dirty="0"/>
              <a:t>: </a:t>
            </a:r>
            <a:r>
              <a:rPr dirty="0" err="1" smtClean="0"/>
              <a:t>ρ</a:t>
            </a:r>
            <a:r>
              <a:rPr baseline="-25000" dirty="0" err="1" smtClean="0"/>
              <a:t>k</a:t>
            </a:r>
            <a:r>
              <a:rPr dirty="0" smtClean="0"/>
              <a:t> </a:t>
            </a:r>
            <a:r>
              <a:rPr dirty="0"/>
              <a:t>= φ₁ᵏ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PACF </a:t>
            </a:r>
            <a:r>
              <a:rPr dirty="0" err="1"/>
              <a:t>обрывается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лага</a:t>
            </a:r>
            <a:r>
              <a:rPr dirty="0"/>
              <a:t> 1 (</a:t>
            </a:r>
            <a:r>
              <a:rPr dirty="0" err="1"/>
              <a:t>резкий</a:t>
            </a:r>
            <a:r>
              <a:rPr dirty="0"/>
              <a:t> cutoff)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AR(1) — авторегрессия первого порядка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A726"/>
                </a:solidFill>
                <a:latin typeface="Calibri"/>
              </a:defRPr>
            </a:pP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dirty="0" smtClean="0"/>
              <a:t> </a:t>
            </a:r>
            <a:r>
              <a:rPr dirty="0"/>
              <a:t>= c + φ₁ · </a:t>
            </a:r>
            <a:r>
              <a:rPr dirty="0" smtClean="0"/>
              <a:t>y</a:t>
            </a:r>
            <a:r>
              <a:rPr baseline="-25000" dirty="0" smtClean="0"/>
              <a:t>t-1</a:t>
            </a:r>
            <a:r>
              <a:rPr dirty="0" smtClean="0"/>
              <a:t> </a:t>
            </a:r>
            <a:r>
              <a:rPr dirty="0"/>
              <a:t>+ </a:t>
            </a:r>
            <a:r>
              <a:rPr dirty="0" err="1" smtClean="0"/>
              <a:t>ε</a:t>
            </a:r>
            <a:r>
              <a:rPr baseline="-25000" dirty="0" err="1" smtClean="0"/>
              <a:t>t</a:t>
            </a:r>
            <a:r>
              <a:rPr dirty="0"/>
              <a:t>,   |φ₁|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0584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Текущее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предыдущего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дальние</a:t>
            </a:r>
            <a:r>
              <a:rPr dirty="0"/>
              <a:t> </a:t>
            </a:r>
            <a:r>
              <a:rPr dirty="0" err="1"/>
              <a:t>лаги</a:t>
            </a:r>
            <a:r>
              <a:rPr dirty="0"/>
              <a:t> </a:t>
            </a:r>
            <a:r>
              <a:rPr dirty="0" err="1"/>
              <a:t>влияют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цепочку</a:t>
            </a:r>
            <a:r>
              <a:rPr dirty="0"/>
              <a:t>: </a:t>
            </a:r>
            <a:r>
              <a:rPr dirty="0" smtClean="0"/>
              <a:t>y</a:t>
            </a:r>
            <a:r>
              <a:rPr lang="en-US" baseline="-25000" dirty="0"/>
              <a:t>t-2</a:t>
            </a:r>
            <a:r>
              <a:rPr lang="ru-RU" dirty="0" smtClean="0"/>
              <a:t> </a:t>
            </a:r>
            <a:r>
              <a:rPr dirty="0" smtClean="0"/>
              <a:t>→ y</a:t>
            </a:r>
            <a:r>
              <a:rPr baseline="-25000" dirty="0" smtClean="0"/>
              <a:t>t-1</a:t>
            </a:r>
            <a:r>
              <a:rPr dirty="0" smtClean="0"/>
              <a:t> </a:t>
            </a:r>
            <a:r>
              <a:rPr dirty="0"/>
              <a:t>→ </a:t>
            </a:r>
            <a:r>
              <a:rPr dirty="0" smtClean="0"/>
              <a:t>y</a:t>
            </a:r>
            <a:r>
              <a:rPr lang="ru-RU" baseline="-25000" dirty="0" smtClean="0"/>
              <a:t> </a:t>
            </a:r>
            <a:r>
              <a:rPr baseline="-25000" dirty="0" smtClean="0"/>
              <a:t>t</a:t>
            </a:r>
            <a:endParaRPr baseline="-25000"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учёта</a:t>
            </a:r>
            <a:r>
              <a:rPr dirty="0"/>
              <a:t> </a:t>
            </a:r>
            <a:r>
              <a:rPr dirty="0" smtClean="0"/>
              <a:t>y</a:t>
            </a:r>
            <a:r>
              <a:rPr baseline="-25000" dirty="0" smtClean="0"/>
              <a:t>t-1</a:t>
            </a:r>
            <a:r>
              <a:rPr lang="ru-RU" dirty="0" smtClean="0"/>
              <a:t> </a:t>
            </a:r>
            <a:r>
              <a:rPr dirty="0" smtClean="0"/>
              <a:t> </a:t>
            </a:r>
            <a:r>
              <a:rPr dirty="0" err="1"/>
              <a:t>прямой</a:t>
            </a:r>
            <a:r>
              <a:rPr dirty="0"/>
              <a:t> </a:t>
            </a:r>
            <a:r>
              <a:rPr dirty="0" err="1"/>
              <a:t>вклад</a:t>
            </a:r>
            <a:r>
              <a:rPr dirty="0"/>
              <a:t> </a:t>
            </a:r>
            <a:r>
              <a:rPr dirty="0" smtClean="0"/>
              <a:t>y</a:t>
            </a:r>
            <a:r>
              <a:rPr baseline="-25000" dirty="0" smtClean="0"/>
              <a:t>t-2</a:t>
            </a:r>
            <a:r>
              <a:rPr lang="ru-RU" dirty="0" smtClean="0"/>
              <a:t> </a:t>
            </a:r>
            <a:r>
              <a:rPr dirty="0" smtClean="0"/>
              <a:t>, y</a:t>
            </a:r>
            <a:r>
              <a:rPr baseline="-25000" dirty="0" smtClean="0"/>
              <a:t>t-3</a:t>
            </a:r>
            <a:r>
              <a:rPr dirty="0" smtClean="0"/>
              <a:t>, </a:t>
            </a:r>
            <a:r>
              <a:rPr dirty="0"/>
              <a:t>... </a:t>
            </a:r>
            <a:r>
              <a:rPr dirty="0" err="1"/>
              <a:t>равен</a:t>
            </a:r>
            <a:r>
              <a:rPr dirty="0"/>
              <a:t> </a:t>
            </a:r>
            <a:r>
              <a:rPr dirty="0" err="1"/>
              <a:t>нулю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PACF(1) = φ₁, PACF(k) = 0 </a:t>
            </a:r>
            <a:r>
              <a:rPr dirty="0" err="1"/>
              <a:t>для</a:t>
            </a:r>
            <a:r>
              <a:rPr dirty="0"/>
              <a:t> k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Calibri"/>
              </a:defRPr>
            </a:pPr>
            <a:r>
              <a:t>В коде: выводы из графиков ACF/PACF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Пики ACF на лагах 7, 14, 21, 28 — недельная сезонность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PACF резко падает после лага 1 — AR(1)-структура доминирует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PACF пик на лаге 7 — недельная сезонность значима</a:t>
            </a: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Скользящие</a:t>
            </a:r>
            <a:r>
              <a:rPr dirty="0"/>
              <a:t> </a:t>
            </a:r>
            <a:r>
              <a:rPr dirty="0" err="1"/>
              <a:t>средние</a:t>
            </a:r>
            <a:r>
              <a:rPr dirty="0"/>
              <a:t> — </a:t>
            </a:r>
            <a:r>
              <a:rPr dirty="0" err="1"/>
              <a:t>визуализация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Сглаживание и тренд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058400" cy="22860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df_roll = df.sort("Date").with_columns([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    pl.col("Consumption")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        .rolling_mean(window_size=7, center=True)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        .over("Date").alias("Consumption_7d"),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    pl.col("Consumption")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        .rolling_mean(window_size=365, center=True)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        .over("Date").alias("Consumption_365d"),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])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# Заполняем null в краях окна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.forward_fill().backward_fill()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7-дневное окно — сглаживает недельную сезонность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365-дневное окно — выделяет долгосрочный тренд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center=True — окно центрировано (симметрично)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forward_fill + backward_fill — заполняем null на краях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Функция метрик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regression_results()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332466"/>
              </p:ext>
            </p:extLst>
          </p:nvPr>
        </p:nvGraphicFramePr>
        <p:xfrm>
          <a:off x="1017362" y="1639036"/>
          <a:ext cx="9955438" cy="308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0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5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668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Метрика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Формула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Что показывает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68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dirty="0"/>
                        <a:t>R²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dirty="0" smtClean="0"/>
                        <a:t>1 - </a:t>
                      </a:r>
                      <a:r>
                        <a:rPr dirty="0" err="1" smtClean="0"/>
                        <a:t>SSres</a:t>
                      </a:r>
                      <a:r>
                        <a:rPr dirty="0" smtClean="0"/>
                        <a:t>/</a:t>
                      </a:r>
                      <a:r>
                        <a:rPr dirty="0" err="1" smtClean="0"/>
                        <a:t>S</a:t>
                      </a:r>
                      <a:r>
                        <a:rPr lang="en-US" dirty="0" err="1" smtClean="0"/>
                        <a:t>S</a:t>
                      </a:r>
                      <a:r>
                        <a:rPr dirty="0" err="1" smtClean="0"/>
                        <a:t>tot</a:t>
                      </a:r>
                      <a:r>
                        <a:rPr lang="en-US" dirty="0" smtClean="0"/>
                        <a:t> *</a:t>
                      </a:r>
                      <a:endParaRPr dirty="0"/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Долю объяснённой дисперсии (0..1)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8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mean(|y - ŷ|)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Среднюю абсолютную ошибку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68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sqrt(mean((y - ŷ)²))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СКО ошибок, чувствительна к выбросам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68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mean(|y - ŷ| / y) × 100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dirty="0" err="1"/>
                        <a:t>Ошибка</a:t>
                      </a:r>
                      <a:r>
                        <a:rPr dirty="0"/>
                        <a:t> в </a:t>
                      </a:r>
                      <a:r>
                        <a:rPr dirty="0" err="1"/>
                        <a:t>процентах</a:t>
                      </a:r>
                      <a:endParaRPr dirty="0"/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37444" y="5135224"/>
            <a:ext cx="100353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>
                <a:latin typeface="YS Text"/>
              </a:rPr>
              <a:t>* где</a:t>
            </a:r>
            <a:r>
              <a:rPr lang="ru-RU" sz="1200" dirty="0">
                <a:latin typeface="YS Text"/>
              </a:rPr>
              <a:t>:</a:t>
            </a:r>
          </a:p>
          <a:p>
            <a:r>
              <a:rPr lang="ru-RU" sz="1200" dirty="0" smtClean="0">
                <a:latin typeface="YS Text"/>
              </a:rPr>
              <a:t>- </a:t>
            </a:r>
            <a:r>
              <a:rPr lang="ru-RU" sz="1200" dirty="0" err="1" smtClean="0">
                <a:latin typeface="YS Text"/>
              </a:rPr>
              <a:t>SSres</a:t>
            </a:r>
            <a:r>
              <a:rPr lang="ru-RU" sz="1200" dirty="0" smtClean="0">
                <a:latin typeface="YS Text"/>
              </a:rPr>
              <a:t> </a:t>
            </a:r>
            <a:r>
              <a:rPr lang="ru-RU" sz="1200" dirty="0">
                <a:latin typeface="YS Text"/>
              </a:rPr>
              <a:t>(</a:t>
            </a:r>
            <a:r>
              <a:rPr lang="ru-RU" sz="1200" dirty="0" err="1">
                <a:latin typeface="YS Text"/>
              </a:rPr>
              <a:t>Sum</a:t>
            </a:r>
            <a:r>
              <a:rPr lang="ru-RU" sz="1200" dirty="0">
                <a:latin typeface="YS Text"/>
              </a:rPr>
              <a:t> </a:t>
            </a:r>
            <a:r>
              <a:rPr lang="ru-RU" sz="1200" dirty="0" err="1">
                <a:latin typeface="YS Text"/>
              </a:rPr>
              <a:t>of</a:t>
            </a:r>
            <a:r>
              <a:rPr lang="ru-RU" sz="1200" dirty="0">
                <a:latin typeface="YS Text"/>
              </a:rPr>
              <a:t> </a:t>
            </a:r>
            <a:r>
              <a:rPr lang="ru-RU" sz="1200" dirty="0" err="1">
                <a:latin typeface="YS Text"/>
              </a:rPr>
              <a:t>Squared</a:t>
            </a:r>
            <a:r>
              <a:rPr lang="ru-RU" sz="1200" dirty="0">
                <a:latin typeface="YS Text"/>
              </a:rPr>
              <a:t> </a:t>
            </a:r>
            <a:r>
              <a:rPr lang="ru-RU" sz="1200" dirty="0" err="1">
                <a:latin typeface="YS Text"/>
              </a:rPr>
              <a:t>Residuals</a:t>
            </a:r>
            <a:r>
              <a:rPr lang="ru-RU" sz="1200" dirty="0">
                <a:latin typeface="YS Text"/>
              </a:rPr>
              <a:t>) — сумма квадратов остатков (разница между фактическими и предсказанными значениями).</a:t>
            </a:r>
          </a:p>
          <a:p>
            <a:r>
              <a:rPr lang="ru-RU" sz="1200" dirty="0" smtClean="0">
                <a:latin typeface="YS Text"/>
              </a:rPr>
              <a:t>- </a:t>
            </a:r>
            <a:r>
              <a:rPr lang="ru-RU" sz="1200" dirty="0" err="1" smtClean="0">
                <a:latin typeface="YS Text"/>
              </a:rPr>
              <a:t>SStot</a:t>
            </a:r>
            <a:r>
              <a:rPr lang="ru-RU" sz="1200" dirty="0" smtClean="0">
                <a:latin typeface="YS Text"/>
              </a:rPr>
              <a:t> </a:t>
            </a:r>
            <a:r>
              <a:rPr lang="ru-RU" sz="1200" dirty="0">
                <a:latin typeface="YS Text"/>
              </a:rPr>
              <a:t>(</a:t>
            </a:r>
            <a:r>
              <a:rPr lang="ru-RU" sz="1200" dirty="0" err="1">
                <a:latin typeface="YS Text"/>
              </a:rPr>
              <a:t>Total</a:t>
            </a:r>
            <a:r>
              <a:rPr lang="ru-RU" sz="1200" dirty="0">
                <a:latin typeface="YS Text"/>
              </a:rPr>
              <a:t> </a:t>
            </a:r>
            <a:r>
              <a:rPr lang="ru-RU" sz="1200" dirty="0" err="1">
                <a:latin typeface="YS Text"/>
              </a:rPr>
              <a:t>Sum</a:t>
            </a:r>
            <a:r>
              <a:rPr lang="ru-RU" sz="1200" dirty="0">
                <a:latin typeface="YS Text"/>
              </a:rPr>
              <a:t> </a:t>
            </a:r>
            <a:r>
              <a:rPr lang="ru-RU" sz="1200" dirty="0" err="1">
                <a:latin typeface="YS Text"/>
              </a:rPr>
              <a:t>of</a:t>
            </a:r>
            <a:r>
              <a:rPr lang="ru-RU" sz="1200" dirty="0">
                <a:latin typeface="YS Text"/>
              </a:rPr>
              <a:t> </a:t>
            </a:r>
            <a:r>
              <a:rPr lang="ru-RU" sz="1200" dirty="0" err="1">
                <a:latin typeface="YS Text"/>
              </a:rPr>
              <a:t>Squares</a:t>
            </a:r>
            <a:r>
              <a:rPr lang="ru-RU" sz="1200" dirty="0">
                <a:latin typeface="YS Text"/>
              </a:rPr>
              <a:t>) — общая сумма квадратов (разница между фактическими значениями и их средним).</a:t>
            </a:r>
            <a:endParaRPr lang="ru-RU" sz="1200" b="0" i="0" dirty="0">
              <a:effectLst/>
              <a:latin typeface="YS Tex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Базовые признаки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13 · Лаги и разности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1114" y="2149157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v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lag_1, lag_7, lag_14, lag_30 — </a:t>
            </a:r>
            <a:r>
              <a:rPr dirty="0" err="1"/>
              <a:t>значения</a:t>
            </a:r>
            <a:r>
              <a:rPr dirty="0"/>
              <a:t> 1, 7, 14, 30 </a:t>
            </a:r>
            <a:r>
              <a:rPr dirty="0" err="1"/>
              <a:t>дней</a:t>
            </a:r>
            <a:r>
              <a:rPr dirty="0"/>
              <a:t> </a:t>
            </a:r>
            <a:r>
              <a:rPr dirty="0" err="1"/>
              <a:t>назад</a:t>
            </a:r>
            <a:endParaRPr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v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diff_1 — </a:t>
            </a:r>
            <a:r>
              <a:rPr dirty="0" err="1"/>
              <a:t>разность</a:t>
            </a:r>
            <a:r>
              <a:rPr dirty="0"/>
              <a:t> с </a:t>
            </a:r>
            <a:r>
              <a:rPr dirty="0" err="1"/>
              <a:t>предыдущим</a:t>
            </a:r>
            <a:r>
              <a:rPr dirty="0"/>
              <a:t> </a:t>
            </a:r>
            <a:r>
              <a:rPr dirty="0" err="1"/>
              <a:t>днём</a:t>
            </a:r>
            <a:r>
              <a:rPr dirty="0"/>
              <a:t> (</a:t>
            </a:r>
            <a:r>
              <a:rPr dirty="0" err="1" smtClean="0"/>
              <a:t>y</a:t>
            </a:r>
            <a:r>
              <a:rPr baseline="-25000" dirty="0" err="1" smtClean="0"/>
              <a:t>t</a:t>
            </a:r>
            <a:r>
              <a:rPr dirty="0" smtClean="0"/>
              <a:t> </a:t>
            </a:r>
            <a:r>
              <a:rPr lang="ru-RU" dirty="0" smtClean="0"/>
              <a:t>–</a:t>
            </a:r>
            <a:r>
              <a:rPr dirty="0" smtClean="0"/>
              <a:t> y</a:t>
            </a:r>
            <a:r>
              <a:rPr baseline="-25000" dirty="0" smtClean="0"/>
              <a:t>t-1</a:t>
            </a:r>
            <a:r>
              <a:rPr lang="en-US" dirty="0" smtClean="0"/>
              <a:t> </a:t>
            </a:r>
            <a:r>
              <a:rPr dirty="0" smtClean="0"/>
              <a:t>)</a:t>
            </a:r>
            <a:endParaRPr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v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diff_7 — </a:t>
            </a:r>
            <a:r>
              <a:rPr dirty="0" err="1"/>
              <a:t>разность</a:t>
            </a:r>
            <a:r>
              <a:rPr dirty="0"/>
              <a:t> с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днём</a:t>
            </a:r>
            <a:r>
              <a:rPr dirty="0"/>
              <a:t> </a:t>
            </a:r>
            <a:r>
              <a:rPr dirty="0" err="1"/>
              <a:t>недели</a:t>
            </a:r>
            <a:endParaRPr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v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ratio_7 — </a:t>
            </a:r>
            <a:r>
              <a:rPr dirty="0" err="1"/>
              <a:t>отношение</a:t>
            </a:r>
            <a:r>
              <a:rPr dirty="0"/>
              <a:t> к </a:t>
            </a:r>
            <a:r>
              <a:rPr dirty="0" err="1"/>
              <a:t>значению</a:t>
            </a:r>
            <a:r>
              <a:rPr dirty="0"/>
              <a:t> </a:t>
            </a:r>
            <a:r>
              <a:rPr dirty="0" err="1"/>
              <a:t>неделю</a:t>
            </a:r>
            <a:r>
              <a:rPr dirty="0"/>
              <a:t> </a:t>
            </a:r>
            <a:r>
              <a:rPr dirty="0" err="1"/>
              <a:t>назад</a:t>
            </a:r>
            <a:endParaRPr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v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drop_nulls</a:t>
            </a:r>
            <a:r>
              <a:rPr dirty="0"/>
              <a:t>() — </a:t>
            </a:r>
            <a:r>
              <a:rPr dirty="0" err="1"/>
              <a:t>первые</a:t>
            </a:r>
            <a:r>
              <a:rPr dirty="0"/>
              <a:t> 30 </a:t>
            </a:r>
            <a:r>
              <a:rPr dirty="0" err="1"/>
              <a:t>строк</a:t>
            </a:r>
            <a:r>
              <a:rPr dirty="0"/>
              <a:t> </a:t>
            </a:r>
            <a:r>
              <a:rPr dirty="0" err="1"/>
              <a:t>теряются</a:t>
            </a:r>
            <a:r>
              <a:rPr dirty="0"/>
              <a:t> (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лага</a:t>
            </a:r>
            <a:r>
              <a:rPr dirty="0"/>
              <a:t> 30)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v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7 </a:t>
            </a:r>
            <a:r>
              <a:rPr dirty="0" err="1"/>
              <a:t>признаков</a:t>
            </a:r>
            <a:r>
              <a:rPr dirty="0"/>
              <a:t> — </a:t>
            </a:r>
            <a:r>
              <a:rPr dirty="0" err="1"/>
              <a:t>минимальный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прогноза</a:t>
            </a:r>
            <a:endParaRPr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Продвинутые признаки — календарные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Даты, sin/cos, Фурье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058400" cy="22860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Календарные</a:t>
            </a:r>
            <a:r>
              <a:rPr dirty="0"/>
              <a:t> </a:t>
            </a:r>
            <a:r>
              <a:rPr dirty="0" err="1"/>
              <a:t>признаки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pl.col</a:t>
            </a:r>
            <a:r>
              <a:rPr dirty="0"/>
              <a:t>("Date").</a:t>
            </a:r>
            <a:r>
              <a:rPr dirty="0" err="1"/>
              <a:t>dt.weekday</a:t>
            </a:r>
            <a:r>
              <a:rPr dirty="0"/>
              <a:t>().alias("</a:t>
            </a:r>
            <a:r>
              <a:rPr dirty="0" err="1"/>
              <a:t>dayofweek</a:t>
            </a:r>
            <a:r>
              <a:rPr dirty="0"/>
              <a:t>")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lang="ru-RU" dirty="0" smtClean="0"/>
              <a:t>...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# sin/cos </a:t>
            </a:r>
            <a:r>
              <a:rPr dirty="0" err="1"/>
              <a:t>кодировка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(2 * </a:t>
            </a:r>
            <a:r>
              <a:rPr dirty="0" err="1"/>
              <a:t>np.pi</a:t>
            </a:r>
            <a:r>
              <a:rPr dirty="0"/>
              <a:t> * </a:t>
            </a:r>
            <a:r>
              <a:rPr dirty="0" err="1"/>
              <a:t>pl.col</a:t>
            </a:r>
            <a:r>
              <a:rPr dirty="0"/>
              <a:t>("</a:t>
            </a:r>
            <a:r>
              <a:rPr dirty="0" err="1"/>
              <a:t>dayofweek</a:t>
            </a:r>
            <a:r>
              <a:rPr dirty="0"/>
              <a:t>") / 7).sin().alias("</a:t>
            </a:r>
            <a:r>
              <a:rPr dirty="0" err="1"/>
              <a:t>dow_sin</a:t>
            </a:r>
            <a:r>
              <a:rPr dirty="0"/>
              <a:t>")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(2 * </a:t>
            </a:r>
            <a:r>
              <a:rPr dirty="0" err="1"/>
              <a:t>np.pi</a:t>
            </a:r>
            <a:r>
              <a:rPr dirty="0"/>
              <a:t> * </a:t>
            </a:r>
            <a:r>
              <a:rPr dirty="0" err="1"/>
              <a:t>pl.col</a:t>
            </a:r>
            <a:r>
              <a:rPr dirty="0"/>
              <a:t>("</a:t>
            </a:r>
            <a:r>
              <a:rPr dirty="0" err="1"/>
              <a:t>dayofweek</a:t>
            </a:r>
            <a:r>
              <a:rPr dirty="0"/>
              <a:t>") / 7).cos().alias("</a:t>
            </a:r>
            <a:r>
              <a:rPr dirty="0" err="1"/>
              <a:t>dow_cos</a:t>
            </a:r>
            <a:r>
              <a:rPr dirty="0"/>
              <a:t>")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10058400" cy="22860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Ряды</a:t>
            </a:r>
            <a:r>
              <a:rPr dirty="0"/>
              <a:t> </a:t>
            </a:r>
            <a:r>
              <a:rPr dirty="0" err="1"/>
              <a:t>Фурье</a:t>
            </a:r>
            <a:r>
              <a:rPr dirty="0"/>
              <a:t> — 3 </a:t>
            </a:r>
            <a:r>
              <a:rPr dirty="0" err="1"/>
              <a:t>гармоники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P=7 и P=365.25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for k in [1, 2, 3]: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    </a:t>
            </a:r>
            <a:r>
              <a:rPr lang="ru-RU" dirty="0" smtClean="0"/>
              <a:t>...</a:t>
            </a:r>
            <a:endParaRPr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Продвинутые признаки — статистические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EWMA, Rolling, Z-score, категориальные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058400" cy="22860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# EWMA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pl.col</a:t>
            </a:r>
            <a:r>
              <a:rPr dirty="0"/>
              <a:t>("Consumption").</a:t>
            </a:r>
            <a:r>
              <a:rPr dirty="0" err="1"/>
              <a:t>ewm_mean</a:t>
            </a:r>
            <a:r>
              <a:rPr dirty="0"/>
              <a:t>(span=7).alias("ewma_7</a:t>
            </a:r>
            <a:r>
              <a:rPr dirty="0" smtClean="0"/>
              <a:t>")</a:t>
            </a:r>
            <a:endParaRPr lang="ru-RU" dirty="0" smtClean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lang="ru-RU" dirty="0" smtClean="0"/>
              <a:t>...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# Rolling stats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pl.col</a:t>
            </a:r>
            <a:r>
              <a:rPr dirty="0"/>
              <a:t>("Consumption").</a:t>
            </a:r>
            <a:r>
              <a:rPr dirty="0" err="1"/>
              <a:t>rolling_mean</a:t>
            </a:r>
            <a:r>
              <a:rPr dirty="0"/>
              <a:t>(</a:t>
            </a:r>
            <a:r>
              <a:rPr dirty="0" err="1"/>
              <a:t>window_size</a:t>
            </a:r>
            <a:r>
              <a:rPr dirty="0"/>
              <a:t>=7).alias("roll_mean_7")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lang="ru-RU" dirty="0" smtClean="0"/>
              <a:t>...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10058400" cy="22860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Взаимодействия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(</a:t>
            </a:r>
            <a:r>
              <a:rPr dirty="0" err="1"/>
              <a:t>pl.col</a:t>
            </a:r>
            <a:r>
              <a:rPr dirty="0"/>
              <a:t>("Consumption") - </a:t>
            </a:r>
            <a:r>
              <a:rPr dirty="0" err="1"/>
              <a:t>pl.col</a:t>
            </a:r>
            <a:r>
              <a:rPr dirty="0"/>
              <a:t>("ewma_30")).alias("dev_ewma_30")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lang="ru-RU" dirty="0" smtClean="0"/>
              <a:t>...</a:t>
            </a:r>
            <a:endParaRPr lang="en-US" dirty="0" smtClean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endParaRPr dirty="0" smtClean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Категориальные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pl.when</a:t>
            </a:r>
            <a:r>
              <a:rPr dirty="0"/>
              <a:t>(</a:t>
            </a:r>
            <a:r>
              <a:rPr dirty="0" err="1"/>
              <a:t>pl.col</a:t>
            </a:r>
            <a:r>
              <a:rPr dirty="0"/>
              <a:t>("</a:t>
            </a:r>
            <a:r>
              <a:rPr dirty="0" err="1"/>
              <a:t>dayofweek</a:t>
            </a:r>
            <a:r>
              <a:rPr dirty="0"/>
              <a:t>").</a:t>
            </a:r>
            <a:r>
              <a:rPr dirty="0" err="1"/>
              <a:t>is_in</a:t>
            </a:r>
            <a:r>
              <a:rPr dirty="0"/>
              <a:t>([6, 7])).then(1).otherwise(0).alias("</a:t>
            </a:r>
            <a:r>
              <a:rPr dirty="0" err="1"/>
              <a:t>is_weekend</a:t>
            </a:r>
            <a:r>
              <a:rPr dirty="0" smtClean="0"/>
              <a:t>")</a:t>
            </a:r>
            <a:endParaRPr lang="ru-RU" dirty="0" smtClean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lang="ru-RU" dirty="0" smtClean="0"/>
              <a:t>...</a:t>
            </a:r>
            <a:endParaRPr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Полный список признаков (45)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FEATURES_ADV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lag_1, lag_7, lag_14, lag_30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diff_1, diff_7, ratio_7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dayofweek, month, quarter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dayofyear, weekofyear, day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dow_sin, dow_cos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month_sin, month_cos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doy_sin, doy_cos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fourier_7_k1..k3 (sin/cos)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fourier_365_k1..k3 (sin/cos)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ewma_7, ewma_30, ewma_90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roll_mean_7, roll_std_7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roll_mean_30, roll_std_30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roll_min_7, roll_max_7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dev_ewma_30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ratio_roll_7_30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zscore_30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is_weekend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●  is_winter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Коррекция стационарности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Выравнивание тренда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5922" y="2351976"/>
            <a:ext cx="100584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rolling_mean</a:t>
            </a:r>
            <a:r>
              <a:rPr dirty="0"/>
              <a:t>(365).shift(-182) — </a:t>
            </a:r>
            <a:r>
              <a:rPr dirty="0" err="1"/>
              <a:t>центрированный</a:t>
            </a:r>
            <a:r>
              <a:rPr dirty="0"/>
              <a:t> </a:t>
            </a:r>
            <a:r>
              <a:rPr dirty="0" err="1"/>
              <a:t>годовой</a:t>
            </a:r>
            <a:r>
              <a:rPr dirty="0"/>
              <a:t> </a:t>
            </a:r>
            <a:r>
              <a:rPr dirty="0" err="1"/>
              <a:t>тренд</a:t>
            </a:r>
            <a:endParaRPr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Consumption_eq</a:t>
            </a:r>
            <a:r>
              <a:rPr dirty="0"/>
              <a:t> = Consumption + (max(trend) - trend)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«</a:t>
            </a:r>
            <a:r>
              <a:rPr dirty="0" err="1"/>
              <a:t>Поднимает</a:t>
            </a:r>
            <a:r>
              <a:rPr dirty="0"/>
              <a:t>» </a:t>
            </a:r>
            <a:r>
              <a:rPr dirty="0" err="1"/>
              <a:t>впадины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меняя</a:t>
            </a:r>
            <a:r>
              <a:rPr dirty="0"/>
              <a:t> </a:t>
            </a:r>
            <a:r>
              <a:rPr dirty="0" err="1"/>
              <a:t>форму</a:t>
            </a:r>
            <a:r>
              <a:rPr dirty="0"/>
              <a:t> </a:t>
            </a:r>
            <a:r>
              <a:rPr dirty="0" err="1"/>
              <a:t>сезонности</a:t>
            </a:r>
            <a:endParaRPr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ряд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стационарным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ADF-</a:t>
            </a:r>
            <a:r>
              <a:rPr dirty="0" err="1"/>
              <a:t>теста</a:t>
            </a:r>
            <a:endParaRPr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теста</a:t>
            </a:r>
            <a:r>
              <a:rPr dirty="0"/>
              <a:t> </a:t>
            </a:r>
            <a:r>
              <a:rPr dirty="0" err="1" smtClean="0"/>
              <a:t>Дики-Фуллера</a:t>
            </a:r>
            <a:r>
              <a:rPr lang="ru-RU" dirty="0" smtClean="0"/>
              <a:t> (</a:t>
            </a:r>
            <a:r>
              <a:rPr lang="en-US" dirty="0" smtClean="0"/>
              <a:t>ADF</a:t>
            </a:r>
            <a:r>
              <a:rPr lang="ru-RU" dirty="0" smtClean="0"/>
              <a:t>)</a:t>
            </a:r>
            <a:r>
              <a:rPr lang="en-US" dirty="0" smtClean="0"/>
              <a:t> – </a:t>
            </a:r>
            <a:r>
              <a:rPr lang="ru-RU" dirty="0" smtClean="0"/>
              <a:t>проверки на стационарность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Сравнение исходного и выровненного ряда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Ряд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ADF-статистика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Вывод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Исходный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result_raw[0]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result_raw[1]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Зависит от данных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Выровненный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result_eq[0]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result_eq[1]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Ближе к стационарному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from </a:t>
            </a:r>
            <a:r>
              <a:rPr dirty="0" err="1"/>
              <a:t>statsmodels.tsa.stattools</a:t>
            </a:r>
            <a:r>
              <a:rPr dirty="0"/>
              <a:t> import </a:t>
            </a:r>
            <a:r>
              <a:rPr dirty="0" err="1"/>
              <a:t>adfuller</a:t>
            </a: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result_raw</a:t>
            </a:r>
            <a:r>
              <a:rPr dirty="0"/>
              <a:t> = </a:t>
            </a:r>
            <a:r>
              <a:rPr dirty="0" err="1"/>
              <a:t>adfuller</a:t>
            </a:r>
            <a:r>
              <a:rPr dirty="0"/>
              <a:t>(</a:t>
            </a:r>
            <a:r>
              <a:rPr dirty="0" err="1"/>
              <a:t>df.get_column</a:t>
            </a:r>
            <a:r>
              <a:rPr dirty="0"/>
              <a:t>("Consumption").</a:t>
            </a:r>
            <a:r>
              <a:rPr dirty="0" err="1"/>
              <a:t>drop_nulls</a:t>
            </a:r>
            <a:r>
              <a:rPr dirty="0"/>
              <a:t>().</a:t>
            </a:r>
            <a:r>
              <a:rPr dirty="0" err="1"/>
              <a:t>to_numpy</a:t>
            </a:r>
            <a:r>
              <a:rPr dirty="0"/>
              <a:t>())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result_eq</a:t>
            </a:r>
            <a:r>
              <a:rPr dirty="0"/>
              <a:t>  = </a:t>
            </a:r>
            <a:r>
              <a:rPr dirty="0" err="1"/>
              <a:t>adfuller</a:t>
            </a:r>
            <a:r>
              <a:rPr dirty="0"/>
              <a:t>(</a:t>
            </a:r>
            <a:r>
              <a:rPr dirty="0" err="1"/>
              <a:t>df_corr.get_column</a:t>
            </a:r>
            <a:r>
              <a:rPr dirty="0"/>
              <a:t>("</a:t>
            </a:r>
            <a:r>
              <a:rPr dirty="0" err="1"/>
              <a:t>Consumption_eq</a:t>
            </a:r>
            <a:r>
              <a:rPr dirty="0"/>
              <a:t>").</a:t>
            </a:r>
            <a:r>
              <a:rPr dirty="0" err="1"/>
              <a:t>drop_nulls</a:t>
            </a:r>
            <a:r>
              <a:rPr dirty="0"/>
              <a:t>().</a:t>
            </a:r>
            <a:r>
              <a:rPr dirty="0" err="1"/>
              <a:t>to_numpy</a:t>
            </a:r>
            <a:r>
              <a:rPr dirty="0"/>
              <a:t>())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print(</a:t>
            </a:r>
            <a:r>
              <a:rPr dirty="0" err="1"/>
              <a:t>f"Исходный</a:t>
            </a:r>
            <a:r>
              <a:rPr dirty="0"/>
              <a:t>:    ADF={</a:t>
            </a:r>
            <a:r>
              <a:rPr dirty="0" err="1"/>
              <a:t>result_raw</a:t>
            </a:r>
            <a:r>
              <a:rPr dirty="0"/>
              <a:t>[0]:.4f}, p={</a:t>
            </a:r>
            <a:r>
              <a:rPr dirty="0" err="1"/>
              <a:t>result_raw</a:t>
            </a:r>
            <a:r>
              <a:rPr dirty="0"/>
              <a:t>[1]:.4f}")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print(</a:t>
            </a:r>
            <a:r>
              <a:rPr dirty="0" err="1"/>
              <a:t>f"Выровненный</a:t>
            </a:r>
            <a:r>
              <a:rPr dirty="0"/>
              <a:t>: ADF={</a:t>
            </a:r>
            <a:r>
              <a:rPr dirty="0" err="1"/>
              <a:t>result_eq</a:t>
            </a:r>
            <a:r>
              <a:rPr dirty="0"/>
              <a:t>[0]:.4f}, p={</a:t>
            </a:r>
            <a:r>
              <a:rPr dirty="0" err="1"/>
              <a:t>result_eq</a:t>
            </a:r>
            <a:r>
              <a:rPr dirty="0"/>
              <a:t>[1]:.4f}")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726"/>
                </a:solidFill>
                <a:latin typeface="Calibri"/>
              </a:defRPr>
            </a:pPr>
            <a:r>
              <a:t>Если p &lt; 0.05 → ряд стационарен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Модели машинного обучения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Раздел 14 · 5 алгоритмов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3716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Сокр.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Ключевые параметры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Тип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LinearRegression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Линейная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NN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MLPRegressor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hidden_layer_sizes=(50,), max_iter=2000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Нейросеть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KNeighborsRegressor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n_neighbors=5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Метрическая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RandomForestRegressor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n_estimators=100, max_depth=8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Ансамбль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SVR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SVR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kernel='rbf', C=1.0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Ядерная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A5F5"/>
                </a:solidFill>
                <a:latin typeface="Calibri"/>
              </a:defRPr>
            </a:pPr>
            <a:r>
              <a:t>Все модели оборачиваются в Pipeline: StandardScaler → Model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Кросс-валидация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TimeSeriesSplit · 10 фолдов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2384385" y="1527048"/>
            <a:ext cx="6979534" cy="3605441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3276793" y="1817865"/>
            <a:ext cx="5194717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10 </a:t>
            </a:r>
            <a:r>
              <a:rPr dirty="0" err="1"/>
              <a:t>фолдов</a:t>
            </a:r>
            <a:r>
              <a:rPr dirty="0"/>
              <a:t> </a:t>
            </a:r>
            <a:r>
              <a:rPr dirty="0" err="1"/>
              <a:t>TimeSeriesSplit</a:t>
            </a:r>
            <a:r>
              <a:rPr dirty="0"/>
              <a:t> —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перемешивания</a:t>
            </a:r>
            <a:endParaRPr dirty="0"/>
          </a:p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cross_val_score</a:t>
            </a:r>
            <a:r>
              <a:rPr dirty="0"/>
              <a:t> с scoring='r2' —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критерий</a:t>
            </a:r>
            <a:endParaRPr dirty="0"/>
          </a:p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среднее</a:t>
            </a:r>
            <a:r>
              <a:rPr dirty="0"/>
              <a:t> ± </a:t>
            </a:r>
            <a:r>
              <a:rPr dirty="0" err="1"/>
              <a:t>стандартное</a:t>
            </a:r>
            <a:r>
              <a:rPr dirty="0"/>
              <a:t> </a:t>
            </a:r>
            <a:r>
              <a:rPr dirty="0" err="1"/>
              <a:t>отклонение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фолдам</a:t>
            </a:r>
            <a:endParaRPr dirty="0"/>
          </a:p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Boxplot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Plotly</a:t>
            </a:r>
            <a:r>
              <a:rPr dirty="0"/>
              <a:t>: </a:t>
            </a:r>
            <a:r>
              <a:rPr dirty="0" err="1"/>
              <a:t>go.Box</a:t>
            </a:r>
            <a:r>
              <a:rPr dirty="0"/>
              <a:t>(y=cv, </a:t>
            </a:r>
            <a:r>
              <a:rPr dirty="0" err="1"/>
              <a:t>boxpoints</a:t>
            </a:r>
            <a:r>
              <a:rPr dirty="0"/>
              <a:t>='all')</a:t>
            </a:r>
          </a:p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Сравнение</a:t>
            </a:r>
            <a:r>
              <a:rPr dirty="0"/>
              <a:t> </a:t>
            </a:r>
            <a:r>
              <a:rPr dirty="0" err="1"/>
              <a:t>алгоритмов</a:t>
            </a:r>
            <a:r>
              <a:rPr dirty="0"/>
              <a:t>: </a:t>
            </a:r>
            <a:r>
              <a:rPr dirty="0" err="1"/>
              <a:t>какой</a:t>
            </a:r>
            <a:r>
              <a:rPr dirty="0"/>
              <a:t> </a:t>
            </a:r>
            <a:r>
              <a:rPr dirty="0" err="1"/>
              <a:t>стабильнее</a:t>
            </a:r>
            <a:r>
              <a:rPr dirty="0"/>
              <a:t> и </a:t>
            </a:r>
            <a:r>
              <a:rPr dirty="0" err="1"/>
              <a:t>точнее</a:t>
            </a:r>
            <a:endParaRPr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Обучение — базовые признаки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7 признаков · 5 моделей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59"/>
            <a:ext cx="10241280" cy="3719195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3032566" y="1854612"/>
            <a:ext cx="5081287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Разделение</a:t>
            </a:r>
            <a:r>
              <a:rPr dirty="0"/>
              <a:t>: train &lt; 2017-01-01, test &gt;= 2017-01-01</a:t>
            </a:r>
          </a:p>
          <a:p>
            <a:pPr algn="just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7 </a:t>
            </a:r>
            <a:r>
              <a:rPr dirty="0" err="1"/>
              <a:t>признаков</a:t>
            </a:r>
            <a:r>
              <a:rPr dirty="0"/>
              <a:t>: </a:t>
            </a:r>
            <a:r>
              <a:rPr dirty="0" err="1"/>
              <a:t>лаги</a:t>
            </a:r>
            <a:r>
              <a:rPr dirty="0"/>
              <a:t> + </a:t>
            </a:r>
            <a:r>
              <a:rPr dirty="0" err="1"/>
              <a:t>разности</a:t>
            </a:r>
            <a:r>
              <a:rPr dirty="0"/>
              <a:t> + </a:t>
            </a:r>
            <a:r>
              <a:rPr dirty="0" err="1"/>
              <a:t>отношение</a:t>
            </a:r>
            <a:endParaRPr dirty="0"/>
          </a:p>
          <a:p>
            <a:pPr algn="just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обучается</a:t>
            </a:r>
            <a:r>
              <a:rPr dirty="0"/>
              <a:t> и </a:t>
            </a:r>
            <a:r>
              <a:rPr dirty="0" err="1"/>
              <a:t>предсказывает</a:t>
            </a:r>
            <a:r>
              <a:rPr dirty="0"/>
              <a:t> </a:t>
            </a:r>
            <a:r>
              <a:rPr dirty="0" err="1"/>
              <a:t>независимо</a:t>
            </a:r>
            <a:endParaRPr dirty="0"/>
          </a:p>
          <a:p>
            <a:pPr algn="just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График</a:t>
            </a:r>
            <a:r>
              <a:rPr dirty="0"/>
              <a:t>: </a:t>
            </a:r>
            <a:r>
              <a:rPr dirty="0" err="1"/>
              <a:t>фактические</a:t>
            </a:r>
            <a:r>
              <a:rPr dirty="0"/>
              <a:t> </a:t>
            </a:r>
            <a:r>
              <a:rPr dirty="0" err="1"/>
              <a:t>значения</a:t>
            </a:r>
            <a:r>
              <a:rPr dirty="0"/>
              <a:t> vs </a:t>
            </a:r>
            <a:r>
              <a:rPr dirty="0" err="1"/>
              <a:t>прогноз</a:t>
            </a:r>
            <a:r>
              <a:rPr dirty="0"/>
              <a:t> (</a:t>
            </a:r>
            <a:r>
              <a:rPr dirty="0" err="1"/>
              <a:t>Plotly</a:t>
            </a:r>
            <a:r>
              <a:rPr dirty="0"/>
              <a:t>)</a:t>
            </a:r>
          </a:p>
          <a:p>
            <a:pPr algn="just"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Метрики</a:t>
            </a:r>
            <a:r>
              <a:rPr dirty="0"/>
              <a:t>: R², MAE, MSE, RMSE, MAPE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Обучение — продвинутые признаки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45 признаков · таргет: Consumption_eq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058400" cy="22860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Объединяем</a:t>
            </a:r>
            <a:r>
              <a:rPr dirty="0"/>
              <a:t> с </a:t>
            </a:r>
            <a:r>
              <a:rPr dirty="0" err="1"/>
              <a:t>выровненным</a:t>
            </a:r>
            <a:r>
              <a:rPr dirty="0"/>
              <a:t> </a:t>
            </a:r>
            <a:r>
              <a:rPr dirty="0" err="1"/>
              <a:t>рядом</a:t>
            </a: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df_full</a:t>
            </a:r>
            <a:r>
              <a:rPr dirty="0"/>
              <a:t> = </a:t>
            </a:r>
            <a:r>
              <a:rPr dirty="0" err="1"/>
              <a:t>df_adv.join</a:t>
            </a:r>
            <a:r>
              <a:rPr dirty="0"/>
              <a:t>(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df_corr.select</a:t>
            </a:r>
            <a:r>
              <a:rPr dirty="0"/>
              <a:t>(["Date", "</a:t>
            </a:r>
            <a:r>
              <a:rPr dirty="0" err="1"/>
              <a:t>Consumption_eq</a:t>
            </a:r>
            <a:r>
              <a:rPr dirty="0"/>
              <a:t>"]), on="Date"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)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Таргет</a:t>
            </a:r>
            <a:r>
              <a:rPr dirty="0"/>
              <a:t> — </a:t>
            </a:r>
            <a:r>
              <a:rPr dirty="0" err="1"/>
              <a:t>Consumption_eq</a:t>
            </a:r>
            <a:r>
              <a:rPr dirty="0"/>
              <a:t> (</a:t>
            </a:r>
            <a:r>
              <a:rPr dirty="0" err="1"/>
              <a:t>выровненный</a:t>
            </a:r>
            <a:r>
              <a:rPr dirty="0"/>
              <a:t> </a:t>
            </a:r>
            <a:r>
              <a:rPr dirty="0" err="1"/>
              <a:t>ряд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45 </a:t>
            </a:r>
            <a:r>
              <a:rPr dirty="0" err="1"/>
              <a:t>признаков</a:t>
            </a:r>
            <a:r>
              <a:rPr dirty="0"/>
              <a:t>: </a:t>
            </a:r>
            <a:r>
              <a:rPr dirty="0" err="1"/>
              <a:t>лаги</a:t>
            </a:r>
            <a:r>
              <a:rPr dirty="0"/>
              <a:t> + </a:t>
            </a:r>
            <a:r>
              <a:rPr dirty="0" err="1"/>
              <a:t>календарные</a:t>
            </a:r>
            <a:r>
              <a:rPr dirty="0"/>
              <a:t> + </a:t>
            </a:r>
            <a:r>
              <a:rPr dirty="0" err="1"/>
              <a:t>Фурье</a:t>
            </a:r>
            <a:r>
              <a:rPr dirty="0"/>
              <a:t> + EWMA + rolling + </a:t>
            </a:r>
            <a:r>
              <a:rPr dirty="0" err="1"/>
              <a:t>категориальные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split: </a:t>
            </a:r>
            <a:r>
              <a:rPr dirty="0" err="1"/>
              <a:t>до</a:t>
            </a:r>
            <a:r>
              <a:rPr dirty="0"/>
              <a:t> 2017 и </a:t>
            </a:r>
            <a:r>
              <a:rPr dirty="0" err="1" smtClean="0"/>
              <a:t>после</a:t>
            </a:r>
            <a:r>
              <a:rPr lang="ru-RU" dirty="0" smtClean="0"/>
              <a:t> (</a:t>
            </a:r>
            <a:r>
              <a:rPr lang="en-US" dirty="0" err="1" smtClean="0"/>
              <a:t>train_adv</a:t>
            </a:r>
            <a:r>
              <a:rPr lang="en-US" dirty="0" smtClean="0"/>
              <a:t>, </a:t>
            </a:r>
            <a:r>
              <a:rPr lang="en-US" dirty="0" err="1" smtClean="0"/>
              <a:t>test_adv</a:t>
            </a:r>
            <a:r>
              <a:rPr lang="ru-RU" dirty="0" smtClean="0"/>
              <a:t>)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Те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5 </a:t>
            </a:r>
            <a:r>
              <a:rPr dirty="0" err="1"/>
              <a:t>моделей</a:t>
            </a:r>
            <a:r>
              <a:rPr dirty="0"/>
              <a:t>, </a:t>
            </a:r>
            <a:r>
              <a:rPr dirty="0" err="1"/>
              <a:t>те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метрики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Ожидание</a:t>
            </a:r>
            <a:r>
              <a:rPr dirty="0"/>
              <a:t>: R² </a:t>
            </a:r>
            <a:r>
              <a:rPr dirty="0" err="1"/>
              <a:t>выше</a:t>
            </a:r>
            <a:r>
              <a:rPr dirty="0"/>
              <a:t>, MAPE </a:t>
            </a:r>
            <a:r>
              <a:rPr dirty="0" err="1"/>
              <a:t>ниже</a:t>
            </a:r>
            <a:r>
              <a:rPr dirty="0"/>
              <a:t> —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информации</a:t>
            </a:r>
            <a:endParaRPr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Значимость признаков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Random Forest feature_importances_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63377"/>
            <a:ext cx="10058400" cy="18288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lang="en-US" dirty="0" smtClean="0"/>
              <a:t>         </a:t>
            </a:r>
            <a:r>
              <a:rPr dirty="0" err="1" smtClean="0"/>
              <a:t>importances</a:t>
            </a:r>
            <a:r>
              <a:rPr dirty="0" smtClean="0"/>
              <a:t> </a:t>
            </a:r>
            <a:r>
              <a:rPr dirty="0"/>
              <a:t>= </a:t>
            </a:r>
            <a:r>
              <a:rPr dirty="0" err="1"/>
              <a:t>rf_pipe.named_steps</a:t>
            </a:r>
            <a:r>
              <a:rPr dirty="0"/>
              <a:t>["model"].</a:t>
            </a:r>
            <a:r>
              <a:rPr dirty="0" err="1"/>
              <a:t>feature_importances</a:t>
            </a:r>
            <a:r>
              <a:rPr dirty="0"/>
              <a:t>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200 </a:t>
            </a:r>
            <a:r>
              <a:rPr dirty="0" err="1"/>
              <a:t>деревьев</a:t>
            </a:r>
            <a:r>
              <a:rPr dirty="0"/>
              <a:t>, </a:t>
            </a:r>
            <a:r>
              <a:rPr dirty="0" err="1"/>
              <a:t>max_depth</a:t>
            </a:r>
            <a:r>
              <a:rPr dirty="0"/>
              <a:t>=8 — </a:t>
            </a:r>
            <a:r>
              <a:rPr dirty="0" err="1"/>
              <a:t>глубже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кросс-валидации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importances</a:t>
            </a:r>
            <a:r>
              <a:rPr dirty="0"/>
              <a:t> — </a:t>
            </a:r>
            <a:r>
              <a:rPr dirty="0" err="1"/>
              <a:t>массив</a:t>
            </a:r>
            <a:r>
              <a:rPr dirty="0"/>
              <a:t> </a:t>
            </a:r>
            <a:r>
              <a:rPr dirty="0" err="1"/>
              <a:t>длины</a:t>
            </a:r>
            <a:r>
              <a:rPr dirty="0"/>
              <a:t> 45 (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числу</a:t>
            </a:r>
            <a:r>
              <a:rPr dirty="0"/>
              <a:t> </a:t>
            </a:r>
            <a:r>
              <a:rPr dirty="0" err="1"/>
              <a:t>признаков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argsort</a:t>
            </a:r>
            <a:r>
              <a:rPr dirty="0"/>
              <a:t> + </a:t>
            </a:r>
            <a:r>
              <a:rPr dirty="0" err="1"/>
              <a:t>срез</a:t>
            </a:r>
            <a:r>
              <a:rPr dirty="0"/>
              <a:t> [:20] — топ-20 </a:t>
            </a:r>
            <a:r>
              <a:rPr dirty="0" err="1"/>
              <a:t>признаков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Горизонтальная</a:t>
            </a:r>
            <a:r>
              <a:rPr dirty="0"/>
              <a:t> </a:t>
            </a:r>
            <a:r>
              <a:rPr dirty="0" err="1"/>
              <a:t>столбчатая</a:t>
            </a:r>
            <a:r>
              <a:rPr dirty="0"/>
              <a:t> </a:t>
            </a:r>
            <a:r>
              <a:rPr dirty="0" err="1"/>
              <a:t>диаграмма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Plotly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топ</a:t>
            </a:r>
            <a:r>
              <a:rPr dirty="0"/>
              <a:t>: lag_1, lag_7, ewma_30, </a:t>
            </a:r>
            <a:r>
              <a:rPr dirty="0" err="1"/>
              <a:t>fourier</a:t>
            </a:r>
            <a:r>
              <a:rPr dirty="0"/>
              <a:t>, </a:t>
            </a:r>
            <a:r>
              <a:rPr dirty="0" err="1"/>
              <a:t>is_weekend</a:t>
            </a:r>
            <a:endParaRPr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Рекурсивный прогноз — функция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Шаги 1–2: добавление и пересчёт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058400" cy="22860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# Шаг 1: добавляем "заглушку" будущего значения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last_known_val = history.get_column(target).to_list()[-1]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new_row_data = {col: None for col in history.columns}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new_row_data[date_col] = pred_date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new_row_data[target] = last_known_val  # временно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t>history = pl.concat([history, pl.DataFrame([new_row_data])])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10058400" cy="22860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Шаг</a:t>
            </a:r>
            <a:r>
              <a:rPr dirty="0"/>
              <a:t> 2: </a:t>
            </a:r>
            <a:r>
              <a:rPr dirty="0" err="1"/>
              <a:t>пересчитываем</a:t>
            </a:r>
            <a:r>
              <a:rPr dirty="0"/>
              <a:t> </a:t>
            </a:r>
            <a:r>
              <a:rPr dirty="0" err="1"/>
              <a:t>признаки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for lag in [1, 7, 14, 30]: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current_history</a:t>
            </a:r>
            <a:r>
              <a:rPr dirty="0"/>
              <a:t> = </a:t>
            </a:r>
            <a:r>
              <a:rPr dirty="0" err="1"/>
              <a:t>current_history.with_columns</a:t>
            </a:r>
            <a:r>
              <a:rPr dirty="0"/>
              <a:t>(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       </a:t>
            </a:r>
            <a:r>
              <a:rPr lang="en-US" dirty="0" smtClean="0"/>
              <a:t>...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    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current_history</a:t>
            </a:r>
            <a:r>
              <a:rPr dirty="0"/>
              <a:t> = </a:t>
            </a:r>
            <a:r>
              <a:rPr dirty="0" err="1"/>
              <a:t>current_history.with_columns</a:t>
            </a:r>
            <a:r>
              <a:rPr dirty="0"/>
              <a:t>([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    </a:t>
            </a:r>
            <a:r>
              <a:rPr lang="en-US" dirty="0" smtClean="0"/>
              <a:t>// .</a:t>
            </a:r>
            <a:r>
              <a:rPr dirty="0" err="1" smtClean="0"/>
              <a:t>ewm_mean</a:t>
            </a:r>
            <a:r>
              <a:rPr dirty="0" smtClean="0"/>
              <a:t>(span=30)</a:t>
            </a:r>
            <a:endParaRPr lang="en-US" dirty="0" smtClean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lang="en-US" dirty="0"/>
              <a:t> </a:t>
            </a:r>
            <a:r>
              <a:rPr lang="en-US" dirty="0" smtClean="0"/>
              <a:t>   //</a:t>
            </a:r>
            <a:r>
              <a:rPr dirty="0" smtClean="0"/>
              <a:t> </a:t>
            </a:r>
            <a:r>
              <a:rPr lang="en-US" dirty="0" smtClean="0"/>
              <a:t>.</a:t>
            </a:r>
            <a:r>
              <a:rPr dirty="0" err="1" smtClean="0"/>
              <a:t>rolling_mean</a:t>
            </a:r>
            <a:r>
              <a:rPr dirty="0" smtClean="0"/>
              <a:t>(</a:t>
            </a:r>
            <a:r>
              <a:rPr dirty="0" err="1" smtClean="0"/>
              <a:t>window_size</a:t>
            </a:r>
            <a:r>
              <a:rPr dirty="0" smtClean="0"/>
              <a:t>=7)</a:t>
            </a:r>
            <a:endParaRPr lang="en-US" dirty="0" smtClean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lang="en-US" dirty="0" smtClean="0"/>
              <a:t>    ...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smtClean="0"/>
              <a:t>])</a:t>
            </a:r>
            <a:endParaRPr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Рекурсивный прогноз — функция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Шаги 3–4: предсказание и обновление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058400" cy="22860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Шаг</a:t>
            </a:r>
            <a:r>
              <a:rPr dirty="0"/>
              <a:t> 3: </a:t>
            </a:r>
            <a:r>
              <a:rPr dirty="0" err="1"/>
              <a:t>берём</a:t>
            </a:r>
            <a:r>
              <a:rPr dirty="0"/>
              <a:t> </a:t>
            </a:r>
            <a:r>
              <a:rPr dirty="0" err="1"/>
              <a:t>последнюю</a:t>
            </a:r>
            <a:r>
              <a:rPr dirty="0"/>
              <a:t> </a:t>
            </a:r>
            <a:r>
              <a:rPr dirty="0" err="1"/>
              <a:t>строку</a:t>
            </a:r>
            <a:r>
              <a:rPr dirty="0"/>
              <a:t> и </a:t>
            </a:r>
            <a:r>
              <a:rPr dirty="0" err="1"/>
              <a:t>предсказываем</a:t>
            </a: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last_row</a:t>
            </a:r>
            <a:r>
              <a:rPr dirty="0"/>
              <a:t> = </a:t>
            </a:r>
            <a:r>
              <a:rPr dirty="0" err="1"/>
              <a:t>current_history.tail</a:t>
            </a:r>
            <a:r>
              <a:rPr dirty="0"/>
              <a:t>(1)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X_pred</a:t>
            </a:r>
            <a:r>
              <a:rPr dirty="0"/>
              <a:t> = </a:t>
            </a:r>
            <a:r>
              <a:rPr lang="en-US" dirty="0" smtClean="0"/>
              <a:t>...</a:t>
            </a: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y_hat</a:t>
            </a:r>
            <a:r>
              <a:rPr dirty="0"/>
              <a:t> = </a:t>
            </a:r>
            <a:r>
              <a:rPr lang="en-US" dirty="0" smtClean="0"/>
              <a:t>...</a:t>
            </a: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predictions.append</a:t>
            </a:r>
            <a:r>
              <a:rPr dirty="0"/>
              <a:t>(</a:t>
            </a:r>
            <a:r>
              <a:rPr dirty="0" err="1"/>
              <a:t>y_hat</a:t>
            </a:r>
            <a:r>
              <a:rPr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10058400" cy="22860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Шаг</a:t>
            </a:r>
            <a:r>
              <a:rPr dirty="0"/>
              <a:t> 4: </a:t>
            </a:r>
            <a:r>
              <a:rPr dirty="0" err="1"/>
              <a:t>заменяем</a:t>
            </a:r>
            <a:r>
              <a:rPr dirty="0"/>
              <a:t> </a:t>
            </a:r>
            <a:r>
              <a:rPr dirty="0" err="1"/>
              <a:t>заглушку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прогноз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consumption_values</a:t>
            </a:r>
            <a:r>
              <a:rPr dirty="0"/>
              <a:t> = </a:t>
            </a:r>
            <a:r>
              <a:rPr dirty="0" err="1"/>
              <a:t>current_history.get_column</a:t>
            </a:r>
            <a:r>
              <a:rPr dirty="0"/>
              <a:t>("Consumption").</a:t>
            </a:r>
            <a:r>
              <a:rPr dirty="0" err="1"/>
              <a:t>to_list</a:t>
            </a:r>
            <a:r>
              <a:rPr dirty="0"/>
              <a:t>()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consumption_values</a:t>
            </a:r>
            <a:r>
              <a:rPr dirty="0"/>
              <a:t>[-1] = </a:t>
            </a:r>
            <a:r>
              <a:rPr dirty="0" err="1"/>
              <a:t>y_hat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temp_df</a:t>
            </a:r>
            <a:r>
              <a:rPr dirty="0"/>
              <a:t> = </a:t>
            </a:r>
            <a:r>
              <a:rPr dirty="0" err="1"/>
              <a:t>current_history.select</a:t>
            </a:r>
            <a:r>
              <a:rPr dirty="0" smtClean="0"/>
              <a:t>(</a:t>
            </a:r>
            <a:endParaRPr lang="en-US" dirty="0" smtClean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lang="en-US" dirty="0"/>
              <a:t>	</a:t>
            </a:r>
            <a:r>
              <a:rPr lang="en-US" dirty="0" smtClean="0"/>
              <a:t>...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smtClean="0"/>
              <a:t>)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temp_df</a:t>
            </a:r>
            <a:r>
              <a:rPr dirty="0"/>
              <a:t> = </a:t>
            </a:r>
            <a:r>
              <a:rPr dirty="0" err="1"/>
              <a:t>temp_df.with_columns</a:t>
            </a:r>
            <a:r>
              <a:rPr dirty="0"/>
              <a:t>(</a:t>
            </a:r>
            <a:r>
              <a:rPr dirty="0" err="1"/>
              <a:t>pl.Series</a:t>
            </a:r>
            <a:r>
              <a:rPr dirty="0"/>
              <a:t>("Consumption", </a:t>
            </a:r>
            <a:r>
              <a:rPr dirty="0" err="1"/>
              <a:t>consumption_values</a:t>
            </a:r>
            <a:r>
              <a:rPr dirty="0"/>
              <a:t>))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history = </a:t>
            </a:r>
            <a:r>
              <a:rPr dirty="0" err="1"/>
              <a:t>temp_df</a:t>
            </a:r>
            <a:endParaRPr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Прямой vs рекурсивный прогноз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Сравнение на тесте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058400" cy="18288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Прямой</a:t>
            </a: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y_pred_direct</a:t>
            </a:r>
            <a:r>
              <a:rPr dirty="0"/>
              <a:t> = </a:t>
            </a:r>
            <a:r>
              <a:rPr lang="en-US" dirty="0" smtClean="0"/>
              <a:t>...</a:t>
            </a: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Рекурсивный</a:t>
            </a: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y_pred_recursive</a:t>
            </a:r>
            <a:r>
              <a:rPr dirty="0"/>
              <a:t> </a:t>
            </a:r>
            <a:r>
              <a:rPr dirty="0" smtClean="0"/>
              <a:t>=</a:t>
            </a:r>
            <a:r>
              <a:rPr lang="en-US" dirty="0" smtClean="0"/>
              <a:t> ...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338328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Свойство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Прямой (one-step)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Рекурсивный (multi-step)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Лаги на тесте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Истинные значения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Собственные прогнозы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Реалистичность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Низкая (видит будущее)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Ошибка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Не накапливается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Накапливается (accumulation)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Скорость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Один predict()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Цикл по точкам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A5F5"/>
                </a:solidFill>
                <a:latin typeface="Calibri"/>
              </a:defRPr>
            </a:pPr>
            <a:r>
              <a:rPr lang="ru-RU" dirty="0" smtClean="0"/>
              <a:t>2 г</a:t>
            </a:r>
            <a:r>
              <a:rPr dirty="0" err="1" smtClean="0"/>
              <a:t>рафик</a:t>
            </a:r>
            <a:r>
              <a:rPr lang="ru-RU" dirty="0" smtClean="0"/>
              <a:t>а</a:t>
            </a:r>
            <a:r>
              <a:rPr dirty="0" smtClean="0"/>
              <a:t>: </a:t>
            </a:r>
            <a:r>
              <a:rPr dirty="0" err="1" smtClean="0"/>
              <a:t>факт</a:t>
            </a:r>
            <a:r>
              <a:rPr dirty="0" smtClean="0"/>
              <a:t> </a:t>
            </a:r>
            <a:r>
              <a:rPr dirty="0"/>
              <a:t>vs </a:t>
            </a:r>
            <a:r>
              <a:rPr dirty="0" err="1"/>
              <a:t>прямой</a:t>
            </a:r>
            <a:r>
              <a:rPr dirty="0"/>
              <a:t>, </a:t>
            </a:r>
            <a:r>
              <a:rPr dirty="0" err="1"/>
              <a:t>факт</a:t>
            </a:r>
            <a:r>
              <a:rPr dirty="0"/>
              <a:t> vs </a:t>
            </a:r>
            <a:r>
              <a:rPr dirty="0" err="1"/>
              <a:t>рекурсивный</a:t>
            </a:r>
            <a:endParaRPr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Взвешенный ансамбль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Обратные MSE веса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29284"/>
            <a:ext cx="10058400" cy="3044952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predictions = {}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weights = {}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for name, model in models: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    </a:t>
            </a:r>
            <a:r>
              <a:rPr lang="en-US" dirty="0" smtClean="0"/>
              <a:t>...</a:t>
            </a:r>
            <a:endParaRPr dirty="0" smtClean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 smtClean="0"/>
              <a:t>    </a:t>
            </a:r>
            <a:r>
              <a:rPr dirty="0"/>
              <a:t>weights[name] = 1.0 / (</a:t>
            </a:r>
            <a:r>
              <a:rPr dirty="0" err="1"/>
              <a:t>mse</a:t>
            </a:r>
            <a:r>
              <a:rPr dirty="0"/>
              <a:t> + 1e-8)  # </a:t>
            </a:r>
            <a:r>
              <a:rPr dirty="0" err="1"/>
              <a:t>обратный</a:t>
            </a:r>
            <a:r>
              <a:rPr dirty="0"/>
              <a:t> MSE</a:t>
            </a:r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Нормируем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A0D0FF"/>
                </a:solidFill>
                <a:latin typeface="Consolas"/>
              </a:defRPr>
            </a:pPr>
            <a:r>
              <a:rPr lang="en-US" dirty="0" smtClean="0"/>
              <a:t>...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10058400" cy="18288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Финальный</a:t>
            </a:r>
            <a:r>
              <a:rPr dirty="0"/>
              <a:t> </a:t>
            </a:r>
            <a:r>
              <a:rPr dirty="0" err="1"/>
              <a:t>прогноз</a:t>
            </a: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 err="1"/>
              <a:t>y_pred_ensemble</a:t>
            </a:r>
            <a:r>
              <a:rPr dirty="0"/>
              <a:t> = </a:t>
            </a:r>
            <a:r>
              <a:rPr dirty="0" err="1"/>
              <a:t>np.zeros_like</a:t>
            </a:r>
            <a:r>
              <a:rPr dirty="0"/>
              <a:t>(</a:t>
            </a:r>
            <a:r>
              <a:rPr dirty="0" err="1"/>
              <a:t>y_test_adv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for name in predictions:</a:t>
            </a:r>
          </a:p>
          <a:p>
            <a:pPr>
              <a:spcAft>
                <a:spcPts val="200"/>
              </a:spcAft>
              <a:defRPr sz="1400">
                <a:solidFill>
                  <a:srgbClr val="A0D0F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y_pred_ensemble</a:t>
            </a:r>
            <a:r>
              <a:rPr dirty="0"/>
              <a:t> += weights[name] * predictions[name]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Итоговая сводка метрик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Базовые vs продвинутые признаки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A5F5"/>
                </a:solidFill>
                <a:latin typeface="Calibri"/>
              </a:defRPr>
            </a:pPr>
            <a:r>
              <a:rPr dirty="0" err="1"/>
              <a:t>Функция</a:t>
            </a:r>
            <a:r>
              <a:rPr dirty="0"/>
              <a:t> </a:t>
            </a:r>
            <a:r>
              <a:rPr dirty="0" err="1"/>
              <a:t>compute_all_results</a:t>
            </a:r>
            <a:r>
              <a:rPr dirty="0"/>
              <a:t>() </a:t>
            </a:r>
            <a:r>
              <a:rPr dirty="0" err="1"/>
              <a:t>обучает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5 </a:t>
            </a:r>
            <a:r>
              <a:rPr dirty="0" err="1"/>
              <a:t>моделей</a:t>
            </a:r>
            <a:r>
              <a:rPr dirty="0"/>
              <a:t> и </a:t>
            </a:r>
            <a:r>
              <a:rPr dirty="0" err="1"/>
              <a:t>возвращает</a:t>
            </a:r>
            <a:r>
              <a:rPr dirty="0"/>
              <a:t> </a:t>
            </a:r>
            <a:r>
              <a:rPr dirty="0" err="1" smtClean="0"/>
              <a:t>метрики</a:t>
            </a:r>
            <a:r>
              <a:rPr lang="ru-RU" dirty="0" smtClean="0"/>
              <a:t>.</a:t>
            </a:r>
          </a:p>
          <a:p>
            <a:pPr algn="l">
              <a:defRPr sz="1600" b="0">
                <a:solidFill>
                  <a:srgbClr val="42A5F5"/>
                </a:solidFill>
                <a:latin typeface="Calibri"/>
              </a:defRPr>
            </a:pPr>
            <a:r>
              <a:rPr lang="ru-RU" u="sng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Заполните таблицу полученными результатами</a:t>
            </a:r>
            <a:endParaRPr u="sng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R² (base)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R² (adv)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Улучшение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X.XXXX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X.XXXX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+X.XX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NN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X.XXXX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X.XXXX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+X.XX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X.XXXX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X.XXXX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+X.XX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X.XXXX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X.XXXX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+X.XX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SVR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X.XXXX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X.XXXX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rPr dirty="0"/>
                        <a:t>+X.XX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Сравнительная диаграмма: столбцы base vs adv по R²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Подписи значений на столбцах: ax.annotate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Ожидание: продвинутые признаки → R² выше для всех моделей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Сводная таблица концепций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Ключевые принципы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Концепция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Закономерность</a:t>
                      </a:r>
                    </a:p>
                  </a:txBody>
                  <a:tcPr>
                    <a:solidFill>
                      <a:srgbClr val="27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TimeSeriesSplit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Не перемешивай — дели по времени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Лаги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Вчерашнее значение — лучший предиктор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Rolling / EWMA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Сглаживание выделяет тренд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sin/cos + Фурье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Сезонность — это окружность, не прямая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Lazy API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Polars оптимизирует пайплайн до выполнения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Рекурсивный прогноз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Подставляй прогноз как факт — но ошибки копятся</a:t>
                      </a:r>
                    </a:p>
                  </a:txBody>
                  <a:tcPr>
                    <a:solidFill>
                      <a:srgbClr val="2A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Стационарность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Удали тренд, проверь ADF, потом моделируй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Импорт библиотек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Стек технологий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058400" cy="2743200"/>
          </a:xfrm>
          <a:prstGeom prst="rect">
            <a:avLst/>
          </a:prstGeom>
          <a:solidFill>
            <a:srgbClr val="0D0D1A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  <a:defRPr sz="1200">
                <a:solidFill>
                  <a:srgbClr val="A0D0FF"/>
                </a:solidFill>
                <a:latin typeface="Consolas"/>
              </a:defRPr>
            </a:pPr>
            <a:r>
              <a:t>import polars as pl          # датафреймы, Lazy API</a:t>
            </a:r>
          </a:p>
          <a:p>
            <a:pPr>
              <a:spcAft>
                <a:spcPts val="200"/>
              </a:spcAft>
              <a:defRPr sz="1200">
                <a:solidFill>
                  <a:srgbClr val="A0D0FF"/>
                </a:solidFill>
                <a:latin typeface="Consolas"/>
              </a:defRPr>
            </a:pPr>
            <a:r>
              <a:t>import numpy as np           # численные вычисления</a:t>
            </a:r>
          </a:p>
          <a:p>
            <a:pPr>
              <a:spcAft>
                <a:spcPts val="200"/>
              </a:spcAft>
              <a:defRPr sz="1200">
                <a:solidFill>
                  <a:srgbClr val="A0D0FF"/>
                </a:solidFill>
                <a:latin typeface="Consolas"/>
              </a:defRPr>
            </a:pPr>
            <a:r>
              <a:t>import matplotlib.pyplot as plt  # статическая визуализация</a:t>
            </a:r>
          </a:p>
          <a:p>
            <a:pPr>
              <a:spcAft>
                <a:spcPts val="200"/>
              </a:spcAft>
              <a:defRPr sz="1200">
                <a:solidFill>
                  <a:srgbClr val="A0D0FF"/>
                </a:solidFill>
                <a:latin typeface="Consolas"/>
              </a:defRPr>
            </a:pPr>
            <a:r>
              <a:t>import seaborn as sns         # стиль графиков</a:t>
            </a:r>
          </a:p>
          <a:p>
            <a:pPr>
              <a:spcAft>
                <a:spcPts val="200"/>
              </a:spcAft>
              <a:defRPr sz="1200">
                <a:solidFill>
                  <a:srgbClr val="A0D0FF"/>
                </a:solidFill>
                <a:latin typeface="Consolas"/>
              </a:defRPr>
            </a:pPr>
            <a:r>
              <a:t>from sklearn.model_selection import TimeSeriesSplit, cross_val_score</a:t>
            </a:r>
          </a:p>
          <a:p>
            <a:pPr>
              <a:spcAft>
                <a:spcPts val="200"/>
              </a:spcAft>
              <a:defRPr sz="1200">
                <a:solidFill>
                  <a:srgbClr val="A0D0FF"/>
                </a:solidFill>
                <a:latin typeface="Consolas"/>
              </a:defRPr>
            </a:pPr>
            <a:r>
              <a:t>from sklearn.linear_model import LinearRegression</a:t>
            </a:r>
          </a:p>
          <a:p>
            <a:pPr>
              <a:spcAft>
                <a:spcPts val="200"/>
              </a:spcAft>
              <a:defRPr sz="1200">
                <a:solidFill>
                  <a:srgbClr val="A0D0FF"/>
                </a:solidFill>
                <a:latin typeface="Consolas"/>
              </a:defRPr>
            </a:pPr>
            <a:r>
              <a:t>from sklearn.neural_network import MLPRegressor</a:t>
            </a:r>
          </a:p>
          <a:p>
            <a:pPr>
              <a:spcAft>
                <a:spcPts val="200"/>
              </a:spcAft>
              <a:defRPr sz="1200">
                <a:solidFill>
                  <a:srgbClr val="A0D0FF"/>
                </a:solidFill>
                <a:latin typeface="Consolas"/>
              </a:defRPr>
            </a:pPr>
            <a:r>
              <a:t>from sklearn.ensemble import RandomForestRegressor</a:t>
            </a:r>
          </a:p>
          <a:p>
            <a:pPr>
              <a:spcAft>
                <a:spcPts val="200"/>
              </a:spcAft>
              <a:defRPr sz="1200">
                <a:solidFill>
                  <a:srgbClr val="A0D0FF"/>
                </a:solidFill>
                <a:latin typeface="Consolas"/>
              </a:defRPr>
            </a:pPr>
            <a:r>
              <a:t>from sklearn.metrics import mean_absolute_error, mean_squared_error, r2_score</a:t>
            </a:r>
          </a:p>
          <a:p>
            <a:pPr>
              <a:spcAft>
                <a:spcPts val="200"/>
              </a:spcAft>
              <a:defRPr sz="1200">
                <a:solidFill>
                  <a:srgbClr val="A0D0FF"/>
                </a:solidFill>
                <a:latin typeface="Consolas"/>
              </a:defRPr>
            </a:pPr>
            <a:r>
              <a:t>from sklearn.preprocessing import StandardScaler</a:t>
            </a:r>
          </a:p>
          <a:p>
            <a:pPr>
              <a:spcAft>
                <a:spcPts val="200"/>
              </a:spcAft>
              <a:defRPr sz="1200">
                <a:solidFill>
                  <a:srgbClr val="A0D0FF"/>
                </a:solidFill>
                <a:latin typeface="Consolas"/>
              </a:defRPr>
            </a:pPr>
            <a:r>
              <a:t>from sklearn.pipeline import Pipeline</a:t>
            </a:r>
          </a:p>
          <a:p>
            <a:pPr>
              <a:spcAft>
                <a:spcPts val="200"/>
              </a:spcAft>
              <a:defRPr sz="1200">
                <a:solidFill>
                  <a:srgbClr val="A0D0FF"/>
                </a:solidFill>
                <a:latin typeface="Consolas"/>
              </a:defRPr>
            </a:pPr>
            <a:r>
              <a:t>import plotly.graph_objects as go  # интерактивная визуализация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Polars — быстрый аналог pandas с Lazy API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sklearn — модели, пайплайны, метрики, кросс-валидация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matplotlib + plotly — статические и интерактивные графики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statsmodels — ACF/PACF, тест Дики-Фуллера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Структура пайплайна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От данных к прогнозу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1.  Загрузка: pl.scan_csv → LazyFrame → .collect()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2.  Первичный анализ: схема, пропуски, типы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3.  Визуализация: pairplot, временной ряд, ACF/PACF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4.  Базовые признаки: лаги, разности, отношения (7 шт.)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5.  Продвинутые признаки: sin/cos, Фурье, EWMA, rolling (45 шт.)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6.  Коррекция стационарности: выравнивание тренда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7.  Разделение: train (&lt; 2017) / test (&gt;= 2017)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8.  Кросс-валидация: TimeSeriesSplit, 10 фолдов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9.  Обучение: 5 моделей × 2 набора признаков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10. Прогноз: прямой и рекурсивный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11. Ансамбль: взвешенный по обратному MSE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12. Оценка: R², MAE, RMSE, MAPE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Важные оговорки по ACF/PACF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A5F5"/>
                </a:solidFill>
                <a:latin typeface="Calibri"/>
              </a:defRPr>
            </a:pPr>
            <a:r>
              <a:t>Что помнить при анализе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1.  </a:t>
            </a:r>
            <a:r>
              <a:rPr dirty="0" err="1"/>
              <a:t>Ряд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стационарен</a:t>
            </a:r>
            <a:r>
              <a:rPr dirty="0"/>
              <a:t>. </a:t>
            </a:r>
            <a:r>
              <a:rPr dirty="0" err="1"/>
              <a:t>Тренд</a:t>
            </a:r>
            <a:r>
              <a:rPr dirty="0"/>
              <a:t> и </a:t>
            </a:r>
            <a:r>
              <a:rPr dirty="0" err="1"/>
              <a:t>сезонность</a:t>
            </a:r>
            <a:r>
              <a:rPr dirty="0"/>
              <a:t> </a:t>
            </a:r>
            <a:r>
              <a:rPr dirty="0" err="1"/>
              <a:t>дают</a:t>
            </a:r>
            <a:r>
              <a:rPr dirty="0"/>
              <a:t> </a:t>
            </a:r>
            <a:r>
              <a:rPr dirty="0" err="1"/>
              <a:t>ложные</a:t>
            </a:r>
            <a:r>
              <a:rPr dirty="0"/>
              <a:t> </a:t>
            </a:r>
            <a:r>
              <a:rPr dirty="0" err="1"/>
              <a:t>пики</a:t>
            </a:r>
            <a:r>
              <a:rPr dirty="0"/>
              <a:t> в PACF.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    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анализом</a:t>
            </a:r>
            <a:r>
              <a:rPr dirty="0"/>
              <a:t> </a:t>
            </a:r>
            <a:r>
              <a:rPr dirty="0" err="1"/>
              <a:t>берут</a:t>
            </a:r>
            <a:r>
              <a:rPr dirty="0"/>
              <a:t> </a:t>
            </a:r>
            <a:r>
              <a:rPr dirty="0" err="1"/>
              <a:t>разности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удаляют</a:t>
            </a:r>
            <a:r>
              <a:rPr dirty="0"/>
              <a:t> </a:t>
            </a:r>
            <a:r>
              <a:rPr dirty="0" err="1"/>
              <a:t>тренд</a:t>
            </a:r>
            <a:r>
              <a:rPr dirty="0"/>
              <a:t>/</a:t>
            </a:r>
            <a:r>
              <a:rPr dirty="0" err="1"/>
              <a:t>сезонность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2.  </a:t>
            </a:r>
            <a:r>
              <a:rPr dirty="0" err="1"/>
              <a:t>Значимость</a:t>
            </a:r>
            <a:r>
              <a:rPr dirty="0"/>
              <a:t> — </a:t>
            </a:r>
            <a:r>
              <a:rPr dirty="0" err="1"/>
              <a:t>статистическая</a:t>
            </a:r>
            <a:r>
              <a:rPr dirty="0"/>
              <a:t>. </a:t>
            </a:r>
            <a:r>
              <a:rPr dirty="0" err="1"/>
              <a:t>Доверительный</a:t>
            </a:r>
            <a:r>
              <a:rPr dirty="0"/>
              <a:t> </a:t>
            </a:r>
            <a:r>
              <a:rPr dirty="0" err="1"/>
              <a:t>интервал</a:t>
            </a:r>
            <a:r>
              <a:rPr dirty="0"/>
              <a:t> ±2/√n —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     </a:t>
            </a:r>
            <a:r>
              <a:rPr dirty="0" err="1"/>
              <a:t>приближение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белого</a:t>
            </a:r>
            <a:r>
              <a:rPr dirty="0"/>
              <a:t> </a:t>
            </a:r>
            <a:r>
              <a:rPr dirty="0" err="1"/>
              <a:t>шума</a:t>
            </a:r>
            <a:r>
              <a:rPr dirty="0"/>
              <a:t>. «</a:t>
            </a:r>
            <a:r>
              <a:rPr dirty="0" err="1"/>
              <a:t>Незначимые</a:t>
            </a:r>
            <a:r>
              <a:rPr dirty="0"/>
              <a:t>» </a:t>
            </a:r>
            <a:r>
              <a:rPr dirty="0" err="1"/>
              <a:t>пики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чуть</a:t>
            </a:r>
            <a:r>
              <a:rPr dirty="0"/>
              <a:t> </a:t>
            </a:r>
            <a:r>
              <a:rPr dirty="0" err="1"/>
              <a:t>вылезать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3. 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единственный</a:t>
            </a:r>
            <a:r>
              <a:rPr dirty="0"/>
              <a:t> </a:t>
            </a:r>
            <a:r>
              <a:rPr dirty="0" err="1"/>
              <a:t>критерий</a:t>
            </a:r>
            <a:r>
              <a:rPr dirty="0"/>
              <a:t>. </a:t>
            </a:r>
            <a:r>
              <a:rPr dirty="0" err="1"/>
              <a:t>Визуальный</a:t>
            </a:r>
            <a:r>
              <a:rPr dirty="0"/>
              <a:t>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подкрепляют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     </a:t>
            </a:r>
            <a:r>
              <a:rPr dirty="0" err="1"/>
              <a:t>тест</a:t>
            </a:r>
            <a:r>
              <a:rPr dirty="0"/>
              <a:t> </a:t>
            </a:r>
            <a:r>
              <a:rPr dirty="0" err="1"/>
              <a:t>Ljung</a:t>
            </a:r>
            <a:r>
              <a:rPr dirty="0"/>
              <a:t>–Box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остатки</a:t>
            </a:r>
            <a:r>
              <a:rPr dirty="0"/>
              <a:t>, AIC/BIC, </a:t>
            </a:r>
            <a:r>
              <a:rPr dirty="0" err="1"/>
              <a:t>кросс-валидация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rPr dirty="0"/>
              <a:t>     </a:t>
            </a:r>
            <a:r>
              <a:rPr dirty="0" err="1"/>
              <a:t>Остатки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вести</a:t>
            </a:r>
            <a:r>
              <a:rPr dirty="0"/>
              <a:t> </a:t>
            </a:r>
            <a:r>
              <a:rPr dirty="0" err="1"/>
              <a:t>себя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белый</a:t>
            </a:r>
            <a:r>
              <a:rPr dirty="0"/>
              <a:t> </a:t>
            </a:r>
            <a:r>
              <a:rPr dirty="0" err="1"/>
              <a:t>шум</a:t>
            </a:r>
            <a:r>
              <a:rPr dirty="0"/>
              <a:t>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2A5F5"/>
                </a:solidFill>
                <a:latin typeface="Calibri"/>
              </a:defRPr>
            </a:pPr>
            <a:r>
              <a:t>Прогнозирование временных рядов · Polars +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A726"/>
                </a:solidFill>
                <a:latin typeface="Calibri"/>
              </a:defRPr>
            </a:pPr>
            <a:r>
              <a:t>Вопросы?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108960"/>
            <a:ext cx="2103120" cy="381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650</TotalTime>
  <Words>4465</Words>
  <Application>Microsoft Office PowerPoint</Application>
  <PresentationFormat>Широкоэкранный</PresentationFormat>
  <Paragraphs>822</Paragraphs>
  <Slides>50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9" baseType="lpstr">
      <vt:lpstr>Arial</vt:lpstr>
      <vt:lpstr>Calibri</vt:lpstr>
      <vt:lpstr>Calibri Light</vt:lpstr>
      <vt:lpstr>Century Gothic</vt:lpstr>
      <vt:lpstr>Consolas</vt:lpstr>
      <vt:lpstr>Wingdings</vt:lpstr>
      <vt:lpstr>Wingdings 3</vt:lpstr>
      <vt:lpstr>YS Text</vt:lpstr>
      <vt:lpstr>Сектор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Dell</dc:creator>
  <cp:keywords/>
  <dc:description>generated using python-pptx</dc:description>
  <cp:lastModifiedBy>Dell</cp:lastModifiedBy>
  <cp:revision>33</cp:revision>
  <dcterms:created xsi:type="dcterms:W3CDTF">2013-01-27T09:14:16Z</dcterms:created>
  <dcterms:modified xsi:type="dcterms:W3CDTF">2026-09-18T01:16:56Z</dcterms:modified>
  <cp:category/>
</cp:coreProperties>
</file>