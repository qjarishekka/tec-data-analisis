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37.xml" ContentType="application/vnd.openxmlformats-officedocument.presentationml.slide+xml"/>
  <Override PartName="/ppt/slides/slide36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9.xml" ContentType="application/vnd.openxmlformats-officedocument.presentationml.slide+xml"/>
  <Override PartName="/ppt/slides/slide25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2.xml" ContentType="application/vnd.openxmlformats-officedocument.presentationml.slide+xml"/>
  <Override PartName="/ppt/slides/slide33.xml" ContentType="application/vnd.openxmlformats-officedocument.presentationml.slide+xml"/>
  <Override PartName="/ppt/slides/slide8.xml" ContentType="application/vnd.openxmlformats-officedocument.presentationml.slide+xml"/>
  <Override PartName="/ppt/slides/slide35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27.xml" ContentType="application/vnd.openxmlformats-officedocument.presentationml.slide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slide26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4.xml" ContentType="application/vnd.openxmlformats-officedocument.presentationml.slide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slides/slide28.xml" ContentType="application/vnd.openxmlformats-officedocument.presentationml.slide+xml"/>
  <Override PartName="/ppt/theme/theme1.xml" ContentType="application/vnd.openxmlformats-officedocument.them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s/slide38.xml" ContentType="application/vnd.openxmlformats-officedocument.presentationml.slide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slides/slide34.xml" ContentType="application/vnd.openxmlformats-officedocument.presentationml.slide+xml"/>
  <Override PartName="/ppt/slideLayouts/slideLayout5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</p:sldIdLst>
  <p:sldSz cx="12192000" cy="6858000"/>
  <p:notesSz cx="12192000" cy="6858000"/>
  <p:defaultTextStyle>
    <a:defPPr>
      <a:defRPr lang="en-US"/>
    </a:defPPr>
    <a:lvl1pPr marL="0" algn="l" defTabSz="4572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  <a:prstDash val="dashDot"/>
            </a:ln>
          </a:left>
          <a:right>
            <a:ln w="12700">
              <a:solidFill>
                <a:schemeClr val="lt1"/>
              </a:solidFill>
              <a:prstDash val="dashDot"/>
            </a:ln>
          </a:right>
          <a:top>
            <a:ln w="12700">
              <a:solidFill>
                <a:schemeClr val="lt1"/>
              </a:solidFill>
              <a:prstDash val="dashDot"/>
            </a:ln>
          </a:top>
          <a:bottom>
            <a:ln w="12700">
              <a:solidFill>
                <a:schemeClr val="lt1"/>
              </a:solidFill>
              <a:prstDash val="dashDot"/>
            </a:ln>
          </a:bottom>
          <a:insideH>
            <a:ln w="12700">
              <a:solidFill>
                <a:schemeClr val="lt1"/>
              </a:solidFill>
              <a:prstDash val="dashDot"/>
            </a:ln>
          </a:insideH>
          <a:insideV>
            <a:ln w="12700">
              <a:solidFill>
                <a:schemeClr val="lt1"/>
              </a:solidFill>
              <a:prstDash val="dashDot"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  <a:prstDash val="dashDot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  <a:prstDash val="dashDot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82" d="100"/>
          <a:sy n="82" d="100"/>
        </p:scale>
        <p:origin x="691" y="53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presProps" Target="presProps.xml" /><Relationship Id="rId42" Type="http://schemas.openxmlformats.org/officeDocument/2006/relationships/tableStyles" Target="tableStyles.xml" /><Relationship Id="rId43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1A1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0" y="0"/>
            <a:ext cx="109728" cy="685800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 bwMode="auto"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rPr/>
              <a:t>Лабораторная работа №3</a:t>
            </a:r>
            <a:endParaRPr/>
          </a:p>
        </p:txBody>
      </p:sp>
      <p:sp>
        <p:nvSpPr>
          <p:cNvPr id="4" name="TextBox 3"/>
          <p:cNvSpPr txBox="1"/>
          <p:nvPr/>
        </p:nvSpPr>
        <p:spPr bwMode="auto">
          <a:xfrm>
            <a:off x="914400" y="2194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D9FF"/>
                </a:solidFill>
                <a:latin typeface="Calibri"/>
              </a:defRPr>
            </a:pPr>
            <a:r>
              <a:rPr/>
              <a:t>EDA и регрессионное моделирование на Polars</a:t>
            </a:r>
            <a:endParaRPr/>
          </a:p>
        </p:txBody>
      </p:sp>
      <p:sp>
        <p:nvSpPr>
          <p:cNvPr id="5" name="TextBox 4"/>
          <p:cNvSpPr txBox="1"/>
          <p:nvPr/>
        </p:nvSpPr>
        <p:spPr bwMode="auto">
          <a:xfrm>
            <a:off x="914400" y="3200400"/>
            <a:ext cx="10058759" cy="396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0B0C0"/>
                </a:solidFill>
                <a:latin typeface="Calibri"/>
              </a:defRPr>
            </a:pPr>
            <a:endParaRPr/>
          </a:p>
        </p:txBody>
      </p:sp>
      <p:sp>
        <p:nvSpPr>
          <p:cNvPr id="6" name="TextBox 5"/>
          <p:cNvSpPr txBox="1"/>
          <p:nvPr/>
        </p:nvSpPr>
        <p:spPr bwMode="auto">
          <a:xfrm>
            <a:off x="914400" y="4114800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0C0"/>
                </a:solidFill>
                <a:latin typeface="Calibri"/>
              </a:defRPr>
            </a:pPr>
            <a:r>
              <a:rPr/>
              <a:t>Семинар</a:t>
            </a:r>
            <a:r>
              <a:rPr/>
              <a:t> </a:t>
            </a:r>
            <a:r>
              <a:rPr lang="ru-RU"/>
              <a:t>№3</a:t>
            </a:r>
            <a:endParaRPr/>
          </a:p>
        </p:txBody>
      </p:sp>
      <p:sp>
        <p:nvSpPr>
          <p:cNvPr id="7" name="TextBox 6"/>
          <p:cNvSpPr txBox="1"/>
          <p:nvPr/>
        </p:nvSpPr>
        <p:spPr bwMode="auto"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Calibri"/>
              </a:defRPr>
            </a:pPr>
            <a:r>
              <a:rPr/>
              <a:t>Москва, 2026</a:t>
            </a:r>
            <a:endParaRPr/>
          </a:p>
        </p:txBody>
      </p:sp>
      <p:sp>
        <p:nvSpPr>
          <p:cNvPr id="8" name="TextBox 7"/>
          <p:cNvSpPr txBox="1"/>
          <p:nvPr/>
        </p:nvSpPr>
        <p:spPr bwMode="auto">
          <a:xfrm>
            <a:off x="1152144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0B0C0"/>
                </a:solidFill>
                <a:latin typeface="Calibri"/>
              </a:defRPr>
            </a:pPr>
            <a:r>
              <a:rPr/>
              <a:t>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1A1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0" y="0"/>
            <a:ext cx="109728" cy="685800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 bwMode="auto"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rPr/>
              <a:t>Цель и инструментарий</a:t>
            </a:r>
            <a:endParaRPr/>
          </a:p>
        </p:txBody>
      </p:sp>
      <p:sp>
        <p:nvSpPr>
          <p:cNvPr id="4" name="TextBox 3"/>
          <p:cNvSpPr txBox="1"/>
          <p:nvPr/>
        </p:nvSpPr>
        <p:spPr bwMode="auto"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D9FF"/>
                </a:solidFill>
                <a:latin typeface="Calibri"/>
              </a:defRPr>
            </a:pPr>
            <a:r>
              <a:rPr/>
              <a:t>Цель: полный цикл — от EDA до causal inference и conformal prediction</a:t>
            </a:r>
            <a:endParaRPr/>
          </a:p>
        </p:txBody>
      </p:sp>
      <p:sp>
        <p:nvSpPr>
          <p:cNvPr id="5" name="Rectangle 4"/>
          <p:cNvSpPr/>
          <p:nvPr/>
        </p:nvSpPr>
        <p:spPr bwMode="auto">
          <a:xfrm>
            <a:off x="457200" y="1645920"/>
            <a:ext cx="73152" cy="36576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TextBox 5"/>
          <p:cNvSpPr txBox="1"/>
          <p:nvPr/>
        </p:nvSpPr>
        <p:spPr bwMode="auto">
          <a:xfrm>
            <a:off x="685800" y="16276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9FF"/>
                </a:solidFill>
                <a:latin typeface="Calibri"/>
              </a:defRPr>
            </a:pPr>
            <a:r>
              <a:rPr/>
              <a:t>Polars</a:t>
            </a:r>
            <a:endParaRPr/>
          </a:p>
        </p:txBody>
      </p:sp>
      <p:sp>
        <p:nvSpPr>
          <p:cNvPr id="7" name="TextBox 6"/>
          <p:cNvSpPr txBox="1"/>
          <p:nvPr/>
        </p:nvSpPr>
        <p:spPr bwMode="auto">
          <a:xfrm>
            <a:off x="4846320" y="162763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rPr/>
              <a:t>eager + lazy API, streaming, Parquet</a:t>
            </a:r>
            <a:endParaRPr/>
          </a:p>
        </p:txBody>
      </p:sp>
      <p:sp>
        <p:nvSpPr>
          <p:cNvPr id="8" name="Rectangle 7"/>
          <p:cNvSpPr/>
          <p:nvPr/>
        </p:nvSpPr>
        <p:spPr bwMode="auto">
          <a:xfrm>
            <a:off x="457200" y="2148840"/>
            <a:ext cx="73152" cy="36576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TextBox 8"/>
          <p:cNvSpPr txBox="1"/>
          <p:nvPr/>
        </p:nvSpPr>
        <p:spPr bwMode="auto">
          <a:xfrm>
            <a:off x="685800" y="213055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FF88"/>
                </a:solidFill>
                <a:latin typeface="Calibri"/>
              </a:defRPr>
            </a:pPr>
            <a:r>
              <a:rPr/>
              <a:t>scikit-learn, XGBoost, LightGBM, CatBoost</a:t>
            </a:r>
            <a:endParaRPr/>
          </a:p>
        </p:txBody>
      </p:sp>
      <p:sp>
        <p:nvSpPr>
          <p:cNvPr id="10" name="TextBox 9"/>
          <p:cNvSpPr txBox="1"/>
          <p:nvPr/>
        </p:nvSpPr>
        <p:spPr bwMode="auto">
          <a:xfrm>
            <a:off x="4846320" y="2130552"/>
            <a:ext cx="6860879" cy="30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rPr/>
              <a:t>регрессионные модели</a:t>
            </a:r>
            <a:endParaRPr/>
          </a:p>
        </p:txBody>
      </p:sp>
      <p:sp>
        <p:nvSpPr>
          <p:cNvPr id="11" name="Rectangle 10"/>
          <p:cNvSpPr/>
          <p:nvPr/>
        </p:nvSpPr>
        <p:spPr bwMode="auto">
          <a:xfrm>
            <a:off x="457200" y="2651760"/>
            <a:ext cx="73152" cy="36576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TextBox 11"/>
          <p:cNvSpPr txBox="1"/>
          <p:nvPr/>
        </p:nvSpPr>
        <p:spPr bwMode="auto">
          <a:xfrm>
            <a:off x="685800" y="26334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A000"/>
                </a:solidFill>
                <a:latin typeface="Calibri"/>
              </a:defRPr>
            </a:pPr>
            <a:r>
              <a:rPr/>
              <a:t>Optuna</a:t>
            </a:r>
            <a:endParaRPr/>
          </a:p>
        </p:txBody>
      </p:sp>
      <p:sp>
        <p:nvSpPr>
          <p:cNvPr id="13" name="TextBox 12"/>
          <p:cNvSpPr txBox="1"/>
          <p:nvPr/>
        </p:nvSpPr>
        <p:spPr bwMode="auto">
          <a:xfrm>
            <a:off x="4846320" y="263347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rPr/>
              <a:t>TPE, pruning, multi-objective, 200+ trials</a:t>
            </a:r>
            <a:endParaRPr/>
          </a:p>
        </p:txBody>
      </p:sp>
      <p:sp>
        <p:nvSpPr>
          <p:cNvPr id="14" name="Rectangle 13"/>
          <p:cNvSpPr/>
          <p:nvPr/>
        </p:nvSpPr>
        <p:spPr bwMode="auto">
          <a:xfrm>
            <a:off x="457200" y="3154680"/>
            <a:ext cx="73152" cy="365760"/>
          </a:xfrm>
          <a:prstGeom prst="rect">
            <a:avLst/>
          </a:prstGeom>
          <a:solidFill>
            <a:srgbClr val="BB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TextBox 14"/>
          <p:cNvSpPr txBox="1"/>
          <p:nvPr/>
        </p:nvSpPr>
        <p:spPr bwMode="auto">
          <a:xfrm>
            <a:off x="685800" y="31363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B88FF"/>
                </a:solidFill>
                <a:latin typeface="Calibri"/>
              </a:defRPr>
            </a:pPr>
            <a:r>
              <a:rPr/>
              <a:t>SHAP, LIME, Permutation</a:t>
            </a:r>
            <a:endParaRPr/>
          </a:p>
        </p:txBody>
      </p:sp>
      <p:sp>
        <p:nvSpPr>
          <p:cNvPr id="16" name="TextBox 15"/>
          <p:cNvSpPr txBox="1"/>
          <p:nvPr/>
        </p:nvSpPr>
        <p:spPr bwMode="auto">
          <a:xfrm>
            <a:off x="4846320" y="313639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rPr/>
              <a:t>интерпретация моделей</a:t>
            </a:r>
            <a:endParaRPr/>
          </a:p>
        </p:txBody>
      </p:sp>
      <p:sp>
        <p:nvSpPr>
          <p:cNvPr id="17" name="Rectangle 16"/>
          <p:cNvSpPr/>
          <p:nvPr/>
        </p:nvSpPr>
        <p:spPr bwMode="auto">
          <a:xfrm>
            <a:off x="457200" y="3657600"/>
            <a:ext cx="73152" cy="365760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TextBox 17"/>
          <p:cNvSpPr txBox="1"/>
          <p:nvPr/>
        </p:nvSpPr>
        <p:spPr bwMode="auto">
          <a:xfrm>
            <a:off x="685800" y="36393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5555"/>
                </a:solidFill>
                <a:latin typeface="Calibri"/>
              </a:defRPr>
            </a:pPr>
            <a:r>
              <a:rPr/>
              <a:t>DoWhy / EconML</a:t>
            </a:r>
            <a:endParaRPr/>
          </a:p>
        </p:txBody>
      </p:sp>
      <p:sp>
        <p:nvSpPr>
          <p:cNvPr id="19" name="TextBox 18"/>
          <p:cNvSpPr txBox="1"/>
          <p:nvPr/>
        </p:nvSpPr>
        <p:spPr bwMode="auto">
          <a:xfrm>
            <a:off x="4846320" y="363931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rPr/>
              <a:t>causal inference (ATE, refutation)</a:t>
            </a:r>
            <a:endParaRPr/>
          </a:p>
        </p:txBody>
      </p:sp>
      <p:sp>
        <p:nvSpPr>
          <p:cNvPr id="20" name="Rectangle 19"/>
          <p:cNvSpPr/>
          <p:nvPr/>
        </p:nvSpPr>
        <p:spPr bwMode="auto">
          <a:xfrm>
            <a:off x="457200" y="4160519"/>
            <a:ext cx="73152" cy="365760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TextBox 20"/>
          <p:cNvSpPr txBox="1"/>
          <p:nvPr/>
        </p:nvSpPr>
        <p:spPr bwMode="auto">
          <a:xfrm>
            <a:off x="685800" y="41422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5555"/>
                </a:solidFill>
                <a:latin typeface="Calibri"/>
              </a:defRPr>
            </a:pPr>
            <a:r>
              <a:rPr/>
              <a:t>MAPIE</a:t>
            </a:r>
            <a:endParaRPr/>
          </a:p>
        </p:txBody>
      </p:sp>
      <p:sp>
        <p:nvSpPr>
          <p:cNvPr id="22" name="TextBox 21"/>
          <p:cNvSpPr txBox="1"/>
          <p:nvPr/>
        </p:nvSpPr>
        <p:spPr bwMode="auto">
          <a:xfrm>
            <a:off x="4846320" y="414223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rPr/>
              <a:t>conformal prediction (90% coverage)</a:t>
            </a:r>
            <a:endParaRPr/>
          </a:p>
        </p:txBody>
      </p:sp>
      <p:sp>
        <p:nvSpPr>
          <p:cNvPr id="23" name="Rectangle 22"/>
          <p:cNvSpPr/>
          <p:nvPr/>
        </p:nvSpPr>
        <p:spPr bwMode="auto">
          <a:xfrm>
            <a:off x="457200" y="4663440"/>
            <a:ext cx="73152" cy="365760"/>
          </a:xfrm>
          <a:prstGeom prst="rect">
            <a:avLst/>
          </a:prstGeom>
          <a:solidFill>
            <a:srgbClr val="BB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TextBox 23"/>
          <p:cNvSpPr txBox="1"/>
          <p:nvPr/>
        </p:nvSpPr>
        <p:spPr bwMode="auto">
          <a:xfrm>
            <a:off x="685800" y="464515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B88FF"/>
                </a:solidFill>
                <a:latin typeface="Calibri"/>
              </a:defRPr>
            </a:pPr>
            <a:r>
              <a:rPr/>
              <a:t>PyTorch</a:t>
            </a:r>
            <a:endParaRPr/>
          </a:p>
        </p:txBody>
      </p:sp>
      <p:sp>
        <p:nvSpPr>
          <p:cNvPr id="25" name="TextBox 24"/>
          <p:cNvSpPr txBox="1"/>
          <p:nvPr/>
        </p:nvSpPr>
        <p:spPr bwMode="auto">
          <a:xfrm>
            <a:off x="4846320" y="464515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rPr/>
              <a:t>tabular NN (BatchNorm, Dropout)</a:t>
            </a:r>
            <a:endParaRPr/>
          </a:p>
        </p:txBody>
      </p:sp>
      <p:sp>
        <p:nvSpPr>
          <p:cNvPr id="26" name="Rectangle 25"/>
          <p:cNvSpPr/>
          <p:nvPr/>
        </p:nvSpPr>
        <p:spPr bwMode="auto">
          <a:xfrm>
            <a:off x="457200" y="5166360"/>
            <a:ext cx="73152" cy="36576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TextBox 26"/>
          <p:cNvSpPr txBox="1"/>
          <p:nvPr/>
        </p:nvSpPr>
        <p:spPr bwMode="auto">
          <a:xfrm>
            <a:off x="685800" y="51480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A000"/>
                </a:solidFill>
                <a:latin typeface="Calibri"/>
              </a:defRPr>
            </a:pPr>
            <a:r>
              <a:rPr/>
              <a:t>Sentence-Transformers</a:t>
            </a:r>
            <a:endParaRPr/>
          </a:p>
        </p:txBody>
      </p:sp>
      <p:sp>
        <p:nvSpPr>
          <p:cNvPr id="28" name="TextBox 27"/>
          <p:cNvSpPr txBox="1"/>
          <p:nvPr/>
        </p:nvSpPr>
        <p:spPr bwMode="auto">
          <a:xfrm>
            <a:off x="4846320" y="514807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rPr/>
              <a:t>SBERT → PCA 32 (эмбеддинги)</a:t>
            </a:r>
            <a:endParaRPr/>
          </a:p>
        </p:txBody>
      </p:sp>
      <p:sp>
        <p:nvSpPr>
          <p:cNvPr id="29" name="Rectangle 28"/>
          <p:cNvSpPr/>
          <p:nvPr/>
        </p:nvSpPr>
        <p:spPr bwMode="auto">
          <a:xfrm>
            <a:off x="457200" y="5669280"/>
            <a:ext cx="73152" cy="36576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TextBox 29"/>
          <p:cNvSpPr txBox="1"/>
          <p:nvPr/>
        </p:nvSpPr>
        <p:spPr bwMode="auto">
          <a:xfrm>
            <a:off x="685800" y="56509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FF88"/>
                </a:solidFill>
                <a:latin typeface="Calibri"/>
              </a:defRPr>
            </a:pPr>
            <a:r>
              <a:rPr/>
              <a:t>DuckDB</a:t>
            </a:r>
            <a:endParaRPr/>
          </a:p>
        </p:txBody>
      </p:sp>
      <p:sp>
        <p:nvSpPr>
          <p:cNvPr id="31" name="TextBox 30"/>
          <p:cNvSpPr txBox="1"/>
          <p:nvPr/>
        </p:nvSpPr>
        <p:spPr bwMode="auto">
          <a:xfrm>
            <a:off x="4846320" y="565099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rPr/>
              <a:t>SQL поверх Polars (агрегации, окна)</a:t>
            </a:r>
            <a:endParaRPr/>
          </a:p>
        </p:txBody>
      </p:sp>
      <p:sp>
        <p:nvSpPr>
          <p:cNvPr id="32" name="TextBox 31"/>
          <p:cNvSpPr txBox="1"/>
          <p:nvPr/>
        </p:nvSpPr>
        <p:spPr bwMode="auto">
          <a:xfrm>
            <a:off x="1152144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0B0C0"/>
                </a:solidFill>
                <a:latin typeface="Calibri"/>
              </a:defRPr>
            </a:pPr>
            <a:r>
              <a:rPr/>
              <a:t>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1A1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399080" name="Rectangle 1"/>
          <p:cNvSpPr/>
          <p:nvPr/>
        </p:nvSpPr>
        <p:spPr bwMode="auto">
          <a:xfrm>
            <a:off x="0" y="0"/>
            <a:ext cx="109728" cy="685800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43072678" name="TextBox 2"/>
          <p:cNvSpPr txBox="1"/>
          <p:nvPr/>
        </p:nvSpPr>
        <p:spPr bwMode="auto">
          <a:xfrm>
            <a:off x="457200" y="365760"/>
            <a:ext cx="10973160" cy="488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2600" b="1">
                <a:solidFill>
                  <a:srgbClr val="FFFFFF"/>
                </a:solidFill>
                <a:latin typeface="Calibri"/>
              </a:defRPr>
            </a:pPr>
            <a:r>
              <a:rPr/>
              <a:t>Цель и инструментарий</a:t>
            </a:r>
            <a:endParaRPr/>
          </a:p>
        </p:txBody>
      </p:sp>
      <p:sp>
        <p:nvSpPr>
          <p:cNvPr id="562445242" name="TextBox 3"/>
          <p:cNvSpPr txBox="1"/>
          <p:nvPr/>
        </p:nvSpPr>
        <p:spPr bwMode="auto">
          <a:xfrm flipH="0" flipV="0">
            <a:off x="215478" y="914400"/>
            <a:ext cx="5503376" cy="5303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sz="1200" b="0" i="0" u="none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Цель  полного цикла — не просто построить модель, а выстроить целостный процесс: от первичного понимания данных и поиска причинно-следственных связей до оценки неопределённости прогнозов в реальных задачах. </a:t>
            </a:r>
            <a:endParaRPr>
              <a:solidFill>
                <a:schemeClr val="bg1"/>
              </a:solidFill>
            </a:endParaRPr>
          </a:p>
          <a:p>
            <a:pPr algn="just">
              <a:defRPr/>
            </a:pPr>
            <a:r>
              <a:rPr sz="1800" b="1" i="0" u="none">
                <a:solidFill>
                  <a:srgbClr val="FFC000"/>
                </a:solidFill>
                <a:latin typeface="Liberation Sans"/>
                <a:ea typeface="Liberation Sans"/>
                <a:cs typeface="Liberation Sans"/>
              </a:rPr>
              <a:t>1. EDA (Разведочный анализ данных)</a:t>
            </a:r>
            <a:endParaRPr>
              <a:solidFill>
                <a:schemeClr val="bg1"/>
              </a:solidFill>
            </a:endParaRPr>
          </a:p>
          <a:p>
            <a:pPr algn="just">
              <a:defRPr/>
            </a:pPr>
            <a:r>
              <a:rPr sz="1200" b="0" i="0" u="none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На этом этапе вы формируете «чувство» для данных. </a:t>
            </a:r>
            <a:endParaRPr>
              <a:solidFill>
                <a:schemeClr val="bg1"/>
              </a:solidFill>
            </a:endParaRPr>
          </a:p>
          <a:p>
            <a:pPr algn="just">
              <a:defRPr/>
            </a:pPr>
            <a:r>
              <a:rPr sz="1200" b="1" i="0" u="none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Изучаете структуру:</a:t>
            </a:r>
            <a:r>
              <a:rPr sz="1200" b="1" i="0" u="none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200" b="1" i="0" u="none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размер датасета, типы переменных, наличие пропусков, дубликатов.</a:t>
            </a:r>
            <a:endParaRPr>
              <a:solidFill>
                <a:schemeClr val="bg1"/>
              </a:solidFill>
            </a:endParaRPr>
          </a:p>
          <a:p>
            <a:pPr algn="just">
              <a:defRPr/>
            </a:pPr>
            <a:r>
              <a:rPr sz="1200" b="1" i="0" u="none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Выявляете аномалии и выбросы</a:t>
            </a:r>
            <a:r>
              <a:rPr sz="1200" b="1" i="0" u="none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200" b="1" i="0" u="none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— они могут сильно исказить выводы.</a:t>
            </a:r>
            <a:endParaRPr>
              <a:solidFill>
                <a:schemeClr val="bg1"/>
              </a:solidFill>
            </a:endParaRPr>
          </a:p>
          <a:p>
            <a:pPr algn="just">
              <a:defRPr/>
            </a:pPr>
            <a:r>
              <a:rPr sz="1200" b="1" i="0" u="none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Ищете корреляции</a:t>
            </a:r>
            <a:r>
              <a:rPr sz="1200" b="1" i="0" u="none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200" b="1" i="0" u="none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между переменными, чтобы нащупать первые гипотезы о том, что на что влияет.</a:t>
            </a:r>
            <a:endParaRPr>
              <a:solidFill>
                <a:schemeClr val="bg1"/>
              </a:solidFill>
            </a:endParaRPr>
          </a:p>
          <a:p>
            <a:pPr algn="just">
              <a:defRPr/>
            </a:pPr>
            <a:r>
              <a:rPr sz="1200" b="1" i="0" u="none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Готовите данные</a:t>
            </a:r>
            <a:r>
              <a:rPr sz="1200" b="1" i="0" u="none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200" b="1" i="0" u="none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к следующим шагам: чистите, заполняете пропуски, масштабируете признаки.</a:t>
            </a:r>
            <a:endParaRPr>
              <a:solidFill>
                <a:schemeClr val="bg1"/>
              </a:solidFill>
            </a:endParaRPr>
          </a:p>
          <a:p>
            <a:pPr algn="just">
              <a:defRPr/>
            </a:pPr>
            <a:r>
              <a:rPr sz="1800" b="1" i="0" u="none">
                <a:solidFill>
                  <a:srgbClr val="92D050"/>
                </a:solidFill>
                <a:latin typeface="Liberation Sans"/>
                <a:ea typeface="Liberation Sans"/>
                <a:cs typeface="Liberation Sans"/>
              </a:rPr>
              <a:t>2. Causal Inference (Анализ причинно-следственных связей)</a:t>
            </a:r>
            <a:endParaRPr>
              <a:solidFill>
                <a:srgbClr val="92D050"/>
              </a:solidFill>
            </a:endParaRPr>
          </a:p>
          <a:p>
            <a:pPr algn="just">
              <a:defRPr/>
            </a:pPr>
            <a:r>
              <a:rPr sz="1200" b="0" i="0" u="none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После того как вы увидели паттерны, переходите к причинно-следственному анализу. </a:t>
            </a:r>
            <a:endParaRPr>
              <a:solidFill>
                <a:schemeClr val="bg1"/>
              </a:solidFill>
            </a:endParaRPr>
          </a:p>
          <a:p>
            <a:pPr algn="just">
              <a:defRPr/>
            </a:pPr>
            <a:r>
              <a:rPr sz="1200" b="1" i="0" u="none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Формулируете гипотезы</a:t>
            </a:r>
            <a:r>
              <a:rPr sz="1200" b="1" i="0" u="none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200" b="1" i="0" u="none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о том, как одни факторы влияют на другие (например, как изменение интерфейса повлияло на конверсию).</a:t>
            </a:r>
            <a:endParaRPr>
              <a:solidFill>
                <a:schemeClr val="bg1"/>
              </a:solidFill>
            </a:endParaRPr>
          </a:p>
          <a:p>
            <a:pPr algn="just">
              <a:defRPr/>
            </a:pPr>
            <a:r>
              <a:rPr sz="1200" b="1" i="0" u="none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Применяете методы</a:t>
            </a:r>
            <a:r>
              <a:rPr sz="1200" b="1" i="0" u="none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, чтобы минимизировать влияние смещений (confounding) — ситуаций, когда третья переменная искажает реальную картину. Сюда могут входить методы вроде inverse probability weighting (IPW), Т-learner, а также оценка через structural causal models (структурные причинные модели).</a:t>
            </a:r>
            <a:endParaRPr>
              <a:solidFill>
                <a:schemeClr val="bg1"/>
              </a:solidFill>
            </a:endParaRPr>
          </a:p>
          <a:p>
            <a:pPr algn="just">
              <a:defRPr/>
            </a:pPr>
            <a:r>
              <a:rPr sz="1200" b="1" i="0" u="none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Проверяете устойчивость выводов</a:t>
            </a:r>
            <a:r>
              <a:rPr sz="1200" b="1" i="0" u="none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200" b="1" i="0" u="none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— оцениваете, насколько результаты зависят от выбранных методов и предположений.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388486660" name="TextBox 31"/>
          <p:cNvSpPr txBox="1"/>
          <p:nvPr/>
        </p:nvSpPr>
        <p:spPr bwMode="auto">
          <a:xfrm>
            <a:off x="1152144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0B0C0"/>
                </a:solidFill>
                <a:latin typeface="Calibri"/>
              </a:defRPr>
            </a:pPr>
            <a:r>
              <a:rPr/>
              <a:t>3</a:t>
            </a:r>
            <a:endParaRPr/>
          </a:p>
        </p:txBody>
      </p:sp>
      <p:sp>
        <p:nvSpPr>
          <p:cNvPr id="1377817520" name=""/>
          <p:cNvSpPr txBox="1"/>
          <p:nvPr/>
        </p:nvSpPr>
        <p:spPr bwMode="auto">
          <a:xfrm flipH="0" flipV="0">
            <a:off x="5845725" y="365760"/>
            <a:ext cx="5998274" cy="62487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just">
              <a:defRPr/>
            </a:pPr>
            <a:r>
              <a:rPr sz="1800" b="1" i="0" u="none">
                <a:solidFill>
                  <a:srgbClr val="C00000"/>
                </a:solidFill>
                <a:latin typeface="Liberation Sans"/>
                <a:ea typeface="Liberation Sans"/>
                <a:cs typeface="Liberation Sans"/>
              </a:rPr>
              <a:t>3. Conformal Prediction (Конформное прогнозирование)</a:t>
            </a:r>
            <a:endParaRPr sz="1800">
              <a:solidFill>
                <a:srgbClr val="C00000"/>
              </a:solidFill>
            </a:endParaRPr>
          </a:p>
          <a:p>
            <a:pPr algn="just">
              <a:defRPr/>
            </a:pPr>
            <a:r>
              <a:rPr sz="1400" b="0" i="0" u="none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Этот этап связывает всё воедино с упором на</a:t>
            </a:r>
            <a:r>
              <a:rPr sz="1400" b="0" i="0" u="none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400" b="0" i="0" u="none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оценку неопределённости</a:t>
            </a:r>
            <a:r>
              <a:rPr sz="1400" b="0" i="0" u="none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. </a:t>
            </a:r>
            <a:endParaRPr sz="1400">
              <a:solidFill>
                <a:schemeClr val="bg1"/>
              </a:solidFill>
            </a:endParaRPr>
          </a:p>
          <a:p>
            <a:pPr algn="just">
              <a:defRPr/>
            </a:pPr>
            <a:r>
              <a:rPr sz="1400" b="0" i="0" u="none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Берёте обученную модель и с помощью методов conformal prediction строите</a:t>
            </a:r>
            <a:r>
              <a:rPr sz="1400" b="0" i="0" u="none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400" b="0" i="0" u="none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конформные прогнозы</a:t>
            </a:r>
            <a:r>
              <a:rPr sz="1400" b="0" i="0" u="none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. </a:t>
            </a:r>
            <a:endParaRPr sz="1400">
              <a:solidFill>
                <a:schemeClr val="bg1"/>
              </a:solidFill>
            </a:endParaRPr>
          </a:p>
          <a:p>
            <a:pPr algn="just">
              <a:defRPr/>
            </a:pPr>
            <a:r>
              <a:rPr sz="1400" b="0" i="0" u="none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Ключевая особенность в том, что фреймворк даёт</a:t>
            </a:r>
            <a:r>
              <a:rPr sz="1400" b="0" i="0" u="none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400" b="0" i="0" u="none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строгие статистические гарантии</a:t>
            </a:r>
            <a:r>
              <a:rPr sz="1400" b="0" i="0" u="none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400" b="0" i="0" u="none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(например, маржинальное покрытие в конечной выборке), не требуя строгих parametric assumptions о распределении ошибок. То есть вы получаете не просто точечный прогноз, а интервал, который с заданной вероятностью накрывает истинные значения. </a:t>
            </a:r>
            <a:endParaRPr sz="1400">
              <a:solidFill>
                <a:schemeClr val="bg1"/>
              </a:solidFill>
            </a:endParaRPr>
          </a:p>
          <a:p>
            <a:pPr algn="just">
              <a:defRPr/>
            </a:pPr>
            <a:r>
              <a:rPr sz="1400" b="0" i="0" u="none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Это особенно ценно в реальных сценариях, где важно понимать не только что модель предсказывает, но и насколько она в этом не уверена. </a:t>
            </a:r>
            <a:endParaRPr sz="1400">
              <a:solidFill>
                <a:schemeClr val="bg1"/>
              </a:solidFill>
            </a:endParaRPr>
          </a:p>
          <a:p>
            <a:pPr algn="just">
              <a:defRPr/>
            </a:pPr>
            <a:r>
              <a:rPr sz="1800" b="1" i="0" u="none">
                <a:solidFill>
                  <a:srgbClr val="00B0F0"/>
                </a:solidFill>
                <a:latin typeface="Liberation Sans"/>
                <a:ea typeface="Liberation Sans"/>
                <a:cs typeface="Liberation Sans"/>
              </a:rPr>
              <a:t>Как это работает в связке?</a:t>
            </a:r>
            <a:endParaRPr sz="1800">
              <a:solidFill>
                <a:srgbClr val="00B0F0"/>
              </a:solidFill>
            </a:endParaRPr>
          </a:p>
          <a:p>
            <a:pPr algn="just">
              <a:defRPr/>
            </a:pPr>
            <a:r>
              <a:rPr sz="1400" b="0" i="0" u="none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Представьте задачу: вы хотите рекомендовать товары пользователям так, чтобы не только давать персонализированные предложения, но и показывать, насколько модель в этом уверена (например, «мы рекомендуем этот товар с вероятностью 80%, но для 20% пользователей можем предложить альтернативу из-за неопределённости»).</a:t>
            </a:r>
            <a:endParaRPr sz="1400">
              <a:solidFill>
                <a:schemeClr val="bg1"/>
              </a:solidFill>
            </a:endParaRPr>
          </a:p>
          <a:p>
            <a:pPr algn="just">
              <a:defRPr/>
            </a:pPr>
            <a:r>
              <a:rPr sz="1400" b="1" i="0" u="none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EDA</a:t>
            </a:r>
            <a:r>
              <a:rPr sz="1400" b="1" i="0" u="none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400" b="1" i="0" u="none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найдёт признаки и выбросы.</a:t>
            </a:r>
            <a:endParaRPr sz="1400">
              <a:solidFill>
                <a:schemeClr val="bg1"/>
              </a:solidFill>
            </a:endParaRPr>
          </a:p>
          <a:p>
            <a:pPr algn="just">
              <a:defRPr/>
            </a:pPr>
            <a:r>
              <a:rPr sz="1400" b="1" i="0" u="none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Causal Inference</a:t>
            </a:r>
            <a:r>
              <a:rPr sz="1400" b="1" i="0" u="none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400" b="1" i="0" u="none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поможет оценить эффект рекомендации и устранить смещения.</a:t>
            </a:r>
            <a:endParaRPr sz="1400">
              <a:solidFill>
                <a:schemeClr val="bg1"/>
              </a:solidFill>
            </a:endParaRPr>
          </a:p>
          <a:p>
            <a:pPr algn="just">
              <a:defRPr/>
            </a:pPr>
            <a:r>
              <a:rPr sz="1400" b="1" i="0" u="none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Conformal Prediction</a:t>
            </a:r>
            <a:r>
              <a:rPr sz="1400" b="1" i="0" u="none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400" b="1" i="0" u="none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даст модель, которая не только предложит рекомендацию, но и честно скажет, насколько он в этом не уверен.</a:t>
            </a:r>
            <a:endParaRPr sz="140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1A1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0" y="0"/>
            <a:ext cx="109728" cy="685800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 bwMode="auto"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rPr/>
              <a:t>Три уровня сложности и пайплайн</a:t>
            </a:r>
            <a:endParaRPr/>
          </a:p>
        </p:txBody>
      </p:sp>
      <p:graphicFrame>
        <p:nvGraphicFramePr>
          <p:cNvPr id="4" name="Table 3"/>
          <p:cNvGraphicFramePr>
            <a:graphicFrameLocks xmlns:a="http://schemas.openxmlformats.org/drawingml/2006/main" noGrp="1"/>
          </p:cNvGraphicFramePr>
          <p:nvPr/>
        </p:nvGraphicFramePr>
        <p:xfrm>
          <a:off x="457200" y="1005840"/>
          <a:ext cx="11247120" cy="1170432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1828800"/>
                <a:gridCol w="1097280"/>
                <a:gridCol w="1097280"/>
                <a:gridCol w="1828800"/>
                <a:gridCol w="5394960"/>
              </a:tblGrid>
              <a:tr h="292608">
                <a:tc>
                  <a:txBody>
                    <a:bodyPr/>
                    <a:p>
                      <a:pPr>
                        <a:defRPr sz="1300" b="1">
                          <a:solidFill>
                            <a:srgbClr val="00D9FF"/>
                          </a:solidFill>
                          <a:latin typeface="Calibri"/>
                        </a:defRPr>
                      </a:pPr>
                      <a:r>
                        <a:rPr/>
                        <a:t>Уровень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300" b="1">
                          <a:solidFill>
                            <a:srgbClr val="00D9FF"/>
                          </a:solidFill>
                          <a:latin typeface="Calibri"/>
                        </a:defRPr>
                      </a:pPr>
                      <a:r>
                        <a:rPr/>
                        <a:t>Баллы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300" b="1">
                          <a:solidFill>
                            <a:srgbClr val="00D9FF"/>
                          </a:solidFill>
                          <a:latin typeface="Calibri"/>
                        </a:defRPr>
                      </a:pPr>
                      <a:r>
                        <a:rPr/>
                        <a:t>Вариантов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300" b="1">
                          <a:solidFill>
                            <a:srgbClr val="00D9FF"/>
                          </a:solidFill>
                          <a:latin typeface="Calibri"/>
                        </a:defRPr>
                      </a:pPr>
                      <a:r>
                        <a:rPr/>
                        <a:t>Размер данных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300" b="1">
                          <a:solidFill>
                            <a:srgbClr val="00D9FF"/>
                          </a:solidFill>
                          <a:latin typeface="Calibri"/>
                        </a:defRPr>
                      </a:pPr>
                      <a:r>
                        <a:rPr/>
                        <a:t>Ключевое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3 (базовый)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7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10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0.3K – 55K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One-Hot, 4 метрики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4 (продвинутый)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9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10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17K – 300K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 Lazy, Optuna, SHAP, VIF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5 (отлично)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12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10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0.5M – 3M+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Causal, Conformal, GPU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 bwMode="auto">
          <a:xfrm>
            <a:off x="457200" y="301751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rPr/>
              <a:t>Пайплайн из 10 шагов:</a:t>
            </a:r>
            <a:endParaRPr/>
          </a:p>
        </p:txBody>
      </p:sp>
      <p:sp>
        <p:nvSpPr>
          <p:cNvPr id="6" name="Rectangle 5"/>
          <p:cNvSpPr/>
          <p:nvPr/>
        </p:nvSpPr>
        <p:spPr bwMode="auto">
          <a:xfrm>
            <a:off x="457200" y="3657600"/>
            <a:ext cx="1005840" cy="45720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TextBox 6"/>
          <p:cNvSpPr txBox="1"/>
          <p:nvPr/>
        </p:nvSpPr>
        <p:spPr bwMode="auto">
          <a:xfrm>
            <a:off x="457200" y="37033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2E"/>
                </a:solidFill>
                <a:latin typeface="Calibri"/>
              </a:defRPr>
            </a:pPr>
            <a:r>
              <a:rPr/>
              <a:t>1</a:t>
            </a:r>
            <a:endParaRPr/>
          </a:p>
        </p:txBody>
      </p:sp>
      <p:sp>
        <p:nvSpPr>
          <p:cNvPr id="8" name="TextBox 7"/>
          <p:cNvSpPr txBox="1"/>
          <p:nvPr/>
        </p:nvSpPr>
        <p:spPr bwMode="auto">
          <a:xfrm>
            <a:off x="411480" y="416051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rPr/>
              <a:t>Загрузка</a:t>
            </a:r>
            <a:endParaRPr/>
          </a:p>
        </p:txBody>
      </p:sp>
      <p:sp>
        <p:nvSpPr>
          <p:cNvPr id="9" name="TextBox 8"/>
          <p:cNvSpPr txBox="1"/>
          <p:nvPr/>
        </p:nvSpPr>
        <p:spPr bwMode="auto">
          <a:xfrm>
            <a:off x="1417320" y="37033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Calibri"/>
              </a:defRPr>
            </a:pPr>
            <a:r>
              <a:rPr/>
              <a:t>-&gt;</a:t>
            </a:r>
            <a:endParaRPr/>
          </a:p>
        </p:txBody>
      </p:sp>
      <p:sp>
        <p:nvSpPr>
          <p:cNvPr id="10" name="Rectangle 9"/>
          <p:cNvSpPr/>
          <p:nvPr/>
        </p:nvSpPr>
        <p:spPr bwMode="auto">
          <a:xfrm>
            <a:off x="1600200" y="3657600"/>
            <a:ext cx="1005840" cy="45720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TextBox 10"/>
          <p:cNvSpPr txBox="1"/>
          <p:nvPr/>
        </p:nvSpPr>
        <p:spPr bwMode="auto">
          <a:xfrm>
            <a:off x="1600200" y="37033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2E"/>
                </a:solidFill>
                <a:latin typeface="Calibri"/>
              </a:defRPr>
            </a:pPr>
            <a:r>
              <a:rPr/>
              <a:t>2</a:t>
            </a:r>
            <a:endParaRPr/>
          </a:p>
        </p:txBody>
      </p:sp>
      <p:sp>
        <p:nvSpPr>
          <p:cNvPr id="12" name="TextBox 11"/>
          <p:cNvSpPr txBox="1"/>
          <p:nvPr/>
        </p:nvSpPr>
        <p:spPr bwMode="auto">
          <a:xfrm>
            <a:off x="1554480" y="416051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rPr/>
              <a:t>EDA</a:t>
            </a:r>
            <a:endParaRPr/>
          </a:p>
        </p:txBody>
      </p:sp>
      <p:sp>
        <p:nvSpPr>
          <p:cNvPr id="13" name="TextBox 12"/>
          <p:cNvSpPr txBox="1"/>
          <p:nvPr/>
        </p:nvSpPr>
        <p:spPr bwMode="auto">
          <a:xfrm>
            <a:off x="2560320" y="37033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Calibri"/>
              </a:defRPr>
            </a:pPr>
            <a:r>
              <a:rPr/>
              <a:t>-&gt;</a:t>
            </a:r>
            <a:endParaRPr/>
          </a:p>
        </p:txBody>
      </p:sp>
      <p:sp>
        <p:nvSpPr>
          <p:cNvPr id="14" name="Rectangle 13"/>
          <p:cNvSpPr/>
          <p:nvPr/>
        </p:nvSpPr>
        <p:spPr bwMode="auto">
          <a:xfrm>
            <a:off x="2743200" y="3657600"/>
            <a:ext cx="1005840" cy="4572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TextBox 14"/>
          <p:cNvSpPr txBox="1"/>
          <p:nvPr/>
        </p:nvSpPr>
        <p:spPr bwMode="auto">
          <a:xfrm>
            <a:off x="2743200" y="37033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2E"/>
                </a:solidFill>
                <a:latin typeface="Calibri"/>
              </a:defRPr>
            </a:pPr>
            <a:r>
              <a:rPr/>
              <a:t>3</a:t>
            </a:r>
            <a:endParaRPr/>
          </a:p>
        </p:txBody>
      </p:sp>
      <p:sp>
        <p:nvSpPr>
          <p:cNvPr id="16" name="TextBox 15"/>
          <p:cNvSpPr txBox="1"/>
          <p:nvPr/>
        </p:nvSpPr>
        <p:spPr bwMode="auto">
          <a:xfrm>
            <a:off x="2697480" y="416051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rPr/>
              <a:t>Пропуски</a:t>
            </a:r>
            <a:endParaRPr/>
          </a:p>
        </p:txBody>
      </p:sp>
      <p:sp>
        <p:nvSpPr>
          <p:cNvPr id="17" name="TextBox 16"/>
          <p:cNvSpPr txBox="1"/>
          <p:nvPr/>
        </p:nvSpPr>
        <p:spPr bwMode="auto">
          <a:xfrm>
            <a:off x="3703320" y="37033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Calibri"/>
              </a:defRPr>
            </a:pPr>
            <a:r>
              <a:rPr/>
              <a:t>-&gt;</a:t>
            </a:r>
            <a:endParaRPr/>
          </a:p>
        </p:txBody>
      </p:sp>
      <p:sp>
        <p:nvSpPr>
          <p:cNvPr id="18" name="Rectangle 17"/>
          <p:cNvSpPr/>
          <p:nvPr/>
        </p:nvSpPr>
        <p:spPr bwMode="auto">
          <a:xfrm>
            <a:off x="3886200" y="3657600"/>
            <a:ext cx="1005840" cy="4572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TextBox 18"/>
          <p:cNvSpPr txBox="1"/>
          <p:nvPr/>
        </p:nvSpPr>
        <p:spPr bwMode="auto">
          <a:xfrm>
            <a:off x="3886200" y="37033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2E"/>
                </a:solidFill>
                <a:latin typeface="Calibri"/>
              </a:defRPr>
            </a:pPr>
            <a:r>
              <a:rPr/>
              <a:t>4</a:t>
            </a:r>
            <a:endParaRPr/>
          </a:p>
        </p:txBody>
      </p:sp>
      <p:sp>
        <p:nvSpPr>
          <p:cNvPr id="20" name="TextBox 19"/>
          <p:cNvSpPr txBox="1"/>
          <p:nvPr/>
        </p:nvSpPr>
        <p:spPr bwMode="auto">
          <a:xfrm>
            <a:off x="3840480" y="416051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rPr/>
              <a:t>FE</a:t>
            </a:r>
            <a:endParaRPr/>
          </a:p>
        </p:txBody>
      </p:sp>
      <p:sp>
        <p:nvSpPr>
          <p:cNvPr id="21" name="TextBox 20"/>
          <p:cNvSpPr txBox="1"/>
          <p:nvPr/>
        </p:nvSpPr>
        <p:spPr bwMode="auto">
          <a:xfrm>
            <a:off x="4846320" y="37033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Calibri"/>
              </a:defRPr>
            </a:pPr>
            <a:r>
              <a:rPr/>
              <a:t>-&gt;</a:t>
            </a:r>
            <a:endParaRPr/>
          </a:p>
        </p:txBody>
      </p:sp>
      <p:sp>
        <p:nvSpPr>
          <p:cNvPr id="22" name="Rectangle 21"/>
          <p:cNvSpPr/>
          <p:nvPr/>
        </p:nvSpPr>
        <p:spPr bwMode="auto">
          <a:xfrm>
            <a:off x="5029200" y="3657600"/>
            <a:ext cx="1005840" cy="45720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TextBox 22"/>
          <p:cNvSpPr txBox="1"/>
          <p:nvPr/>
        </p:nvSpPr>
        <p:spPr bwMode="auto">
          <a:xfrm>
            <a:off x="5029200" y="37033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2E"/>
                </a:solidFill>
                <a:latin typeface="Calibri"/>
              </a:defRPr>
            </a:pPr>
            <a:r>
              <a:rPr/>
              <a:t>5</a:t>
            </a:r>
            <a:endParaRPr/>
          </a:p>
        </p:txBody>
      </p:sp>
      <p:sp>
        <p:nvSpPr>
          <p:cNvPr id="24" name="TextBox 23"/>
          <p:cNvSpPr txBox="1"/>
          <p:nvPr/>
        </p:nvSpPr>
        <p:spPr bwMode="auto">
          <a:xfrm>
            <a:off x="4983480" y="416051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rPr/>
              <a:t>Кодир.</a:t>
            </a:r>
            <a:endParaRPr/>
          </a:p>
        </p:txBody>
      </p:sp>
      <p:sp>
        <p:nvSpPr>
          <p:cNvPr id="25" name="TextBox 24"/>
          <p:cNvSpPr txBox="1"/>
          <p:nvPr/>
        </p:nvSpPr>
        <p:spPr bwMode="auto">
          <a:xfrm>
            <a:off x="5989320" y="37033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Calibri"/>
              </a:defRPr>
            </a:pPr>
            <a:r>
              <a:rPr/>
              <a:t>-&gt;</a:t>
            </a:r>
            <a:endParaRPr/>
          </a:p>
        </p:txBody>
      </p:sp>
      <p:sp>
        <p:nvSpPr>
          <p:cNvPr id="26" name="Rectangle 25"/>
          <p:cNvSpPr/>
          <p:nvPr/>
        </p:nvSpPr>
        <p:spPr bwMode="auto">
          <a:xfrm>
            <a:off x="6172200" y="3657600"/>
            <a:ext cx="1005840" cy="45720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TextBox 26"/>
          <p:cNvSpPr txBox="1"/>
          <p:nvPr/>
        </p:nvSpPr>
        <p:spPr bwMode="auto">
          <a:xfrm>
            <a:off x="6172200" y="37033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2E"/>
                </a:solidFill>
                <a:latin typeface="Calibri"/>
              </a:defRPr>
            </a:pPr>
            <a:r>
              <a:rPr/>
              <a:t>6</a:t>
            </a:r>
            <a:endParaRPr/>
          </a:p>
        </p:txBody>
      </p:sp>
      <p:sp>
        <p:nvSpPr>
          <p:cNvPr id="28" name="TextBox 27"/>
          <p:cNvSpPr txBox="1"/>
          <p:nvPr/>
        </p:nvSpPr>
        <p:spPr bwMode="auto">
          <a:xfrm>
            <a:off x="6126480" y="416051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rPr/>
              <a:t>Отбор</a:t>
            </a:r>
            <a:endParaRPr/>
          </a:p>
        </p:txBody>
      </p:sp>
      <p:sp>
        <p:nvSpPr>
          <p:cNvPr id="29" name="TextBox 28"/>
          <p:cNvSpPr txBox="1"/>
          <p:nvPr/>
        </p:nvSpPr>
        <p:spPr bwMode="auto">
          <a:xfrm>
            <a:off x="7132320" y="37033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Calibri"/>
              </a:defRPr>
            </a:pPr>
            <a:r>
              <a:rPr/>
              <a:t>-&gt;</a:t>
            </a:r>
            <a:endParaRPr/>
          </a:p>
        </p:txBody>
      </p:sp>
      <p:sp>
        <p:nvSpPr>
          <p:cNvPr id="30" name="Rectangle 29"/>
          <p:cNvSpPr/>
          <p:nvPr/>
        </p:nvSpPr>
        <p:spPr bwMode="auto">
          <a:xfrm>
            <a:off x="7315200" y="3657600"/>
            <a:ext cx="1005840" cy="457200"/>
          </a:xfrm>
          <a:prstGeom prst="rect">
            <a:avLst/>
          </a:prstGeom>
          <a:solidFill>
            <a:srgbClr val="BB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TextBox 30"/>
          <p:cNvSpPr txBox="1"/>
          <p:nvPr/>
        </p:nvSpPr>
        <p:spPr bwMode="auto">
          <a:xfrm>
            <a:off x="7315200" y="37033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2E"/>
                </a:solidFill>
                <a:latin typeface="Calibri"/>
              </a:defRPr>
            </a:pPr>
            <a:r>
              <a:rPr/>
              <a:t>7</a:t>
            </a:r>
            <a:endParaRPr/>
          </a:p>
        </p:txBody>
      </p:sp>
      <p:sp>
        <p:nvSpPr>
          <p:cNvPr id="32" name="TextBox 31"/>
          <p:cNvSpPr txBox="1"/>
          <p:nvPr/>
        </p:nvSpPr>
        <p:spPr bwMode="auto">
          <a:xfrm>
            <a:off x="7269480" y="416051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rPr/>
              <a:t>Модели</a:t>
            </a:r>
            <a:endParaRPr/>
          </a:p>
        </p:txBody>
      </p:sp>
      <p:sp>
        <p:nvSpPr>
          <p:cNvPr id="33" name="TextBox 32"/>
          <p:cNvSpPr txBox="1"/>
          <p:nvPr/>
        </p:nvSpPr>
        <p:spPr bwMode="auto">
          <a:xfrm>
            <a:off x="8275320" y="37033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Calibri"/>
              </a:defRPr>
            </a:pPr>
            <a:r>
              <a:rPr/>
              <a:t>-&gt;</a:t>
            </a:r>
            <a:endParaRPr/>
          </a:p>
        </p:txBody>
      </p:sp>
      <p:sp>
        <p:nvSpPr>
          <p:cNvPr id="34" name="Rectangle 33"/>
          <p:cNvSpPr/>
          <p:nvPr/>
        </p:nvSpPr>
        <p:spPr bwMode="auto">
          <a:xfrm>
            <a:off x="8458200" y="3657600"/>
            <a:ext cx="1005840" cy="457200"/>
          </a:xfrm>
          <a:prstGeom prst="rect">
            <a:avLst/>
          </a:prstGeom>
          <a:solidFill>
            <a:srgbClr val="BB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TextBox 34"/>
          <p:cNvSpPr txBox="1"/>
          <p:nvPr/>
        </p:nvSpPr>
        <p:spPr bwMode="auto">
          <a:xfrm>
            <a:off x="8458200" y="37033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2E"/>
                </a:solidFill>
                <a:latin typeface="Calibri"/>
              </a:defRPr>
            </a:pPr>
            <a:r>
              <a:rPr/>
              <a:t>8</a:t>
            </a:r>
            <a:endParaRPr/>
          </a:p>
        </p:txBody>
      </p:sp>
      <p:sp>
        <p:nvSpPr>
          <p:cNvPr id="36" name="TextBox 35"/>
          <p:cNvSpPr txBox="1"/>
          <p:nvPr/>
        </p:nvSpPr>
        <p:spPr bwMode="auto">
          <a:xfrm>
            <a:off x="8412480" y="416051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rPr/>
              <a:t>Оптим.</a:t>
            </a:r>
            <a:endParaRPr/>
          </a:p>
        </p:txBody>
      </p:sp>
      <p:sp>
        <p:nvSpPr>
          <p:cNvPr id="37" name="TextBox 36"/>
          <p:cNvSpPr txBox="1"/>
          <p:nvPr/>
        </p:nvSpPr>
        <p:spPr bwMode="auto">
          <a:xfrm>
            <a:off x="9418320" y="37033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Calibri"/>
              </a:defRPr>
            </a:pPr>
            <a:r>
              <a:rPr/>
              <a:t>-&gt;</a:t>
            </a:r>
            <a:endParaRPr/>
          </a:p>
        </p:txBody>
      </p:sp>
      <p:sp>
        <p:nvSpPr>
          <p:cNvPr id="38" name="Rectangle 37"/>
          <p:cNvSpPr/>
          <p:nvPr/>
        </p:nvSpPr>
        <p:spPr bwMode="auto">
          <a:xfrm>
            <a:off x="9601200" y="3657600"/>
            <a:ext cx="1005840" cy="457200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" name="TextBox 38"/>
          <p:cNvSpPr txBox="1"/>
          <p:nvPr/>
        </p:nvSpPr>
        <p:spPr bwMode="auto">
          <a:xfrm>
            <a:off x="9601200" y="37033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2E"/>
                </a:solidFill>
                <a:latin typeface="Calibri"/>
              </a:defRPr>
            </a:pPr>
            <a:r>
              <a:rPr/>
              <a:t>9</a:t>
            </a:r>
            <a:endParaRPr/>
          </a:p>
        </p:txBody>
      </p:sp>
      <p:sp>
        <p:nvSpPr>
          <p:cNvPr id="40" name="TextBox 39"/>
          <p:cNvSpPr txBox="1"/>
          <p:nvPr/>
        </p:nvSpPr>
        <p:spPr bwMode="auto">
          <a:xfrm>
            <a:off x="9555480" y="416051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rPr/>
              <a:t>Интерпр.</a:t>
            </a:r>
            <a:endParaRPr/>
          </a:p>
        </p:txBody>
      </p:sp>
      <p:sp>
        <p:nvSpPr>
          <p:cNvPr id="41" name="TextBox 40"/>
          <p:cNvSpPr txBox="1"/>
          <p:nvPr/>
        </p:nvSpPr>
        <p:spPr bwMode="auto">
          <a:xfrm>
            <a:off x="10561320" y="37033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Calibri"/>
              </a:defRPr>
            </a:pPr>
            <a:r>
              <a:rPr/>
              <a:t>-&gt;</a:t>
            </a:r>
            <a:endParaRPr/>
          </a:p>
        </p:txBody>
      </p:sp>
      <p:sp>
        <p:nvSpPr>
          <p:cNvPr id="42" name="Rectangle 41"/>
          <p:cNvSpPr/>
          <p:nvPr/>
        </p:nvSpPr>
        <p:spPr bwMode="auto">
          <a:xfrm>
            <a:off x="10744200" y="3657600"/>
            <a:ext cx="1005840" cy="457200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" name="TextBox 42"/>
          <p:cNvSpPr txBox="1"/>
          <p:nvPr/>
        </p:nvSpPr>
        <p:spPr bwMode="auto">
          <a:xfrm>
            <a:off x="10744200" y="37033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2E"/>
                </a:solidFill>
                <a:latin typeface="Calibri"/>
              </a:defRPr>
            </a:pPr>
            <a:r>
              <a:rPr/>
              <a:t>10</a:t>
            </a:r>
            <a:endParaRPr/>
          </a:p>
        </p:txBody>
      </p:sp>
      <p:sp>
        <p:nvSpPr>
          <p:cNvPr id="44" name="TextBox 43"/>
          <p:cNvSpPr txBox="1"/>
          <p:nvPr/>
        </p:nvSpPr>
        <p:spPr bwMode="auto">
          <a:xfrm>
            <a:off x="10698480" y="416051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rPr/>
              <a:t>Оценка</a:t>
            </a:r>
            <a:endParaRPr/>
          </a:p>
        </p:txBody>
      </p:sp>
      <p:sp>
        <p:nvSpPr>
          <p:cNvPr id="45" name="TextBox 44"/>
          <p:cNvSpPr txBox="1"/>
          <p:nvPr/>
        </p:nvSpPr>
        <p:spPr bwMode="auto">
          <a:xfrm>
            <a:off x="1152144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0B0C0"/>
                </a:solidFill>
                <a:latin typeface="Calibri"/>
              </a:defRPr>
            </a:pPr>
            <a:r>
              <a:rPr/>
              <a:t>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1A1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0" y="0"/>
            <a:ext cx="109728" cy="68580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 bwMode="auto"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rPr/>
              <a:t>Polars: Eager vs Lazy vs Streaming</a:t>
            </a:r>
            <a:endParaRPr/>
          </a:p>
        </p:txBody>
      </p:sp>
      <p:sp>
        <p:nvSpPr>
          <p:cNvPr id="4" name="Rectangle 3"/>
          <p:cNvSpPr/>
          <p:nvPr/>
        </p:nvSpPr>
        <p:spPr bwMode="auto">
          <a:xfrm>
            <a:off x="457200" y="1005840"/>
            <a:ext cx="3657600" cy="45720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TextBox 4"/>
          <p:cNvSpPr txBox="1"/>
          <p:nvPr/>
        </p:nvSpPr>
        <p:spPr bwMode="auto">
          <a:xfrm>
            <a:off x="457200" y="102412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2E"/>
                </a:solidFill>
                <a:latin typeface="Calibri"/>
              </a:defRPr>
            </a:pPr>
            <a:r>
              <a:rPr/>
              <a:t>Eager</a:t>
            </a:r>
            <a:endParaRPr/>
          </a:p>
        </p:txBody>
      </p:sp>
      <p:sp>
        <p:nvSpPr>
          <p:cNvPr id="6" name="Rectangle 5"/>
          <p:cNvSpPr/>
          <p:nvPr/>
        </p:nvSpPr>
        <p:spPr bwMode="auto">
          <a:xfrm>
            <a:off x="457200" y="1554480"/>
            <a:ext cx="3657600" cy="41148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TextBox 6"/>
          <p:cNvSpPr txBox="1"/>
          <p:nvPr/>
        </p:nvSpPr>
        <p:spPr bwMode="auto">
          <a:xfrm>
            <a:off x="530352" y="1591056"/>
            <a:ext cx="351129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read_csv()</a:t>
            </a:r>
            <a:endParaRPr/>
          </a:p>
        </p:txBody>
      </p:sp>
      <p:sp>
        <p:nvSpPr>
          <p:cNvPr id="8" name="TextBox 7"/>
          <p:cNvSpPr txBox="1"/>
          <p:nvPr/>
        </p:nvSpPr>
        <p:spPr bwMode="auto">
          <a:xfrm>
            <a:off x="548640" y="2057400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rPr/>
              <a:t>- Загружает все в RAM</a:t>
            </a:r>
            <a:endParaRPr/>
          </a:p>
        </p:txBody>
      </p:sp>
      <p:sp>
        <p:nvSpPr>
          <p:cNvPr id="9" name="TextBox 8"/>
          <p:cNvSpPr txBox="1"/>
          <p:nvPr/>
        </p:nvSpPr>
        <p:spPr bwMode="auto">
          <a:xfrm>
            <a:off x="548640" y="2404872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rPr/>
              <a:t>- Простота</a:t>
            </a:r>
            <a:endParaRPr/>
          </a:p>
        </p:txBody>
      </p:sp>
      <p:sp>
        <p:nvSpPr>
          <p:cNvPr id="10" name="TextBox 9"/>
          <p:cNvSpPr txBox="1"/>
          <p:nvPr/>
        </p:nvSpPr>
        <p:spPr bwMode="auto">
          <a:xfrm>
            <a:off x="548640" y="2752343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rPr/>
              <a:t>- Малые данные (&lt;100K)</a:t>
            </a:r>
            <a:endParaRPr/>
          </a:p>
        </p:txBody>
      </p:sp>
      <p:sp>
        <p:nvSpPr>
          <p:cNvPr id="11" name="Rectangle 10"/>
          <p:cNvSpPr/>
          <p:nvPr/>
        </p:nvSpPr>
        <p:spPr bwMode="auto">
          <a:xfrm>
            <a:off x="4389120" y="1005840"/>
            <a:ext cx="3657600" cy="4572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TextBox 11"/>
          <p:cNvSpPr txBox="1"/>
          <p:nvPr/>
        </p:nvSpPr>
        <p:spPr bwMode="auto">
          <a:xfrm>
            <a:off x="4389120" y="102412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2E"/>
                </a:solidFill>
                <a:latin typeface="Calibri"/>
              </a:defRPr>
            </a:pPr>
            <a:r>
              <a:rPr/>
              <a:t>Lazy</a:t>
            </a:r>
            <a:endParaRPr/>
          </a:p>
        </p:txBody>
      </p:sp>
      <p:sp>
        <p:nvSpPr>
          <p:cNvPr id="13" name="Rectangle 12"/>
          <p:cNvSpPr/>
          <p:nvPr/>
        </p:nvSpPr>
        <p:spPr bwMode="auto">
          <a:xfrm>
            <a:off x="4389120" y="1554480"/>
            <a:ext cx="3657600" cy="41148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TextBox 13"/>
          <p:cNvSpPr txBox="1"/>
          <p:nvPr/>
        </p:nvSpPr>
        <p:spPr bwMode="auto">
          <a:xfrm>
            <a:off x="4462272" y="1591056"/>
            <a:ext cx="351129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scan_csv().collect()</a:t>
            </a:r>
            <a:endParaRPr/>
          </a:p>
        </p:txBody>
      </p:sp>
      <p:sp>
        <p:nvSpPr>
          <p:cNvPr id="15" name="TextBox 14"/>
          <p:cNvSpPr txBox="1"/>
          <p:nvPr/>
        </p:nvSpPr>
        <p:spPr bwMode="auto">
          <a:xfrm>
            <a:off x="4480559" y="2057400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rPr/>
              <a:t>- Оптимизация плана</a:t>
            </a:r>
            <a:endParaRPr/>
          </a:p>
        </p:txBody>
      </p:sp>
      <p:sp>
        <p:nvSpPr>
          <p:cNvPr id="16" name="TextBox 15"/>
          <p:cNvSpPr txBox="1"/>
          <p:nvPr/>
        </p:nvSpPr>
        <p:spPr bwMode="auto">
          <a:xfrm>
            <a:off x="4480559" y="2404872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rPr/>
              <a:t>- Predicate pushdown</a:t>
            </a:r>
            <a:endParaRPr/>
          </a:p>
        </p:txBody>
      </p:sp>
      <p:sp>
        <p:nvSpPr>
          <p:cNvPr id="17" name="TextBox 16"/>
          <p:cNvSpPr txBox="1"/>
          <p:nvPr/>
        </p:nvSpPr>
        <p:spPr bwMode="auto">
          <a:xfrm>
            <a:off x="4480559" y="2752343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rPr/>
              <a:t>- .explain()</a:t>
            </a:r>
            <a:endParaRPr/>
          </a:p>
        </p:txBody>
      </p:sp>
      <p:sp>
        <p:nvSpPr>
          <p:cNvPr id="18" name="TextBox 17"/>
          <p:cNvSpPr txBox="1"/>
          <p:nvPr/>
        </p:nvSpPr>
        <p:spPr bwMode="auto">
          <a:xfrm>
            <a:off x="4480559" y="3099816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rPr/>
              <a:t>- Средние (100K-1M)</a:t>
            </a:r>
            <a:endParaRPr/>
          </a:p>
        </p:txBody>
      </p:sp>
      <p:sp>
        <p:nvSpPr>
          <p:cNvPr id="19" name="Rectangle 18"/>
          <p:cNvSpPr/>
          <p:nvPr/>
        </p:nvSpPr>
        <p:spPr bwMode="auto">
          <a:xfrm>
            <a:off x="8321039" y="1005840"/>
            <a:ext cx="3657600" cy="45720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TextBox 19"/>
          <p:cNvSpPr txBox="1"/>
          <p:nvPr/>
        </p:nvSpPr>
        <p:spPr bwMode="auto">
          <a:xfrm>
            <a:off x="8321039" y="102412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2E"/>
                </a:solidFill>
                <a:latin typeface="Calibri"/>
              </a:defRPr>
            </a:pPr>
            <a:r>
              <a:rPr/>
              <a:t>Streaming</a:t>
            </a:r>
            <a:endParaRPr/>
          </a:p>
        </p:txBody>
      </p:sp>
      <p:sp>
        <p:nvSpPr>
          <p:cNvPr id="21" name="Rectangle 20"/>
          <p:cNvSpPr/>
          <p:nvPr/>
        </p:nvSpPr>
        <p:spPr bwMode="auto">
          <a:xfrm>
            <a:off x="8321039" y="1554480"/>
            <a:ext cx="3657600" cy="41148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TextBox 21"/>
          <p:cNvSpPr txBox="1"/>
          <p:nvPr/>
        </p:nvSpPr>
        <p:spPr bwMode="auto">
          <a:xfrm>
            <a:off x="8394192" y="1591056"/>
            <a:ext cx="351129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collect(streaming=True)</a:t>
            </a:r>
            <a:endParaRPr/>
          </a:p>
        </p:txBody>
      </p:sp>
      <p:sp>
        <p:nvSpPr>
          <p:cNvPr id="23" name="TextBox 22"/>
          <p:cNvSpPr txBox="1"/>
          <p:nvPr/>
        </p:nvSpPr>
        <p:spPr bwMode="auto">
          <a:xfrm>
            <a:off x="8412480" y="2057400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rPr/>
              <a:t>- Обработка батчами</a:t>
            </a:r>
            <a:endParaRPr/>
          </a:p>
        </p:txBody>
      </p:sp>
      <p:sp>
        <p:nvSpPr>
          <p:cNvPr id="24" name="TextBox 23"/>
          <p:cNvSpPr txBox="1"/>
          <p:nvPr/>
        </p:nvSpPr>
        <p:spPr bwMode="auto">
          <a:xfrm>
            <a:off x="8412480" y="2404872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rPr/>
              <a:t>- Не нужна вся RAM</a:t>
            </a:r>
            <a:endParaRPr/>
          </a:p>
        </p:txBody>
      </p:sp>
      <p:sp>
        <p:nvSpPr>
          <p:cNvPr id="25" name="TextBox 24"/>
          <p:cNvSpPr txBox="1"/>
          <p:nvPr/>
        </p:nvSpPr>
        <p:spPr bwMode="auto">
          <a:xfrm>
            <a:off x="8412480" y="2752343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rPr/>
              <a:t>- Большие (&gt;1M)</a:t>
            </a:r>
            <a:endParaRPr/>
          </a:p>
        </p:txBody>
      </p:sp>
      <p:sp>
        <p:nvSpPr>
          <p:cNvPr id="26" name="TextBox 25"/>
          <p:cNvSpPr txBox="1"/>
          <p:nvPr/>
        </p:nvSpPr>
        <p:spPr bwMode="auto">
          <a:xfrm>
            <a:off x="8412480" y="3099816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rPr/>
              <a:t>- Parquet partition_by</a:t>
            </a:r>
            <a:endParaRPr/>
          </a:p>
        </p:txBody>
      </p:sp>
      <p:sp>
        <p:nvSpPr>
          <p:cNvPr id="27" name="TextBox 26"/>
          <p:cNvSpPr txBox="1"/>
          <p:nvPr/>
        </p:nvSpPr>
        <p:spPr bwMode="auto">
          <a:xfrm>
            <a:off x="457200" y="3931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rPr/>
              <a:t>Ключевое преимущество: Lazy API оптимизирует план до выполнения</a:t>
            </a:r>
            <a:endParaRPr/>
          </a:p>
        </p:txBody>
      </p:sp>
      <p:sp>
        <p:nvSpPr>
          <p:cNvPr id="28" name="Rectangle 27"/>
          <p:cNvSpPr/>
          <p:nvPr/>
        </p:nvSpPr>
        <p:spPr bwMode="auto">
          <a:xfrm>
            <a:off x="457200" y="4480560"/>
            <a:ext cx="11247120" cy="164592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TextBox 28"/>
          <p:cNvSpPr txBox="1"/>
          <p:nvPr/>
        </p:nvSpPr>
        <p:spPr bwMode="auto">
          <a:xfrm>
            <a:off x="530352" y="4517136"/>
            <a:ext cx="11100816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200">
                <a:solidFill>
                  <a:srgbClr val="E0E0FF"/>
                </a:solidFill>
                <a:latin typeface="Consolas"/>
              </a:defRPr>
            </a:pPr>
            <a:r>
              <a:rPr/>
              <a:t>lazy = pl.scan_csv('train.tsv', separator='\t').filter(pl.col('price') &gt; 0)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200">
                <a:solidFill>
                  <a:srgbClr val="E0E0FF"/>
                </a:solidFill>
                <a:latin typeface="Consolas"/>
              </a:defRPr>
            </a:pPr>
            <a:r>
              <a:rPr/>
              <a:t>lazy.explain()  # показать логический план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200">
                <a:solidFill>
                  <a:srgbClr val="E0E0FF"/>
                </a:solidFill>
                <a:latin typeface="Consolas"/>
              </a:defRPr>
            </a:pPr>
            <a:r>
              <a:rPr/>
              <a:t>df = lazy.collect(streaming=True)  # streaming для 1.4M строк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200">
                <a:solidFill>
                  <a:srgbClr val="E0E0FF"/>
                </a:solidFill>
                <a:latin typeface="Consolas"/>
              </a:defRPr>
            </a:pPr>
            <a:r>
              <a:rPr/>
              <a:t>df.write_parquet('mercari.parquet', partition_by=['category_name'])</a:t>
            </a:r>
            <a:endParaRPr/>
          </a:p>
        </p:txBody>
      </p:sp>
      <p:sp>
        <p:nvSpPr>
          <p:cNvPr id="30" name="TextBox 29"/>
          <p:cNvSpPr txBox="1"/>
          <p:nvPr/>
        </p:nvSpPr>
        <p:spPr bwMode="auto">
          <a:xfrm>
            <a:off x="1152144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0B0C0"/>
                </a:solidFill>
                <a:latin typeface="Calibri"/>
              </a:defRPr>
            </a:pPr>
            <a:r>
              <a:rPr/>
              <a:t>5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1A1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0" y="0"/>
            <a:ext cx="109728" cy="68580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 bwMode="auto"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rPr/>
              <a:t>Parquet и DuckDB поверх Polars</a:t>
            </a:r>
            <a:endParaRPr/>
          </a:p>
        </p:txBody>
      </p:sp>
      <p:sp>
        <p:nvSpPr>
          <p:cNvPr id="4" name="TextBox 3"/>
          <p:cNvSpPr txBox="1"/>
          <p:nvPr/>
        </p:nvSpPr>
        <p:spPr bwMode="auto">
          <a:xfrm>
            <a:off x="45720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FF88"/>
                </a:solidFill>
                <a:latin typeface="Calibri"/>
              </a:defRPr>
            </a:pPr>
            <a:r>
              <a:rPr/>
              <a:t>Parquet: быстрее, меньше, партиции</a:t>
            </a:r>
            <a:endParaRPr/>
          </a:p>
        </p:txBody>
      </p:sp>
      <p:sp>
        <p:nvSpPr>
          <p:cNvPr id="5" name="TextBox 4"/>
          <p:cNvSpPr txBox="1"/>
          <p:nvPr/>
        </p:nvSpPr>
        <p:spPr bwMode="auto">
          <a:xfrm>
            <a:off x="457200" y="1371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rPr/>
              <a:t>- Columnar storage — нужные колонки</a:t>
            </a:r>
            <a:endParaRPr/>
          </a:p>
        </p:txBody>
      </p:sp>
      <p:sp>
        <p:nvSpPr>
          <p:cNvPr id="6" name="TextBox 5"/>
          <p:cNvSpPr txBox="1"/>
          <p:nvPr/>
        </p:nvSpPr>
        <p:spPr bwMode="auto">
          <a:xfrm>
            <a:off x="457200" y="16916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rPr/>
              <a:t>- Сжатие в 3-10x меньше CSV</a:t>
            </a:r>
            <a:endParaRPr/>
          </a:p>
        </p:txBody>
      </p:sp>
      <p:sp>
        <p:nvSpPr>
          <p:cNvPr id="7" name="TextBox 6"/>
          <p:cNvSpPr txBox="1"/>
          <p:nvPr/>
        </p:nvSpPr>
        <p:spPr bwMode="auto">
          <a:xfrm>
            <a:off x="457200" y="2011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rPr/>
              <a:t>- partition_by — фильтрация на уровне файла</a:t>
            </a:r>
            <a:endParaRPr/>
          </a:p>
        </p:txBody>
      </p:sp>
      <p:sp>
        <p:nvSpPr>
          <p:cNvPr id="8" name="TextBox 7"/>
          <p:cNvSpPr txBox="1"/>
          <p:nvPr/>
        </p:nvSpPr>
        <p:spPr bwMode="auto"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rPr/>
              <a:t>- scan_parquet() — lazy чтение партиций</a:t>
            </a:r>
            <a:endParaRPr/>
          </a:p>
        </p:txBody>
      </p:sp>
      <p:sp>
        <p:nvSpPr>
          <p:cNvPr id="9" name="TextBox 8"/>
          <p:cNvSpPr txBox="1"/>
          <p:nvPr/>
        </p:nvSpPr>
        <p:spPr bwMode="auto">
          <a:xfrm>
            <a:off x="457200" y="2651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rPr/>
              <a:t>- Идеально для пайплайнов &gt;1M строк</a:t>
            </a:r>
            <a:endParaRPr/>
          </a:p>
        </p:txBody>
      </p:sp>
      <p:sp>
        <p:nvSpPr>
          <p:cNvPr id="10" name="TextBox 9"/>
          <p:cNvSpPr txBox="1"/>
          <p:nvPr/>
        </p:nvSpPr>
        <p:spPr bwMode="auto">
          <a:xfrm>
            <a:off x="621792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FF88"/>
                </a:solidFill>
                <a:latin typeface="Calibri"/>
              </a:defRPr>
            </a:pPr>
            <a:r>
              <a:rPr/>
              <a:t>DuckDB: SQL поверх Polars</a:t>
            </a:r>
            <a:endParaRPr/>
          </a:p>
        </p:txBody>
      </p:sp>
      <p:sp>
        <p:nvSpPr>
          <p:cNvPr id="11" name="Rectangle 10"/>
          <p:cNvSpPr/>
          <p:nvPr/>
        </p:nvSpPr>
        <p:spPr bwMode="auto">
          <a:xfrm>
            <a:off x="6217920" y="1371600"/>
            <a:ext cx="5486400" cy="32004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TextBox 11"/>
          <p:cNvSpPr txBox="1"/>
          <p:nvPr/>
        </p:nvSpPr>
        <p:spPr bwMode="auto">
          <a:xfrm>
            <a:off x="6291072" y="1408176"/>
            <a:ext cx="5340096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import duckdb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con = duckdb.connect()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con.register('mercari', df.to_arrow())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res = con.execute('''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SELECT category_name,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       AVG(price) as avg_price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FROM mercari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GROUP BY category_name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ORDER BY avg_price DESC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LIMIT 10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''').fetchdf()</a:t>
            </a:r>
            <a:endParaRPr/>
          </a:p>
        </p:txBody>
      </p:sp>
      <p:sp>
        <p:nvSpPr>
          <p:cNvPr id="13" name="TextBox 12"/>
          <p:cNvSpPr txBox="1"/>
          <p:nvPr/>
        </p:nvSpPr>
        <p:spPr bwMode="auto">
          <a:xfrm>
            <a:off x="457200" y="4754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A000"/>
                </a:solidFill>
                <a:latin typeface="Calibri"/>
              </a:defRPr>
            </a:pPr>
            <a:r>
              <a:rPr/>
              <a:t>Уровень 5: минимум 3 SQL-запроса (агрегация, оконная функция, join)</a:t>
            </a:r>
            <a:endParaRPr/>
          </a:p>
        </p:txBody>
      </p:sp>
      <p:sp>
        <p:nvSpPr>
          <p:cNvPr id="14" name="TextBox 13"/>
          <p:cNvSpPr txBox="1"/>
          <p:nvPr/>
        </p:nvSpPr>
        <p:spPr bwMode="auto">
          <a:xfrm>
            <a:off x="1152144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0B0C0"/>
                </a:solidFill>
                <a:latin typeface="Calibri"/>
              </a:defRPr>
            </a:pPr>
            <a:r>
              <a:rPr/>
              <a:t>6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1A1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0" y="0"/>
            <a:ext cx="109728" cy="68580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 bwMode="auto"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rPr/>
              <a:t>EDA: пропуски и типы данных</a:t>
            </a:r>
            <a:endParaRPr/>
          </a:p>
        </p:txBody>
      </p:sp>
      <p:sp>
        <p:nvSpPr>
          <p:cNvPr id="4" name="Rectangle 3"/>
          <p:cNvSpPr/>
          <p:nvPr/>
        </p:nvSpPr>
        <p:spPr bwMode="auto">
          <a:xfrm>
            <a:off x="457200" y="1005840"/>
            <a:ext cx="3657600" cy="45720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TextBox 4"/>
          <p:cNvSpPr txBox="1"/>
          <p:nvPr/>
        </p:nvSpPr>
        <p:spPr bwMode="auto">
          <a:xfrm>
            <a:off x="457200" y="102412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2E"/>
                </a:solidFill>
                <a:latin typeface="Calibri"/>
              </a:defRPr>
            </a:pPr>
            <a:r>
              <a:rPr/>
              <a:t>MCAR</a:t>
            </a:r>
            <a:endParaRPr/>
          </a:p>
        </p:txBody>
      </p:sp>
      <p:sp>
        <p:nvSpPr>
          <p:cNvPr id="6" name="TextBox 5"/>
          <p:cNvSpPr txBox="1"/>
          <p:nvPr/>
        </p:nvSpPr>
        <p:spPr bwMode="auto">
          <a:xfrm>
            <a:off x="457200" y="1554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  <a:latin typeface="Calibri"/>
              </a:defRPr>
            </a:pPr>
            <a:r>
              <a:rPr/>
              <a:t>Missing Completely At Random</a:t>
            </a:r>
            <a:endParaRPr/>
          </a:p>
        </p:txBody>
      </p:sp>
      <p:sp>
        <p:nvSpPr>
          <p:cNvPr id="7" name="TextBox 6"/>
          <p:cNvSpPr txBox="1"/>
          <p:nvPr/>
        </p:nvSpPr>
        <p:spPr bwMode="auto">
          <a:xfrm>
            <a:off x="457200" y="1874519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rPr/>
              <a:t>Случайные, можно удалять</a:t>
            </a:r>
            <a:endParaRPr/>
          </a:p>
        </p:txBody>
      </p:sp>
      <p:sp>
        <p:nvSpPr>
          <p:cNvPr id="8" name="Rectangle 7"/>
          <p:cNvSpPr/>
          <p:nvPr/>
        </p:nvSpPr>
        <p:spPr bwMode="auto">
          <a:xfrm>
            <a:off x="4389120" y="1005840"/>
            <a:ext cx="3657600" cy="45720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TextBox 8"/>
          <p:cNvSpPr txBox="1"/>
          <p:nvPr/>
        </p:nvSpPr>
        <p:spPr bwMode="auto">
          <a:xfrm>
            <a:off x="4389120" y="102412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2E"/>
                </a:solidFill>
                <a:latin typeface="Calibri"/>
              </a:defRPr>
            </a:pPr>
            <a:r>
              <a:rPr/>
              <a:t>MAR</a:t>
            </a:r>
            <a:endParaRPr/>
          </a:p>
        </p:txBody>
      </p:sp>
      <p:sp>
        <p:nvSpPr>
          <p:cNvPr id="10" name="TextBox 9"/>
          <p:cNvSpPr txBox="1"/>
          <p:nvPr/>
        </p:nvSpPr>
        <p:spPr bwMode="auto">
          <a:xfrm>
            <a:off x="4389120" y="1554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  <a:latin typeface="Calibri"/>
              </a:defRPr>
            </a:pPr>
            <a:r>
              <a:rPr/>
              <a:t>Missing At Random</a:t>
            </a:r>
            <a:endParaRPr/>
          </a:p>
        </p:txBody>
      </p:sp>
      <p:sp>
        <p:nvSpPr>
          <p:cNvPr id="11" name="TextBox 10"/>
          <p:cNvSpPr txBox="1"/>
          <p:nvPr/>
        </p:nvSpPr>
        <p:spPr bwMode="auto">
          <a:xfrm>
            <a:off x="4389120" y="1874519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rPr/>
              <a:t>Зависят от других признаков</a:t>
            </a:r>
            <a:endParaRPr/>
          </a:p>
        </p:txBody>
      </p:sp>
      <p:sp>
        <p:nvSpPr>
          <p:cNvPr id="12" name="Rectangle 11"/>
          <p:cNvSpPr/>
          <p:nvPr/>
        </p:nvSpPr>
        <p:spPr bwMode="auto">
          <a:xfrm>
            <a:off x="8321039" y="1005840"/>
            <a:ext cx="3657600" cy="457200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TextBox 12"/>
          <p:cNvSpPr txBox="1"/>
          <p:nvPr/>
        </p:nvSpPr>
        <p:spPr bwMode="auto">
          <a:xfrm>
            <a:off x="8321039" y="102412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2E"/>
                </a:solidFill>
                <a:latin typeface="Calibri"/>
              </a:defRPr>
            </a:pPr>
            <a:r>
              <a:rPr/>
              <a:t>MNAR</a:t>
            </a:r>
            <a:endParaRPr/>
          </a:p>
        </p:txBody>
      </p:sp>
      <p:sp>
        <p:nvSpPr>
          <p:cNvPr id="14" name="TextBox 13"/>
          <p:cNvSpPr txBox="1"/>
          <p:nvPr/>
        </p:nvSpPr>
        <p:spPr bwMode="auto">
          <a:xfrm>
            <a:off x="8321039" y="1554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  <a:latin typeface="Calibri"/>
              </a:defRPr>
            </a:pPr>
            <a:r>
              <a:rPr/>
              <a:t>Missing Not At Random</a:t>
            </a:r>
            <a:endParaRPr/>
          </a:p>
        </p:txBody>
      </p:sp>
      <p:sp>
        <p:nvSpPr>
          <p:cNvPr id="15" name="TextBox 14"/>
          <p:cNvSpPr txBox="1"/>
          <p:nvPr/>
        </p:nvSpPr>
        <p:spPr bwMode="auto">
          <a:xfrm>
            <a:off x="8321039" y="1874519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rPr/>
              <a:t>Зависят от самого значения</a:t>
            </a:r>
            <a:endParaRPr/>
          </a:p>
        </p:txBody>
      </p:sp>
      <p:sp>
        <p:nvSpPr>
          <p:cNvPr id="16" name="TextBox 15"/>
          <p:cNvSpPr txBox="1"/>
          <p:nvPr/>
        </p:nvSpPr>
        <p:spPr bwMode="auto">
          <a:xfrm>
            <a:off x="457200" y="2651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rPr/>
              <a:t>Методы обработки пропусков:</a:t>
            </a:r>
            <a:endParaRPr/>
          </a:p>
        </p:txBody>
      </p:sp>
      <p:sp>
        <p:nvSpPr>
          <p:cNvPr id="17" name="Rectangle 16"/>
          <p:cNvSpPr/>
          <p:nvPr/>
        </p:nvSpPr>
        <p:spPr bwMode="auto">
          <a:xfrm>
            <a:off x="457200" y="3017519"/>
            <a:ext cx="1737360" cy="384048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TextBox 17"/>
          <p:cNvSpPr txBox="1"/>
          <p:nvPr/>
        </p:nvSpPr>
        <p:spPr bwMode="auto">
          <a:xfrm>
            <a:off x="457200" y="3035808"/>
            <a:ext cx="17373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9FF"/>
                </a:solidFill>
                <a:latin typeface="Calibri"/>
              </a:defRPr>
            </a:pPr>
            <a:r>
              <a:rPr/>
              <a:t>Удаление</a:t>
            </a:r>
            <a:endParaRPr/>
          </a:p>
        </p:txBody>
      </p:sp>
      <p:sp>
        <p:nvSpPr>
          <p:cNvPr id="19" name="Rectangle 18"/>
          <p:cNvSpPr/>
          <p:nvPr/>
        </p:nvSpPr>
        <p:spPr bwMode="auto">
          <a:xfrm>
            <a:off x="2377440" y="3017519"/>
            <a:ext cx="1737360" cy="384048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TextBox 19"/>
          <p:cNvSpPr txBox="1"/>
          <p:nvPr/>
        </p:nvSpPr>
        <p:spPr bwMode="auto">
          <a:xfrm>
            <a:off x="2377440" y="3035808"/>
            <a:ext cx="17373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9FF"/>
                </a:solidFill>
                <a:latin typeface="Calibri"/>
              </a:defRPr>
            </a:pPr>
            <a:r>
              <a:rPr/>
              <a:t>Медиана/среднее</a:t>
            </a:r>
            <a:endParaRPr/>
          </a:p>
        </p:txBody>
      </p:sp>
      <p:sp>
        <p:nvSpPr>
          <p:cNvPr id="21" name="Rectangle 20"/>
          <p:cNvSpPr/>
          <p:nvPr/>
        </p:nvSpPr>
        <p:spPr bwMode="auto">
          <a:xfrm>
            <a:off x="4297680" y="3017519"/>
            <a:ext cx="1737360" cy="384048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TextBox 21"/>
          <p:cNvSpPr txBox="1"/>
          <p:nvPr/>
        </p:nvSpPr>
        <p:spPr bwMode="auto">
          <a:xfrm>
            <a:off x="4297680" y="3035808"/>
            <a:ext cx="17373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9FF"/>
                </a:solidFill>
                <a:latin typeface="Calibri"/>
              </a:defRPr>
            </a:pPr>
            <a:r>
              <a:rPr/>
              <a:t>KNN Imputer</a:t>
            </a:r>
            <a:endParaRPr/>
          </a:p>
        </p:txBody>
      </p:sp>
      <p:sp>
        <p:nvSpPr>
          <p:cNvPr id="23" name="Rectangle 22"/>
          <p:cNvSpPr/>
          <p:nvPr/>
        </p:nvSpPr>
        <p:spPr bwMode="auto">
          <a:xfrm>
            <a:off x="6217920" y="3017519"/>
            <a:ext cx="1737360" cy="384048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TextBox 23"/>
          <p:cNvSpPr txBox="1"/>
          <p:nvPr/>
        </p:nvSpPr>
        <p:spPr bwMode="auto">
          <a:xfrm>
            <a:off x="6217920" y="3035808"/>
            <a:ext cx="17373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9FF"/>
                </a:solidFill>
                <a:latin typeface="Calibri"/>
              </a:defRPr>
            </a:pPr>
            <a:r>
              <a:rPr/>
              <a:t>Iterative (MICE)</a:t>
            </a:r>
            <a:endParaRPr/>
          </a:p>
        </p:txBody>
      </p:sp>
      <p:sp>
        <p:nvSpPr>
          <p:cNvPr id="25" name="Rectangle 24"/>
          <p:cNvSpPr/>
          <p:nvPr/>
        </p:nvSpPr>
        <p:spPr bwMode="auto">
          <a:xfrm>
            <a:off x="8138160" y="3017519"/>
            <a:ext cx="1737360" cy="384048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TextBox 25"/>
          <p:cNvSpPr txBox="1"/>
          <p:nvPr/>
        </p:nvSpPr>
        <p:spPr bwMode="auto">
          <a:xfrm>
            <a:off x="8138160" y="3035808"/>
            <a:ext cx="17373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9FF"/>
                </a:solidFill>
                <a:latin typeface="Calibri"/>
              </a:defRPr>
            </a:pPr>
            <a:r>
              <a:rPr/>
              <a:t>Кодировать как 'missing'</a:t>
            </a:r>
            <a:endParaRPr/>
          </a:p>
        </p:txBody>
      </p:sp>
      <p:sp>
        <p:nvSpPr>
          <p:cNvPr id="27" name="Rectangle 26"/>
          <p:cNvSpPr/>
          <p:nvPr/>
        </p:nvSpPr>
        <p:spPr bwMode="auto">
          <a:xfrm>
            <a:off x="10058400" y="3017519"/>
            <a:ext cx="1737360" cy="384048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TextBox 27"/>
          <p:cNvSpPr txBox="1"/>
          <p:nvPr/>
        </p:nvSpPr>
        <p:spPr bwMode="auto">
          <a:xfrm>
            <a:off x="10058400" y="3035808"/>
            <a:ext cx="17373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9FF"/>
                </a:solidFill>
                <a:latin typeface="Calibri"/>
              </a:defRPr>
            </a:pPr>
            <a:r>
              <a:rPr/>
              <a:t>Прогноз модели</a:t>
            </a:r>
            <a:endParaRPr/>
          </a:p>
        </p:txBody>
      </p:sp>
      <p:sp>
        <p:nvSpPr>
          <p:cNvPr id="29" name="Rectangle 28"/>
          <p:cNvSpPr/>
          <p:nvPr/>
        </p:nvSpPr>
        <p:spPr bwMode="auto">
          <a:xfrm>
            <a:off x="457200" y="3657600"/>
            <a:ext cx="11247120" cy="256032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TextBox 29"/>
          <p:cNvSpPr txBox="1"/>
          <p:nvPr/>
        </p:nvSpPr>
        <p:spPr bwMode="auto">
          <a:xfrm>
            <a:off x="530352" y="3694176"/>
            <a:ext cx="11100816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200">
                <a:solidFill>
                  <a:srgbClr val="80FF80"/>
                </a:solidFill>
                <a:latin typeface="Consolas"/>
              </a:defRPr>
            </a:pPr>
            <a:r>
              <a:rPr/>
              <a:t># Подсчёт пропусков в Polars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200">
                <a:solidFill>
                  <a:srgbClr val="E0E0FF"/>
                </a:solidFill>
                <a:latin typeface="Consolas"/>
              </a:defRPr>
            </a:pPr>
            <a:r>
              <a:rPr/>
              <a:t>df.null_count()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200">
                <a:solidFill>
                  <a:srgbClr val="E0E0FF"/>
                </a:solidFill>
                <a:latin typeface="Consolas"/>
              </a:defRPr>
            </a:pP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200">
                <a:solidFill>
                  <a:srgbClr val="80FF80"/>
                </a:solidFill>
                <a:latin typeface="Consolas"/>
              </a:defRPr>
            </a:pPr>
            <a:r>
              <a:rPr/>
              <a:t># Создание признака 'missing' вместо удаления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200">
                <a:solidFill>
                  <a:srgbClr val="E0E0FF"/>
                </a:solidFill>
                <a:latin typeface="Consolas"/>
              </a:defRPr>
            </a:pPr>
            <a:r>
              <a:rPr/>
              <a:t>df = df.with_columns(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200">
                <a:solidFill>
                  <a:srgbClr val="E0E0FF"/>
                </a:solidFill>
                <a:latin typeface="Consolas"/>
              </a:defRPr>
            </a:pPr>
            <a:r>
              <a:rPr/>
              <a:t>    pl.when(pl.col('brand_name').is_null())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200">
                <a:solidFill>
                  <a:srgbClr val="E0E0FF"/>
                </a:solidFill>
                <a:latin typeface="Consolas"/>
              </a:defRPr>
            </a:pPr>
            <a:r>
              <a:rPr/>
              <a:t>      .then(pl.lit('missing'))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200">
                <a:solidFill>
                  <a:srgbClr val="E0E0FF"/>
                </a:solidFill>
                <a:latin typeface="Consolas"/>
              </a:defRPr>
            </a:pPr>
            <a:r>
              <a:rPr/>
              <a:t>      .otherwise(pl.col('brand_name')).alias('brand_clean')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200">
                <a:solidFill>
                  <a:srgbClr val="E0E0FF"/>
                </a:solidFill>
                <a:latin typeface="Consolas"/>
              </a:defRPr>
            </a:pPr>
            <a:r>
              <a:rPr/>
              <a:t>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200">
                <a:solidFill>
                  <a:srgbClr val="E0E0FF"/>
                </a:solidFill>
                <a:latin typeface="Consolas"/>
              </a:defRPr>
            </a:pP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200">
                <a:solidFill>
                  <a:srgbClr val="80FF80"/>
                </a:solidFill>
                <a:latin typeface="Consolas"/>
              </a:defRPr>
            </a:pPr>
            <a:r>
              <a:rPr/>
              <a:t># Downcast для экономии памяти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200">
                <a:solidFill>
                  <a:srgbClr val="E0E0FF"/>
                </a:solidFill>
                <a:latin typeface="Consolas"/>
              </a:defRPr>
            </a:pPr>
            <a:r>
              <a:rPr/>
              <a:t>df = df.with_columns(pl.col('price').cast(pl.Float32))</a:t>
            </a:r>
            <a:endParaRPr/>
          </a:p>
        </p:txBody>
      </p:sp>
      <p:sp>
        <p:nvSpPr>
          <p:cNvPr id="31" name="TextBox 30"/>
          <p:cNvSpPr txBox="1"/>
          <p:nvPr/>
        </p:nvSpPr>
        <p:spPr bwMode="auto">
          <a:xfrm>
            <a:off x="1152144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0B0C0"/>
                </a:solidFill>
                <a:latin typeface="Calibri"/>
              </a:defRPr>
            </a:pPr>
            <a:r>
              <a:rPr/>
              <a:t>7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1A1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0" y="0"/>
            <a:ext cx="109728" cy="68580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 bwMode="auto"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rPr/>
              <a:t>Визуализация и выбросы</a:t>
            </a:r>
            <a:endParaRPr/>
          </a:p>
        </p:txBody>
      </p:sp>
      <p:sp>
        <p:nvSpPr>
          <p:cNvPr id="4" name="TextBox 3"/>
          <p:cNvSpPr txBox="1"/>
          <p:nvPr/>
        </p:nvSpPr>
        <p:spPr bwMode="auto">
          <a:xfrm>
            <a:off x="45720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rPr/>
              <a:t>6 типов графиков:</a:t>
            </a:r>
            <a:endParaRPr/>
          </a:p>
        </p:txBody>
      </p:sp>
      <p:sp>
        <p:nvSpPr>
          <p:cNvPr id="5" name="TextBox 4"/>
          <p:cNvSpPr txBox="1"/>
          <p:nvPr/>
        </p:nvSpPr>
        <p:spPr bwMode="auto"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9FF"/>
                </a:solidFill>
                <a:latin typeface="Calibri"/>
              </a:defRPr>
            </a:pPr>
            <a:r>
              <a:rPr/>
              <a:t>- Гистограмма</a:t>
            </a:r>
            <a:endParaRPr/>
          </a:p>
        </p:txBody>
      </p:sp>
      <p:sp>
        <p:nvSpPr>
          <p:cNvPr id="6" name="TextBox 5"/>
          <p:cNvSpPr txBox="1"/>
          <p:nvPr/>
        </p:nvSpPr>
        <p:spPr bwMode="auto">
          <a:xfrm>
            <a:off x="457200" y="15727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9FF"/>
                </a:solidFill>
                <a:latin typeface="Calibri"/>
              </a:defRPr>
            </a:pPr>
            <a:r>
              <a:rPr/>
              <a:t>- Boxplot</a:t>
            </a:r>
            <a:endParaRPr/>
          </a:p>
        </p:txBody>
      </p:sp>
      <p:sp>
        <p:nvSpPr>
          <p:cNvPr id="7" name="TextBox 6"/>
          <p:cNvSpPr txBox="1"/>
          <p:nvPr/>
        </p:nvSpPr>
        <p:spPr bwMode="auto">
          <a:xfrm>
            <a:off x="457200" y="186537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9FF"/>
                </a:solidFill>
                <a:latin typeface="Calibri"/>
              </a:defRPr>
            </a:pPr>
            <a:r>
              <a:rPr/>
              <a:t>- QQ-plot</a:t>
            </a:r>
            <a:endParaRPr/>
          </a:p>
        </p:txBody>
      </p:sp>
      <p:sp>
        <p:nvSpPr>
          <p:cNvPr id="8" name="TextBox 7"/>
          <p:cNvSpPr txBox="1"/>
          <p:nvPr/>
        </p:nvSpPr>
        <p:spPr bwMode="auto">
          <a:xfrm>
            <a:off x="457200" y="215798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9FF"/>
                </a:solidFill>
                <a:latin typeface="Calibri"/>
              </a:defRPr>
            </a:pPr>
            <a:r>
              <a:rPr/>
              <a:t>- Scatter plot</a:t>
            </a:r>
            <a:endParaRPr/>
          </a:p>
        </p:txBody>
      </p:sp>
      <p:sp>
        <p:nvSpPr>
          <p:cNvPr id="9" name="TextBox 8"/>
          <p:cNvSpPr txBox="1"/>
          <p:nvPr/>
        </p:nvSpPr>
        <p:spPr bwMode="auto">
          <a:xfrm>
            <a:off x="457200" y="2450591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9FF"/>
                </a:solidFill>
                <a:latin typeface="Calibri"/>
              </a:defRPr>
            </a:pPr>
            <a:r>
              <a:rPr/>
              <a:t>- Корр. матрица</a:t>
            </a:r>
            <a:endParaRPr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743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9FF"/>
                </a:solidFill>
                <a:latin typeface="Calibri"/>
              </a:defRPr>
            </a:pPr>
            <a:r>
              <a:rPr/>
              <a:t>- Bar chart (group_by)</a:t>
            </a:r>
            <a:endParaRPr/>
          </a:p>
        </p:txBody>
      </p:sp>
      <p:sp>
        <p:nvSpPr>
          <p:cNvPr id="11" name="TextBox 10"/>
          <p:cNvSpPr txBox="1"/>
          <p:nvPr/>
        </p:nvSpPr>
        <p:spPr bwMode="auto">
          <a:xfrm>
            <a:off x="621792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rPr/>
              <a:t>3 метода детекции выбросов:</a:t>
            </a:r>
            <a:endParaRPr/>
          </a:p>
        </p:txBody>
      </p:sp>
      <p:sp>
        <p:nvSpPr>
          <p:cNvPr id="12" name="TextBox 11"/>
          <p:cNvSpPr txBox="1"/>
          <p:nvPr/>
        </p:nvSpPr>
        <p:spPr bwMode="auto">
          <a:xfrm>
            <a:off x="6217920" y="1280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9FF"/>
                </a:solidFill>
                <a:latin typeface="Calibri"/>
              </a:defRPr>
            </a:pPr>
            <a:r>
              <a:rPr/>
              <a:t>IQR</a:t>
            </a:r>
            <a:endParaRPr/>
          </a:p>
        </p:txBody>
      </p:sp>
      <p:sp>
        <p:nvSpPr>
          <p:cNvPr id="13" name="TextBox 12"/>
          <p:cNvSpPr txBox="1"/>
          <p:nvPr/>
        </p:nvSpPr>
        <p:spPr bwMode="auto">
          <a:xfrm>
            <a:off x="8046720" y="1280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rPr/>
              <a:t>Q1-1.5*IQR, Q3+1.5*IQR</a:t>
            </a:r>
            <a:endParaRPr/>
          </a:p>
        </p:txBody>
      </p:sp>
      <p:sp>
        <p:nvSpPr>
          <p:cNvPr id="14" name="TextBox 13"/>
          <p:cNvSpPr txBox="1"/>
          <p:nvPr/>
        </p:nvSpPr>
        <p:spPr bwMode="auto">
          <a:xfrm>
            <a:off x="6217920" y="1783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A000"/>
                </a:solidFill>
                <a:latin typeface="Calibri"/>
              </a:defRPr>
            </a:pPr>
            <a:r>
              <a:rPr/>
              <a:t>Z-score</a:t>
            </a:r>
            <a:endParaRPr/>
          </a:p>
        </p:txBody>
      </p:sp>
      <p:sp>
        <p:nvSpPr>
          <p:cNvPr id="15" name="TextBox 14"/>
          <p:cNvSpPr txBox="1"/>
          <p:nvPr/>
        </p:nvSpPr>
        <p:spPr bwMode="auto">
          <a:xfrm>
            <a:off x="8046720" y="1783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rPr/>
              <a:t>|z| &gt; 3</a:t>
            </a:r>
            <a:endParaRPr/>
          </a:p>
        </p:txBody>
      </p:sp>
      <p:sp>
        <p:nvSpPr>
          <p:cNvPr id="16" name="TextBox 15"/>
          <p:cNvSpPr txBox="1"/>
          <p:nvPr/>
        </p:nvSpPr>
        <p:spPr bwMode="auto">
          <a:xfrm>
            <a:off x="6217920" y="2286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5555"/>
                </a:solidFill>
                <a:latin typeface="Calibri"/>
              </a:defRPr>
            </a:pPr>
            <a:r>
              <a:rPr/>
              <a:t>Isolation Forest</a:t>
            </a:r>
            <a:endParaRPr/>
          </a:p>
        </p:txBody>
      </p:sp>
      <p:sp>
        <p:nvSpPr>
          <p:cNvPr id="17" name="TextBox 16"/>
          <p:cNvSpPr txBox="1"/>
          <p:nvPr/>
        </p:nvSpPr>
        <p:spPr bwMode="auto">
          <a:xfrm>
            <a:off x="8046720" y="2286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rPr/>
              <a:t>Аномалии = короткий путь</a:t>
            </a:r>
            <a:endParaRPr/>
          </a:p>
        </p:txBody>
      </p:sp>
      <p:sp>
        <p:nvSpPr>
          <p:cNvPr id="18" name="TextBox 17"/>
          <p:cNvSpPr txBox="1"/>
          <p:nvPr/>
        </p:nvSpPr>
        <p:spPr bwMode="auto">
          <a:xfrm>
            <a:off x="457200" y="301751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rPr/>
              <a:t>Типы корреляций:</a:t>
            </a:r>
            <a:endParaRPr/>
          </a:p>
        </p:txBody>
      </p:sp>
      <p:sp>
        <p:nvSpPr>
          <p:cNvPr id="19" name="Rectangle 18"/>
          <p:cNvSpPr/>
          <p:nvPr/>
        </p:nvSpPr>
        <p:spPr bwMode="auto">
          <a:xfrm>
            <a:off x="457200" y="3383280"/>
            <a:ext cx="2651760" cy="347472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TextBox 19"/>
          <p:cNvSpPr txBox="1"/>
          <p:nvPr/>
        </p:nvSpPr>
        <p:spPr bwMode="auto">
          <a:xfrm>
            <a:off x="548640" y="3401568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B88FF"/>
                </a:solidFill>
                <a:latin typeface="Calibri"/>
              </a:defRPr>
            </a:pPr>
            <a:r>
              <a:rPr/>
              <a:t>Pearson</a:t>
            </a:r>
            <a:endParaRPr/>
          </a:p>
        </p:txBody>
      </p:sp>
      <p:sp>
        <p:nvSpPr>
          <p:cNvPr id="21" name="TextBox 20"/>
          <p:cNvSpPr txBox="1"/>
          <p:nvPr/>
        </p:nvSpPr>
        <p:spPr bwMode="auto">
          <a:xfrm>
            <a:off x="1828800" y="3401568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rPr/>
              <a:t>линейная</a:t>
            </a:r>
            <a:endParaRPr/>
          </a:p>
        </p:txBody>
      </p:sp>
      <p:sp>
        <p:nvSpPr>
          <p:cNvPr id="22" name="Rectangle 21"/>
          <p:cNvSpPr/>
          <p:nvPr/>
        </p:nvSpPr>
        <p:spPr bwMode="auto">
          <a:xfrm>
            <a:off x="3383280" y="3383280"/>
            <a:ext cx="2651760" cy="347472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TextBox 22"/>
          <p:cNvSpPr txBox="1"/>
          <p:nvPr/>
        </p:nvSpPr>
        <p:spPr bwMode="auto">
          <a:xfrm>
            <a:off x="3474720" y="3401568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B88FF"/>
                </a:solidFill>
                <a:latin typeface="Calibri"/>
              </a:defRPr>
            </a:pPr>
            <a:r>
              <a:rPr/>
              <a:t>Spearman</a:t>
            </a:r>
            <a:endParaRPr/>
          </a:p>
        </p:txBody>
      </p:sp>
      <p:sp>
        <p:nvSpPr>
          <p:cNvPr id="24" name="TextBox 23"/>
          <p:cNvSpPr txBox="1"/>
          <p:nvPr/>
        </p:nvSpPr>
        <p:spPr bwMode="auto">
          <a:xfrm>
            <a:off x="4754880" y="3401568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rPr/>
              <a:t>монотонная</a:t>
            </a:r>
            <a:endParaRPr/>
          </a:p>
        </p:txBody>
      </p:sp>
      <p:sp>
        <p:nvSpPr>
          <p:cNvPr id="25" name="Rectangle 24"/>
          <p:cNvSpPr/>
          <p:nvPr/>
        </p:nvSpPr>
        <p:spPr bwMode="auto">
          <a:xfrm>
            <a:off x="6309360" y="3383280"/>
            <a:ext cx="2651760" cy="347472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TextBox 25"/>
          <p:cNvSpPr txBox="1"/>
          <p:nvPr/>
        </p:nvSpPr>
        <p:spPr bwMode="auto">
          <a:xfrm>
            <a:off x="6400800" y="3401568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B88FF"/>
                </a:solidFill>
                <a:latin typeface="Calibri"/>
              </a:defRPr>
            </a:pPr>
            <a:r>
              <a:rPr/>
              <a:t>Kendall</a:t>
            </a:r>
            <a:endParaRPr/>
          </a:p>
        </p:txBody>
      </p:sp>
      <p:sp>
        <p:nvSpPr>
          <p:cNvPr id="27" name="TextBox 26"/>
          <p:cNvSpPr txBox="1"/>
          <p:nvPr/>
        </p:nvSpPr>
        <p:spPr bwMode="auto">
          <a:xfrm>
            <a:off x="7680960" y="3401568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rPr/>
              <a:t>ранговая</a:t>
            </a:r>
            <a:endParaRPr/>
          </a:p>
        </p:txBody>
      </p:sp>
      <p:sp>
        <p:nvSpPr>
          <p:cNvPr id="28" name="Rectangle 27"/>
          <p:cNvSpPr/>
          <p:nvPr/>
        </p:nvSpPr>
        <p:spPr bwMode="auto">
          <a:xfrm>
            <a:off x="9235440" y="3383280"/>
            <a:ext cx="2651760" cy="347472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TextBox 28"/>
          <p:cNvSpPr txBox="1"/>
          <p:nvPr/>
        </p:nvSpPr>
        <p:spPr bwMode="auto">
          <a:xfrm>
            <a:off x="9326880" y="3401568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B88FF"/>
                </a:solidFill>
                <a:latin typeface="Calibri"/>
              </a:defRPr>
            </a:pPr>
            <a:r>
              <a:rPr/>
              <a:t>Cramer's V</a:t>
            </a:r>
            <a:endParaRPr/>
          </a:p>
        </p:txBody>
      </p:sp>
      <p:sp>
        <p:nvSpPr>
          <p:cNvPr id="30" name="TextBox 29"/>
          <p:cNvSpPr txBox="1"/>
          <p:nvPr/>
        </p:nvSpPr>
        <p:spPr bwMode="auto">
          <a:xfrm>
            <a:off x="10607040" y="3401568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rPr/>
              <a:t>категориальные</a:t>
            </a:r>
            <a:endParaRPr/>
          </a:p>
        </p:txBody>
      </p:sp>
      <p:sp>
        <p:nvSpPr>
          <p:cNvPr id="31" name="Rectangle 30"/>
          <p:cNvSpPr/>
          <p:nvPr/>
        </p:nvSpPr>
        <p:spPr bwMode="auto">
          <a:xfrm>
            <a:off x="457200" y="4023360"/>
            <a:ext cx="11247120" cy="18288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TextBox 31"/>
          <p:cNvSpPr txBox="1"/>
          <p:nvPr/>
        </p:nvSpPr>
        <p:spPr bwMode="auto">
          <a:xfrm>
            <a:off x="530352" y="4059936"/>
            <a:ext cx="11100816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200">
                <a:solidFill>
                  <a:srgbClr val="E0E0FF"/>
                </a:solidFill>
                <a:latin typeface="Consolas"/>
              </a:defRPr>
            </a:pPr>
            <a:r>
              <a:rPr/>
              <a:t>q1 = df['price'].quantile(0.25)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200">
                <a:solidFill>
                  <a:srgbClr val="E0E0FF"/>
                </a:solidFill>
                <a:latin typeface="Consolas"/>
              </a:defRPr>
            </a:pPr>
            <a:r>
              <a:rPr/>
              <a:t>q3 = df['price'].quantile(0.75)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200">
                <a:solidFill>
                  <a:srgbClr val="E0E0FF"/>
                </a:solidFill>
                <a:latin typeface="Consolas"/>
              </a:defRPr>
            </a:pPr>
            <a:r>
              <a:rPr/>
              <a:t>iqr = q3 - q1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200">
                <a:solidFill>
                  <a:srgbClr val="E0E0FF"/>
                </a:solidFill>
                <a:latin typeface="Consolas"/>
              </a:defRPr>
            </a:pPr>
            <a:r>
              <a:rPr/>
              <a:t>df_clean = df.filter((pl.col('price') &gt;= q1 - 1.5*iqr) &amp; (pl.col('price') &lt;= q3 + 1.5*iqr))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200">
                <a:solidFill>
                  <a:srgbClr val="E0E0FF"/>
                </a:solidFill>
                <a:latin typeface="Consolas"/>
              </a:defRPr>
            </a:pPr>
            <a:r>
              <a:rPr/>
              <a:t>corr = df.select(pl.numeric()).corr()</a:t>
            </a:r>
            <a:endParaRPr/>
          </a:p>
        </p:txBody>
      </p:sp>
      <p:sp>
        <p:nvSpPr>
          <p:cNvPr id="33" name="TextBox 32"/>
          <p:cNvSpPr txBox="1"/>
          <p:nvPr/>
        </p:nvSpPr>
        <p:spPr bwMode="auto">
          <a:xfrm>
            <a:off x="1152144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0B0C0"/>
                </a:solidFill>
                <a:latin typeface="Calibri"/>
              </a:defRPr>
            </a:pPr>
            <a:r>
              <a:rPr/>
              <a:t>8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1A1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0" y="0"/>
            <a:ext cx="109728" cy="685800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 bwMode="auto"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rPr/>
              <a:t>Кодирование категориальных (8 методов)</a:t>
            </a:r>
            <a:endParaRPr/>
          </a:p>
        </p:txBody>
      </p:sp>
      <p:graphicFrame>
        <p:nvGraphicFramePr>
          <p:cNvPr id="4" name="Table 3"/>
          <p:cNvGraphicFramePr>
            <a:graphicFrameLocks xmlns:a="http://schemas.openxmlformats.org/drawingml/2006/main" noGrp="1"/>
          </p:cNvGraphicFramePr>
          <p:nvPr/>
        </p:nvGraphicFramePr>
        <p:xfrm>
          <a:off x="457200" y="914400"/>
          <a:ext cx="11247120" cy="2633472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1828800"/>
                <a:gridCol w="457200"/>
                <a:gridCol w="2286000"/>
                <a:gridCol w="2286000"/>
                <a:gridCol w="4389120"/>
              </a:tblGrid>
              <a:tr h="292608">
                <a:tc>
                  <a:txBody>
                    <a:bodyPr/>
                    <a:p>
                      <a:pPr>
                        <a:defRPr sz="1100" b="1">
                          <a:solidFill>
                            <a:srgbClr val="00D9FF"/>
                          </a:solidFill>
                          <a:latin typeface="Calibri"/>
                        </a:defRPr>
                      </a:pPr>
                      <a:r>
                        <a:rPr/>
                        <a:t>Метод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 b="1">
                          <a:solidFill>
                            <a:srgbClr val="00D9FF"/>
                          </a:solidFill>
                          <a:latin typeface="Calibri"/>
                        </a:defRPr>
                      </a:pPr>
                      <a:r>
                        <a:rPr/>
                        <a:t>Ур.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 b="1">
                          <a:solidFill>
                            <a:srgbClr val="00D9FF"/>
                          </a:solidFill>
                          <a:latin typeface="Calibri"/>
                        </a:defRPr>
                      </a:pPr>
                      <a:r>
                        <a:rPr/>
                        <a:t>Плюсы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 b="1">
                          <a:solidFill>
                            <a:srgbClr val="00D9FF"/>
                          </a:solidFill>
                          <a:latin typeface="Calibri"/>
                        </a:defRPr>
                      </a:pPr>
                      <a:r>
                        <a:rPr/>
                        <a:t>Минусы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 b="1">
                          <a:solidFill>
                            <a:srgbClr val="00D9FF"/>
                          </a:solidFill>
                          <a:latin typeface="Calibri"/>
                        </a:defRPr>
                      </a:pPr>
                      <a:r>
                        <a:rPr/>
                        <a:t>Когда применять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One-Hot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3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Простой, линейные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Взрыв размерности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Мало категорий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Label/Ordinal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3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Компактный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Навязывает порядок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Есть естеств. порядок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Target (Bayesian)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4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Учитывает целевую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Data leakage!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Высокая кардинальность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Frequency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4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Простой, компактный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Теряет информацию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Medium cardinality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Hashing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4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Фикс. размер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Коллизии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Very high cardinality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CatBoost Enc.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5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Устойчив к утечке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Сложный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CatBoost, high card.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Entity Embeddings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5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Учится связи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Нужна NN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Глубокие модели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SBERT + PCA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5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Текст -&gt; вектор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GPU, медленно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Текстовые колонки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 bwMode="auto">
          <a:xfrm>
            <a:off x="457200" y="4754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A000"/>
                </a:solidFill>
                <a:latin typeface="Calibri"/>
              </a:defRPr>
            </a:pPr>
            <a:r>
              <a:rPr/>
              <a:t>Правило: чем выше уровень — тем больше методов нужно сравнить</a:t>
            </a:r>
            <a:endParaRPr/>
          </a:p>
        </p:txBody>
      </p:sp>
      <p:sp>
        <p:nvSpPr>
          <p:cNvPr id="6" name="TextBox 5"/>
          <p:cNvSpPr txBox="1"/>
          <p:nvPr/>
        </p:nvSpPr>
        <p:spPr bwMode="auto">
          <a:xfrm>
            <a:off x="1152144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0B0C0"/>
                </a:solidFill>
                <a:latin typeface="Calibri"/>
              </a:defRPr>
            </a:pPr>
            <a:r>
              <a:rPr/>
              <a:t>9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1A1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0" y="0"/>
            <a:ext cx="109728" cy="685800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 bwMode="auto"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rPr/>
              <a:t>Кодирование: примеры на Polars</a:t>
            </a:r>
            <a:endParaRPr/>
          </a:p>
        </p:txBody>
      </p:sp>
      <p:sp>
        <p:nvSpPr>
          <p:cNvPr id="4" name="TextBox 3"/>
          <p:cNvSpPr txBox="1"/>
          <p:nvPr/>
        </p:nvSpPr>
        <p:spPr bwMode="auto">
          <a:xfrm>
            <a:off x="45720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9FF"/>
                </a:solidFill>
                <a:latin typeface="Calibri"/>
              </a:defRPr>
            </a:pPr>
            <a:r>
              <a:rPr/>
              <a:t>One-Hot + Target Encoding</a:t>
            </a:r>
            <a:endParaRPr/>
          </a:p>
        </p:txBody>
      </p:sp>
      <p:sp>
        <p:nvSpPr>
          <p:cNvPr id="5" name="Rectangle 4"/>
          <p:cNvSpPr/>
          <p:nvPr/>
        </p:nvSpPr>
        <p:spPr bwMode="auto">
          <a:xfrm>
            <a:off x="457200" y="1280160"/>
            <a:ext cx="5486400" cy="3935652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TextBox 5"/>
          <p:cNvSpPr txBox="1"/>
          <p:nvPr/>
        </p:nvSpPr>
        <p:spPr bwMode="auto">
          <a:xfrm>
            <a:off x="530352" y="1316736"/>
            <a:ext cx="5340096" cy="3903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rPr/>
              <a:t># One-Hot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df_enc</a:t>
            </a:r>
            <a:r>
              <a:rPr/>
              <a:t> = </a:t>
            </a:r>
            <a:r>
              <a:rPr/>
              <a:t>df.to_dummies</a:t>
            </a:r>
            <a:r>
              <a:rPr/>
              <a:t>(</a:t>
            </a:r>
            <a:endParaRPr lang="ru-RU"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 lang="ru-RU"/>
              <a:t> </a:t>
            </a:r>
            <a:r>
              <a:rPr lang="ru-RU"/>
              <a:t> </a:t>
            </a:r>
            <a:r>
              <a:rPr/>
              <a:t>columns</a:t>
            </a:r>
            <a:r>
              <a:rPr/>
              <a:t>=['</a:t>
            </a:r>
            <a:r>
              <a:rPr/>
              <a:t>item_condition_id</a:t>
            </a:r>
            <a:r>
              <a:rPr/>
              <a:t>'])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rPr/>
              <a:t># Target Encoding (Bayesian)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cat_stats</a:t>
            </a:r>
            <a:r>
              <a:rPr/>
              <a:t> = (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</a:t>
            </a:r>
            <a:r>
              <a:rPr/>
              <a:t>df.group_by</a:t>
            </a:r>
            <a:r>
              <a:rPr/>
              <a:t>('</a:t>
            </a:r>
            <a:r>
              <a:rPr/>
              <a:t>category_name</a:t>
            </a:r>
            <a:r>
              <a:rPr/>
              <a:t>')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.</a:t>
            </a:r>
            <a:r>
              <a:rPr/>
              <a:t>agg</a:t>
            </a:r>
            <a:r>
              <a:rPr/>
              <a:t>(</a:t>
            </a:r>
            <a:r>
              <a:rPr/>
              <a:t>pl.col</a:t>
            </a:r>
            <a:r>
              <a:rPr/>
              <a:t>('price').mean()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  .alias('</a:t>
            </a:r>
            <a:r>
              <a:rPr/>
              <a:t>cat_mean</a:t>
            </a:r>
            <a:r>
              <a:rPr/>
              <a:t>'),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  </a:t>
            </a:r>
            <a:r>
              <a:rPr/>
              <a:t>pl.col</a:t>
            </a:r>
            <a:r>
              <a:rPr/>
              <a:t>('price').count()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  .alias('</a:t>
            </a:r>
            <a:r>
              <a:rPr/>
              <a:t>cat_count</a:t>
            </a:r>
            <a:r>
              <a:rPr/>
              <a:t>')))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global_mean</a:t>
            </a:r>
            <a:r>
              <a:rPr/>
              <a:t> = </a:t>
            </a:r>
            <a:r>
              <a:rPr/>
              <a:t>df</a:t>
            </a:r>
            <a:r>
              <a:rPr/>
              <a:t>['price'].mean()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alpha = 10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cat_stats</a:t>
            </a:r>
            <a:r>
              <a:rPr/>
              <a:t> = </a:t>
            </a:r>
            <a:r>
              <a:rPr/>
              <a:t>cat_stats.with_columns</a:t>
            </a:r>
            <a:r>
              <a:rPr/>
              <a:t>(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((</a:t>
            </a:r>
            <a:r>
              <a:rPr/>
              <a:t>pl.col</a:t>
            </a:r>
            <a:r>
              <a:rPr/>
              <a:t>('</a:t>
            </a:r>
            <a:r>
              <a:rPr/>
              <a:t>cat_mean</a:t>
            </a:r>
            <a:r>
              <a:rPr/>
              <a:t>')*</a:t>
            </a:r>
            <a:r>
              <a:rPr/>
              <a:t>pl.col</a:t>
            </a:r>
            <a:r>
              <a:rPr/>
              <a:t>('</a:t>
            </a:r>
            <a:r>
              <a:rPr/>
              <a:t>cat_count</a:t>
            </a:r>
            <a:r>
              <a:rPr/>
              <a:t>')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 + </a:t>
            </a:r>
            <a:r>
              <a:rPr/>
              <a:t>global_mean</a:t>
            </a:r>
            <a:r>
              <a:rPr/>
              <a:t>*alpha)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/ (</a:t>
            </a:r>
            <a:r>
              <a:rPr/>
              <a:t>pl.col</a:t>
            </a:r>
            <a:r>
              <a:rPr/>
              <a:t>('</a:t>
            </a:r>
            <a:r>
              <a:rPr/>
              <a:t>cat_count</a:t>
            </a:r>
            <a:r>
              <a:rPr/>
              <a:t>')+alpha)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).alias('</a:t>
            </a:r>
            <a:r>
              <a:rPr/>
              <a:t>category_te</a:t>
            </a:r>
            <a:r>
              <a:rPr/>
              <a:t>'))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df</a:t>
            </a:r>
            <a:r>
              <a:rPr/>
              <a:t> = </a:t>
            </a:r>
            <a:r>
              <a:rPr/>
              <a:t>df.join</a:t>
            </a:r>
            <a:r>
              <a:rPr/>
              <a:t>(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</a:t>
            </a:r>
            <a:r>
              <a:rPr/>
              <a:t>cat_stats.select</a:t>
            </a:r>
            <a:r>
              <a:rPr/>
              <a:t>(['category_name','</a:t>
            </a:r>
            <a:r>
              <a:rPr/>
              <a:t>category_te</a:t>
            </a:r>
            <a:r>
              <a:rPr/>
              <a:t>']),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on='</a:t>
            </a:r>
            <a:r>
              <a:rPr/>
              <a:t>category_name</a:t>
            </a:r>
            <a:r>
              <a:rPr/>
              <a:t>')</a:t>
            </a:r>
            <a:endParaRPr/>
          </a:p>
        </p:txBody>
      </p:sp>
      <p:sp>
        <p:nvSpPr>
          <p:cNvPr id="7" name="TextBox 6"/>
          <p:cNvSpPr txBox="1"/>
          <p:nvPr/>
        </p:nvSpPr>
        <p:spPr bwMode="auto">
          <a:xfrm>
            <a:off x="621792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A000"/>
                </a:solidFill>
                <a:latin typeface="Calibri"/>
              </a:defRPr>
            </a:pPr>
            <a:r>
              <a:rPr/>
              <a:t>SBERT + PCA</a:t>
            </a:r>
            <a:endParaRPr/>
          </a:p>
        </p:txBody>
      </p:sp>
      <p:sp>
        <p:nvSpPr>
          <p:cNvPr id="8" name="Rectangle 7"/>
          <p:cNvSpPr/>
          <p:nvPr/>
        </p:nvSpPr>
        <p:spPr bwMode="auto">
          <a:xfrm>
            <a:off x="6217920" y="1280160"/>
            <a:ext cx="5486400" cy="347472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TextBox 8"/>
          <p:cNvSpPr txBox="1"/>
          <p:nvPr/>
        </p:nvSpPr>
        <p:spPr bwMode="auto">
          <a:xfrm>
            <a:off x="6291072" y="1316736"/>
            <a:ext cx="5340096" cy="2993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from </a:t>
            </a:r>
            <a:r>
              <a:rPr/>
              <a:t>sentence_transformers</a:t>
            </a:r>
            <a:r>
              <a:rPr/>
              <a:t> </a:t>
            </a:r>
            <a:r>
              <a:rPr/>
              <a:t>import </a:t>
            </a:r>
            <a:r>
              <a:rPr/>
              <a:t>SentenceTransformer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from </a:t>
            </a:r>
            <a:r>
              <a:rPr/>
              <a:t>sklearn.decomposition</a:t>
            </a:r>
            <a:r>
              <a:rPr/>
              <a:t> import PCA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model = </a:t>
            </a:r>
            <a:r>
              <a:rPr/>
              <a:t>SentenceTransformer</a:t>
            </a:r>
            <a:r>
              <a:rPr/>
              <a:t>(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  'all-MiniLM-L6-v2')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embeddings</a:t>
            </a:r>
            <a:r>
              <a:rPr/>
              <a:t> = </a:t>
            </a:r>
            <a:r>
              <a:rPr/>
              <a:t>model.encode</a:t>
            </a:r>
            <a:r>
              <a:rPr/>
              <a:t>(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  </a:t>
            </a:r>
            <a:r>
              <a:rPr/>
              <a:t>df</a:t>
            </a:r>
            <a:r>
              <a:rPr/>
              <a:t>['name'].</a:t>
            </a:r>
            <a:r>
              <a:rPr/>
              <a:t>to_list</a:t>
            </a:r>
            <a:r>
              <a:rPr/>
              <a:t>())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pca</a:t>
            </a:r>
            <a:r>
              <a:rPr/>
              <a:t> = PCA(</a:t>
            </a:r>
            <a:r>
              <a:rPr/>
              <a:t>n_components</a:t>
            </a:r>
            <a:r>
              <a:rPr/>
              <a:t>=32)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emb_pca</a:t>
            </a:r>
            <a:r>
              <a:rPr/>
              <a:t> = </a:t>
            </a:r>
            <a:r>
              <a:rPr/>
              <a:t>pca.fit_transform</a:t>
            </a:r>
            <a:r>
              <a:rPr/>
              <a:t>(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  </a:t>
            </a:r>
            <a:r>
              <a:rPr/>
              <a:t>embeddings</a:t>
            </a:r>
            <a:r>
              <a:rPr/>
              <a:t>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for </a:t>
            </a:r>
            <a:r>
              <a:rPr/>
              <a:t>i</a:t>
            </a:r>
            <a:r>
              <a:rPr/>
              <a:t> in range(32):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  </a:t>
            </a:r>
            <a:r>
              <a:rPr/>
              <a:t>df</a:t>
            </a:r>
            <a:r>
              <a:rPr/>
              <a:t> = </a:t>
            </a:r>
            <a:r>
              <a:rPr/>
              <a:t>df.with_columns</a:t>
            </a:r>
            <a:r>
              <a:rPr/>
              <a:t>(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      </a:t>
            </a:r>
            <a:r>
              <a:rPr/>
              <a:t>pl.Series</a:t>
            </a:r>
            <a:r>
              <a:rPr/>
              <a:t>(</a:t>
            </a:r>
            <a:r>
              <a:rPr/>
              <a:t>f'emb</a:t>
            </a:r>
            <a:r>
              <a:rPr/>
              <a:t>_{</a:t>
            </a:r>
            <a:r>
              <a:rPr/>
              <a:t>i</a:t>
            </a:r>
            <a:r>
              <a:rPr/>
              <a:t>}',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      </a:t>
            </a:r>
            <a:r>
              <a:rPr/>
              <a:t>emb_pca</a:t>
            </a:r>
            <a:r>
              <a:rPr/>
              <a:t>[:,</a:t>
            </a:r>
            <a:r>
              <a:rPr/>
              <a:t>i</a:t>
            </a:r>
            <a:r>
              <a:rPr/>
              <a:t>]))</a:t>
            </a:r>
            <a:endParaRPr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536137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5555"/>
                </a:solidFill>
                <a:latin typeface="Calibri"/>
              </a:defRPr>
            </a:pPr>
            <a:r>
              <a:rPr/>
              <a:t>Data leakage: target encoding </a:t>
            </a:r>
            <a:r>
              <a:rPr/>
              <a:t>только</a:t>
            </a:r>
            <a:r>
              <a:rPr/>
              <a:t> </a:t>
            </a:r>
            <a:r>
              <a:rPr/>
              <a:t>на</a:t>
            </a:r>
            <a:r>
              <a:rPr/>
              <a:t> train!</a:t>
            </a:r>
            <a:endParaRPr/>
          </a:p>
        </p:txBody>
      </p:sp>
      <p:sp>
        <p:nvSpPr>
          <p:cNvPr id="11" name="TextBox 10"/>
          <p:cNvSpPr txBox="1"/>
          <p:nvPr/>
        </p:nvSpPr>
        <p:spPr bwMode="auto">
          <a:xfrm>
            <a:off x="1152144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0B0C0"/>
                </a:solidFill>
                <a:latin typeface="Calibri"/>
              </a:defRPr>
            </a:pPr>
            <a:r>
              <a:rPr/>
              <a:t>10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1A1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0" y="0"/>
            <a:ext cx="109728" cy="685800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 bwMode="auto"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rPr/>
              <a:t>Feature Engineering и отбор признаков</a:t>
            </a:r>
            <a:endParaRPr/>
          </a:p>
        </p:txBody>
      </p:sp>
      <p:sp>
        <p:nvSpPr>
          <p:cNvPr id="4" name="TextBox 3"/>
          <p:cNvSpPr txBox="1"/>
          <p:nvPr/>
        </p:nvSpPr>
        <p:spPr bwMode="auto">
          <a:xfrm>
            <a:off x="45720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rPr/>
              <a:t>5 типов FE:</a:t>
            </a:r>
            <a:endParaRPr/>
          </a:p>
        </p:txBody>
      </p:sp>
      <p:sp>
        <p:nvSpPr>
          <p:cNvPr id="5" name="Rectangle 4"/>
          <p:cNvSpPr/>
          <p:nvPr/>
        </p:nvSpPr>
        <p:spPr bwMode="auto">
          <a:xfrm>
            <a:off x="457200" y="1280160"/>
            <a:ext cx="73152" cy="32004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TextBox 5"/>
          <p:cNvSpPr txBox="1"/>
          <p:nvPr/>
        </p:nvSpPr>
        <p:spPr bwMode="auto">
          <a:xfrm>
            <a:off x="640080" y="12618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9FF"/>
                </a:solidFill>
                <a:latin typeface="Calibri"/>
              </a:defRPr>
            </a:pPr>
            <a:r>
              <a:rPr/>
              <a:t>Текстовые</a:t>
            </a:r>
            <a:endParaRPr/>
          </a:p>
        </p:txBody>
      </p:sp>
      <p:sp>
        <p:nvSpPr>
          <p:cNvPr id="7" name="TextBox 6"/>
          <p:cNvSpPr txBox="1"/>
          <p:nvPr/>
        </p:nvSpPr>
        <p:spPr bwMode="auto">
          <a:xfrm>
            <a:off x="2926080" y="12618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/>
              <a:t>len(name), has_brand</a:t>
            </a:r>
            <a:endParaRPr/>
          </a:p>
        </p:txBody>
      </p:sp>
      <p:sp>
        <p:nvSpPr>
          <p:cNvPr id="8" name="Rectangle 7"/>
          <p:cNvSpPr/>
          <p:nvPr/>
        </p:nvSpPr>
        <p:spPr bwMode="auto">
          <a:xfrm>
            <a:off x="457200" y="1737360"/>
            <a:ext cx="73152" cy="32004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TextBox 8"/>
          <p:cNvSpPr txBox="1"/>
          <p:nvPr/>
        </p:nvSpPr>
        <p:spPr bwMode="auto">
          <a:xfrm>
            <a:off x="640080" y="17190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FF88"/>
                </a:solidFill>
                <a:latin typeface="Calibri"/>
              </a:defRPr>
            </a:pPr>
            <a:r>
              <a:rPr/>
              <a:t>Категории</a:t>
            </a:r>
            <a:endParaRPr/>
          </a:p>
        </p:txBody>
      </p:sp>
      <p:sp>
        <p:nvSpPr>
          <p:cNvPr id="10" name="TextBox 9"/>
          <p:cNvSpPr txBox="1"/>
          <p:nvPr/>
        </p:nvSpPr>
        <p:spPr bwMode="auto">
          <a:xfrm>
            <a:off x="2926080" y="17190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/>
              <a:t>cat1/cat2 из category_name</a:t>
            </a:r>
            <a:endParaRPr/>
          </a:p>
        </p:txBody>
      </p:sp>
      <p:sp>
        <p:nvSpPr>
          <p:cNvPr id="11" name="Rectangle 10"/>
          <p:cNvSpPr/>
          <p:nvPr/>
        </p:nvSpPr>
        <p:spPr bwMode="auto">
          <a:xfrm>
            <a:off x="457200" y="2194560"/>
            <a:ext cx="73152" cy="32004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TextBox 11"/>
          <p:cNvSpPr txBox="1"/>
          <p:nvPr/>
        </p:nvSpPr>
        <p:spPr bwMode="auto">
          <a:xfrm>
            <a:off x="640080" y="21762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A000"/>
                </a:solidFill>
                <a:latin typeface="Calibri"/>
              </a:defRPr>
            </a:pPr>
            <a:r>
              <a:rPr/>
              <a:t>Взаимодействия</a:t>
            </a:r>
            <a:endParaRPr/>
          </a:p>
        </p:txBody>
      </p:sp>
      <p:sp>
        <p:nvSpPr>
          <p:cNvPr id="13" name="TextBox 12"/>
          <p:cNvSpPr txBox="1"/>
          <p:nvPr/>
        </p:nvSpPr>
        <p:spPr bwMode="auto">
          <a:xfrm>
            <a:off x="2926080" y="21762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/>
              <a:t>price_per_sqft = price/area</a:t>
            </a:r>
            <a:endParaRPr/>
          </a:p>
        </p:txBody>
      </p:sp>
      <p:sp>
        <p:nvSpPr>
          <p:cNvPr id="14" name="Rectangle 13"/>
          <p:cNvSpPr/>
          <p:nvPr/>
        </p:nvSpPr>
        <p:spPr bwMode="auto">
          <a:xfrm>
            <a:off x="457200" y="2651760"/>
            <a:ext cx="73152" cy="320040"/>
          </a:xfrm>
          <a:prstGeom prst="rect">
            <a:avLst/>
          </a:prstGeom>
          <a:solidFill>
            <a:srgbClr val="BB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TextBox 14"/>
          <p:cNvSpPr txBox="1"/>
          <p:nvPr/>
        </p:nvSpPr>
        <p:spPr bwMode="auto">
          <a:xfrm>
            <a:off x="640080" y="26334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B88FF"/>
                </a:solidFill>
                <a:latin typeface="Calibri"/>
              </a:defRPr>
            </a:pPr>
            <a:r>
              <a:rPr/>
              <a:t>Временные</a:t>
            </a:r>
            <a:endParaRPr/>
          </a:p>
        </p:txBody>
      </p:sp>
      <p:sp>
        <p:nvSpPr>
          <p:cNvPr id="16" name="TextBox 15"/>
          <p:cNvSpPr txBox="1"/>
          <p:nvPr/>
        </p:nvSpPr>
        <p:spPr bwMode="auto">
          <a:xfrm>
            <a:off x="2926080" y="26334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/>
              <a:t>lag, rolling, sin/cos</a:t>
            </a:r>
            <a:endParaRPr/>
          </a:p>
        </p:txBody>
      </p:sp>
      <p:sp>
        <p:nvSpPr>
          <p:cNvPr id="17" name="Rectangle 16"/>
          <p:cNvSpPr/>
          <p:nvPr/>
        </p:nvSpPr>
        <p:spPr bwMode="auto">
          <a:xfrm>
            <a:off x="457200" y="3108960"/>
            <a:ext cx="73152" cy="320040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TextBox 17"/>
          <p:cNvSpPr txBox="1"/>
          <p:nvPr/>
        </p:nvSpPr>
        <p:spPr bwMode="auto">
          <a:xfrm>
            <a:off x="640080" y="30906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5555"/>
                </a:solidFill>
                <a:latin typeface="Calibri"/>
              </a:defRPr>
            </a:pPr>
            <a:r>
              <a:rPr/>
              <a:t>Гео</a:t>
            </a:r>
            <a:endParaRPr/>
          </a:p>
        </p:txBody>
      </p:sp>
      <p:sp>
        <p:nvSpPr>
          <p:cNvPr id="19" name="TextBox 18"/>
          <p:cNvSpPr txBox="1"/>
          <p:nvPr/>
        </p:nvSpPr>
        <p:spPr bwMode="auto">
          <a:xfrm>
            <a:off x="2926080" y="30906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/>
              <a:t>haversine, KMeans lat/lon</a:t>
            </a:r>
            <a:endParaRPr/>
          </a:p>
        </p:txBody>
      </p:sp>
      <p:sp>
        <p:nvSpPr>
          <p:cNvPr id="20" name="TextBox 19"/>
          <p:cNvSpPr txBox="1"/>
          <p:nvPr/>
        </p:nvSpPr>
        <p:spPr bwMode="auto">
          <a:xfrm>
            <a:off x="621792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rPr/>
              <a:t>Отбор признаков:</a:t>
            </a:r>
            <a:endParaRPr/>
          </a:p>
        </p:txBody>
      </p:sp>
      <p:sp>
        <p:nvSpPr>
          <p:cNvPr id="21" name="Rectangle 20"/>
          <p:cNvSpPr/>
          <p:nvPr/>
        </p:nvSpPr>
        <p:spPr bwMode="auto">
          <a:xfrm>
            <a:off x="6217920" y="1280160"/>
            <a:ext cx="73152" cy="32004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TextBox 21"/>
          <p:cNvSpPr txBox="1"/>
          <p:nvPr/>
        </p:nvSpPr>
        <p:spPr bwMode="auto">
          <a:xfrm>
            <a:off x="6400800" y="126187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9FF"/>
                </a:solidFill>
                <a:latin typeface="Calibri"/>
              </a:defRPr>
            </a:pPr>
            <a:r>
              <a:rPr/>
              <a:t>VIF</a:t>
            </a:r>
            <a:endParaRPr/>
          </a:p>
        </p:txBody>
      </p:sp>
      <p:sp>
        <p:nvSpPr>
          <p:cNvPr id="23" name="TextBox 22"/>
          <p:cNvSpPr txBox="1"/>
          <p:nvPr/>
        </p:nvSpPr>
        <p:spPr bwMode="auto">
          <a:xfrm>
            <a:off x="8046720" y="126187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/>
              <a:t>VIF&gt;10 -&gt; удалить</a:t>
            </a:r>
            <a:endParaRPr/>
          </a:p>
        </p:txBody>
      </p:sp>
      <p:sp>
        <p:nvSpPr>
          <p:cNvPr id="24" name="Rectangle 23"/>
          <p:cNvSpPr/>
          <p:nvPr/>
        </p:nvSpPr>
        <p:spPr bwMode="auto">
          <a:xfrm>
            <a:off x="6217920" y="1737360"/>
            <a:ext cx="73152" cy="32004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TextBox 24"/>
          <p:cNvSpPr txBox="1"/>
          <p:nvPr/>
        </p:nvSpPr>
        <p:spPr bwMode="auto">
          <a:xfrm>
            <a:off x="6400800" y="171907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A000"/>
                </a:solidFill>
                <a:latin typeface="Calibri"/>
              </a:defRPr>
            </a:pPr>
            <a:r>
              <a:rPr/>
              <a:t>RFE</a:t>
            </a:r>
            <a:endParaRPr/>
          </a:p>
        </p:txBody>
      </p:sp>
      <p:sp>
        <p:nvSpPr>
          <p:cNvPr id="26" name="TextBox 25"/>
          <p:cNvSpPr txBox="1"/>
          <p:nvPr/>
        </p:nvSpPr>
        <p:spPr bwMode="auto">
          <a:xfrm>
            <a:off x="8046720" y="171907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/>
              <a:t>Рекурсивный (top-k)</a:t>
            </a:r>
            <a:endParaRPr/>
          </a:p>
        </p:txBody>
      </p:sp>
      <p:sp>
        <p:nvSpPr>
          <p:cNvPr id="27" name="Rectangle 26"/>
          <p:cNvSpPr/>
          <p:nvPr/>
        </p:nvSpPr>
        <p:spPr bwMode="auto">
          <a:xfrm>
            <a:off x="6217920" y="2194560"/>
            <a:ext cx="73152" cy="320040"/>
          </a:xfrm>
          <a:prstGeom prst="rect">
            <a:avLst/>
          </a:prstGeom>
          <a:solidFill>
            <a:srgbClr val="BB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TextBox 27"/>
          <p:cNvSpPr txBox="1"/>
          <p:nvPr/>
        </p:nvSpPr>
        <p:spPr bwMode="auto">
          <a:xfrm>
            <a:off x="6400800" y="217627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B88FF"/>
                </a:solidFill>
                <a:latin typeface="Calibri"/>
              </a:defRPr>
            </a:pPr>
            <a:r>
              <a:rPr/>
              <a:t>SHAP</a:t>
            </a:r>
            <a:endParaRPr/>
          </a:p>
        </p:txBody>
      </p:sp>
      <p:sp>
        <p:nvSpPr>
          <p:cNvPr id="29" name="TextBox 28"/>
          <p:cNvSpPr txBox="1"/>
          <p:nvPr/>
        </p:nvSpPr>
        <p:spPr bwMode="auto">
          <a:xfrm>
            <a:off x="8046720" y="217627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/>
              <a:t>Значения Шепли</a:t>
            </a:r>
            <a:endParaRPr/>
          </a:p>
        </p:txBody>
      </p:sp>
      <p:sp>
        <p:nvSpPr>
          <p:cNvPr id="30" name="Rectangle 29"/>
          <p:cNvSpPr/>
          <p:nvPr/>
        </p:nvSpPr>
        <p:spPr bwMode="auto">
          <a:xfrm>
            <a:off x="6217920" y="2651760"/>
            <a:ext cx="73152" cy="32004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TextBox 30"/>
          <p:cNvSpPr txBox="1"/>
          <p:nvPr/>
        </p:nvSpPr>
        <p:spPr bwMode="auto">
          <a:xfrm>
            <a:off x="6400800" y="263347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FF88"/>
                </a:solidFill>
                <a:latin typeface="Calibri"/>
              </a:defRPr>
            </a:pPr>
            <a:r>
              <a:rPr/>
              <a:t>SelectKBest</a:t>
            </a:r>
            <a:endParaRPr/>
          </a:p>
        </p:txBody>
      </p:sp>
      <p:sp>
        <p:nvSpPr>
          <p:cNvPr id="32" name="TextBox 31"/>
          <p:cNvSpPr txBox="1"/>
          <p:nvPr/>
        </p:nvSpPr>
        <p:spPr bwMode="auto">
          <a:xfrm>
            <a:off x="8046720" y="263347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/>
              <a:t>Статистический</a:t>
            </a:r>
            <a:endParaRPr/>
          </a:p>
        </p:txBody>
      </p:sp>
      <p:sp>
        <p:nvSpPr>
          <p:cNvPr id="33" name="Rectangle 32"/>
          <p:cNvSpPr/>
          <p:nvPr/>
        </p:nvSpPr>
        <p:spPr bwMode="auto">
          <a:xfrm>
            <a:off x="457200" y="3657600"/>
            <a:ext cx="11247120" cy="2286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TextBox 33"/>
          <p:cNvSpPr txBox="1"/>
          <p:nvPr/>
        </p:nvSpPr>
        <p:spPr bwMode="auto">
          <a:xfrm>
            <a:off x="530352" y="3694176"/>
            <a:ext cx="11100816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200">
                <a:solidFill>
                  <a:srgbClr val="80FF80"/>
                </a:solidFill>
                <a:latin typeface="Consolas"/>
              </a:defRPr>
            </a:pPr>
            <a:r>
              <a:rPr/>
              <a:t># FE через Polars expressions (без for-циклов)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200">
                <a:solidFill>
                  <a:srgbClr val="E0E0FF"/>
                </a:solidFill>
                <a:latin typeface="Consolas"/>
              </a:defRPr>
            </a:pPr>
            <a:r>
              <a:rPr/>
              <a:t>df = df.with_columns([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200">
                <a:solidFill>
                  <a:srgbClr val="E0E0FF"/>
                </a:solidFill>
                <a:latin typeface="Consolas"/>
              </a:defRPr>
            </a:pPr>
            <a:r>
              <a:rPr/>
              <a:t>    pl.col('name').str.lengths().alias('name_len'),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200">
                <a:solidFill>
                  <a:srgbClr val="E0E0FF"/>
                </a:solidFill>
                <a:latin typeface="Consolas"/>
              </a:defRPr>
            </a:pPr>
            <a:r>
              <a:rPr/>
              <a:t>    pl.col('category_name').str.split('/').list.get(0).alias('cat_1'),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200">
                <a:solidFill>
                  <a:srgbClr val="E0E0FF"/>
                </a:solidFill>
                <a:latin typeface="Consolas"/>
              </a:defRPr>
            </a:pPr>
            <a:r>
              <a:rPr/>
              <a:t>    pl.when(pl.col('brand_name').is_not_null()).then(1).otherwise(0).alias('has_brand'),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200">
                <a:solidFill>
                  <a:srgbClr val="E0E0FF"/>
                </a:solidFill>
                <a:latin typeface="Consolas"/>
              </a:defRPr>
            </a:pPr>
            <a:r>
              <a:rPr/>
              <a:t>    (pl.col('price') / pl.col('shipping')).alias('price_per_ship'),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200">
                <a:solidFill>
                  <a:srgbClr val="E0E0FF"/>
                </a:solidFill>
                <a:latin typeface="Consolas"/>
              </a:defRPr>
            </a:pPr>
            <a:r>
              <a:rPr/>
              <a:t>])</a:t>
            </a:r>
            <a:endParaRPr/>
          </a:p>
        </p:txBody>
      </p:sp>
      <p:sp>
        <p:nvSpPr>
          <p:cNvPr id="35" name="TextBox 34"/>
          <p:cNvSpPr txBox="1"/>
          <p:nvPr/>
        </p:nvSpPr>
        <p:spPr bwMode="auto">
          <a:xfrm>
            <a:off x="1152144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0B0C0"/>
                </a:solidFill>
                <a:latin typeface="Calibri"/>
              </a:defRPr>
            </a:pPr>
            <a:r>
              <a:rPr/>
              <a:t>11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1A1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0" y="0"/>
            <a:ext cx="109728" cy="6858000"/>
          </a:xfrm>
          <a:prstGeom prst="rect">
            <a:avLst/>
          </a:prstGeom>
          <a:solidFill>
            <a:srgbClr val="BB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 bwMode="auto">
          <a:xfrm>
            <a:off x="457200" y="365760"/>
            <a:ext cx="10973160" cy="488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rPr/>
              <a:t>Регрессионные модели </a:t>
            </a:r>
            <a:endParaRPr/>
          </a:p>
        </p:txBody>
      </p:sp>
      <p:sp>
        <p:nvSpPr>
          <p:cNvPr id="4" name="TextBox 3"/>
          <p:cNvSpPr txBox="1"/>
          <p:nvPr/>
        </p:nvSpPr>
        <p:spPr bwMode="auto"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FF88"/>
                </a:solidFill>
                <a:latin typeface="Calibri"/>
              </a:defRPr>
            </a:pPr>
            <a:r>
              <a:rPr/>
              <a:t>Уровень 3 (5 моделей):</a:t>
            </a:r>
            <a:endParaRPr/>
          </a:p>
        </p:txBody>
      </p:sp>
      <p:sp>
        <p:nvSpPr>
          <p:cNvPr id="5" name="Rectangle 4"/>
          <p:cNvSpPr/>
          <p:nvPr/>
        </p:nvSpPr>
        <p:spPr bwMode="auto">
          <a:xfrm>
            <a:off x="457200" y="1280160"/>
            <a:ext cx="2103120" cy="365760"/>
          </a:xfrm>
          <a:prstGeom prst="rect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TextBox 5"/>
          <p:cNvSpPr txBox="1"/>
          <p:nvPr/>
        </p:nvSpPr>
        <p:spPr bwMode="auto">
          <a:xfrm>
            <a:off x="457200" y="12984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FF88"/>
                </a:solidFill>
                <a:latin typeface="Calibri"/>
              </a:defRPr>
            </a:pPr>
            <a:r>
              <a:rPr/>
              <a:t>Linear</a:t>
            </a:r>
            <a:endParaRPr/>
          </a:p>
        </p:txBody>
      </p:sp>
      <p:sp>
        <p:nvSpPr>
          <p:cNvPr id="7" name="Rectangle 6"/>
          <p:cNvSpPr/>
          <p:nvPr/>
        </p:nvSpPr>
        <p:spPr bwMode="auto">
          <a:xfrm>
            <a:off x="2743200" y="1280160"/>
            <a:ext cx="2103120" cy="365760"/>
          </a:xfrm>
          <a:prstGeom prst="rect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TextBox 7"/>
          <p:cNvSpPr txBox="1"/>
          <p:nvPr/>
        </p:nvSpPr>
        <p:spPr bwMode="auto">
          <a:xfrm>
            <a:off x="2743200" y="12984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FF88"/>
                </a:solidFill>
                <a:latin typeface="Calibri"/>
              </a:defRPr>
            </a:pPr>
            <a:r>
              <a:rPr/>
              <a:t>Ridge</a:t>
            </a:r>
            <a:endParaRPr/>
          </a:p>
        </p:txBody>
      </p:sp>
      <p:sp>
        <p:nvSpPr>
          <p:cNvPr id="9" name="Rectangle 8"/>
          <p:cNvSpPr/>
          <p:nvPr/>
        </p:nvSpPr>
        <p:spPr bwMode="auto">
          <a:xfrm>
            <a:off x="5029200" y="1280160"/>
            <a:ext cx="2103120" cy="365760"/>
          </a:xfrm>
          <a:prstGeom prst="rect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TextBox 9"/>
          <p:cNvSpPr txBox="1"/>
          <p:nvPr/>
        </p:nvSpPr>
        <p:spPr bwMode="auto">
          <a:xfrm>
            <a:off x="5029200" y="12984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FF88"/>
                </a:solidFill>
                <a:latin typeface="Calibri"/>
              </a:defRPr>
            </a:pPr>
            <a:r>
              <a:rPr/>
              <a:t>Lasso</a:t>
            </a:r>
            <a:endParaRPr/>
          </a:p>
        </p:txBody>
      </p:sp>
      <p:sp>
        <p:nvSpPr>
          <p:cNvPr id="11" name="Rectangle 10"/>
          <p:cNvSpPr/>
          <p:nvPr/>
        </p:nvSpPr>
        <p:spPr bwMode="auto">
          <a:xfrm>
            <a:off x="7315200" y="1280160"/>
            <a:ext cx="2103120" cy="365760"/>
          </a:xfrm>
          <a:prstGeom prst="rect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TextBox 11"/>
          <p:cNvSpPr txBox="1"/>
          <p:nvPr/>
        </p:nvSpPr>
        <p:spPr bwMode="auto">
          <a:xfrm>
            <a:off x="7315200" y="12984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FF88"/>
                </a:solidFill>
                <a:latin typeface="Calibri"/>
              </a:defRPr>
            </a:pPr>
            <a:r>
              <a:rPr/>
              <a:t>Random Forest</a:t>
            </a:r>
            <a:endParaRPr/>
          </a:p>
        </p:txBody>
      </p:sp>
      <p:sp>
        <p:nvSpPr>
          <p:cNvPr id="13" name="Rectangle 12"/>
          <p:cNvSpPr/>
          <p:nvPr/>
        </p:nvSpPr>
        <p:spPr bwMode="auto">
          <a:xfrm>
            <a:off x="9601200" y="1280160"/>
            <a:ext cx="2103120" cy="365760"/>
          </a:xfrm>
          <a:prstGeom prst="rect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TextBox 13"/>
          <p:cNvSpPr txBox="1"/>
          <p:nvPr/>
        </p:nvSpPr>
        <p:spPr bwMode="auto">
          <a:xfrm>
            <a:off x="9601200" y="12984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FF88"/>
                </a:solidFill>
                <a:latin typeface="Calibri"/>
              </a:defRPr>
            </a:pPr>
            <a:r>
              <a:rPr/>
              <a:t>Gradient Boosting</a:t>
            </a:r>
            <a:endParaRPr/>
          </a:p>
        </p:txBody>
      </p:sp>
      <p:sp>
        <p:nvSpPr>
          <p:cNvPr id="15" name="TextBox 14"/>
          <p:cNvSpPr txBox="1"/>
          <p:nvPr/>
        </p:nvSpPr>
        <p:spPr bwMode="auto">
          <a:xfrm>
            <a:off x="457200" y="1920240"/>
            <a:ext cx="10973160" cy="32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A000"/>
                </a:solidFill>
                <a:latin typeface="Calibri"/>
              </a:defRPr>
            </a:pPr>
            <a:r>
              <a:rPr/>
              <a:t>Уровень 4 (3):</a:t>
            </a:r>
            <a:endParaRPr/>
          </a:p>
        </p:txBody>
      </p:sp>
      <p:sp>
        <p:nvSpPr>
          <p:cNvPr id="16" name="Rectangle 15"/>
          <p:cNvSpPr/>
          <p:nvPr/>
        </p:nvSpPr>
        <p:spPr bwMode="auto">
          <a:xfrm>
            <a:off x="457200" y="2286000"/>
            <a:ext cx="3657600" cy="365760"/>
          </a:xfrm>
          <a:prstGeom prst="rect">
            <a:avLst/>
          </a:prstGeom>
          <a:solidFill>
            <a:srgbClr val="3A2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TextBox 16"/>
          <p:cNvSpPr txBox="1"/>
          <p:nvPr/>
        </p:nvSpPr>
        <p:spPr bwMode="auto">
          <a:xfrm>
            <a:off x="457200" y="23042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A000"/>
                </a:solidFill>
                <a:latin typeface="Calibri"/>
              </a:defRPr>
            </a:pPr>
            <a:r>
              <a:rPr/>
              <a:t>ElasticNet</a:t>
            </a:r>
            <a:endParaRPr/>
          </a:p>
        </p:txBody>
      </p:sp>
      <p:sp>
        <p:nvSpPr>
          <p:cNvPr id="18" name="Rectangle 17"/>
          <p:cNvSpPr/>
          <p:nvPr/>
        </p:nvSpPr>
        <p:spPr bwMode="auto">
          <a:xfrm>
            <a:off x="4297680" y="2286000"/>
            <a:ext cx="3657600" cy="365760"/>
          </a:xfrm>
          <a:prstGeom prst="rect">
            <a:avLst/>
          </a:prstGeom>
          <a:solidFill>
            <a:srgbClr val="3A2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TextBox 18"/>
          <p:cNvSpPr txBox="1"/>
          <p:nvPr/>
        </p:nvSpPr>
        <p:spPr bwMode="auto">
          <a:xfrm>
            <a:off x="4297680" y="23042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A000"/>
                </a:solidFill>
                <a:latin typeface="Calibri"/>
              </a:defRPr>
            </a:pPr>
            <a:r>
              <a:rPr/>
              <a:t>SVR</a:t>
            </a:r>
            <a:endParaRPr/>
          </a:p>
        </p:txBody>
      </p:sp>
      <p:sp>
        <p:nvSpPr>
          <p:cNvPr id="20" name="Rectangle 19"/>
          <p:cNvSpPr/>
          <p:nvPr/>
        </p:nvSpPr>
        <p:spPr bwMode="auto">
          <a:xfrm>
            <a:off x="8138160" y="2286000"/>
            <a:ext cx="3657600" cy="365760"/>
          </a:xfrm>
          <a:prstGeom prst="rect">
            <a:avLst/>
          </a:prstGeom>
          <a:solidFill>
            <a:srgbClr val="3A2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TextBox 20"/>
          <p:cNvSpPr txBox="1"/>
          <p:nvPr/>
        </p:nvSpPr>
        <p:spPr bwMode="auto">
          <a:xfrm>
            <a:off x="8138160" y="23042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A000"/>
                </a:solidFill>
                <a:latin typeface="Calibri"/>
              </a:defRPr>
            </a:pPr>
            <a:r>
              <a:rPr/>
              <a:t>XGBoost/LightGBM/CatBoost</a:t>
            </a:r>
            <a:endParaRPr/>
          </a:p>
        </p:txBody>
      </p:sp>
      <p:sp>
        <p:nvSpPr>
          <p:cNvPr id="22" name="TextBox 21"/>
          <p:cNvSpPr txBox="1"/>
          <p:nvPr/>
        </p:nvSpPr>
        <p:spPr bwMode="auto">
          <a:xfrm>
            <a:off x="457200" y="2926080"/>
            <a:ext cx="10973160" cy="32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5555"/>
                </a:solidFill>
                <a:latin typeface="Calibri"/>
              </a:defRPr>
            </a:pPr>
            <a:r>
              <a:rPr/>
              <a:t>Уровень 5 (6):</a:t>
            </a:r>
            <a:endParaRPr/>
          </a:p>
        </p:txBody>
      </p:sp>
      <p:sp>
        <p:nvSpPr>
          <p:cNvPr id="23" name="Rectangle 22"/>
          <p:cNvSpPr/>
          <p:nvPr/>
        </p:nvSpPr>
        <p:spPr bwMode="auto">
          <a:xfrm>
            <a:off x="457200" y="3291840"/>
            <a:ext cx="3657600" cy="365760"/>
          </a:xfrm>
          <a:prstGeom prst="rect">
            <a:avLst/>
          </a:prstGeom>
          <a:solidFill>
            <a:srgbClr val="3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TextBox 23"/>
          <p:cNvSpPr txBox="1"/>
          <p:nvPr/>
        </p:nvSpPr>
        <p:spPr bwMode="auto">
          <a:xfrm>
            <a:off x="457200" y="3310127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5555"/>
                </a:solidFill>
                <a:latin typeface="Calibri"/>
              </a:defRPr>
            </a:pPr>
            <a:r>
              <a:rPr/>
              <a:t>Quantile Reg.</a:t>
            </a:r>
            <a:endParaRPr/>
          </a:p>
        </p:txBody>
      </p:sp>
      <p:sp>
        <p:nvSpPr>
          <p:cNvPr id="25" name="Rectangle 24"/>
          <p:cNvSpPr/>
          <p:nvPr/>
        </p:nvSpPr>
        <p:spPr bwMode="auto">
          <a:xfrm>
            <a:off x="4297680" y="3291840"/>
            <a:ext cx="3657600" cy="365760"/>
          </a:xfrm>
          <a:prstGeom prst="rect">
            <a:avLst/>
          </a:prstGeom>
          <a:solidFill>
            <a:srgbClr val="3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TextBox 25"/>
          <p:cNvSpPr txBox="1"/>
          <p:nvPr/>
        </p:nvSpPr>
        <p:spPr bwMode="auto">
          <a:xfrm>
            <a:off x="4297680" y="3310127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5555"/>
                </a:solidFill>
                <a:latin typeface="Calibri"/>
              </a:defRPr>
            </a:pPr>
            <a:r>
              <a:rPr/>
              <a:t>RANSAC</a:t>
            </a:r>
            <a:endParaRPr/>
          </a:p>
        </p:txBody>
      </p:sp>
      <p:sp>
        <p:nvSpPr>
          <p:cNvPr id="27" name="Rectangle 26"/>
          <p:cNvSpPr/>
          <p:nvPr/>
        </p:nvSpPr>
        <p:spPr bwMode="auto">
          <a:xfrm>
            <a:off x="8138160" y="3291840"/>
            <a:ext cx="3657600" cy="365760"/>
          </a:xfrm>
          <a:prstGeom prst="rect">
            <a:avLst/>
          </a:prstGeom>
          <a:solidFill>
            <a:srgbClr val="3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TextBox 27"/>
          <p:cNvSpPr txBox="1"/>
          <p:nvPr/>
        </p:nvSpPr>
        <p:spPr bwMode="auto">
          <a:xfrm>
            <a:off x="8138160" y="3310127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5555"/>
                </a:solidFill>
                <a:latin typeface="Calibri"/>
              </a:defRPr>
            </a:pPr>
            <a:r>
              <a:rPr/>
              <a:t>PyTorch NN</a:t>
            </a:r>
            <a:endParaRPr/>
          </a:p>
        </p:txBody>
      </p:sp>
      <p:sp>
        <p:nvSpPr>
          <p:cNvPr id="29" name="Rectangle 28"/>
          <p:cNvSpPr/>
          <p:nvPr/>
        </p:nvSpPr>
        <p:spPr bwMode="auto">
          <a:xfrm>
            <a:off x="457200" y="3749039"/>
            <a:ext cx="3657600" cy="365760"/>
          </a:xfrm>
          <a:prstGeom prst="rect">
            <a:avLst/>
          </a:prstGeom>
          <a:solidFill>
            <a:srgbClr val="3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TextBox 29"/>
          <p:cNvSpPr txBox="1"/>
          <p:nvPr/>
        </p:nvSpPr>
        <p:spPr bwMode="auto">
          <a:xfrm>
            <a:off x="457200" y="3767327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5555"/>
                </a:solidFill>
                <a:latin typeface="Calibri"/>
              </a:defRPr>
            </a:pPr>
            <a:r>
              <a:rPr/>
              <a:t>Stacking</a:t>
            </a:r>
            <a:endParaRPr/>
          </a:p>
        </p:txBody>
      </p:sp>
      <p:sp>
        <p:nvSpPr>
          <p:cNvPr id="31" name="Rectangle 30"/>
          <p:cNvSpPr/>
          <p:nvPr/>
        </p:nvSpPr>
        <p:spPr bwMode="auto">
          <a:xfrm>
            <a:off x="4297680" y="3749039"/>
            <a:ext cx="3657600" cy="365760"/>
          </a:xfrm>
          <a:prstGeom prst="rect">
            <a:avLst/>
          </a:prstGeom>
          <a:solidFill>
            <a:srgbClr val="3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TextBox 31"/>
          <p:cNvSpPr txBox="1"/>
          <p:nvPr/>
        </p:nvSpPr>
        <p:spPr bwMode="auto">
          <a:xfrm>
            <a:off x="4297680" y="3767327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5555"/>
                </a:solidFill>
                <a:latin typeface="Calibri"/>
              </a:defRPr>
            </a:pPr>
            <a:r>
              <a:rPr/>
              <a:t>CatBoost</a:t>
            </a:r>
            <a:endParaRPr/>
          </a:p>
        </p:txBody>
      </p:sp>
      <p:sp>
        <p:nvSpPr>
          <p:cNvPr id="33" name="Rectangle 32"/>
          <p:cNvSpPr/>
          <p:nvPr/>
        </p:nvSpPr>
        <p:spPr bwMode="auto">
          <a:xfrm>
            <a:off x="8138160" y="3749039"/>
            <a:ext cx="3657600" cy="365760"/>
          </a:xfrm>
          <a:prstGeom prst="rect">
            <a:avLst/>
          </a:prstGeom>
          <a:solidFill>
            <a:srgbClr val="3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TextBox 33"/>
          <p:cNvSpPr txBox="1"/>
          <p:nvPr/>
        </p:nvSpPr>
        <p:spPr bwMode="auto">
          <a:xfrm>
            <a:off x="8138160" y="3767327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5555"/>
                </a:solidFill>
                <a:latin typeface="Calibri"/>
              </a:defRPr>
            </a:pPr>
            <a:r>
              <a:rPr/>
              <a:t>LightGBM</a:t>
            </a:r>
            <a:endParaRPr/>
          </a:p>
        </p:txBody>
      </p:sp>
      <p:sp>
        <p:nvSpPr>
          <p:cNvPr id="35" name="TextBox 34"/>
          <p:cNvSpPr txBox="1"/>
          <p:nvPr/>
        </p:nvSpPr>
        <p:spPr bwMode="auto">
          <a:xfrm>
            <a:off x="457200" y="4297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/>
              <a:t>5 условий Гаусса-Маркова (OLS):</a:t>
            </a:r>
            <a:endParaRPr/>
          </a:p>
        </p:txBody>
      </p:sp>
      <p:sp>
        <p:nvSpPr>
          <p:cNvPr id="36" name="TextBox 35"/>
          <p:cNvSpPr txBox="1"/>
          <p:nvPr/>
        </p:nvSpPr>
        <p:spPr bwMode="auto">
          <a:xfrm>
            <a:off x="457200" y="46634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9FF"/>
                </a:solidFill>
                <a:latin typeface="Calibri"/>
              </a:defRPr>
            </a:pPr>
            <a:r>
              <a:rPr/>
              <a:t>1. Линейность связи</a:t>
            </a:r>
            <a:endParaRPr/>
          </a:p>
        </p:txBody>
      </p:sp>
      <p:sp>
        <p:nvSpPr>
          <p:cNvPr id="37" name="TextBox 36"/>
          <p:cNvSpPr txBox="1"/>
          <p:nvPr/>
        </p:nvSpPr>
        <p:spPr bwMode="auto">
          <a:xfrm>
            <a:off x="457200" y="4937759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9FF"/>
                </a:solidFill>
                <a:latin typeface="Calibri"/>
              </a:defRPr>
            </a:pPr>
            <a:r>
              <a:rPr/>
              <a:t>2. Независимость остатков</a:t>
            </a:r>
            <a:endParaRPr/>
          </a:p>
        </p:txBody>
      </p:sp>
      <p:sp>
        <p:nvSpPr>
          <p:cNvPr id="38" name="TextBox 37"/>
          <p:cNvSpPr txBox="1"/>
          <p:nvPr/>
        </p:nvSpPr>
        <p:spPr bwMode="auto">
          <a:xfrm>
            <a:off x="457200" y="5212079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9FF"/>
                </a:solidFill>
                <a:latin typeface="Calibri"/>
              </a:defRPr>
            </a:pPr>
            <a:r>
              <a:rPr/>
              <a:t>3. Гомоскедастичность</a:t>
            </a:r>
            <a:endParaRPr/>
          </a:p>
        </p:txBody>
      </p:sp>
      <p:sp>
        <p:nvSpPr>
          <p:cNvPr id="39" name="TextBox 38"/>
          <p:cNvSpPr txBox="1"/>
          <p:nvPr/>
        </p:nvSpPr>
        <p:spPr bwMode="auto">
          <a:xfrm>
            <a:off x="457200" y="548640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9FF"/>
                </a:solidFill>
                <a:latin typeface="Calibri"/>
              </a:defRPr>
            </a:pPr>
            <a:r>
              <a:rPr/>
              <a:t>4. Нормальность остатков</a:t>
            </a:r>
            <a:endParaRPr/>
          </a:p>
        </p:txBody>
      </p:sp>
      <p:sp>
        <p:nvSpPr>
          <p:cNvPr id="40" name="TextBox 39"/>
          <p:cNvSpPr txBox="1"/>
          <p:nvPr/>
        </p:nvSpPr>
        <p:spPr bwMode="auto">
          <a:xfrm>
            <a:off x="457200" y="576072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9FF"/>
                </a:solidFill>
                <a:latin typeface="Calibri"/>
              </a:defRPr>
            </a:pPr>
            <a:r>
              <a:rPr/>
              <a:t>5. Нет мультиколлинеарности</a:t>
            </a:r>
            <a:endParaRPr/>
          </a:p>
        </p:txBody>
      </p:sp>
      <p:sp>
        <p:nvSpPr>
          <p:cNvPr id="41" name="TextBox 40"/>
          <p:cNvSpPr txBox="1"/>
          <p:nvPr/>
        </p:nvSpPr>
        <p:spPr bwMode="auto">
          <a:xfrm>
            <a:off x="6217920" y="4297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/>
              <a:t>Stacking (уровень 5):</a:t>
            </a:r>
            <a:endParaRPr/>
          </a:p>
        </p:txBody>
      </p:sp>
      <p:sp>
        <p:nvSpPr>
          <p:cNvPr id="42" name="Rectangle 41"/>
          <p:cNvSpPr/>
          <p:nvPr/>
        </p:nvSpPr>
        <p:spPr bwMode="auto">
          <a:xfrm>
            <a:off x="6217920" y="4663440"/>
            <a:ext cx="5486400" cy="164592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" name="TextBox 42"/>
          <p:cNvSpPr txBox="1"/>
          <p:nvPr/>
        </p:nvSpPr>
        <p:spPr bwMode="auto">
          <a:xfrm>
            <a:off x="6291072" y="4700016"/>
            <a:ext cx="5340096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from sklearn.ensemble import StackingRegressor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stack = StackingRegressor(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  estimators=[('xgb',xgb),('lgb',lgb),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              ('rf',rf),('gbm',gbm)],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  final_estimator=Ridge())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stack.fit(X_train, y_train)</a:t>
            </a:r>
            <a:endParaRPr/>
          </a:p>
        </p:txBody>
      </p:sp>
      <p:sp>
        <p:nvSpPr>
          <p:cNvPr id="44" name="TextBox 43"/>
          <p:cNvSpPr txBox="1"/>
          <p:nvPr/>
        </p:nvSpPr>
        <p:spPr bwMode="auto">
          <a:xfrm>
            <a:off x="1152144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0B0C0"/>
                </a:solidFill>
                <a:latin typeface="Calibri"/>
              </a:defRPr>
            </a:pPr>
            <a:r>
              <a:rPr/>
              <a:t>12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1A1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0" y="0"/>
            <a:ext cx="109728" cy="6858000"/>
          </a:xfrm>
          <a:prstGeom prst="rect">
            <a:avLst/>
          </a:prstGeom>
          <a:solidFill>
            <a:srgbClr val="BB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 bwMode="auto"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rPr/>
              <a:t>Метрики качества регрессии</a:t>
            </a:r>
            <a:endParaRPr/>
          </a:p>
        </p:txBody>
      </p:sp>
      <p:graphicFrame>
        <p:nvGraphicFramePr>
          <p:cNvPr id="4" name="Table 3"/>
          <p:cNvGraphicFramePr>
            <a:graphicFrameLocks xmlns:a="http://schemas.openxmlformats.org/drawingml/2006/main" noGrp="1"/>
          </p:cNvGraphicFramePr>
          <p:nvPr/>
        </p:nvGraphicFramePr>
        <p:xfrm>
          <a:off x="457200" y="914400"/>
          <a:ext cx="11247120" cy="2048256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1371600"/>
                <a:gridCol w="3657600"/>
                <a:gridCol w="1371600"/>
                <a:gridCol w="4846320"/>
              </a:tblGrid>
              <a:tr h="292608">
                <a:tc>
                  <a:txBody>
                    <a:bodyPr/>
                    <a:p>
                      <a:pPr>
                        <a:defRPr sz="1200" b="1">
                          <a:solidFill>
                            <a:srgbClr val="00D9FF"/>
                          </a:solidFill>
                          <a:latin typeface="Calibri"/>
                        </a:defRPr>
                      </a:pPr>
                      <a:r>
                        <a:rPr/>
                        <a:t>Метрика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200" b="1">
                          <a:solidFill>
                            <a:srgbClr val="00D9FF"/>
                          </a:solidFill>
                          <a:latin typeface="Calibri"/>
                        </a:defRPr>
                      </a:pPr>
                      <a:r>
                        <a:rPr/>
                        <a:t>Формула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200" b="1">
                          <a:solidFill>
                            <a:srgbClr val="00D9FF"/>
                          </a:solidFill>
                          <a:latin typeface="Calibri"/>
                        </a:defRPr>
                      </a:pPr>
                      <a:r>
                        <a:rPr/>
                        <a:t>Выбросы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200" b="1">
                          <a:solidFill>
                            <a:srgbClr val="00D9FF"/>
                          </a:solidFill>
                          <a:latin typeface="Calibri"/>
                        </a:defRPr>
                      </a:pPr>
                      <a:r>
                        <a:rPr/>
                        <a:t>Интерпретация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MSE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mean((y - y_hat)^2)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Высокая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Штраф за большие ошибки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RMSE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sqrt(MSE)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Высокая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В единицах целевой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MAE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mean(|y - y_hat|)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Низкая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Устойчивая, медианная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R^2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1 - SS_res/SS_tot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Средняя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Доля объясненной дисперсии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MAPE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mean(|y-y_hat|/|y|)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Средняя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Относительная ошибка (%)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RMSLE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sqrt(mean((log(y+1)-log(yh+1))^2))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Низкая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Для скошенных данных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 bwMode="auto">
          <a:xfrm>
            <a:off x="457200" y="3200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rPr/>
              <a:t>6 типов кросс-валидации:</a:t>
            </a:r>
            <a:endParaRPr/>
          </a:p>
        </p:txBody>
      </p:sp>
      <p:sp>
        <p:nvSpPr>
          <p:cNvPr id="6" name="Rectangle 5"/>
          <p:cNvSpPr/>
          <p:nvPr/>
        </p:nvSpPr>
        <p:spPr bwMode="auto">
          <a:xfrm>
            <a:off x="457200" y="3566160"/>
            <a:ext cx="3657600" cy="347472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TextBox 6"/>
          <p:cNvSpPr txBox="1"/>
          <p:nvPr/>
        </p:nvSpPr>
        <p:spPr bwMode="auto">
          <a:xfrm>
            <a:off x="457200" y="3584448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9FF"/>
                </a:solidFill>
                <a:latin typeface="Calibri"/>
              </a:defRPr>
            </a:pPr>
            <a:r>
              <a:rPr/>
              <a:t>K-Fold</a:t>
            </a:r>
            <a:endParaRPr/>
          </a:p>
        </p:txBody>
      </p:sp>
      <p:sp>
        <p:nvSpPr>
          <p:cNvPr id="8" name="Rectangle 7"/>
          <p:cNvSpPr/>
          <p:nvPr/>
        </p:nvSpPr>
        <p:spPr bwMode="auto">
          <a:xfrm>
            <a:off x="4297680" y="3566160"/>
            <a:ext cx="3657600" cy="347472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TextBox 8"/>
          <p:cNvSpPr txBox="1"/>
          <p:nvPr/>
        </p:nvSpPr>
        <p:spPr bwMode="auto">
          <a:xfrm>
            <a:off x="4297680" y="3584448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9FF"/>
                </a:solidFill>
                <a:latin typeface="Calibri"/>
              </a:defRPr>
            </a:pPr>
            <a:r>
              <a:rPr/>
              <a:t>Stratified K-Fold</a:t>
            </a:r>
            <a:endParaRPr/>
          </a:p>
        </p:txBody>
      </p:sp>
      <p:sp>
        <p:nvSpPr>
          <p:cNvPr id="10" name="Rectangle 9"/>
          <p:cNvSpPr/>
          <p:nvPr/>
        </p:nvSpPr>
        <p:spPr bwMode="auto">
          <a:xfrm>
            <a:off x="8138160" y="3566160"/>
            <a:ext cx="3657600" cy="347472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TextBox 10"/>
          <p:cNvSpPr txBox="1"/>
          <p:nvPr/>
        </p:nvSpPr>
        <p:spPr bwMode="auto">
          <a:xfrm>
            <a:off x="8138160" y="3584448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9FF"/>
                </a:solidFill>
                <a:latin typeface="Calibri"/>
              </a:defRPr>
            </a:pPr>
            <a:r>
              <a:rPr/>
              <a:t>TimeSeriesSplit</a:t>
            </a:r>
            <a:endParaRPr/>
          </a:p>
        </p:txBody>
      </p:sp>
      <p:sp>
        <p:nvSpPr>
          <p:cNvPr id="12" name="Rectangle 11"/>
          <p:cNvSpPr/>
          <p:nvPr/>
        </p:nvSpPr>
        <p:spPr bwMode="auto">
          <a:xfrm>
            <a:off x="457200" y="3977639"/>
            <a:ext cx="3657600" cy="347472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TextBox 12"/>
          <p:cNvSpPr txBox="1"/>
          <p:nvPr/>
        </p:nvSpPr>
        <p:spPr bwMode="auto">
          <a:xfrm>
            <a:off x="457200" y="3995927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9FF"/>
                </a:solidFill>
                <a:latin typeface="Calibri"/>
              </a:defRPr>
            </a:pPr>
            <a:r>
              <a:rPr/>
              <a:t>Group K-Fold</a:t>
            </a:r>
            <a:endParaRPr/>
          </a:p>
        </p:txBody>
      </p:sp>
      <p:sp>
        <p:nvSpPr>
          <p:cNvPr id="14" name="Rectangle 13"/>
          <p:cNvSpPr/>
          <p:nvPr/>
        </p:nvSpPr>
        <p:spPr bwMode="auto">
          <a:xfrm>
            <a:off x="4297680" y="3977639"/>
            <a:ext cx="3657600" cy="347472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TextBox 14"/>
          <p:cNvSpPr txBox="1"/>
          <p:nvPr/>
        </p:nvSpPr>
        <p:spPr bwMode="auto">
          <a:xfrm>
            <a:off x="4297680" y="3995927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9FF"/>
                </a:solidFill>
                <a:latin typeface="Calibri"/>
              </a:defRPr>
            </a:pPr>
            <a:r>
              <a:rPr/>
              <a:t>Repeated K-Fold</a:t>
            </a:r>
            <a:endParaRPr/>
          </a:p>
        </p:txBody>
      </p:sp>
      <p:sp>
        <p:nvSpPr>
          <p:cNvPr id="16" name="Rectangle 15"/>
          <p:cNvSpPr/>
          <p:nvPr/>
        </p:nvSpPr>
        <p:spPr bwMode="auto">
          <a:xfrm>
            <a:off x="8138160" y="3977639"/>
            <a:ext cx="3657600" cy="347472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TextBox 16"/>
          <p:cNvSpPr txBox="1"/>
          <p:nvPr/>
        </p:nvSpPr>
        <p:spPr bwMode="auto">
          <a:xfrm>
            <a:off x="8138160" y="3995927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9FF"/>
                </a:solidFill>
                <a:latin typeface="Calibri"/>
              </a:defRPr>
            </a:pPr>
            <a:r>
              <a:rPr/>
              <a:t>Shuffle Split</a:t>
            </a:r>
            <a:endParaRPr/>
          </a:p>
        </p:txBody>
      </p:sp>
      <p:sp>
        <p:nvSpPr>
          <p:cNvPr id="18" name="TextBox 17"/>
          <p:cNvSpPr txBox="1"/>
          <p:nvPr/>
        </p:nvSpPr>
        <p:spPr bwMode="auto">
          <a:xfrm>
            <a:off x="457200" y="4572000"/>
            <a:ext cx="10976399" cy="289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A000"/>
                </a:solidFill>
                <a:latin typeface="Calibri"/>
              </a:defRPr>
            </a:pPr>
            <a:r>
              <a:rPr/>
              <a:t>Статистические тесты: Shapiro-Wilk, Breusch-Pagan, Durbin-Watson</a:t>
            </a:r>
            <a:endParaRPr/>
          </a:p>
        </p:txBody>
      </p:sp>
      <p:sp>
        <p:nvSpPr>
          <p:cNvPr id="19" name="TextBox 18"/>
          <p:cNvSpPr txBox="1"/>
          <p:nvPr/>
        </p:nvSpPr>
        <p:spPr bwMode="auto">
          <a:xfrm>
            <a:off x="1152144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0B0C0"/>
                </a:solidFill>
                <a:latin typeface="Calibri"/>
              </a:defRPr>
            </a:pPr>
            <a:r>
              <a:rPr/>
              <a:t>13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1A1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0" y="0"/>
            <a:ext cx="109728" cy="6858000"/>
          </a:xfrm>
          <a:prstGeom prst="rect">
            <a:avLst/>
          </a:prstGeom>
          <a:solidFill>
            <a:srgbClr val="BB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 bwMode="auto"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rPr/>
              <a:t>Сравнение моделей: что выбрать?</a:t>
            </a:r>
            <a:endParaRPr/>
          </a:p>
        </p:txBody>
      </p:sp>
      <p:graphicFrame>
        <p:nvGraphicFramePr>
          <p:cNvPr id="4" name="Table 3"/>
          <p:cNvGraphicFramePr>
            <a:graphicFrameLocks xmlns:a="http://schemas.openxmlformats.org/drawingml/2006/main" noGrp="1"/>
          </p:cNvGraphicFramePr>
          <p:nvPr/>
        </p:nvGraphicFramePr>
        <p:xfrm>
          <a:off x="457200" y="914400"/>
          <a:ext cx="11247120" cy="292608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2286000"/>
                <a:gridCol w="1828800"/>
                <a:gridCol w="1645920"/>
                <a:gridCol w="1371600"/>
                <a:gridCol w="4114800"/>
              </a:tblGrid>
              <a:tr h="292608">
                <a:tc>
                  <a:txBody>
                    <a:bodyPr/>
                    <a:p>
                      <a:pPr>
                        <a:defRPr sz="1100" b="1">
                          <a:solidFill>
                            <a:srgbClr val="00D9FF"/>
                          </a:solidFill>
                          <a:latin typeface="Calibri"/>
                        </a:defRPr>
                      </a:pPr>
                      <a:r>
                        <a:rPr/>
                        <a:t>Модель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 b="1">
                          <a:solidFill>
                            <a:srgbClr val="00D9FF"/>
                          </a:solidFill>
                          <a:latin typeface="Calibri"/>
                        </a:defRPr>
                      </a:pPr>
                      <a:r>
                        <a:rPr/>
                        <a:t>Линейность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 b="1">
                          <a:solidFill>
                            <a:srgbClr val="00D9FF"/>
                          </a:solidFill>
                          <a:latin typeface="Calibri"/>
                        </a:defRPr>
                      </a:pPr>
                      <a:r>
                        <a:rPr/>
                        <a:t>Скорость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 b="1">
                          <a:solidFill>
                            <a:srgbClr val="00D9FF"/>
                          </a:solidFill>
                          <a:latin typeface="Calibri"/>
                        </a:defRPr>
                      </a:pPr>
                      <a:r>
                        <a:rPr/>
                        <a:t>Интерпрет.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 b="1">
                          <a:solidFill>
                            <a:srgbClr val="00D9FF"/>
                          </a:solidFill>
                          <a:latin typeface="Calibri"/>
                        </a:defRPr>
                      </a:pPr>
                      <a:r>
                        <a:rPr/>
                        <a:t>Когда применять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Linear/Ridge/Lasso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Линейная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Очень быстро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Высокая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Базовая, отбор признаков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ElasticNet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Линейная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Быстро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Высокая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L1+L2 баланс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SVR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Нелинейная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Медленно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Средняя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Малые данные, нелин.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Random Forest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Нелинейная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Средне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Средняя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Устойчивость, табличные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XGBoost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Нелинейная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Быстро (GPU)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SHAP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Kaggle, точность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LightGBM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Нелинейная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Очень быстро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SHAP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Большие данные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CatBoost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Нелинейная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Быстро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SHAP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Категориальные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PyTorch NN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Нелинейная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Средне (GPU)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Низкая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Сложные зависимости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Stacking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Ансамбль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Медленно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Низкая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Макс. точность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 bwMode="auto">
          <a:xfrm>
            <a:off x="1152144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0B0C0"/>
                </a:solidFill>
                <a:latin typeface="Calibri"/>
              </a:defRPr>
            </a:pPr>
            <a:r>
              <a:rPr/>
              <a:t>14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1A1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0" y="0"/>
            <a:ext cx="109728" cy="6858000"/>
          </a:xfrm>
          <a:prstGeom prst="rect">
            <a:avLst/>
          </a:prstGeom>
          <a:solidFill>
            <a:srgbClr val="BB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 bwMode="auto"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rPr/>
              <a:t>Bias-Variance и Learning Curves</a:t>
            </a:r>
            <a:endParaRPr/>
          </a:p>
        </p:txBody>
      </p:sp>
      <p:sp>
        <p:nvSpPr>
          <p:cNvPr id="4" name="Rectangle 3"/>
          <p:cNvSpPr/>
          <p:nvPr/>
        </p:nvSpPr>
        <p:spPr bwMode="auto">
          <a:xfrm>
            <a:off x="457200" y="1005840"/>
            <a:ext cx="73152" cy="41148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TextBox 4"/>
          <p:cNvSpPr txBox="1"/>
          <p:nvPr/>
        </p:nvSpPr>
        <p:spPr bwMode="auto">
          <a:xfrm>
            <a:off x="640080" y="9875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A000"/>
                </a:solidFill>
                <a:latin typeface="Calibri"/>
              </a:defRPr>
            </a:pPr>
            <a:r>
              <a:rPr/>
              <a:t>High Bias (недообучение)</a:t>
            </a:r>
            <a:endParaRPr/>
          </a:p>
        </p:txBody>
      </p:sp>
      <p:sp>
        <p:nvSpPr>
          <p:cNvPr id="6" name="TextBox 5"/>
          <p:cNvSpPr txBox="1"/>
          <p:nvPr/>
        </p:nvSpPr>
        <p:spPr bwMode="auto">
          <a:xfrm>
            <a:off x="5212080" y="98755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/>
              <a:t>Train error Up, Test error Up</a:t>
            </a:r>
            <a:endParaRPr/>
          </a:p>
        </p:txBody>
      </p:sp>
      <p:sp>
        <p:nvSpPr>
          <p:cNvPr id="7" name="Rectangle 6"/>
          <p:cNvSpPr/>
          <p:nvPr/>
        </p:nvSpPr>
        <p:spPr bwMode="auto">
          <a:xfrm>
            <a:off x="457200" y="1554480"/>
            <a:ext cx="73152" cy="411480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TextBox 7"/>
          <p:cNvSpPr txBox="1"/>
          <p:nvPr/>
        </p:nvSpPr>
        <p:spPr bwMode="auto">
          <a:xfrm>
            <a:off x="640080" y="15361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5555"/>
                </a:solidFill>
                <a:latin typeface="Calibri"/>
              </a:defRPr>
            </a:pPr>
            <a:r>
              <a:rPr/>
              <a:t>High Variance (переобуч.)</a:t>
            </a:r>
            <a:endParaRPr/>
          </a:p>
        </p:txBody>
      </p:sp>
      <p:sp>
        <p:nvSpPr>
          <p:cNvPr id="9" name="TextBox 8"/>
          <p:cNvSpPr txBox="1"/>
          <p:nvPr/>
        </p:nvSpPr>
        <p:spPr bwMode="auto">
          <a:xfrm>
            <a:off x="5212080" y="153619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/>
              <a:t>Train error Down, Test error Up</a:t>
            </a:r>
            <a:endParaRPr/>
          </a:p>
        </p:txBody>
      </p:sp>
      <p:sp>
        <p:nvSpPr>
          <p:cNvPr id="10" name="Rectangle 9"/>
          <p:cNvSpPr/>
          <p:nvPr/>
        </p:nvSpPr>
        <p:spPr bwMode="auto">
          <a:xfrm>
            <a:off x="457200" y="2103120"/>
            <a:ext cx="73152" cy="41148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TextBox 10"/>
          <p:cNvSpPr txBox="1"/>
          <p:nvPr/>
        </p:nvSpPr>
        <p:spPr bwMode="auto">
          <a:xfrm>
            <a:off x="640080" y="2084831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FF88"/>
                </a:solidFill>
                <a:latin typeface="Calibri"/>
              </a:defRPr>
            </a:pPr>
            <a:r>
              <a:rPr/>
              <a:t>Оптимальный баланс</a:t>
            </a:r>
            <a:endParaRPr/>
          </a:p>
        </p:txBody>
      </p:sp>
      <p:sp>
        <p:nvSpPr>
          <p:cNvPr id="12" name="TextBox 11"/>
          <p:cNvSpPr txBox="1"/>
          <p:nvPr/>
        </p:nvSpPr>
        <p:spPr bwMode="auto">
          <a:xfrm>
            <a:off x="5212080" y="2084831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/>
              <a:t>Train ~ Test, обе низкие</a:t>
            </a:r>
            <a:endParaRPr/>
          </a:p>
        </p:txBody>
      </p:sp>
      <p:sp>
        <p:nvSpPr>
          <p:cNvPr id="13" name="TextBox 12"/>
          <p:cNvSpPr txBox="1"/>
          <p:nvPr/>
        </p:nvSpPr>
        <p:spPr bwMode="auto">
          <a:xfrm>
            <a:off x="457200" y="2926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rPr/>
              <a:t>Learning curves (уровень 4):</a:t>
            </a:r>
            <a:endParaRPr/>
          </a:p>
        </p:txBody>
      </p:sp>
      <p:sp>
        <p:nvSpPr>
          <p:cNvPr id="14" name="Rectangle 13"/>
          <p:cNvSpPr/>
          <p:nvPr/>
        </p:nvSpPr>
        <p:spPr bwMode="auto">
          <a:xfrm>
            <a:off x="457200" y="3291840"/>
            <a:ext cx="11247120" cy="256032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TextBox 14"/>
          <p:cNvSpPr txBox="1"/>
          <p:nvPr/>
        </p:nvSpPr>
        <p:spPr bwMode="auto">
          <a:xfrm>
            <a:off x="530352" y="3328416"/>
            <a:ext cx="11100816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from sklearn.model_selection import learning_curve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train_sizes, train_scores, val_scores = learning_curve(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  estimator=model, X=X_train, y=y_train,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  train_sizes=np.linspace(0.1, 1.0, 10), cv=5, scoring='r2')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plt.plot(train_sizes, train_scores.mean(axis=1), label='Train')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plt.plot(train_sizes, val_scores.mean(axis=1), label='Validation')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plt.xlabel('Training samples'); plt.ylabel('R2')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plt.legend()</a:t>
            </a:r>
            <a:endParaRPr/>
          </a:p>
        </p:txBody>
      </p:sp>
      <p:sp>
        <p:nvSpPr>
          <p:cNvPr id="16" name="TextBox 15"/>
          <p:cNvSpPr txBox="1"/>
          <p:nvPr/>
        </p:nvSpPr>
        <p:spPr bwMode="auto">
          <a:xfrm>
            <a:off x="45720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rPr/>
              <a:t>Если зазор растет — high variance. Если обе высокие — high bias.</a:t>
            </a:r>
            <a:endParaRPr/>
          </a:p>
        </p:txBody>
      </p:sp>
      <p:sp>
        <p:nvSpPr>
          <p:cNvPr id="17" name="TextBox 16"/>
          <p:cNvSpPr txBox="1"/>
          <p:nvPr/>
        </p:nvSpPr>
        <p:spPr bwMode="auto">
          <a:xfrm>
            <a:off x="1152144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0B0C0"/>
                </a:solidFill>
                <a:latin typeface="Calibri"/>
              </a:defRPr>
            </a:pPr>
            <a:r>
              <a:rPr/>
              <a:t>15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1A1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0" y="0"/>
            <a:ext cx="109728" cy="6858000"/>
          </a:xfrm>
          <a:prstGeom prst="rect">
            <a:avLst/>
          </a:prstGeom>
          <a:solidFill>
            <a:srgbClr val="BB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 bwMode="auto"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rPr/>
              <a:t>Оптимизация гиперпараметров: Optuna</a:t>
            </a:r>
            <a:endParaRPr/>
          </a:p>
        </p:txBody>
      </p:sp>
      <p:graphicFrame>
        <p:nvGraphicFramePr>
          <p:cNvPr id="4" name="Table 3"/>
          <p:cNvGraphicFramePr>
            <a:graphicFrameLocks xmlns:a="http://schemas.openxmlformats.org/drawingml/2006/main" noGrp="1"/>
          </p:cNvGraphicFramePr>
          <p:nvPr/>
        </p:nvGraphicFramePr>
        <p:xfrm>
          <a:off x="457200" y="914400"/>
          <a:ext cx="11247120" cy="1755648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2286000"/>
                <a:gridCol w="3200400"/>
                <a:gridCol w="1645920"/>
                <a:gridCol w="4114800"/>
              </a:tblGrid>
              <a:tr h="292608">
                <a:tc>
                  <a:txBody>
                    <a:bodyPr/>
                    <a:p>
                      <a:pPr>
                        <a:defRPr sz="1200" b="1">
                          <a:solidFill>
                            <a:srgbClr val="00D9FF"/>
                          </a:solidFill>
                          <a:latin typeface="Calibri"/>
                        </a:defRPr>
                      </a:pPr>
                      <a:r>
                        <a:rPr/>
                        <a:t>Метод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200" b="1">
                          <a:solidFill>
                            <a:srgbClr val="00D9FF"/>
                          </a:solidFill>
                          <a:latin typeface="Calibri"/>
                        </a:defRPr>
                      </a:pPr>
                      <a:r>
                        <a:rPr/>
                        <a:t>Стратегия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200" b="1">
                          <a:solidFill>
                            <a:srgbClr val="00D9FF"/>
                          </a:solidFill>
                          <a:latin typeface="Calibri"/>
                        </a:defRPr>
                      </a:pPr>
                      <a:r>
                        <a:rPr/>
                        <a:t>Trials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200" b="1">
                          <a:solidFill>
                            <a:srgbClr val="00D9FF"/>
                          </a:solidFill>
                          <a:latin typeface="Calibri"/>
                        </a:defRPr>
                      </a:pPr>
                      <a:r>
                        <a:rPr/>
                        <a:t>Эффективность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Grid Search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Полный перебор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O(n^k)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Низкая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Random Search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Случайные комбинации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Задается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Средняя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Bayesian (TPE)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Адаптивно по истории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50-500+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Высокая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CMA-ES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Эволюционная стратегия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100+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Высокая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Hyperband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Ранняя остановка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Адаптивно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Высокая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 bwMode="auto">
          <a:xfrm>
            <a:off x="457200" y="3200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9FF"/>
                </a:solidFill>
                <a:latin typeface="Calibri"/>
              </a:defRPr>
            </a:pPr>
            <a:r>
              <a:rPr/>
              <a:t>Optuna: TPE + MedianPruner (уровень 4-5)</a:t>
            </a:r>
            <a:endParaRPr/>
          </a:p>
        </p:txBody>
      </p:sp>
      <p:sp>
        <p:nvSpPr>
          <p:cNvPr id="6" name="Rectangle 5"/>
          <p:cNvSpPr/>
          <p:nvPr/>
        </p:nvSpPr>
        <p:spPr bwMode="auto">
          <a:xfrm>
            <a:off x="457200" y="3566160"/>
            <a:ext cx="11247120" cy="3105228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TextBox 6"/>
          <p:cNvSpPr txBox="1"/>
          <p:nvPr/>
        </p:nvSpPr>
        <p:spPr bwMode="auto">
          <a:xfrm>
            <a:off x="530352" y="3602735"/>
            <a:ext cx="11100816" cy="2670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import optuna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def objective(trial):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  params = {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      'n_estimators': trial.suggest_int('n_estimators', 100, 1000),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      'max_depth': trial.suggest_int('max_depth', 3, 12),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      'learning_rate': trial.suggest_float('lr', 1e-3, 1e-1, log=True),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  }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  model = XGBRegressor(**params)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  model.fit(X_train, y_train)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  return mean_squared_error(y_test, model.predict(X_test))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study = optuna.create_study(direction='minimize',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  sampler=optuna.samplers.TPESampler(),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  pruner=optuna.pruners.MedianPruner())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study.optimize(objective, n_trials=200)</a:t>
            </a:r>
            <a:endParaRPr/>
          </a:p>
        </p:txBody>
      </p:sp>
      <p:sp>
        <p:nvSpPr>
          <p:cNvPr id="8" name="TextBox 7"/>
          <p:cNvSpPr txBox="1"/>
          <p:nvPr/>
        </p:nvSpPr>
        <p:spPr bwMode="auto">
          <a:xfrm>
            <a:off x="1152144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0B0C0"/>
                </a:solidFill>
                <a:latin typeface="Calibri"/>
              </a:defRPr>
            </a:pPr>
            <a:r>
              <a:rPr/>
              <a:t>16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1A1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0" y="0"/>
            <a:ext cx="109728" cy="6858000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 bwMode="auto"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rPr/>
              <a:t>Explainability: SHAP, LIME, PDP</a:t>
            </a:r>
            <a:endParaRPr/>
          </a:p>
        </p:txBody>
      </p:sp>
      <p:sp>
        <p:nvSpPr>
          <p:cNvPr id="4" name="TextBox 3"/>
          <p:cNvSpPr txBox="1"/>
          <p:nvPr/>
        </p:nvSpPr>
        <p:spPr bwMode="auto">
          <a:xfrm>
            <a:off x="45720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rPr/>
              <a:t>SHAP (значения Шепли):</a:t>
            </a:r>
            <a:endParaRPr/>
          </a:p>
        </p:txBody>
      </p:sp>
      <p:sp>
        <p:nvSpPr>
          <p:cNvPr id="5" name="TextBox 4"/>
          <p:cNvSpPr txBox="1"/>
          <p:nvPr/>
        </p:nvSpPr>
        <p:spPr bwMode="auto"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9FF"/>
                </a:solidFill>
                <a:latin typeface="Calibri"/>
              </a:defRPr>
            </a:pPr>
            <a:r>
              <a:rPr/>
              <a:t>- TreeSHAP — быстрый для деревьев (O(n))</a:t>
            </a:r>
            <a:endParaRPr/>
          </a:p>
        </p:txBody>
      </p:sp>
      <p:sp>
        <p:nvSpPr>
          <p:cNvPr id="6" name="TextBox 5"/>
          <p:cNvSpPr txBox="1"/>
          <p:nvPr/>
        </p:nvSpPr>
        <p:spPr bwMode="auto">
          <a:xfrm>
            <a:off x="457200" y="15727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9FF"/>
                </a:solidFill>
                <a:latin typeface="Calibri"/>
              </a:defRPr>
            </a:pPr>
            <a:r>
              <a:rPr/>
              <a:t>- KernelSHAP — универсальный, медленный</a:t>
            </a:r>
            <a:endParaRPr/>
          </a:p>
        </p:txBody>
      </p:sp>
      <p:sp>
        <p:nvSpPr>
          <p:cNvPr id="7" name="TextBox 6"/>
          <p:cNvSpPr txBox="1"/>
          <p:nvPr/>
        </p:nvSpPr>
        <p:spPr bwMode="auto">
          <a:xfrm>
            <a:off x="457200" y="186537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9FF"/>
                </a:solidFill>
                <a:latin typeface="Calibri"/>
              </a:defRPr>
            </a:pPr>
            <a:r>
              <a:rPr/>
              <a:t>- summary_plot — важность + направление</a:t>
            </a:r>
            <a:endParaRPr/>
          </a:p>
        </p:txBody>
      </p:sp>
      <p:sp>
        <p:nvSpPr>
          <p:cNvPr id="8" name="TextBox 7"/>
          <p:cNvSpPr txBox="1"/>
          <p:nvPr/>
        </p:nvSpPr>
        <p:spPr bwMode="auto">
          <a:xfrm>
            <a:off x="457200" y="215798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9FF"/>
                </a:solidFill>
                <a:latin typeface="Calibri"/>
              </a:defRPr>
            </a:pPr>
            <a:r>
              <a:rPr/>
              <a:t>- dependence_plot — зависимость от значения</a:t>
            </a:r>
            <a:endParaRPr/>
          </a:p>
        </p:txBody>
      </p:sp>
      <p:sp>
        <p:nvSpPr>
          <p:cNvPr id="9" name="TextBox 8"/>
          <p:cNvSpPr txBox="1"/>
          <p:nvPr/>
        </p:nvSpPr>
        <p:spPr bwMode="auto">
          <a:xfrm>
            <a:off x="457200" y="2450591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9FF"/>
                </a:solidFill>
                <a:latin typeface="Calibri"/>
              </a:defRPr>
            </a:pPr>
            <a:r>
              <a:rPr/>
              <a:t>- force_plot — объяснение одного прогноза</a:t>
            </a:r>
            <a:endParaRPr/>
          </a:p>
        </p:txBody>
      </p:sp>
      <p:sp>
        <p:nvSpPr>
          <p:cNvPr id="10" name="TextBox 9"/>
          <p:cNvSpPr txBox="1"/>
          <p:nvPr/>
        </p:nvSpPr>
        <p:spPr bwMode="auto">
          <a:xfrm>
            <a:off x="621792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rPr/>
              <a:t>Код:</a:t>
            </a:r>
            <a:endParaRPr/>
          </a:p>
        </p:txBody>
      </p:sp>
      <p:sp>
        <p:nvSpPr>
          <p:cNvPr id="11" name="Rectangle 10"/>
          <p:cNvSpPr/>
          <p:nvPr/>
        </p:nvSpPr>
        <p:spPr bwMode="auto">
          <a:xfrm>
            <a:off x="6217920" y="1280160"/>
            <a:ext cx="5486400" cy="32004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TextBox 11"/>
          <p:cNvSpPr txBox="1"/>
          <p:nvPr/>
        </p:nvSpPr>
        <p:spPr bwMode="auto">
          <a:xfrm>
            <a:off x="6291072" y="1316736"/>
            <a:ext cx="5340096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import shap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explainer = shap.TreeExplainer(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  xgb_model)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shap_values = explainer(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  X_test[:5000])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shap.summary_plot(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  shap_values, X_test[:5000])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shap.dependence_plot(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  'OverallQual',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  shap_values.values,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  X_test[:5000])</a:t>
            </a:r>
            <a:endParaRPr/>
          </a:p>
        </p:txBody>
      </p:sp>
      <p:sp>
        <p:nvSpPr>
          <p:cNvPr id="13" name="TextBox 12"/>
          <p:cNvSpPr txBox="1"/>
          <p:nvPr/>
        </p:nvSpPr>
        <p:spPr bwMode="auto">
          <a:xfrm>
            <a:off x="457200" y="3840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rPr/>
              <a:t>Дополнительно (уровень 5):</a:t>
            </a:r>
            <a:endParaRPr/>
          </a:p>
        </p:txBody>
      </p:sp>
      <p:sp>
        <p:nvSpPr>
          <p:cNvPr id="14" name="Rectangle 13"/>
          <p:cNvSpPr/>
          <p:nvPr/>
        </p:nvSpPr>
        <p:spPr bwMode="auto">
          <a:xfrm>
            <a:off x="457200" y="4206240"/>
            <a:ext cx="73152" cy="32004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TextBox 14"/>
          <p:cNvSpPr txBox="1"/>
          <p:nvPr/>
        </p:nvSpPr>
        <p:spPr bwMode="auto">
          <a:xfrm>
            <a:off x="640080" y="41879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9FF"/>
                </a:solidFill>
                <a:latin typeface="Calibri"/>
              </a:defRPr>
            </a:pPr>
            <a:r>
              <a:rPr/>
              <a:t>LIME</a:t>
            </a:r>
            <a:endParaRPr/>
          </a:p>
        </p:txBody>
      </p:sp>
      <p:sp>
        <p:nvSpPr>
          <p:cNvPr id="16" name="TextBox 15"/>
          <p:cNvSpPr txBox="1"/>
          <p:nvPr/>
        </p:nvSpPr>
        <p:spPr bwMode="auto">
          <a:xfrm>
            <a:off x="2926080" y="4187952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/>
              <a:t>Локальная аппроксимация</a:t>
            </a:r>
            <a:endParaRPr/>
          </a:p>
        </p:txBody>
      </p:sp>
      <p:sp>
        <p:nvSpPr>
          <p:cNvPr id="17" name="Rectangle 16"/>
          <p:cNvSpPr/>
          <p:nvPr/>
        </p:nvSpPr>
        <p:spPr bwMode="auto">
          <a:xfrm>
            <a:off x="457200" y="4617720"/>
            <a:ext cx="73152" cy="32004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TextBox 17"/>
          <p:cNvSpPr txBox="1"/>
          <p:nvPr/>
        </p:nvSpPr>
        <p:spPr bwMode="auto">
          <a:xfrm>
            <a:off x="640080" y="45994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A000"/>
                </a:solidFill>
                <a:latin typeface="Calibri"/>
              </a:defRPr>
            </a:pPr>
            <a:r>
              <a:rPr/>
              <a:t>Permutation Importance</a:t>
            </a:r>
            <a:endParaRPr/>
          </a:p>
        </p:txBody>
      </p:sp>
      <p:sp>
        <p:nvSpPr>
          <p:cNvPr id="19" name="TextBox 18"/>
          <p:cNvSpPr txBox="1"/>
          <p:nvPr/>
        </p:nvSpPr>
        <p:spPr bwMode="auto">
          <a:xfrm>
            <a:off x="2926080" y="4599432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/>
              <a:t>Перемешивание -&gt; деградация метрики</a:t>
            </a:r>
            <a:endParaRPr/>
          </a:p>
        </p:txBody>
      </p:sp>
      <p:sp>
        <p:nvSpPr>
          <p:cNvPr id="20" name="Rectangle 19"/>
          <p:cNvSpPr/>
          <p:nvPr/>
        </p:nvSpPr>
        <p:spPr bwMode="auto">
          <a:xfrm>
            <a:off x="457200" y="5029200"/>
            <a:ext cx="73152" cy="320040"/>
          </a:xfrm>
          <a:prstGeom prst="rect">
            <a:avLst/>
          </a:prstGeom>
          <a:solidFill>
            <a:srgbClr val="BB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TextBox 20"/>
          <p:cNvSpPr txBox="1"/>
          <p:nvPr/>
        </p:nvSpPr>
        <p:spPr bwMode="auto">
          <a:xfrm>
            <a:off x="640080" y="50109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B88FF"/>
                </a:solidFill>
                <a:latin typeface="Calibri"/>
              </a:defRPr>
            </a:pPr>
            <a:r>
              <a:rPr/>
              <a:t>PDP / ICE</a:t>
            </a:r>
            <a:endParaRPr/>
          </a:p>
        </p:txBody>
      </p:sp>
      <p:sp>
        <p:nvSpPr>
          <p:cNvPr id="22" name="TextBox 21"/>
          <p:cNvSpPr txBox="1"/>
          <p:nvPr/>
        </p:nvSpPr>
        <p:spPr bwMode="auto">
          <a:xfrm>
            <a:off x="2926080" y="5010912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/>
              <a:t>Частичная зависимость / индив. кривые</a:t>
            </a:r>
            <a:endParaRPr/>
          </a:p>
        </p:txBody>
      </p:sp>
      <p:sp>
        <p:nvSpPr>
          <p:cNvPr id="23" name="TextBox 22"/>
          <p:cNvSpPr txBox="1"/>
          <p:nvPr/>
        </p:nvSpPr>
        <p:spPr bwMode="auto">
          <a:xfrm>
            <a:off x="1152144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0B0C0"/>
                </a:solidFill>
                <a:latin typeface="Calibri"/>
              </a:defRPr>
            </a:pPr>
            <a:r>
              <a:rPr/>
              <a:t>17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1A1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0" y="0"/>
            <a:ext cx="109728" cy="6858000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 bwMode="auto"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rPr/>
              <a:t>Conformal Prediction (90% coverage)</a:t>
            </a:r>
            <a:endParaRPr/>
          </a:p>
        </p:txBody>
      </p:sp>
      <p:sp>
        <p:nvSpPr>
          <p:cNvPr id="4" name="TextBox 3"/>
          <p:cNvSpPr txBox="1"/>
          <p:nvPr/>
        </p:nvSpPr>
        <p:spPr bwMode="auto"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rPr/>
              <a:t>Гарантированные интервалы предсказаний с теоретической гарантией покрытия</a:t>
            </a:r>
            <a:endParaRPr/>
          </a:p>
        </p:txBody>
      </p:sp>
      <p:sp>
        <p:nvSpPr>
          <p:cNvPr id="5" name="Rectangle 4"/>
          <p:cNvSpPr/>
          <p:nvPr/>
        </p:nvSpPr>
        <p:spPr bwMode="auto">
          <a:xfrm>
            <a:off x="457200" y="1371600"/>
            <a:ext cx="73152" cy="36576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TextBox 5"/>
          <p:cNvSpPr txBox="1"/>
          <p:nvPr/>
        </p:nvSpPr>
        <p:spPr bwMode="auto">
          <a:xfrm>
            <a:off x="640080" y="13533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9FF"/>
                </a:solidFill>
                <a:latin typeface="Calibri"/>
              </a:defRPr>
            </a:pPr>
            <a:r>
              <a:rPr/>
              <a:t>1. Split</a:t>
            </a:r>
            <a:endParaRPr/>
          </a:p>
        </p:txBody>
      </p:sp>
      <p:sp>
        <p:nvSpPr>
          <p:cNvPr id="7" name="TextBox 6"/>
          <p:cNvSpPr txBox="1"/>
          <p:nvPr/>
        </p:nvSpPr>
        <p:spPr bwMode="auto">
          <a:xfrm>
            <a:off x="2468880" y="135331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/>
              <a:t>train + calibration set</a:t>
            </a:r>
            <a:endParaRPr/>
          </a:p>
        </p:txBody>
      </p:sp>
      <p:sp>
        <p:nvSpPr>
          <p:cNvPr id="8" name="Rectangle 7"/>
          <p:cNvSpPr/>
          <p:nvPr/>
        </p:nvSpPr>
        <p:spPr bwMode="auto">
          <a:xfrm>
            <a:off x="457200" y="1828800"/>
            <a:ext cx="73152" cy="36576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TextBox 8"/>
          <p:cNvSpPr txBox="1"/>
          <p:nvPr/>
        </p:nvSpPr>
        <p:spPr bwMode="auto">
          <a:xfrm>
            <a:off x="640080" y="18105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FF88"/>
                </a:solidFill>
                <a:latin typeface="Calibri"/>
              </a:defRPr>
            </a:pPr>
            <a:r>
              <a:rPr/>
              <a:t>2. Fit</a:t>
            </a:r>
            <a:endParaRPr/>
          </a:p>
        </p:txBody>
      </p:sp>
      <p:sp>
        <p:nvSpPr>
          <p:cNvPr id="10" name="TextBox 9"/>
          <p:cNvSpPr txBox="1"/>
          <p:nvPr/>
        </p:nvSpPr>
        <p:spPr bwMode="auto">
          <a:xfrm>
            <a:off x="2468880" y="181051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/>
              <a:t>Обучить модель на train</a:t>
            </a:r>
            <a:endParaRPr/>
          </a:p>
        </p:txBody>
      </p:sp>
      <p:sp>
        <p:nvSpPr>
          <p:cNvPr id="11" name="Rectangle 10"/>
          <p:cNvSpPr/>
          <p:nvPr/>
        </p:nvSpPr>
        <p:spPr bwMode="auto">
          <a:xfrm>
            <a:off x="457200" y="2286000"/>
            <a:ext cx="73152" cy="36576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TextBox 11"/>
          <p:cNvSpPr txBox="1"/>
          <p:nvPr/>
        </p:nvSpPr>
        <p:spPr bwMode="auto">
          <a:xfrm>
            <a:off x="640080" y="22677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A000"/>
                </a:solidFill>
                <a:latin typeface="Calibri"/>
              </a:defRPr>
            </a:pPr>
            <a:r>
              <a:rPr/>
              <a:t>3. Residuals</a:t>
            </a:r>
            <a:endParaRPr/>
          </a:p>
        </p:txBody>
      </p:sp>
      <p:sp>
        <p:nvSpPr>
          <p:cNvPr id="13" name="TextBox 12"/>
          <p:cNvSpPr txBox="1"/>
          <p:nvPr/>
        </p:nvSpPr>
        <p:spPr bwMode="auto">
          <a:xfrm>
            <a:off x="2468880" y="226771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/>
              <a:t>Остатки |y - y_hat| на calibration</a:t>
            </a:r>
            <a:endParaRPr/>
          </a:p>
        </p:txBody>
      </p:sp>
      <p:sp>
        <p:nvSpPr>
          <p:cNvPr id="14" name="Rectangle 13"/>
          <p:cNvSpPr/>
          <p:nvPr/>
        </p:nvSpPr>
        <p:spPr bwMode="auto">
          <a:xfrm>
            <a:off x="457200" y="2743200"/>
            <a:ext cx="73152" cy="365760"/>
          </a:xfrm>
          <a:prstGeom prst="rect">
            <a:avLst/>
          </a:prstGeom>
          <a:solidFill>
            <a:srgbClr val="BB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TextBox 14"/>
          <p:cNvSpPr txBox="1"/>
          <p:nvPr/>
        </p:nvSpPr>
        <p:spPr bwMode="auto">
          <a:xfrm>
            <a:off x="640080" y="2724911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B88FF"/>
                </a:solidFill>
                <a:latin typeface="Calibri"/>
              </a:defRPr>
            </a:pPr>
            <a:r>
              <a:rPr/>
              <a:t>4. Quantile</a:t>
            </a:r>
            <a:endParaRPr/>
          </a:p>
        </p:txBody>
      </p:sp>
      <p:sp>
        <p:nvSpPr>
          <p:cNvPr id="16" name="TextBox 15"/>
          <p:cNvSpPr txBox="1"/>
          <p:nvPr/>
        </p:nvSpPr>
        <p:spPr bwMode="auto">
          <a:xfrm>
            <a:off x="2468880" y="2724911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/>
              <a:t>Alpha-квантиль (alpha=0.1 для 90%)</a:t>
            </a:r>
            <a:endParaRPr/>
          </a:p>
        </p:txBody>
      </p:sp>
      <p:sp>
        <p:nvSpPr>
          <p:cNvPr id="17" name="Rectangle 16"/>
          <p:cNvSpPr/>
          <p:nvPr/>
        </p:nvSpPr>
        <p:spPr bwMode="auto">
          <a:xfrm>
            <a:off x="457200" y="3200400"/>
            <a:ext cx="73152" cy="365760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TextBox 17"/>
          <p:cNvSpPr txBox="1"/>
          <p:nvPr/>
        </p:nvSpPr>
        <p:spPr bwMode="auto">
          <a:xfrm>
            <a:off x="640080" y="31821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5555"/>
                </a:solidFill>
                <a:latin typeface="Calibri"/>
              </a:defRPr>
            </a:pPr>
            <a:r>
              <a:rPr/>
              <a:t>5. Interval</a:t>
            </a:r>
            <a:endParaRPr/>
          </a:p>
        </p:txBody>
      </p:sp>
      <p:sp>
        <p:nvSpPr>
          <p:cNvPr id="19" name="TextBox 18"/>
          <p:cNvSpPr txBox="1"/>
          <p:nvPr/>
        </p:nvSpPr>
        <p:spPr bwMode="auto">
          <a:xfrm>
            <a:off x="2468880" y="318211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/>
              <a:t>y_hat +/- q для новых предсказаний</a:t>
            </a:r>
            <a:endParaRPr/>
          </a:p>
        </p:txBody>
      </p:sp>
      <p:sp>
        <p:nvSpPr>
          <p:cNvPr id="20" name="Rectangle 19"/>
          <p:cNvSpPr/>
          <p:nvPr/>
        </p:nvSpPr>
        <p:spPr bwMode="auto">
          <a:xfrm>
            <a:off x="457200" y="3931920"/>
            <a:ext cx="11247120" cy="2286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TextBox 20"/>
          <p:cNvSpPr txBox="1"/>
          <p:nvPr/>
        </p:nvSpPr>
        <p:spPr bwMode="auto">
          <a:xfrm>
            <a:off x="530352" y="3968496"/>
            <a:ext cx="11100816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200">
                <a:solidFill>
                  <a:srgbClr val="E0E0FF"/>
                </a:solidFill>
                <a:latin typeface="Consolas"/>
              </a:defRPr>
            </a:pPr>
            <a:r>
              <a:rPr/>
              <a:t>cal_pred = model.predict(X_calib)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200">
                <a:solidFill>
                  <a:srgbClr val="E0E0FF"/>
                </a:solidFill>
                <a:latin typeface="Consolas"/>
              </a:defRPr>
            </a:pPr>
            <a:r>
              <a:rPr/>
              <a:t>residuals = np.abs(y_calib - cal_pred)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200">
                <a:solidFill>
                  <a:srgbClr val="E0E0FF"/>
                </a:solidFill>
                <a:latin typeface="Consolas"/>
              </a:defRPr>
            </a:pPr>
            <a:r>
              <a:rPr/>
              <a:t>q = np.quantile(residuals, 0.9)  # 90% coverage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200">
                <a:solidFill>
                  <a:srgbClr val="E0E0FF"/>
                </a:solidFill>
                <a:latin typeface="Consolas"/>
              </a:defRPr>
            </a:pP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200">
                <a:solidFill>
                  <a:srgbClr val="E0E0FF"/>
                </a:solidFill>
                <a:latin typeface="Consolas"/>
              </a:defRPr>
            </a:pPr>
            <a:r>
              <a:rPr/>
              <a:t>lower = y_pred - q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200">
                <a:solidFill>
                  <a:srgbClr val="E0E0FF"/>
                </a:solidFill>
                <a:latin typeface="Consolas"/>
              </a:defRPr>
            </a:pPr>
            <a:r>
              <a:rPr/>
              <a:t>upper = y_pred + q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200">
                <a:solidFill>
                  <a:srgbClr val="E0E0FF"/>
                </a:solidFill>
                <a:latin typeface="Consolas"/>
              </a:defRPr>
            </a:pPr>
            <a:r>
              <a:rPr/>
              <a:t>coverage = np.mean((y_test &gt;= lower) &amp; (y_test &lt;= upper))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200">
                <a:solidFill>
                  <a:srgbClr val="E0E0FF"/>
                </a:solidFill>
                <a:latin typeface="Consolas"/>
              </a:defRPr>
            </a:pPr>
            <a:r>
              <a:rPr/>
              <a:t>print(f'Coverage: {coverage:.3f}')</a:t>
            </a:r>
            <a:endParaRPr/>
          </a:p>
        </p:txBody>
      </p:sp>
      <p:sp>
        <p:nvSpPr>
          <p:cNvPr id="22" name="TextBox 21"/>
          <p:cNvSpPr txBox="1"/>
          <p:nvPr/>
        </p:nvSpPr>
        <p:spPr bwMode="auto">
          <a:xfrm>
            <a:off x="1152144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0B0C0"/>
                </a:solidFill>
                <a:latin typeface="Calibri"/>
              </a:defRPr>
            </a:pPr>
            <a:r>
              <a:rPr/>
              <a:t>18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1A1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0" y="0"/>
            <a:ext cx="109728" cy="6858000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 bwMode="auto"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rPr/>
              <a:t>Causal Inference (DoWhy)</a:t>
            </a:r>
            <a:endParaRPr/>
          </a:p>
        </p:txBody>
      </p:sp>
      <p:sp>
        <p:nvSpPr>
          <p:cNvPr id="4" name="TextBox 3"/>
          <p:cNvSpPr txBox="1"/>
          <p:nvPr/>
        </p:nvSpPr>
        <p:spPr bwMode="auto"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rPr/>
              <a:t>Корреляция != Причинность. Causal inference оценивает эффект вмешательства.</a:t>
            </a:r>
            <a:endParaRPr/>
          </a:p>
        </p:txBody>
      </p:sp>
      <p:sp>
        <p:nvSpPr>
          <p:cNvPr id="5" name="TextBox 4"/>
          <p:cNvSpPr txBox="1"/>
          <p:nvPr/>
        </p:nvSpPr>
        <p:spPr bwMode="auto">
          <a:xfrm>
            <a:off x="45720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rPr/>
              <a:t>Ключевые понятия:</a:t>
            </a:r>
            <a:endParaRPr/>
          </a:p>
        </p:txBody>
      </p:sp>
      <p:sp>
        <p:nvSpPr>
          <p:cNvPr id="6" name="Rectangle 5"/>
          <p:cNvSpPr/>
          <p:nvPr/>
        </p:nvSpPr>
        <p:spPr bwMode="auto">
          <a:xfrm>
            <a:off x="457200" y="1737360"/>
            <a:ext cx="73152" cy="32004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TextBox 6"/>
          <p:cNvSpPr txBox="1"/>
          <p:nvPr/>
        </p:nvSpPr>
        <p:spPr bwMode="auto">
          <a:xfrm>
            <a:off x="640080" y="17190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9FF"/>
                </a:solidFill>
                <a:latin typeface="Calibri"/>
              </a:defRPr>
            </a:pPr>
            <a:r>
              <a:rPr/>
              <a:t>ATE</a:t>
            </a:r>
            <a:endParaRPr/>
          </a:p>
        </p:txBody>
      </p:sp>
      <p:sp>
        <p:nvSpPr>
          <p:cNvPr id="8" name="TextBox 7"/>
          <p:cNvSpPr txBox="1"/>
          <p:nvPr/>
        </p:nvSpPr>
        <p:spPr bwMode="auto">
          <a:xfrm>
            <a:off x="2926080" y="17190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/>
              <a:t>Average Treatment Effect</a:t>
            </a:r>
            <a:endParaRPr/>
          </a:p>
        </p:txBody>
      </p:sp>
      <p:sp>
        <p:nvSpPr>
          <p:cNvPr id="9" name="Rectangle 8"/>
          <p:cNvSpPr/>
          <p:nvPr/>
        </p:nvSpPr>
        <p:spPr bwMode="auto">
          <a:xfrm>
            <a:off x="457200" y="2194560"/>
            <a:ext cx="73152" cy="32004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TextBox 9"/>
          <p:cNvSpPr txBox="1"/>
          <p:nvPr/>
        </p:nvSpPr>
        <p:spPr bwMode="auto">
          <a:xfrm>
            <a:off x="640080" y="21762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FF88"/>
                </a:solidFill>
                <a:latin typeface="Calibri"/>
              </a:defRPr>
            </a:pPr>
            <a:r>
              <a:rPr/>
              <a:t>DAG</a:t>
            </a:r>
            <a:endParaRPr/>
          </a:p>
        </p:txBody>
      </p:sp>
      <p:sp>
        <p:nvSpPr>
          <p:cNvPr id="11" name="TextBox 10"/>
          <p:cNvSpPr txBox="1"/>
          <p:nvPr/>
        </p:nvSpPr>
        <p:spPr bwMode="auto">
          <a:xfrm>
            <a:off x="2926080" y="21762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/>
              <a:t>Directed Acyclic Graph</a:t>
            </a:r>
            <a:endParaRPr/>
          </a:p>
        </p:txBody>
      </p:sp>
      <p:sp>
        <p:nvSpPr>
          <p:cNvPr id="12" name="Rectangle 11"/>
          <p:cNvSpPr/>
          <p:nvPr/>
        </p:nvSpPr>
        <p:spPr bwMode="auto">
          <a:xfrm>
            <a:off x="457200" y="2651760"/>
            <a:ext cx="73152" cy="32004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TextBox 12"/>
          <p:cNvSpPr txBox="1"/>
          <p:nvPr/>
        </p:nvSpPr>
        <p:spPr bwMode="auto">
          <a:xfrm>
            <a:off x="640080" y="26334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A000"/>
                </a:solidFill>
                <a:latin typeface="Calibri"/>
              </a:defRPr>
            </a:pPr>
            <a:r>
              <a:rPr/>
              <a:t>Propensity Score</a:t>
            </a:r>
            <a:endParaRPr/>
          </a:p>
        </p:txBody>
      </p:sp>
      <p:sp>
        <p:nvSpPr>
          <p:cNvPr id="14" name="TextBox 13"/>
          <p:cNvSpPr txBox="1"/>
          <p:nvPr/>
        </p:nvSpPr>
        <p:spPr bwMode="auto">
          <a:xfrm>
            <a:off x="2926080" y="26334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/>
              <a:t>Вероятность treatment</a:t>
            </a:r>
            <a:endParaRPr/>
          </a:p>
        </p:txBody>
      </p:sp>
      <p:sp>
        <p:nvSpPr>
          <p:cNvPr id="15" name="Rectangle 14"/>
          <p:cNvSpPr/>
          <p:nvPr/>
        </p:nvSpPr>
        <p:spPr bwMode="auto">
          <a:xfrm>
            <a:off x="457200" y="3108960"/>
            <a:ext cx="73152" cy="320040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TextBox 15"/>
          <p:cNvSpPr txBox="1"/>
          <p:nvPr/>
        </p:nvSpPr>
        <p:spPr bwMode="auto">
          <a:xfrm>
            <a:off x="640080" y="30906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5555"/>
                </a:solidFill>
                <a:latin typeface="Calibri"/>
              </a:defRPr>
            </a:pPr>
            <a:r>
              <a:rPr/>
              <a:t>Refutation</a:t>
            </a:r>
            <a:endParaRPr/>
          </a:p>
        </p:txBody>
      </p:sp>
      <p:sp>
        <p:nvSpPr>
          <p:cNvPr id="17" name="TextBox 16"/>
          <p:cNvSpPr txBox="1"/>
          <p:nvPr/>
        </p:nvSpPr>
        <p:spPr bwMode="auto">
          <a:xfrm>
            <a:off x="2926080" y="30906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/>
              <a:t>Проверка устойчивости</a:t>
            </a:r>
            <a:endParaRPr/>
          </a:p>
        </p:txBody>
      </p:sp>
      <p:sp>
        <p:nvSpPr>
          <p:cNvPr id="18" name="TextBox 17"/>
          <p:cNvSpPr txBox="1"/>
          <p:nvPr/>
        </p:nvSpPr>
        <p:spPr bwMode="auto">
          <a:xfrm>
            <a:off x="621792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rPr/>
              <a:t>Пример (Mercari):</a:t>
            </a:r>
            <a:endParaRPr/>
          </a:p>
        </p:txBody>
      </p:sp>
      <p:sp>
        <p:nvSpPr>
          <p:cNvPr id="19" name="TextBox 18"/>
          <p:cNvSpPr txBox="1"/>
          <p:nvPr/>
        </p:nvSpPr>
        <p:spPr bwMode="auto">
          <a:xfrm>
            <a:off x="6217920" y="17373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A000"/>
                </a:solidFill>
                <a:latin typeface="Calibri"/>
              </a:defRPr>
            </a:pPr>
            <a:r>
              <a:rPr/>
              <a:t>Гипотеза: наличие бренда -&gt; цена выше</a:t>
            </a:r>
            <a:endParaRPr/>
          </a:p>
        </p:txBody>
      </p:sp>
      <p:sp>
        <p:nvSpPr>
          <p:cNvPr id="20" name="Rectangle 19"/>
          <p:cNvSpPr/>
          <p:nvPr/>
        </p:nvSpPr>
        <p:spPr bwMode="auto">
          <a:xfrm>
            <a:off x="6217920" y="2103120"/>
            <a:ext cx="5486400" cy="32004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TextBox 20"/>
          <p:cNvSpPr txBox="1"/>
          <p:nvPr/>
        </p:nvSpPr>
        <p:spPr bwMode="auto">
          <a:xfrm>
            <a:off x="6291072" y="2139696"/>
            <a:ext cx="5340096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E0E0FF"/>
                </a:solidFill>
                <a:latin typeface="Consolas"/>
              </a:defRPr>
            </a:pPr>
            <a:r>
              <a:rPr/>
              <a:t>from dowhy import CausalModel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E0E0FF"/>
                </a:solidFill>
                <a:latin typeface="Consolas"/>
              </a:defRPr>
            </a:pP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E0E0FF"/>
                </a:solidFill>
                <a:latin typeface="Consolas"/>
              </a:defRPr>
            </a:pPr>
            <a:r>
              <a:rPr/>
              <a:t>model = CausalModel(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E0E0FF"/>
                </a:solidFill>
                <a:latin typeface="Consolas"/>
              </a:defRPr>
            </a:pPr>
            <a:r>
              <a:rPr/>
              <a:t>    data=df_pd,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E0E0FF"/>
                </a:solidFill>
                <a:latin typeface="Consolas"/>
              </a:defRPr>
            </a:pPr>
            <a:r>
              <a:rPr/>
              <a:t>    treatment='has_brand',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E0E0FF"/>
                </a:solidFill>
                <a:latin typeface="Consolas"/>
              </a:defRPr>
            </a:pPr>
            <a:r>
              <a:rPr/>
              <a:t>    outcome='price',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E0E0FF"/>
                </a:solidFill>
                <a:latin typeface="Consolas"/>
              </a:defRPr>
            </a:pPr>
            <a:r>
              <a:rPr/>
              <a:t>    common_causes=['category',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E0E0FF"/>
                </a:solidFill>
                <a:latin typeface="Consolas"/>
              </a:defRPr>
            </a:pPr>
            <a:r>
              <a:rPr/>
              <a:t>                   'item_condition'])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E0E0FF"/>
                </a:solidFill>
                <a:latin typeface="Consolas"/>
              </a:defRPr>
            </a:pPr>
            <a:r>
              <a:rPr/>
              <a:t>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E0E0FF"/>
                </a:solidFill>
                <a:latin typeface="Consolas"/>
              </a:defRPr>
            </a:pPr>
            <a:r>
              <a:rPr/>
              <a:t>identified = model.identify_effect()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E0E0FF"/>
                </a:solidFill>
                <a:latin typeface="Consolas"/>
              </a:defRPr>
            </a:pPr>
            <a:r>
              <a:rPr/>
              <a:t>estimate = model.estimate_effect(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E0E0FF"/>
                </a:solidFill>
                <a:latin typeface="Consolas"/>
              </a:defRPr>
            </a:pPr>
            <a:r>
              <a:rPr/>
              <a:t>    identified,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E0E0FF"/>
                </a:solidFill>
                <a:latin typeface="Consolas"/>
              </a:defRPr>
            </a:pPr>
            <a:r>
              <a:rPr/>
              <a:t>    method_name='backdoor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E0E0FF"/>
                </a:solidFill>
                <a:latin typeface="Consolas"/>
              </a:defRPr>
            </a:pPr>
            <a:r>
              <a:rPr/>
              <a:t>      .propensity_score_matching')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E0E0FF"/>
                </a:solidFill>
                <a:latin typeface="Consolas"/>
              </a:defRPr>
            </a:pPr>
            <a:r>
              <a:rPr/>
              <a:t>print(f'ATE: {estimate.value}')</a:t>
            </a:r>
            <a:endParaRPr/>
          </a:p>
        </p:txBody>
      </p:sp>
      <p:sp>
        <p:nvSpPr>
          <p:cNvPr id="22" name="TextBox 21"/>
          <p:cNvSpPr txBox="1"/>
          <p:nvPr/>
        </p:nvSpPr>
        <p:spPr bwMode="auto">
          <a:xfrm>
            <a:off x="457200" y="3657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rPr/>
              <a:t>Refutation tests:</a:t>
            </a:r>
            <a:endParaRPr/>
          </a:p>
        </p:txBody>
      </p:sp>
      <p:sp>
        <p:nvSpPr>
          <p:cNvPr id="23" name="TextBox 22"/>
          <p:cNvSpPr txBox="1"/>
          <p:nvPr/>
        </p:nvSpPr>
        <p:spPr bwMode="auto">
          <a:xfrm>
            <a:off x="457200" y="40233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9FF"/>
                </a:solidFill>
                <a:latin typeface="Calibri"/>
              </a:defRPr>
            </a:pPr>
            <a:r>
              <a:rPr/>
              <a:t>- Placebo treatment</a:t>
            </a:r>
            <a:endParaRPr/>
          </a:p>
        </p:txBody>
      </p:sp>
      <p:sp>
        <p:nvSpPr>
          <p:cNvPr id="24" name="TextBox 23"/>
          <p:cNvSpPr txBox="1"/>
          <p:nvPr/>
        </p:nvSpPr>
        <p:spPr bwMode="auto">
          <a:xfrm>
            <a:off x="457200" y="43159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9FF"/>
                </a:solidFill>
                <a:latin typeface="Calibri"/>
              </a:defRPr>
            </a:pPr>
            <a:r>
              <a:rPr/>
              <a:t>- Random common cause</a:t>
            </a:r>
            <a:endParaRPr/>
          </a:p>
        </p:txBody>
      </p:sp>
      <p:sp>
        <p:nvSpPr>
          <p:cNvPr id="25" name="TextBox 24"/>
          <p:cNvSpPr txBox="1"/>
          <p:nvPr/>
        </p:nvSpPr>
        <p:spPr bwMode="auto">
          <a:xfrm>
            <a:off x="457200" y="460857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9FF"/>
                </a:solidFill>
                <a:latin typeface="Calibri"/>
              </a:defRPr>
            </a:pPr>
            <a:r>
              <a:rPr/>
              <a:t>- Data subset refuter</a:t>
            </a:r>
            <a:endParaRPr/>
          </a:p>
        </p:txBody>
      </p:sp>
      <p:sp>
        <p:nvSpPr>
          <p:cNvPr id="26" name="TextBox 25"/>
          <p:cNvSpPr txBox="1"/>
          <p:nvPr/>
        </p:nvSpPr>
        <p:spPr bwMode="auto">
          <a:xfrm>
            <a:off x="457200" y="490118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9FF"/>
                </a:solidFill>
                <a:latin typeface="Calibri"/>
              </a:defRPr>
            </a:pPr>
            <a:r>
              <a:rPr/>
              <a:t>- Bootstrap</a:t>
            </a:r>
            <a:endParaRPr/>
          </a:p>
        </p:txBody>
      </p:sp>
      <p:sp>
        <p:nvSpPr>
          <p:cNvPr id="27" name="TextBox 26"/>
          <p:cNvSpPr txBox="1"/>
          <p:nvPr/>
        </p:nvSpPr>
        <p:spPr bwMode="auto">
          <a:xfrm>
            <a:off x="1152144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0B0C0"/>
                </a:solidFill>
                <a:latin typeface="Calibri"/>
              </a:defRPr>
            </a:pPr>
            <a:r>
              <a:rPr/>
              <a:t>19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1A1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0" y="0"/>
            <a:ext cx="109728" cy="6858000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 bwMode="auto"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rPr/>
              <a:t>Calibration и Robustness</a:t>
            </a:r>
            <a:endParaRPr/>
          </a:p>
        </p:txBody>
      </p:sp>
      <p:sp>
        <p:nvSpPr>
          <p:cNvPr id="4" name="TextBox 3"/>
          <p:cNvSpPr txBox="1"/>
          <p:nvPr/>
        </p:nvSpPr>
        <p:spPr bwMode="auto">
          <a:xfrm>
            <a:off x="45720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rPr/>
              <a:t>Калибровка модели:</a:t>
            </a:r>
            <a:endParaRPr/>
          </a:p>
        </p:txBody>
      </p:sp>
      <p:sp>
        <p:nvSpPr>
          <p:cNvPr id="5" name="Rectangle 4"/>
          <p:cNvSpPr/>
          <p:nvPr/>
        </p:nvSpPr>
        <p:spPr bwMode="auto">
          <a:xfrm>
            <a:off x="457200" y="1280160"/>
            <a:ext cx="73152" cy="32004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TextBox 5"/>
          <p:cNvSpPr txBox="1"/>
          <p:nvPr/>
        </p:nvSpPr>
        <p:spPr bwMode="auto">
          <a:xfrm>
            <a:off x="640080" y="12618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9FF"/>
                </a:solidFill>
                <a:latin typeface="Calibri"/>
              </a:defRPr>
            </a:pPr>
            <a:r>
              <a:rPr/>
              <a:t>Platt Scaling</a:t>
            </a:r>
            <a:endParaRPr/>
          </a:p>
        </p:txBody>
      </p:sp>
      <p:sp>
        <p:nvSpPr>
          <p:cNvPr id="7" name="TextBox 6"/>
          <p:cNvSpPr txBox="1"/>
          <p:nvPr/>
        </p:nvSpPr>
        <p:spPr bwMode="auto">
          <a:xfrm>
            <a:off x="2926080" y="12618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rPr/>
              <a:t>Логистическая поверх</a:t>
            </a:r>
            <a:endParaRPr/>
          </a:p>
        </p:txBody>
      </p:sp>
      <p:sp>
        <p:nvSpPr>
          <p:cNvPr id="8" name="Rectangle 7"/>
          <p:cNvSpPr/>
          <p:nvPr/>
        </p:nvSpPr>
        <p:spPr bwMode="auto">
          <a:xfrm>
            <a:off x="457200" y="1691639"/>
            <a:ext cx="73152" cy="32004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TextBox 8"/>
          <p:cNvSpPr txBox="1"/>
          <p:nvPr/>
        </p:nvSpPr>
        <p:spPr bwMode="auto">
          <a:xfrm>
            <a:off x="640080" y="1673351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FF88"/>
                </a:solidFill>
                <a:latin typeface="Calibri"/>
              </a:defRPr>
            </a:pPr>
            <a:r>
              <a:rPr/>
              <a:t>Isotonic Reg.</a:t>
            </a:r>
            <a:endParaRPr/>
          </a:p>
        </p:txBody>
      </p:sp>
      <p:sp>
        <p:nvSpPr>
          <p:cNvPr id="10" name="TextBox 9"/>
          <p:cNvSpPr txBox="1"/>
          <p:nvPr/>
        </p:nvSpPr>
        <p:spPr bwMode="auto">
          <a:xfrm>
            <a:off x="2926080" y="1673351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rPr/>
              <a:t>Непараметрическая</a:t>
            </a:r>
            <a:endParaRPr/>
          </a:p>
        </p:txBody>
      </p:sp>
      <p:sp>
        <p:nvSpPr>
          <p:cNvPr id="11" name="Rectangle 10"/>
          <p:cNvSpPr/>
          <p:nvPr/>
        </p:nvSpPr>
        <p:spPr bwMode="auto">
          <a:xfrm>
            <a:off x="457200" y="2103120"/>
            <a:ext cx="73152" cy="32004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TextBox 11"/>
          <p:cNvSpPr txBox="1"/>
          <p:nvPr/>
        </p:nvSpPr>
        <p:spPr bwMode="auto">
          <a:xfrm>
            <a:off x="640080" y="2084831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A000"/>
                </a:solidFill>
                <a:latin typeface="Calibri"/>
              </a:defRPr>
            </a:pPr>
            <a:r>
              <a:rPr/>
              <a:t>Temperature</a:t>
            </a:r>
            <a:endParaRPr/>
          </a:p>
        </p:txBody>
      </p:sp>
      <p:sp>
        <p:nvSpPr>
          <p:cNvPr id="13" name="TextBox 12"/>
          <p:cNvSpPr txBox="1"/>
          <p:nvPr/>
        </p:nvSpPr>
        <p:spPr bwMode="auto">
          <a:xfrm>
            <a:off x="2926080" y="2084831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rPr/>
              <a:t>Параметр T смягчает</a:t>
            </a:r>
            <a:endParaRPr/>
          </a:p>
        </p:txBody>
      </p:sp>
      <p:sp>
        <p:nvSpPr>
          <p:cNvPr id="14" name="Rectangle 13"/>
          <p:cNvSpPr/>
          <p:nvPr/>
        </p:nvSpPr>
        <p:spPr bwMode="auto">
          <a:xfrm>
            <a:off x="457200" y="2743200"/>
            <a:ext cx="5486400" cy="164592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TextBox 14"/>
          <p:cNvSpPr txBox="1"/>
          <p:nvPr/>
        </p:nvSpPr>
        <p:spPr bwMode="auto">
          <a:xfrm>
            <a:off x="530352" y="2779776"/>
            <a:ext cx="5340096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from sklearn.isotonic import IsotonicRegression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iso = IsotonicRegression(out_of_bounds='clip')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iso.fit(y_pred_calib, y_calib)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y_calibrated = iso.predict(y_pred_test)</a:t>
            </a:r>
            <a:endParaRPr/>
          </a:p>
        </p:txBody>
      </p:sp>
      <p:sp>
        <p:nvSpPr>
          <p:cNvPr id="16" name="TextBox 15"/>
          <p:cNvSpPr txBox="1"/>
          <p:nvPr/>
        </p:nvSpPr>
        <p:spPr bwMode="auto">
          <a:xfrm>
            <a:off x="621792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rPr/>
              <a:t>Robustness analysis:</a:t>
            </a:r>
            <a:endParaRPr/>
          </a:p>
        </p:txBody>
      </p:sp>
      <p:sp>
        <p:nvSpPr>
          <p:cNvPr id="17" name="Rectangle 16"/>
          <p:cNvSpPr/>
          <p:nvPr/>
        </p:nvSpPr>
        <p:spPr bwMode="auto">
          <a:xfrm>
            <a:off x="6217920" y="1280160"/>
            <a:ext cx="73152" cy="320040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TextBox 17"/>
          <p:cNvSpPr txBox="1"/>
          <p:nvPr/>
        </p:nvSpPr>
        <p:spPr bwMode="auto">
          <a:xfrm>
            <a:off x="6400800" y="12618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5555"/>
                </a:solidFill>
                <a:latin typeface="Calibri"/>
              </a:defRPr>
            </a:pPr>
            <a:r>
              <a:rPr/>
              <a:t>Adversarial</a:t>
            </a:r>
            <a:endParaRPr/>
          </a:p>
        </p:txBody>
      </p:sp>
      <p:sp>
        <p:nvSpPr>
          <p:cNvPr id="19" name="TextBox 18"/>
          <p:cNvSpPr txBox="1"/>
          <p:nvPr/>
        </p:nvSpPr>
        <p:spPr bwMode="auto">
          <a:xfrm>
            <a:off x="8229600" y="12618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rPr/>
              <a:t>Шум на топ-3 (7 уровней)</a:t>
            </a:r>
            <a:endParaRPr/>
          </a:p>
        </p:txBody>
      </p:sp>
      <p:sp>
        <p:nvSpPr>
          <p:cNvPr id="20" name="Rectangle 19"/>
          <p:cNvSpPr/>
          <p:nvPr/>
        </p:nvSpPr>
        <p:spPr bwMode="auto">
          <a:xfrm>
            <a:off x="6217920" y="1691639"/>
            <a:ext cx="73152" cy="32004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TextBox 20"/>
          <p:cNvSpPr txBox="1"/>
          <p:nvPr/>
        </p:nvSpPr>
        <p:spPr bwMode="auto">
          <a:xfrm>
            <a:off x="6400800" y="167335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A000"/>
                </a:solidFill>
                <a:latin typeface="Calibri"/>
              </a:defRPr>
            </a:pPr>
            <a:r>
              <a:rPr/>
              <a:t>Missing data</a:t>
            </a:r>
            <a:endParaRPr/>
          </a:p>
        </p:txBody>
      </p:sp>
      <p:sp>
        <p:nvSpPr>
          <p:cNvPr id="22" name="TextBox 21"/>
          <p:cNvSpPr txBox="1"/>
          <p:nvPr/>
        </p:nvSpPr>
        <p:spPr bwMode="auto">
          <a:xfrm>
            <a:off x="8229600" y="1673351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rPr/>
              <a:t>Удаление (6 уровней)</a:t>
            </a:r>
            <a:endParaRPr/>
          </a:p>
        </p:txBody>
      </p:sp>
      <p:sp>
        <p:nvSpPr>
          <p:cNvPr id="23" name="Rectangle 22"/>
          <p:cNvSpPr/>
          <p:nvPr/>
        </p:nvSpPr>
        <p:spPr bwMode="auto">
          <a:xfrm>
            <a:off x="6217920" y="2103120"/>
            <a:ext cx="73152" cy="320040"/>
          </a:xfrm>
          <a:prstGeom prst="rect">
            <a:avLst/>
          </a:prstGeom>
          <a:solidFill>
            <a:srgbClr val="BB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TextBox 23"/>
          <p:cNvSpPr txBox="1"/>
          <p:nvPr/>
        </p:nvSpPr>
        <p:spPr bwMode="auto">
          <a:xfrm>
            <a:off x="6400800" y="208483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B88FF"/>
                </a:solidFill>
                <a:latin typeface="Calibri"/>
              </a:defRPr>
            </a:pPr>
            <a:r>
              <a:rPr/>
              <a:t>OOD</a:t>
            </a:r>
            <a:endParaRPr/>
          </a:p>
        </p:txBody>
      </p:sp>
      <p:sp>
        <p:nvSpPr>
          <p:cNvPr id="25" name="TextBox 24"/>
          <p:cNvSpPr txBox="1"/>
          <p:nvPr/>
        </p:nvSpPr>
        <p:spPr bwMode="auto">
          <a:xfrm>
            <a:off x="8229600" y="2084831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rPr/>
              <a:t>Out-of-distribution</a:t>
            </a:r>
            <a:endParaRPr/>
          </a:p>
        </p:txBody>
      </p:sp>
      <p:sp>
        <p:nvSpPr>
          <p:cNvPr id="26" name="Rectangle 25"/>
          <p:cNvSpPr/>
          <p:nvPr/>
        </p:nvSpPr>
        <p:spPr bwMode="auto">
          <a:xfrm>
            <a:off x="6217920" y="2514600"/>
            <a:ext cx="73152" cy="32004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TextBox 26"/>
          <p:cNvSpPr txBox="1"/>
          <p:nvPr/>
        </p:nvSpPr>
        <p:spPr bwMode="auto">
          <a:xfrm>
            <a:off x="6400800" y="24963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9FF"/>
                </a:solidFill>
                <a:latin typeface="Calibri"/>
              </a:defRPr>
            </a:pPr>
            <a:r>
              <a:rPr/>
              <a:t>Stability</a:t>
            </a:r>
            <a:endParaRPr/>
          </a:p>
        </p:txBody>
      </p:sp>
      <p:sp>
        <p:nvSpPr>
          <p:cNvPr id="28" name="TextBox 27"/>
          <p:cNvSpPr txBox="1"/>
          <p:nvPr/>
        </p:nvSpPr>
        <p:spPr bwMode="auto">
          <a:xfrm>
            <a:off x="8229600" y="249631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rPr/>
              <a:t>Изменение seed -&gt; разброс</a:t>
            </a:r>
            <a:endParaRPr/>
          </a:p>
        </p:txBody>
      </p:sp>
      <p:sp>
        <p:nvSpPr>
          <p:cNvPr id="29" name="Rectangle 28"/>
          <p:cNvSpPr/>
          <p:nvPr/>
        </p:nvSpPr>
        <p:spPr bwMode="auto">
          <a:xfrm>
            <a:off x="6217920" y="2743200"/>
            <a:ext cx="5486400" cy="164592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TextBox 29"/>
          <p:cNvSpPr txBox="1"/>
          <p:nvPr/>
        </p:nvSpPr>
        <p:spPr bwMode="auto">
          <a:xfrm>
            <a:off x="6291072" y="2779776"/>
            <a:ext cx="5340096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for noise_level in [0, 0.01, 0.05, 0.1, 0.2, 0.5, 1.0]: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  X_noisy = X_test.copy()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  X_noisy[top_3] += np.random.normal(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      0, noise_level, X_noisy[top_3].shape)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  rmse = evaluate(model, X_noisy, y_test)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  print(f'Noise {noise_level}: {rmse:.4f}')</a:t>
            </a:r>
            <a:endParaRPr/>
          </a:p>
        </p:txBody>
      </p:sp>
      <p:sp>
        <p:nvSpPr>
          <p:cNvPr id="31" name="TextBox 30"/>
          <p:cNvSpPr txBox="1"/>
          <p:nvPr/>
        </p:nvSpPr>
        <p:spPr bwMode="auto">
          <a:xfrm>
            <a:off x="1152144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0B0C0"/>
                </a:solidFill>
                <a:latin typeface="Calibri"/>
              </a:defRPr>
            </a:pPr>
            <a:r>
              <a:rPr/>
              <a:t>20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1A1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0" y="0"/>
            <a:ext cx="109728" cy="6858000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 bwMode="auto"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rPr/>
              <a:t>GPU + Benchmark Polars vs pandas</a:t>
            </a:r>
            <a:endParaRPr/>
          </a:p>
        </p:txBody>
      </p:sp>
      <p:sp>
        <p:nvSpPr>
          <p:cNvPr id="4" name="TextBox 3"/>
          <p:cNvSpPr txBox="1"/>
          <p:nvPr/>
        </p:nvSpPr>
        <p:spPr bwMode="auto">
          <a:xfrm>
            <a:off x="45720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rPr/>
              <a:t>6 GPU-технологий:</a:t>
            </a:r>
            <a:endParaRPr/>
          </a:p>
        </p:txBody>
      </p:sp>
      <p:sp>
        <p:nvSpPr>
          <p:cNvPr id="5" name="Rectangle 4"/>
          <p:cNvSpPr/>
          <p:nvPr/>
        </p:nvSpPr>
        <p:spPr bwMode="auto">
          <a:xfrm>
            <a:off x="457200" y="1280160"/>
            <a:ext cx="73152" cy="32004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TextBox 5"/>
          <p:cNvSpPr txBox="1"/>
          <p:nvPr/>
        </p:nvSpPr>
        <p:spPr bwMode="auto">
          <a:xfrm>
            <a:off x="640080" y="12618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9FF"/>
                </a:solidFill>
                <a:latin typeface="Calibri"/>
              </a:defRPr>
            </a:pPr>
            <a:r>
              <a:rPr/>
              <a:t>CuPy</a:t>
            </a:r>
            <a:endParaRPr/>
          </a:p>
        </p:txBody>
      </p:sp>
      <p:sp>
        <p:nvSpPr>
          <p:cNvPr id="7" name="TextBox 6"/>
          <p:cNvSpPr txBox="1"/>
          <p:nvPr/>
        </p:nvSpPr>
        <p:spPr bwMode="auto">
          <a:xfrm>
            <a:off x="2560320" y="126187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rPr/>
              <a:t>GPU массивы (замена NumPy)</a:t>
            </a:r>
            <a:endParaRPr/>
          </a:p>
        </p:txBody>
      </p:sp>
      <p:sp>
        <p:nvSpPr>
          <p:cNvPr id="8" name="Rectangle 7"/>
          <p:cNvSpPr/>
          <p:nvPr/>
        </p:nvSpPr>
        <p:spPr bwMode="auto">
          <a:xfrm>
            <a:off x="457200" y="1691639"/>
            <a:ext cx="73152" cy="32004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TextBox 8"/>
          <p:cNvSpPr txBox="1"/>
          <p:nvPr/>
        </p:nvSpPr>
        <p:spPr bwMode="auto">
          <a:xfrm>
            <a:off x="640080" y="167335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FF88"/>
                </a:solidFill>
                <a:latin typeface="Calibri"/>
              </a:defRPr>
            </a:pPr>
            <a:r>
              <a:rPr/>
              <a:t>cuML (RAPIDS)</a:t>
            </a:r>
            <a:endParaRPr/>
          </a:p>
        </p:txBody>
      </p:sp>
      <p:sp>
        <p:nvSpPr>
          <p:cNvPr id="10" name="TextBox 9"/>
          <p:cNvSpPr txBox="1"/>
          <p:nvPr/>
        </p:nvSpPr>
        <p:spPr bwMode="auto">
          <a:xfrm>
            <a:off x="2560320" y="1673351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rPr/>
              <a:t>Ridge/RF на GPU</a:t>
            </a:r>
            <a:endParaRPr/>
          </a:p>
        </p:txBody>
      </p:sp>
      <p:sp>
        <p:nvSpPr>
          <p:cNvPr id="11" name="Rectangle 10"/>
          <p:cNvSpPr/>
          <p:nvPr/>
        </p:nvSpPr>
        <p:spPr bwMode="auto">
          <a:xfrm>
            <a:off x="457200" y="2103120"/>
            <a:ext cx="73152" cy="32004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TextBox 11"/>
          <p:cNvSpPr txBox="1"/>
          <p:nvPr/>
        </p:nvSpPr>
        <p:spPr bwMode="auto">
          <a:xfrm>
            <a:off x="640080" y="208483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A000"/>
                </a:solidFill>
                <a:latin typeface="Calibri"/>
              </a:defRPr>
            </a:pPr>
            <a:r>
              <a:rPr/>
              <a:t>XGBoost GPU</a:t>
            </a:r>
            <a:endParaRPr/>
          </a:p>
        </p:txBody>
      </p:sp>
      <p:sp>
        <p:nvSpPr>
          <p:cNvPr id="13" name="TextBox 12"/>
          <p:cNvSpPr txBox="1"/>
          <p:nvPr/>
        </p:nvSpPr>
        <p:spPr bwMode="auto">
          <a:xfrm>
            <a:off x="2560320" y="2084831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rPr/>
              <a:t>tree_method='hist', device='cuda'</a:t>
            </a:r>
            <a:endParaRPr/>
          </a:p>
        </p:txBody>
      </p:sp>
      <p:sp>
        <p:nvSpPr>
          <p:cNvPr id="14" name="Rectangle 13"/>
          <p:cNvSpPr/>
          <p:nvPr/>
        </p:nvSpPr>
        <p:spPr bwMode="auto">
          <a:xfrm>
            <a:off x="457200" y="2514600"/>
            <a:ext cx="73152" cy="320040"/>
          </a:xfrm>
          <a:prstGeom prst="rect">
            <a:avLst/>
          </a:prstGeom>
          <a:solidFill>
            <a:srgbClr val="BB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TextBox 14"/>
          <p:cNvSpPr txBox="1"/>
          <p:nvPr/>
        </p:nvSpPr>
        <p:spPr bwMode="auto">
          <a:xfrm>
            <a:off x="640080" y="24963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B88FF"/>
                </a:solidFill>
                <a:latin typeface="Calibri"/>
              </a:defRPr>
            </a:pPr>
            <a:r>
              <a:rPr/>
              <a:t>LightGBM GPU</a:t>
            </a:r>
            <a:endParaRPr/>
          </a:p>
        </p:txBody>
      </p:sp>
      <p:sp>
        <p:nvSpPr>
          <p:cNvPr id="16" name="TextBox 15"/>
          <p:cNvSpPr txBox="1"/>
          <p:nvPr/>
        </p:nvSpPr>
        <p:spPr bwMode="auto">
          <a:xfrm>
            <a:off x="2560320" y="249631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rPr/>
              <a:t>device='gpu'</a:t>
            </a:r>
            <a:endParaRPr/>
          </a:p>
        </p:txBody>
      </p:sp>
      <p:sp>
        <p:nvSpPr>
          <p:cNvPr id="17" name="Rectangle 16"/>
          <p:cNvSpPr/>
          <p:nvPr/>
        </p:nvSpPr>
        <p:spPr bwMode="auto">
          <a:xfrm>
            <a:off x="457200" y="2926080"/>
            <a:ext cx="73152" cy="320040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TextBox 17"/>
          <p:cNvSpPr txBox="1"/>
          <p:nvPr/>
        </p:nvSpPr>
        <p:spPr bwMode="auto">
          <a:xfrm>
            <a:off x="640080" y="29077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5555"/>
                </a:solidFill>
                <a:latin typeface="Calibri"/>
              </a:defRPr>
            </a:pPr>
            <a:r>
              <a:rPr/>
              <a:t>PyTorch CUDA</a:t>
            </a:r>
            <a:endParaRPr/>
          </a:p>
        </p:txBody>
      </p:sp>
      <p:sp>
        <p:nvSpPr>
          <p:cNvPr id="19" name="TextBox 18"/>
          <p:cNvSpPr txBox="1"/>
          <p:nvPr/>
        </p:nvSpPr>
        <p:spPr bwMode="auto">
          <a:xfrm>
            <a:off x="2560320" y="290779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rPr/>
              <a:t>TabularNN .to('cuda')</a:t>
            </a:r>
            <a:endParaRPr/>
          </a:p>
        </p:txBody>
      </p:sp>
      <p:sp>
        <p:nvSpPr>
          <p:cNvPr id="20" name="Rectangle 19"/>
          <p:cNvSpPr/>
          <p:nvPr/>
        </p:nvSpPr>
        <p:spPr bwMode="auto">
          <a:xfrm>
            <a:off x="457200" y="3337560"/>
            <a:ext cx="73152" cy="32004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TextBox 20"/>
          <p:cNvSpPr txBox="1"/>
          <p:nvPr/>
        </p:nvSpPr>
        <p:spPr bwMode="auto">
          <a:xfrm>
            <a:off x="640080" y="33192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9FF"/>
                </a:solidFill>
                <a:latin typeface="Calibri"/>
              </a:defRPr>
            </a:pPr>
            <a:r>
              <a:rPr/>
              <a:t>Polars GPU</a:t>
            </a:r>
            <a:endParaRPr/>
          </a:p>
        </p:txBody>
      </p:sp>
      <p:sp>
        <p:nvSpPr>
          <p:cNvPr id="22" name="TextBox 21"/>
          <p:cNvSpPr txBox="1"/>
          <p:nvPr/>
        </p:nvSpPr>
        <p:spPr bwMode="auto">
          <a:xfrm>
            <a:off x="2560320" y="331927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rPr/>
              <a:t>GPU Data Frame (эксперимент.)</a:t>
            </a:r>
            <a:endParaRPr/>
          </a:p>
        </p:txBody>
      </p:sp>
      <p:sp>
        <p:nvSpPr>
          <p:cNvPr id="23" name="TextBox 22"/>
          <p:cNvSpPr txBox="1"/>
          <p:nvPr/>
        </p:nvSpPr>
        <p:spPr bwMode="auto">
          <a:xfrm>
            <a:off x="621792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rPr/>
              <a:t>Benchmark (1.4M строк):</a:t>
            </a:r>
            <a:endParaRPr/>
          </a:p>
        </p:txBody>
      </p:sp>
      <p:graphicFrame>
        <p:nvGraphicFramePr>
          <p:cNvPr id="24" name="Table 23"/>
          <p:cNvGraphicFramePr>
            <a:graphicFrameLocks xmlns:a="http://schemas.openxmlformats.org/drawingml/2006/main" noGrp="1"/>
          </p:cNvGraphicFramePr>
          <p:nvPr/>
        </p:nvGraphicFramePr>
        <p:xfrm>
          <a:off x="6217920" y="1280160"/>
          <a:ext cx="5486400" cy="1755648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292608">
                <a:tc>
                  <a:txBody>
                    <a:bodyPr/>
                    <a:p>
                      <a:pPr>
                        <a:defRPr sz="1100" b="1">
                          <a:solidFill>
                            <a:srgbClr val="00D9FF"/>
                          </a:solidFill>
                          <a:latin typeface="Calibri"/>
                        </a:defRPr>
                      </a:pPr>
                      <a:r>
                        <a:rPr/>
                        <a:t>Операция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 b="1">
                          <a:solidFill>
                            <a:srgbClr val="00D9FF"/>
                          </a:solidFill>
                          <a:latin typeface="Calibri"/>
                        </a:defRPr>
                      </a:pPr>
                      <a:r>
                        <a:rPr/>
                        <a:t>pandas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 b="1">
                          <a:solidFill>
                            <a:srgbClr val="00D9FF"/>
                          </a:solidFill>
                          <a:latin typeface="Calibri"/>
                        </a:defRPr>
                      </a:pPr>
                      <a:r>
                        <a:rPr/>
                        <a:t>Polars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 b="1">
                          <a:solidFill>
                            <a:srgbClr val="00D9FF"/>
                          </a:solidFill>
                          <a:latin typeface="Calibri"/>
                        </a:defRPr>
                      </a:pPr>
                      <a:r>
                        <a:rPr/>
                        <a:t>Ускор.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read_csv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12.8s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3.2s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4.0x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null_count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0.45s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0.06s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7.5x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groupby+agg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1.8s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0.15s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12.0x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filter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0.9s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0.18s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5.0x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sort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1.2s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0.35s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3.4x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 bwMode="auto">
          <a:xfrm>
            <a:off x="457200" y="3931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FF88"/>
                </a:solidFill>
                <a:latin typeface="Calibri"/>
              </a:defRPr>
            </a:pPr>
            <a:r>
              <a:rPr/>
              <a:t>Ключевые преимущества Polars:</a:t>
            </a:r>
            <a:endParaRPr/>
          </a:p>
        </p:txBody>
      </p:sp>
      <p:sp>
        <p:nvSpPr>
          <p:cNvPr id="26" name="TextBox 25"/>
          <p:cNvSpPr txBox="1"/>
          <p:nvPr/>
        </p:nvSpPr>
        <p:spPr bwMode="auto">
          <a:xfrm>
            <a:off x="457200" y="4297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rPr/>
              <a:t>- Параллелизм по ядрам (Rust + Arrow)</a:t>
            </a:r>
            <a:endParaRPr/>
          </a:p>
        </p:txBody>
      </p:sp>
      <p:sp>
        <p:nvSpPr>
          <p:cNvPr id="27" name="TextBox 26"/>
          <p:cNvSpPr txBox="1"/>
          <p:nvPr/>
        </p:nvSpPr>
        <p:spPr bwMode="auto">
          <a:xfrm>
            <a:off x="457200" y="459028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rPr/>
              <a:t>- Lazy API: оптимизация плана запроса</a:t>
            </a:r>
            <a:endParaRPr/>
          </a:p>
        </p:txBody>
      </p:sp>
      <p:sp>
        <p:nvSpPr>
          <p:cNvPr id="28" name="TextBox 27"/>
          <p:cNvSpPr txBox="1"/>
          <p:nvPr/>
        </p:nvSpPr>
        <p:spPr bwMode="auto">
          <a:xfrm>
            <a:off x="457200" y="488289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rPr/>
              <a:t>- Streaming: данные &gt; RAM</a:t>
            </a:r>
            <a:endParaRPr/>
          </a:p>
        </p:txBody>
      </p:sp>
      <p:sp>
        <p:nvSpPr>
          <p:cNvPr id="29" name="TextBox 28"/>
          <p:cNvSpPr txBox="1"/>
          <p:nvPr/>
        </p:nvSpPr>
        <p:spPr bwMode="auto">
          <a:xfrm>
            <a:off x="457200" y="517550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rPr/>
              <a:t>- Меньше памяти (нет индексов)</a:t>
            </a:r>
            <a:endParaRPr/>
          </a:p>
        </p:txBody>
      </p:sp>
      <p:sp>
        <p:nvSpPr>
          <p:cNvPr id="30" name="TextBox 29"/>
          <p:cNvSpPr txBox="1"/>
          <p:nvPr/>
        </p:nvSpPr>
        <p:spPr bwMode="auto">
          <a:xfrm>
            <a:off x="457200" y="546811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rPr/>
              <a:t>- Expression API без for-циклов</a:t>
            </a:r>
            <a:endParaRPr/>
          </a:p>
        </p:txBody>
      </p:sp>
      <p:sp>
        <p:nvSpPr>
          <p:cNvPr id="31" name="TextBox 30"/>
          <p:cNvSpPr txBox="1"/>
          <p:nvPr/>
        </p:nvSpPr>
        <p:spPr bwMode="auto">
          <a:xfrm>
            <a:off x="1152144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0B0C0"/>
                </a:solidFill>
                <a:latin typeface="Calibri"/>
              </a:defRPr>
            </a:pPr>
            <a:r>
              <a:rPr/>
              <a:t>21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1A1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0" y="0"/>
            <a:ext cx="109728" cy="6858000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 bwMode="auto"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rPr/>
              <a:t>Pipeline и ColumnTransformer</a:t>
            </a:r>
            <a:endParaRPr/>
          </a:p>
        </p:txBody>
      </p:sp>
      <p:sp>
        <p:nvSpPr>
          <p:cNvPr id="4" name="TextBox 3"/>
          <p:cNvSpPr txBox="1"/>
          <p:nvPr/>
        </p:nvSpPr>
        <p:spPr bwMode="auto"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rPr/>
              <a:t>Все этапы предобработки в одном объекте, сохранение через joblib</a:t>
            </a:r>
            <a:endParaRPr/>
          </a:p>
        </p:txBody>
      </p:sp>
      <p:sp>
        <p:nvSpPr>
          <p:cNvPr id="5" name="Rectangle 4"/>
          <p:cNvSpPr/>
          <p:nvPr/>
        </p:nvSpPr>
        <p:spPr bwMode="auto">
          <a:xfrm>
            <a:off x="457200" y="1371600"/>
            <a:ext cx="11247120" cy="438912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TextBox 5"/>
          <p:cNvSpPr txBox="1"/>
          <p:nvPr/>
        </p:nvSpPr>
        <p:spPr bwMode="auto">
          <a:xfrm>
            <a:off x="530352" y="1408176"/>
            <a:ext cx="11100816" cy="431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from sklearn.pipeline import Pipeline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from sklearn.compose import ColumnTransformer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from sklearn.preprocessing import StandardScaler, OneHotEncoder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numeric_features = ['price', 'shipping', 'name_len']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categorical_features = ['item_condition_id', 'brand_clean']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preprocessor = ColumnTransformer(transformers=[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  ('num', Pipeline([('imputer', SimpleImputer(strategy='median')),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                     ('scaler', StandardScaler())]), numeric_features),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  ('cat', Pipeline([('imputer', SimpleImputer(fill_value='missing')),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                    ('encoder', OneHotEncoder(handle_unknown='ignore'))]), categorical_features),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])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pipeline = Pipeline([('preprocessor', preprocessor), ('model', XGBRegressor())])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pipeline.fit(X_train, y_train)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import joblib; joblib.dump(pipeline, 'model.pkl')</a:t>
            </a:r>
            <a:endParaRPr/>
          </a:p>
        </p:txBody>
      </p:sp>
      <p:sp>
        <p:nvSpPr>
          <p:cNvPr id="7" name="TextBox 6"/>
          <p:cNvSpPr txBox="1"/>
          <p:nvPr/>
        </p:nvSpPr>
        <p:spPr bwMode="auto">
          <a:xfrm>
            <a:off x="1152144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0B0C0"/>
                </a:solidFill>
                <a:latin typeface="Calibri"/>
              </a:defRPr>
            </a:pPr>
            <a:r>
              <a:rPr/>
              <a:t>22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1A1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0" y="0"/>
            <a:ext cx="109728" cy="68580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 bwMode="auto"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rPr/>
              <a:t>Уровень 3 — Базовый (7 баллов): варианты 1-5</a:t>
            </a:r>
            <a:endParaRPr/>
          </a:p>
        </p:txBody>
      </p:sp>
      <p:graphicFrame>
        <p:nvGraphicFramePr>
          <p:cNvPr id="4" name="Table 3"/>
          <p:cNvGraphicFramePr>
            <a:graphicFrameLocks xmlns:a="http://schemas.openxmlformats.org/drawingml/2006/main" noGrp="1"/>
          </p:cNvGraphicFramePr>
          <p:nvPr/>
        </p:nvGraphicFramePr>
        <p:xfrm>
          <a:off x="457200" y="914400"/>
          <a:ext cx="11247120" cy="1755648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548640"/>
                <a:gridCol w="2743200"/>
                <a:gridCol w="1097280"/>
                <a:gridCol w="1828800"/>
                <a:gridCol w="5029200"/>
              </a:tblGrid>
              <a:tr h="292608">
                <a:tc>
                  <a:txBody>
                    <a:bodyPr/>
                    <a:p>
                      <a:pPr>
                        <a:defRPr sz="1200" b="1">
                          <a:solidFill>
                            <a:srgbClr val="00D9FF"/>
                          </a:solidFill>
                          <a:latin typeface="Calibri"/>
                        </a:defRPr>
                      </a:pPr>
                      <a:r>
                        <a:rPr/>
                        <a:t>№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200" b="1">
                          <a:solidFill>
                            <a:srgbClr val="00D9FF"/>
                          </a:solidFill>
                          <a:latin typeface="Calibri"/>
                        </a:defRPr>
                      </a:pPr>
                      <a:r>
                        <a:rPr/>
                        <a:t>Датасет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200" b="1">
                          <a:solidFill>
                            <a:srgbClr val="00D9FF"/>
                          </a:solidFill>
                          <a:latin typeface="Calibri"/>
                        </a:defRPr>
                      </a:pPr>
                      <a:r>
                        <a:rPr/>
                        <a:t>Размер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200" b="1">
                          <a:solidFill>
                            <a:srgbClr val="00D9FF"/>
                          </a:solidFill>
                          <a:latin typeface="Calibri"/>
                        </a:defRPr>
                      </a:pPr>
                      <a:r>
                        <a:rPr/>
                        <a:t>Целевая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200" b="1">
                          <a:solidFill>
                            <a:srgbClr val="00D9FF"/>
                          </a:solidFill>
                          <a:latin typeface="Calibri"/>
                        </a:defRPr>
                      </a:pPr>
                      <a:r>
                        <a:rPr/>
                        <a:t>Доп. задание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3.1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Wine Reviews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130K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points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Словарь color -&gt; переменная цвета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3.2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Diamonds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54K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price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quality_tier из cut+clarity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3.3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Auto MPG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398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mpg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manufacturer из car_name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3.4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California Housing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20K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MedHouseVal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income_tier из MedInc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3.5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Insurance Cost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1.3K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charges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risk = smoker + age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 bwMode="auto">
          <a:xfrm>
            <a:off x="457200" y="3200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FF88"/>
                </a:solidFill>
                <a:latin typeface="Calibri"/>
              </a:defRPr>
            </a:pPr>
            <a:r>
              <a:rPr/>
              <a:t>Требования: 5 моделей | One-Hot | 4 метрики | корреляция &gt;0.95 | логарифмирование</a:t>
            </a:r>
            <a:endParaRPr/>
          </a:p>
        </p:txBody>
      </p:sp>
      <p:sp>
        <p:nvSpPr>
          <p:cNvPr id="6" name="TextBox 5"/>
          <p:cNvSpPr txBox="1"/>
          <p:nvPr/>
        </p:nvSpPr>
        <p:spPr bwMode="auto">
          <a:xfrm>
            <a:off x="457200" y="3657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rPr/>
              <a:t>Критерии: EDA (1.5) + модели (2) + метрики (1.5) + FE (1) + визуализация (1) = 7</a:t>
            </a:r>
            <a:endParaRPr/>
          </a:p>
        </p:txBody>
      </p:sp>
      <p:sp>
        <p:nvSpPr>
          <p:cNvPr id="7" name="Rectangle 6"/>
          <p:cNvSpPr/>
          <p:nvPr/>
        </p:nvSpPr>
        <p:spPr bwMode="auto">
          <a:xfrm>
            <a:off x="457200" y="4206240"/>
            <a:ext cx="11247120" cy="201168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TextBox 7"/>
          <p:cNvSpPr txBox="1"/>
          <p:nvPr/>
        </p:nvSpPr>
        <p:spPr bwMode="auto">
          <a:xfrm>
            <a:off x="530352" y="4242816"/>
            <a:ext cx="11100816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200">
                <a:solidFill>
                  <a:srgbClr val="80FF80"/>
                </a:solidFill>
                <a:latin typeface="Consolas"/>
              </a:defRPr>
            </a:pPr>
            <a:r>
              <a:rPr/>
              <a:t># Пример: словарь цвета вина в Polars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200">
                <a:solidFill>
                  <a:srgbClr val="E0E0FF"/>
                </a:solidFill>
                <a:latin typeface="Consolas"/>
              </a:defRPr>
            </a:pPr>
            <a:r>
              <a:rPr/>
              <a:t>color_map = {'Chardonnay': 'white', 'Pinot Noir': 'red', 'Cabernet Sauvignon': 'red', ...}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200">
                <a:solidFill>
                  <a:srgbClr val="E0E0FF"/>
                </a:solidFill>
                <a:latin typeface="Consolas"/>
              </a:defRPr>
            </a:pPr>
            <a:r>
              <a:rPr/>
              <a:t>df = df.with_columns(pl.col('variety').replace(color_map).alias('color'))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200">
                <a:solidFill>
                  <a:srgbClr val="E0E0FF"/>
                </a:solidFill>
                <a:latin typeface="Consolas"/>
              </a:defRPr>
            </a:pPr>
            <a:r>
              <a:rPr/>
              <a:t>df = df.filter(pl.col('color').is_not_null())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200">
                <a:solidFill>
                  <a:srgbClr val="80FF80"/>
                </a:solidFill>
                <a:latin typeface="Consolas"/>
              </a:defRPr>
            </a:pPr>
            <a:r>
              <a:rPr/>
              <a:t># Провинция с лучшими рейтингами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200">
                <a:solidFill>
                  <a:srgbClr val="E0E0FF"/>
                </a:solidFill>
                <a:latin typeface="Consolas"/>
              </a:defRPr>
            </a:pPr>
            <a:r>
              <a:rPr/>
              <a:t>best = df.group_by('province').agg(pl.col('points').mean()).sort('points', descending=True).head(1)</a:t>
            </a:r>
            <a:endParaRPr/>
          </a:p>
        </p:txBody>
      </p:sp>
      <p:sp>
        <p:nvSpPr>
          <p:cNvPr id="9" name="TextBox 8"/>
          <p:cNvSpPr txBox="1"/>
          <p:nvPr/>
        </p:nvSpPr>
        <p:spPr bwMode="auto">
          <a:xfrm>
            <a:off x="1152144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0B0C0"/>
                </a:solidFill>
                <a:latin typeface="Calibri"/>
              </a:defRPr>
            </a:pPr>
            <a:r>
              <a:rPr/>
              <a:t>23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1A1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0" y="0"/>
            <a:ext cx="109728" cy="68580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 bwMode="auto"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rPr/>
              <a:t>Уровень 3 — Базовый (7 баллов): варианты 6-10</a:t>
            </a:r>
            <a:endParaRPr/>
          </a:p>
        </p:txBody>
      </p:sp>
      <p:graphicFrame>
        <p:nvGraphicFramePr>
          <p:cNvPr id="4" name="Table 3"/>
          <p:cNvGraphicFramePr>
            <a:graphicFrameLocks xmlns:a="http://schemas.openxmlformats.org/drawingml/2006/main" noGrp="1"/>
          </p:cNvGraphicFramePr>
          <p:nvPr/>
        </p:nvGraphicFramePr>
        <p:xfrm>
          <a:off x="457200" y="914400"/>
          <a:ext cx="11247120" cy="1755648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548640"/>
                <a:gridCol w="2743200"/>
                <a:gridCol w="1097280"/>
                <a:gridCol w="1828800"/>
                <a:gridCol w="5029200"/>
              </a:tblGrid>
              <a:tr h="292608">
                <a:tc>
                  <a:txBody>
                    <a:bodyPr/>
                    <a:p>
                      <a:pPr>
                        <a:defRPr sz="1200" b="1">
                          <a:solidFill>
                            <a:srgbClr val="00D9FF"/>
                          </a:solidFill>
                          <a:latin typeface="Calibri"/>
                        </a:defRPr>
                      </a:pPr>
                      <a:r>
                        <a:rPr/>
                        <a:t>№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200" b="1">
                          <a:solidFill>
                            <a:srgbClr val="00D9FF"/>
                          </a:solidFill>
                          <a:latin typeface="Calibri"/>
                        </a:defRPr>
                      </a:pPr>
                      <a:r>
                        <a:rPr/>
                        <a:t>Датасет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200" b="1">
                          <a:solidFill>
                            <a:srgbClr val="00D9FF"/>
                          </a:solidFill>
                          <a:latin typeface="Calibri"/>
                        </a:defRPr>
                      </a:pPr>
                      <a:r>
                        <a:rPr/>
                        <a:t>Размер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200" b="1">
                          <a:solidFill>
                            <a:srgbClr val="00D9FF"/>
                          </a:solidFill>
                          <a:latin typeface="Calibri"/>
                        </a:defRPr>
                      </a:pPr>
                      <a:r>
                        <a:rPr/>
                        <a:t>Целевая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200" b="1">
                          <a:solidFill>
                            <a:srgbClr val="00D9FF"/>
                          </a:solidFill>
                          <a:latin typeface="Calibri"/>
                        </a:defRPr>
                      </a:pPr>
                      <a:r>
                        <a:rPr/>
                        <a:t>Доп. задание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3.6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Fish Market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159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Weight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size_class из Length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3.7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Real Estate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414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Y_house_price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dist_class из MRT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3.8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Abalone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4.2K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Rings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age_class из Rings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3.9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Bike Sharing Day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17K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cnt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season_name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3.10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Student Performance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649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G3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performance из G3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 bwMode="auto">
          <a:xfrm>
            <a:off x="457200" y="3200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rPr/>
              <a:t>Общий шаблон: загрузка -&gt; схема -&gt; пропуски -&gt; EDA -&gt; кодирование -&gt; 5 моделей -&gt; метрики</a:t>
            </a:r>
            <a:endParaRPr/>
          </a:p>
        </p:txBody>
      </p:sp>
      <p:sp>
        <p:nvSpPr>
          <p:cNvPr id="6" name="TextBox 5"/>
          <p:cNvSpPr txBox="1"/>
          <p:nvPr/>
        </p:nvSpPr>
        <p:spPr bwMode="auto">
          <a:xfrm>
            <a:off x="457200" y="3840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5555"/>
                </a:solidFill>
                <a:latin typeface="Calibri"/>
              </a:defRPr>
            </a:pPr>
            <a:r>
              <a:rPr/>
              <a:t>Типичные ошибки уровня 3:</a:t>
            </a:r>
            <a:endParaRPr/>
          </a:p>
        </p:txBody>
      </p:sp>
      <p:sp>
        <p:nvSpPr>
          <p:cNvPr id="7" name="TextBox 6"/>
          <p:cNvSpPr txBox="1"/>
          <p:nvPr/>
        </p:nvSpPr>
        <p:spPr bwMode="auto">
          <a:xfrm>
            <a:off x="457200" y="4206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5555"/>
                </a:solidFill>
                <a:latin typeface="Calibri"/>
              </a:defRPr>
            </a:pPr>
            <a:r>
              <a:rPr/>
              <a:t>- Удаляют пропуски вместо кодирования как 'missing'</a:t>
            </a:r>
            <a:endParaRPr/>
          </a:p>
        </p:txBody>
      </p:sp>
      <p:sp>
        <p:nvSpPr>
          <p:cNvPr id="8" name="TextBox 7"/>
          <p:cNvSpPr txBox="1"/>
          <p:nvPr/>
        </p:nvSpPr>
        <p:spPr bwMode="auto">
          <a:xfrm>
            <a:off x="457200" y="4526279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5555"/>
                </a:solidFill>
                <a:latin typeface="Calibri"/>
              </a:defRPr>
            </a:pPr>
            <a:r>
              <a:rPr/>
              <a:t>- Не логарифмируют скошенную целевую переменную</a:t>
            </a:r>
            <a:endParaRPr/>
          </a:p>
        </p:txBody>
      </p:sp>
      <p:sp>
        <p:nvSpPr>
          <p:cNvPr id="9" name="TextBox 8"/>
          <p:cNvSpPr txBox="1"/>
          <p:nvPr/>
        </p:nvSpPr>
        <p:spPr bwMode="auto">
          <a:xfrm>
            <a:off x="457200" y="4846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5555"/>
                </a:solidFill>
                <a:latin typeface="Calibri"/>
              </a:defRPr>
            </a:pPr>
            <a:r>
              <a:rPr/>
              <a:t>- Забывают удалить коррелирующие признаки (&gt;0.95)</a:t>
            </a:r>
            <a:endParaRPr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5166359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5555"/>
                </a:solidFill>
                <a:latin typeface="Calibri"/>
              </a:defRPr>
            </a:pPr>
            <a:r>
              <a:rPr/>
              <a:t>- Не сравнивают модели в сводной таблице</a:t>
            </a:r>
            <a:endParaRPr/>
          </a:p>
        </p:txBody>
      </p:sp>
      <p:sp>
        <p:nvSpPr>
          <p:cNvPr id="11" name="TextBox 10"/>
          <p:cNvSpPr txBox="1"/>
          <p:nvPr/>
        </p:nvSpPr>
        <p:spPr bwMode="auto">
          <a:xfrm>
            <a:off x="1152144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0B0C0"/>
                </a:solidFill>
                <a:latin typeface="Calibri"/>
              </a:defRPr>
            </a:pPr>
            <a:r>
              <a:rPr/>
              <a:t>24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1A1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0" y="0"/>
            <a:ext cx="109728" cy="685800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 bwMode="auto">
          <a:xfrm>
            <a:off x="457200" y="365760"/>
            <a:ext cx="10974959" cy="488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rPr/>
              <a:t>Уровень 4 — Продвинутый (9): варианты 1-5</a:t>
            </a:r>
            <a:endParaRPr/>
          </a:p>
        </p:txBody>
      </p:sp>
      <p:graphicFrame>
        <p:nvGraphicFramePr>
          <p:cNvPr id="4" name="Table 3"/>
          <p:cNvGraphicFramePr>
            <a:graphicFrameLocks xmlns:a="http://schemas.openxmlformats.org/drawingml/2006/main" noGrp="1"/>
          </p:cNvGraphicFramePr>
          <p:nvPr/>
        </p:nvGraphicFramePr>
        <p:xfrm>
          <a:off x="457200" y="914400"/>
          <a:ext cx="11247120" cy="1755648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548640"/>
                <a:gridCol w="2743200"/>
                <a:gridCol w="1828800"/>
                <a:gridCol w="1371600"/>
                <a:gridCol w="4754880"/>
              </a:tblGrid>
              <a:tr h="292608">
                <a:tc>
                  <a:txBody>
                    <a:bodyPr/>
                    <a:p>
                      <a:pPr>
                        <a:defRPr sz="1100" b="1">
                          <a:solidFill>
                            <a:srgbClr val="00D9FF"/>
                          </a:solidFill>
                          <a:latin typeface="Calibri"/>
                        </a:defRPr>
                      </a:pPr>
                      <a:r>
                        <a:rPr/>
                        <a:t>№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 b="1">
                          <a:solidFill>
                            <a:srgbClr val="00D9FF"/>
                          </a:solidFill>
                          <a:latin typeface="Calibri"/>
                        </a:defRPr>
                      </a:pPr>
                      <a:r>
                        <a:rPr/>
                        <a:t>Датасет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 b="1">
                          <a:solidFill>
                            <a:srgbClr val="00D9FF"/>
                          </a:solidFill>
                          <a:latin typeface="Calibri"/>
                        </a:defRPr>
                      </a:pPr>
                      <a:r>
                        <a:rPr/>
                        <a:t>Размер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 b="1">
                          <a:solidFill>
                            <a:srgbClr val="00D9FF"/>
                          </a:solidFill>
                          <a:latin typeface="Calibri"/>
                        </a:defRPr>
                      </a:pPr>
                      <a:r>
                        <a:rPr/>
                        <a:t>Целевая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 b="1">
                          <a:solidFill>
                            <a:srgbClr val="00D9FF"/>
                          </a:solidFill>
                          <a:latin typeface="Calibri"/>
                        </a:defRPr>
                      </a:pPr>
                      <a:r>
                        <a:rPr/>
                        <a:t>Специфика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4.1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House Prices Advanced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1.4K x79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SalePrice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43 катег., VIF, Target enc.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4.2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NYC Airbnb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49K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price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Geo FE, KMeans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4.3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Bike Sharing Hourly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17.4K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cnt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Time FE: sin/cos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4.4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Online News Popularity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39.6K x61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shares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TF-IDF, 60 признаков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4.5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Facebook Comments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4M-&gt;300K x54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Target_Comment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Streaming, сэмплир.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 bwMode="auto">
          <a:xfrm>
            <a:off x="457200" y="3200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A000"/>
                </a:solidFill>
                <a:latin typeface="Calibri"/>
              </a:defRPr>
            </a:pPr>
            <a:r>
              <a:rPr/>
              <a:t>Что добавляется на уровне 4:</a:t>
            </a:r>
            <a:endParaRPr/>
          </a:p>
        </p:txBody>
      </p:sp>
      <p:sp>
        <p:nvSpPr>
          <p:cNvPr id="6" name="TextBox 5"/>
          <p:cNvSpPr txBox="1"/>
          <p:nvPr/>
        </p:nvSpPr>
        <p:spPr bwMode="auto">
          <a:xfrm>
            <a:off x="457200" y="3566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/>
              <a:t>- Lazy API + .explain() — анализ плана запроса</a:t>
            </a:r>
            <a:endParaRPr/>
          </a:p>
        </p:txBody>
      </p:sp>
      <p:sp>
        <p:nvSpPr>
          <p:cNvPr id="7" name="TextBox 6"/>
          <p:cNvSpPr txBox="1"/>
          <p:nvPr/>
        </p:nvSpPr>
        <p:spPr bwMode="auto">
          <a:xfrm>
            <a:off x="457200" y="3858768"/>
            <a:ext cx="10974959" cy="27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/>
              <a:t>- модели (+ElasticNet, SVR, XGBoost/LightGBM/CatBoost)</a:t>
            </a:r>
            <a:endParaRPr/>
          </a:p>
        </p:txBody>
      </p:sp>
      <p:sp>
        <p:nvSpPr>
          <p:cNvPr id="8" name="TextBox 7"/>
          <p:cNvSpPr txBox="1"/>
          <p:nvPr/>
        </p:nvSpPr>
        <p:spPr bwMode="auto">
          <a:xfrm>
            <a:off x="457200" y="415137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/>
              <a:t>- 3 метода кодирования (One-Hot, Target, Hash/Frequency)</a:t>
            </a:r>
            <a:endParaRPr/>
          </a:p>
        </p:txBody>
      </p:sp>
      <p:sp>
        <p:nvSpPr>
          <p:cNvPr id="9" name="TextBox 8"/>
          <p:cNvSpPr txBox="1"/>
          <p:nvPr/>
        </p:nvSpPr>
        <p:spPr bwMode="auto">
          <a:xfrm>
            <a:off x="457200" y="4443983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/>
              <a:t>- VIF &gt; 10 -&gt; удалить + RFE/SelectKBest</a:t>
            </a:r>
            <a:endParaRPr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47365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/>
              <a:t>- Optuna 50+ trials (TPE) + SHAP summary/dependence</a:t>
            </a:r>
            <a:endParaRPr/>
          </a:p>
        </p:txBody>
      </p:sp>
      <p:sp>
        <p:nvSpPr>
          <p:cNvPr id="11" name="TextBox 10"/>
          <p:cNvSpPr txBox="1"/>
          <p:nvPr/>
        </p:nvSpPr>
        <p:spPr bwMode="auto">
          <a:xfrm>
            <a:off x="457200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/>
              <a:t>- QQ-plot + Shapiro-Wilk + Breusch-Pagan + Durbin-Watson</a:t>
            </a:r>
            <a:endParaRPr/>
          </a:p>
        </p:txBody>
      </p:sp>
      <p:sp>
        <p:nvSpPr>
          <p:cNvPr id="12" name="TextBox 11"/>
          <p:cNvSpPr txBox="1"/>
          <p:nvPr/>
        </p:nvSpPr>
        <p:spPr bwMode="auto">
          <a:xfrm>
            <a:off x="457200" y="53218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/>
              <a:t>- TF-IDF для текстовых колонок + DuckDB SQL</a:t>
            </a:r>
            <a:endParaRPr/>
          </a:p>
        </p:txBody>
      </p:sp>
      <p:sp>
        <p:nvSpPr>
          <p:cNvPr id="13" name="TextBox 12"/>
          <p:cNvSpPr txBox="1"/>
          <p:nvPr/>
        </p:nvSpPr>
        <p:spPr bwMode="auto">
          <a:xfrm>
            <a:off x="457200" y="561441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/>
              <a:t>- Learning curves + benchmark Polars vs pandas</a:t>
            </a:r>
            <a:endParaRPr/>
          </a:p>
        </p:txBody>
      </p:sp>
      <p:sp>
        <p:nvSpPr>
          <p:cNvPr id="14" name="TextBox 13"/>
          <p:cNvSpPr txBox="1"/>
          <p:nvPr/>
        </p:nvSpPr>
        <p:spPr bwMode="auto">
          <a:xfrm>
            <a:off x="1152144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0B0C0"/>
                </a:solidFill>
                <a:latin typeface="Calibri"/>
              </a:defRPr>
            </a:pPr>
            <a:r>
              <a:rPr/>
              <a:t>25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1A1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0" y="0"/>
            <a:ext cx="109728" cy="685800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 bwMode="auto">
          <a:xfrm>
            <a:off x="457200" y="365760"/>
            <a:ext cx="10974959" cy="488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rPr/>
              <a:t>Уровень 4 — Продвинутый (9): варианты 6-10</a:t>
            </a:r>
            <a:endParaRPr/>
          </a:p>
        </p:txBody>
      </p:sp>
      <p:graphicFrame>
        <p:nvGraphicFramePr>
          <p:cNvPr id="4" name="Table 3"/>
          <p:cNvGraphicFramePr>
            <a:graphicFrameLocks xmlns:a="http://schemas.openxmlformats.org/drawingml/2006/main" noGrp="1"/>
          </p:cNvGraphicFramePr>
          <p:nvPr/>
        </p:nvGraphicFramePr>
        <p:xfrm>
          <a:off x="457200" y="914400"/>
          <a:ext cx="11247120" cy="1755648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548640"/>
                <a:gridCol w="2743200"/>
                <a:gridCol w="1828800"/>
                <a:gridCol w="1371600"/>
                <a:gridCol w="4754880"/>
              </a:tblGrid>
              <a:tr h="292608">
                <a:tc>
                  <a:txBody>
                    <a:bodyPr/>
                    <a:p>
                      <a:pPr>
                        <a:defRPr sz="1100" b="1">
                          <a:solidFill>
                            <a:srgbClr val="00D9FF"/>
                          </a:solidFill>
                          <a:latin typeface="Calibri"/>
                        </a:defRPr>
                      </a:pPr>
                      <a:r>
                        <a:rPr/>
                        <a:t>№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 b="1">
                          <a:solidFill>
                            <a:srgbClr val="00D9FF"/>
                          </a:solidFill>
                          <a:latin typeface="Calibri"/>
                        </a:defRPr>
                      </a:pPr>
                      <a:r>
                        <a:rPr/>
                        <a:t>Датасет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 b="1">
                          <a:solidFill>
                            <a:srgbClr val="00D9FF"/>
                          </a:solidFill>
                          <a:latin typeface="Calibri"/>
                        </a:defRPr>
                      </a:pPr>
                      <a:r>
                        <a:rPr/>
                        <a:t>Размер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 b="1">
                          <a:solidFill>
                            <a:srgbClr val="00D9FF"/>
                          </a:solidFill>
                          <a:latin typeface="Calibri"/>
                        </a:defRPr>
                      </a:pPr>
                      <a:r>
                        <a:rPr/>
                        <a:t>Целевая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 b="1">
                          <a:solidFill>
                            <a:srgbClr val="00D9FF"/>
                          </a:solidFill>
                          <a:latin typeface="Calibri"/>
                        </a:defRPr>
                      </a:pPr>
                      <a:r>
                        <a:rPr/>
                        <a:t>Специфика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4.6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Superconductivity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21.3K x82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critical_temp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81 числовой, RFE top-20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4.7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Wine Quality R+W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6.5K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quality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Объединить 2 датасета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4.8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Energy Efficiency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768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Y1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Полиномы degree=2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4.9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Song Popularity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58K-&gt;30K x91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year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PCA до 30, 90 признаков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4.10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NYC Taxi Fare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55M-&gt;300K x8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fare_amount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Streaming+Haversine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 bwMode="auto">
          <a:xfrm>
            <a:off x="457200" y="3200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A000"/>
                </a:solidFill>
                <a:latin typeface="Calibri"/>
              </a:defRPr>
            </a:pPr>
            <a:r>
              <a:rPr/>
              <a:t>Код: Lazy API + VIF</a:t>
            </a:r>
            <a:endParaRPr/>
          </a:p>
        </p:txBody>
      </p:sp>
      <p:sp>
        <p:nvSpPr>
          <p:cNvPr id="6" name="Rectangle 5"/>
          <p:cNvSpPr/>
          <p:nvPr/>
        </p:nvSpPr>
        <p:spPr bwMode="auto">
          <a:xfrm>
            <a:off x="457200" y="3566160"/>
            <a:ext cx="5486400" cy="256032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TextBox 6"/>
          <p:cNvSpPr txBox="1"/>
          <p:nvPr/>
        </p:nvSpPr>
        <p:spPr bwMode="auto">
          <a:xfrm>
            <a:off x="530352" y="3602735"/>
            <a:ext cx="5340096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rPr/>
              <a:t># Lazy API с оптимизацией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lazy = pl.scan_csv('train.csv')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.filter(pl.col('SalePrice') &gt; 0)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.with_columns(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  pl.col('GrLivArea').log()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    .alias('log_area'))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print(lazy.explain())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df = lazy.collect()</a:t>
            </a:r>
            <a:endParaRPr/>
          </a:p>
        </p:txBody>
      </p:sp>
      <p:sp>
        <p:nvSpPr>
          <p:cNvPr id="8" name="TextBox 7"/>
          <p:cNvSpPr txBox="1"/>
          <p:nvPr/>
        </p:nvSpPr>
        <p:spPr bwMode="auto">
          <a:xfrm>
            <a:off x="6217920" y="3200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A000"/>
                </a:solidFill>
                <a:latin typeface="Calibri"/>
              </a:defRPr>
            </a:pPr>
            <a:r>
              <a:rPr/>
              <a:t>Код: Optuna + SHAP</a:t>
            </a:r>
            <a:endParaRPr/>
          </a:p>
        </p:txBody>
      </p:sp>
      <p:sp>
        <p:nvSpPr>
          <p:cNvPr id="9" name="Rectangle 8"/>
          <p:cNvSpPr/>
          <p:nvPr/>
        </p:nvSpPr>
        <p:spPr bwMode="auto">
          <a:xfrm>
            <a:off x="6217920" y="3566160"/>
            <a:ext cx="5486400" cy="256032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TextBox 9"/>
          <p:cNvSpPr txBox="1"/>
          <p:nvPr/>
        </p:nvSpPr>
        <p:spPr bwMode="auto">
          <a:xfrm>
            <a:off x="6291072" y="3602735"/>
            <a:ext cx="5340096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study = optuna.create_study(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direction='minimize',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sampler=optuna.samplers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  .TPESampler())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study.optimize(objective,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n_trials=50)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explainer = shap.TreeExplainer(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  xgb_model)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shap.summary_plot(explainer(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  X_test[:5000]))</a:t>
            </a:r>
            <a:endParaRPr/>
          </a:p>
        </p:txBody>
      </p:sp>
      <p:sp>
        <p:nvSpPr>
          <p:cNvPr id="11" name="TextBox 10"/>
          <p:cNvSpPr txBox="1"/>
          <p:nvPr/>
        </p:nvSpPr>
        <p:spPr bwMode="auto">
          <a:xfrm>
            <a:off x="1152144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0B0C0"/>
                </a:solidFill>
                <a:latin typeface="Calibri"/>
              </a:defRPr>
            </a:pPr>
            <a:r>
              <a:rPr/>
              <a:t>26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1A1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0" y="0"/>
            <a:ext cx="109728" cy="6858000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 bwMode="auto">
          <a:xfrm>
            <a:off x="457200" y="365760"/>
            <a:ext cx="10973520" cy="488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rPr/>
              <a:t>Уровень 5 — Отлично (12 баллов): варианты 1-4</a:t>
            </a:r>
            <a:endParaRPr/>
          </a:p>
        </p:txBody>
      </p:sp>
      <p:graphicFrame>
        <p:nvGraphicFramePr>
          <p:cNvPr id="4" name="Table 3"/>
          <p:cNvGraphicFramePr>
            <a:graphicFrameLocks xmlns:a="http://schemas.openxmlformats.org/drawingml/2006/main" noGrp="1"/>
          </p:cNvGraphicFramePr>
          <p:nvPr/>
        </p:nvGraphicFramePr>
        <p:xfrm>
          <a:off x="457200" y="914400"/>
          <a:ext cx="11247120" cy="146304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548640"/>
                <a:gridCol w="2743200"/>
                <a:gridCol w="1828800"/>
                <a:gridCol w="1828800"/>
                <a:gridCol w="4297680"/>
              </a:tblGrid>
              <a:tr h="292608">
                <a:tc>
                  <a:txBody>
                    <a:bodyPr/>
                    <a:p>
                      <a:pPr>
                        <a:defRPr sz="1100" b="1">
                          <a:solidFill>
                            <a:srgbClr val="00D9FF"/>
                          </a:solidFill>
                          <a:latin typeface="Calibri"/>
                        </a:defRPr>
                      </a:pPr>
                      <a:r>
                        <a:rPr/>
                        <a:t>№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 b="1">
                          <a:solidFill>
                            <a:srgbClr val="00D9FF"/>
                          </a:solidFill>
                          <a:latin typeface="Calibri"/>
                        </a:defRPr>
                      </a:pPr>
                      <a:r>
                        <a:rPr/>
                        <a:t>Датасет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 b="1">
                          <a:solidFill>
                            <a:srgbClr val="00D9FF"/>
                          </a:solidFill>
                          <a:latin typeface="Calibri"/>
                        </a:defRPr>
                      </a:pPr>
                      <a:r>
                        <a:rPr/>
                        <a:t>Размер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 b="1">
                          <a:solidFill>
                            <a:srgbClr val="00D9FF"/>
                          </a:solidFill>
                          <a:latin typeface="Calibri"/>
                        </a:defRPr>
                      </a:pPr>
                      <a:r>
                        <a:rPr/>
                        <a:t>Целевая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 b="1">
                          <a:solidFill>
                            <a:srgbClr val="00D9FF"/>
                          </a:solidFill>
                          <a:latin typeface="Calibri"/>
                        </a:defRPr>
                      </a:pPr>
                      <a:r>
                        <a:rPr/>
                        <a:t>Специфика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5.1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Mercari Price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1.4M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price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SBERT, Conformal, Causal, GPU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5.2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Avito Demand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1.5M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deal_probability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SBERT, DuckDB, Calibration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5.3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Zillow Home Value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3M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logerror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Streaming обязателен, Parquet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5.4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Sberbank Housing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30K x291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price_doc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VIF+PCA+RFE, SBERT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 bwMode="auto">
          <a:xfrm>
            <a:off x="457200" y="2743200"/>
            <a:ext cx="10973160" cy="30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5555"/>
                </a:solidFill>
                <a:latin typeface="Calibri"/>
              </a:defRPr>
            </a:pPr>
            <a:r>
              <a:rPr/>
              <a:t>Что добавляется на уровне 5 :</a:t>
            </a:r>
            <a:endParaRPr/>
          </a:p>
        </p:txBody>
      </p:sp>
      <p:sp>
        <p:nvSpPr>
          <p:cNvPr id="6" name="TextBox 5"/>
          <p:cNvSpPr txBox="1"/>
          <p:nvPr/>
        </p:nvSpPr>
        <p:spPr bwMode="auto">
          <a:xfrm>
            <a:off x="457200" y="3108960"/>
            <a:ext cx="10974599" cy="27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/>
              <a:t>-  модели (+Quantile, RANSAC, PyTorch NN, Stacking, CatBoost, LightGBM)</a:t>
            </a:r>
            <a:endParaRPr/>
          </a:p>
        </p:txBody>
      </p:sp>
      <p:sp>
        <p:nvSpPr>
          <p:cNvPr id="7" name="TextBox 6"/>
          <p:cNvSpPr txBox="1"/>
          <p:nvPr/>
        </p:nvSpPr>
        <p:spPr bwMode="auto">
          <a:xfrm>
            <a:off x="457200" y="34015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/>
              <a:t>- SBERT embeddings -&gt; PCA 32 (fallback: TF-IDF)</a:t>
            </a:r>
            <a:endParaRPr/>
          </a:p>
        </p:txBody>
      </p:sp>
      <p:sp>
        <p:nvSpPr>
          <p:cNvPr id="8" name="TextBox 7"/>
          <p:cNvSpPr txBox="1"/>
          <p:nvPr/>
        </p:nvSpPr>
        <p:spPr bwMode="auto">
          <a:xfrm>
            <a:off x="457200" y="369417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/>
              <a:t>- CatBoost Encoding / Entity Embeddings</a:t>
            </a:r>
            <a:endParaRPr/>
          </a:p>
        </p:txBody>
      </p:sp>
      <p:sp>
        <p:nvSpPr>
          <p:cNvPr id="9" name="TextBox 8"/>
          <p:cNvSpPr txBox="1"/>
          <p:nvPr/>
        </p:nvSpPr>
        <p:spPr bwMode="auto">
          <a:xfrm>
            <a:off x="457200" y="3986783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/>
              <a:t>- Optuna 200+ trials с pruning + param importance</a:t>
            </a:r>
            <a:endParaRPr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4279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/>
              <a:t>- SHAP + Permutation + PDP/ICE для топ-5</a:t>
            </a:r>
            <a:endParaRPr/>
          </a:p>
        </p:txBody>
      </p:sp>
      <p:sp>
        <p:nvSpPr>
          <p:cNvPr id="11" name="TextBox 10"/>
          <p:cNvSpPr txBox="1"/>
          <p:nvPr/>
        </p:nvSpPr>
        <p:spPr bwMode="auto">
          <a:xfrm>
            <a:off x="457200" y="4572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/>
              <a:t>- Conformal Prediction (90% coverage)</a:t>
            </a:r>
            <a:endParaRPr/>
          </a:p>
        </p:txBody>
      </p:sp>
      <p:sp>
        <p:nvSpPr>
          <p:cNvPr id="12" name="TextBox 11"/>
          <p:cNvSpPr txBox="1"/>
          <p:nvPr/>
        </p:nvSpPr>
        <p:spPr bwMode="auto">
          <a:xfrm>
            <a:off x="457200" y="4864607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/>
              <a:t>- Causal Inference (DoWhy, ATE, refutation)</a:t>
            </a:r>
            <a:endParaRPr/>
          </a:p>
        </p:txBody>
      </p:sp>
      <p:sp>
        <p:nvSpPr>
          <p:cNvPr id="13" name="TextBox 12"/>
          <p:cNvSpPr txBox="1"/>
          <p:nvPr/>
        </p:nvSpPr>
        <p:spPr bwMode="auto">
          <a:xfrm>
            <a:off x="457200" y="515721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/>
              <a:t>- Calibration (isotonic/temperature) + Robustness (7+6 levels)</a:t>
            </a:r>
            <a:endParaRPr/>
          </a:p>
        </p:txBody>
      </p:sp>
      <p:sp>
        <p:nvSpPr>
          <p:cNvPr id="14" name="TextBox 13"/>
          <p:cNvSpPr txBox="1"/>
          <p:nvPr/>
        </p:nvSpPr>
        <p:spPr bwMode="auto">
          <a:xfrm>
            <a:off x="457200" y="5449823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/>
              <a:t>- Pipeline + ColumnTransformer + GPU + Streaming + Parquet + DuckDB (3 SQL)</a:t>
            </a:r>
            <a:endParaRPr/>
          </a:p>
        </p:txBody>
      </p:sp>
      <p:sp>
        <p:nvSpPr>
          <p:cNvPr id="15" name="TextBox 14"/>
          <p:cNvSpPr txBox="1"/>
          <p:nvPr/>
        </p:nvSpPr>
        <p:spPr bwMode="auto">
          <a:xfrm>
            <a:off x="1152144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0B0C0"/>
                </a:solidFill>
                <a:latin typeface="Calibri"/>
              </a:defRPr>
            </a:pPr>
            <a:r>
              <a:rPr/>
              <a:t>27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1A1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0" y="0"/>
            <a:ext cx="109728" cy="6858000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 bwMode="auto">
          <a:xfrm>
            <a:off x="457200" y="365760"/>
            <a:ext cx="10973520" cy="488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rPr/>
              <a:t>Уровень 5 — Отлично (12 баллов): варианты 5-7</a:t>
            </a:r>
            <a:endParaRPr/>
          </a:p>
        </p:txBody>
      </p:sp>
      <p:graphicFrame>
        <p:nvGraphicFramePr>
          <p:cNvPr id="4" name="Table 3"/>
          <p:cNvGraphicFramePr>
            <a:graphicFrameLocks xmlns:a="http://schemas.openxmlformats.org/drawingml/2006/main" noGrp="1"/>
          </p:cNvGraphicFramePr>
          <p:nvPr/>
        </p:nvGraphicFramePr>
        <p:xfrm>
          <a:off x="457200" y="914400"/>
          <a:ext cx="11247120" cy="1170432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548640"/>
                <a:gridCol w="2743200"/>
                <a:gridCol w="1828800"/>
                <a:gridCol w="1828800"/>
                <a:gridCol w="4297680"/>
              </a:tblGrid>
              <a:tr h="292608">
                <a:tc>
                  <a:txBody>
                    <a:bodyPr/>
                    <a:p>
                      <a:pPr>
                        <a:defRPr sz="1100" b="1">
                          <a:solidFill>
                            <a:srgbClr val="00D9FF"/>
                          </a:solidFill>
                          <a:latin typeface="Calibri"/>
                        </a:defRPr>
                      </a:pPr>
                      <a:r>
                        <a:rPr/>
                        <a:t>№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 b="1">
                          <a:solidFill>
                            <a:srgbClr val="00D9FF"/>
                          </a:solidFill>
                          <a:latin typeface="Calibri"/>
                        </a:defRPr>
                      </a:pPr>
                      <a:r>
                        <a:rPr/>
                        <a:t>Датасет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 b="1">
                          <a:solidFill>
                            <a:srgbClr val="00D9FF"/>
                          </a:solidFill>
                          <a:latin typeface="Calibri"/>
                        </a:defRPr>
                      </a:pPr>
                      <a:r>
                        <a:rPr/>
                        <a:t>Размер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 b="1">
                          <a:solidFill>
                            <a:srgbClr val="00D9FF"/>
                          </a:solidFill>
                          <a:latin typeface="Calibri"/>
                        </a:defRPr>
                      </a:pPr>
                      <a:r>
                        <a:rPr/>
                        <a:t>Целевая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 b="1">
                          <a:solidFill>
                            <a:srgbClr val="00D9FF"/>
                          </a:solidFill>
                          <a:latin typeface="Calibri"/>
                        </a:defRPr>
                      </a:pPr>
                      <a:r>
                        <a:rPr/>
                        <a:t>Специфика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5.5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Rossmann Sales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1M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Sales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Lag/rolling, GPU XGBoost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5.6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Home Credit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307K x122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TARGET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SBERT occupation, Causal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5.7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Elo Merchant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2.9M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target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Aggregation, DuckDB join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 bwMode="auto">
          <a:xfrm>
            <a:off x="457200" y="2743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5555"/>
                </a:solidFill>
                <a:latin typeface="Calibri"/>
              </a:defRPr>
            </a:pPr>
            <a:r>
              <a:rPr/>
              <a:t>Код: Streaming + Conformal</a:t>
            </a:r>
            <a:endParaRPr/>
          </a:p>
        </p:txBody>
      </p:sp>
      <p:sp>
        <p:nvSpPr>
          <p:cNvPr id="6" name="Rectangle 5"/>
          <p:cNvSpPr/>
          <p:nvPr/>
        </p:nvSpPr>
        <p:spPr bwMode="auto">
          <a:xfrm>
            <a:off x="457200" y="3108960"/>
            <a:ext cx="5486400" cy="27432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TextBox 6"/>
          <p:cNvSpPr txBox="1"/>
          <p:nvPr/>
        </p:nvSpPr>
        <p:spPr bwMode="auto">
          <a:xfrm>
            <a:off x="530352" y="3145536"/>
            <a:ext cx="5340096" cy="2670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rPr/>
              <a:t># Streaming для 3M строк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df = (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pl.scan_parquet('data/*.parquet')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.with_columns(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  pl.col('price').log()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    .alias('log_price'))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.filter(pl.col('price') &gt; 0)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.collect(streaming=True)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)</a:t>
            </a:r>
            <a:endParaRPr/>
          </a:p>
        </p:txBody>
      </p:sp>
      <p:sp>
        <p:nvSpPr>
          <p:cNvPr id="8" name="TextBox 7"/>
          <p:cNvSpPr txBox="1"/>
          <p:nvPr/>
        </p:nvSpPr>
        <p:spPr bwMode="auto">
          <a:xfrm>
            <a:off x="6217920" y="2743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5555"/>
                </a:solidFill>
                <a:latin typeface="Calibri"/>
              </a:defRPr>
            </a:pPr>
            <a:r>
              <a:rPr/>
              <a:t>Код: Causal + Calibration</a:t>
            </a:r>
            <a:endParaRPr/>
          </a:p>
        </p:txBody>
      </p:sp>
      <p:sp>
        <p:nvSpPr>
          <p:cNvPr id="9" name="Rectangle 8"/>
          <p:cNvSpPr/>
          <p:nvPr/>
        </p:nvSpPr>
        <p:spPr bwMode="auto">
          <a:xfrm>
            <a:off x="6217920" y="3108960"/>
            <a:ext cx="5486400" cy="27432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TextBox 9"/>
          <p:cNvSpPr txBox="1"/>
          <p:nvPr/>
        </p:nvSpPr>
        <p:spPr bwMode="auto">
          <a:xfrm>
            <a:off x="6291072" y="3145536"/>
            <a:ext cx="5340096" cy="2670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80FF80"/>
                </a:solidFill>
                <a:latin typeface="Consolas"/>
              </a:defRPr>
            </a:pPr>
            <a:r>
              <a:rPr/>
              <a:t># Conformal Prediction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E0E0FF"/>
                </a:solidFill>
                <a:latin typeface="Consolas"/>
              </a:defRPr>
            </a:pPr>
            <a:r>
              <a:rPr/>
              <a:t>residuals = np.abs(y_calib - y_pred_calib)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E0E0FF"/>
                </a:solidFill>
                <a:latin typeface="Consolas"/>
              </a:defRPr>
            </a:pPr>
            <a:r>
              <a:rPr/>
              <a:t>q = np.quantile(residuals, 0.9)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E0E0FF"/>
                </a:solidFill>
                <a:latin typeface="Consolas"/>
              </a:defRPr>
            </a:pPr>
            <a:r>
              <a:rPr/>
              <a:t>lower, upper = y_pred - q, y_pred + q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E0E0FF"/>
                </a:solidFill>
                <a:latin typeface="Consolas"/>
              </a:defRPr>
            </a:pPr>
            <a:r>
              <a:rPr/>
              <a:t>coverage = np.mean(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E0E0FF"/>
                </a:solidFill>
                <a:latin typeface="Consolas"/>
              </a:defRPr>
            </a:pPr>
            <a:r>
              <a:rPr/>
              <a:t>    (y_test &gt;= lower) &amp; (y_test &lt;= upper))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E0E0FF"/>
                </a:solidFill>
                <a:latin typeface="Consolas"/>
              </a:defRPr>
            </a:pP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80FF80"/>
                </a:solidFill>
                <a:latin typeface="Consolas"/>
              </a:defRPr>
            </a:pPr>
            <a:r>
              <a:rPr/>
              <a:t># Calibration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E0E0FF"/>
                </a:solidFill>
                <a:latin typeface="Consolas"/>
              </a:defRPr>
            </a:pPr>
            <a:r>
              <a:rPr/>
              <a:t>from sklearn.isotonic import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E0E0FF"/>
                </a:solidFill>
                <a:latin typeface="Consolas"/>
              </a:defRPr>
            </a:pPr>
            <a:r>
              <a:rPr/>
              <a:t>    IsotonicRegression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E0E0FF"/>
                </a:solidFill>
                <a:latin typeface="Consolas"/>
              </a:defRPr>
            </a:pPr>
            <a:r>
              <a:rPr/>
              <a:t>iso = IsotonicRegression()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E0E0FF"/>
                </a:solidFill>
                <a:latin typeface="Consolas"/>
              </a:defRPr>
            </a:pPr>
            <a:r>
              <a:rPr/>
              <a:t>iso.fit(y_pred_calib, y_calib)</a:t>
            </a:r>
            <a:endParaRPr/>
          </a:p>
        </p:txBody>
      </p:sp>
      <p:sp>
        <p:nvSpPr>
          <p:cNvPr id="11" name="TextBox 10"/>
          <p:cNvSpPr txBox="1"/>
          <p:nvPr/>
        </p:nvSpPr>
        <p:spPr bwMode="auto">
          <a:xfrm>
            <a:off x="1152144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0B0C0"/>
                </a:solidFill>
                <a:latin typeface="Calibri"/>
              </a:defRPr>
            </a:pPr>
            <a:r>
              <a:rPr/>
              <a:t>28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1A1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0" y="0"/>
            <a:ext cx="109728" cy="6858000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 bwMode="auto">
          <a:xfrm>
            <a:off x="457200" y="365760"/>
            <a:ext cx="10973520" cy="488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rPr/>
              <a:t>Уровень 5 — Отлично (12 баллов): варианты 8-10</a:t>
            </a:r>
            <a:endParaRPr/>
          </a:p>
        </p:txBody>
      </p:sp>
      <p:graphicFrame>
        <p:nvGraphicFramePr>
          <p:cNvPr id="4" name="Table 3"/>
          <p:cNvGraphicFramePr>
            <a:graphicFrameLocks xmlns:a="http://schemas.openxmlformats.org/drawingml/2006/main" noGrp="1"/>
          </p:cNvGraphicFramePr>
          <p:nvPr/>
        </p:nvGraphicFramePr>
        <p:xfrm>
          <a:off x="457200" y="914400"/>
          <a:ext cx="11247120" cy="1170432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548640"/>
                <a:gridCol w="2743200"/>
                <a:gridCol w="1828800"/>
                <a:gridCol w="1828800"/>
                <a:gridCol w="4297680"/>
              </a:tblGrid>
              <a:tr h="292608">
                <a:tc>
                  <a:txBody>
                    <a:bodyPr/>
                    <a:p>
                      <a:pPr>
                        <a:defRPr sz="1100" b="1">
                          <a:solidFill>
                            <a:srgbClr val="00D9FF"/>
                          </a:solidFill>
                          <a:latin typeface="Calibri"/>
                        </a:defRPr>
                      </a:pPr>
                      <a:r>
                        <a:rPr/>
                        <a:t>№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 b="1">
                          <a:solidFill>
                            <a:srgbClr val="00D9FF"/>
                          </a:solidFill>
                          <a:latin typeface="Calibri"/>
                        </a:defRPr>
                      </a:pPr>
                      <a:r>
                        <a:rPr/>
                        <a:t>Датасет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 b="1">
                          <a:solidFill>
                            <a:srgbClr val="00D9FF"/>
                          </a:solidFill>
                          <a:latin typeface="Calibri"/>
                        </a:defRPr>
                      </a:pPr>
                      <a:r>
                        <a:rPr/>
                        <a:t>Размер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 b="1">
                          <a:solidFill>
                            <a:srgbClr val="00D9FF"/>
                          </a:solidFill>
                          <a:latin typeface="Calibri"/>
                        </a:defRPr>
                      </a:pPr>
                      <a:r>
                        <a:rPr/>
                        <a:t>Целевая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 b="1">
                          <a:solidFill>
                            <a:srgbClr val="00D9FF"/>
                          </a:solidFill>
                          <a:latin typeface="Calibri"/>
                        </a:defRPr>
                      </a:pPr>
                      <a:r>
                        <a:rPr/>
                        <a:t>Специфика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5.8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Ashrae Energy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2M+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meter_reading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Time FE, SBERT, Robustness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5.9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Restaurant Revenue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137-&gt;1K+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revenue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Внешние признаки, полиномы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5.10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Google Store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1.7M-&gt;500K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transactionRevenue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JSON parse, SBERT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 bwMode="auto">
          <a:xfrm>
            <a:off x="457200" y="2743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5555"/>
                </a:solidFill>
                <a:latin typeface="Calibri"/>
              </a:defRPr>
            </a:pPr>
            <a:r>
              <a:rPr/>
              <a:t>Код: PyTorch NN + Stacking</a:t>
            </a:r>
            <a:endParaRPr/>
          </a:p>
        </p:txBody>
      </p:sp>
      <p:sp>
        <p:nvSpPr>
          <p:cNvPr id="6" name="Rectangle 5"/>
          <p:cNvSpPr/>
          <p:nvPr/>
        </p:nvSpPr>
        <p:spPr bwMode="auto">
          <a:xfrm>
            <a:off x="457200" y="3108960"/>
            <a:ext cx="5486400" cy="27432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TextBox 6"/>
          <p:cNvSpPr txBox="1"/>
          <p:nvPr/>
        </p:nvSpPr>
        <p:spPr bwMode="auto">
          <a:xfrm>
            <a:off x="530352" y="3145536"/>
            <a:ext cx="5340096" cy="2670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import torch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class TabularNN(nn.Module):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  def __init__(self, dim):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      super().__init__()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      self.net = nn.Sequential(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          nn.Linear(dim, 256),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          nn.BatchNorm1d(256),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          nn.ReLU(), nn.Dropout(0.3),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          nn.Linear(256, 128), nn.ReLU(),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          nn.Linear(128, 1))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  def forward(self, x):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      return self.net(x)</a:t>
            </a:r>
            <a:endParaRPr/>
          </a:p>
        </p:txBody>
      </p:sp>
      <p:sp>
        <p:nvSpPr>
          <p:cNvPr id="8" name="TextBox 7"/>
          <p:cNvSpPr txBox="1"/>
          <p:nvPr/>
        </p:nvSpPr>
        <p:spPr bwMode="auto">
          <a:xfrm>
            <a:off x="6217920" y="2743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5555"/>
                </a:solidFill>
                <a:latin typeface="Calibri"/>
              </a:defRPr>
            </a:pPr>
            <a:r>
              <a:rPr/>
              <a:t>Код: GPU XGBoost + Robustness</a:t>
            </a:r>
            <a:endParaRPr/>
          </a:p>
        </p:txBody>
      </p:sp>
      <p:sp>
        <p:nvSpPr>
          <p:cNvPr id="9" name="Rectangle 8"/>
          <p:cNvSpPr/>
          <p:nvPr/>
        </p:nvSpPr>
        <p:spPr bwMode="auto">
          <a:xfrm>
            <a:off x="6217920" y="3108960"/>
            <a:ext cx="5486400" cy="27432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TextBox 9"/>
          <p:cNvSpPr txBox="1"/>
          <p:nvPr/>
        </p:nvSpPr>
        <p:spPr bwMode="auto">
          <a:xfrm>
            <a:off x="6291072" y="3145536"/>
            <a:ext cx="5340096" cy="2670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80FF80"/>
                </a:solidFill>
                <a:latin typeface="Consolas"/>
              </a:defRPr>
            </a:pPr>
            <a:r>
              <a:rPr/>
              <a:t># GPU XGBoost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E0E0FF"/>
                </a:solidFill>
                <a:latin typeface="Consolas"/>
              </a:defRPr>
            </a:pPr>
            <a:r>
              <a:rPr/>
              <a:t>xgb_gpu = XGBRegressor(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E0E0FF"/>
                </a:solidFill>
                <a:latin typeface="Consolas"/>
              </a:defRPr>
            </a:pPr>
            <a:r>
              <a:rPr/>
              <a:t>    tree_method='hist',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E0E0FF"/>
                </a:solidFill>
                <a:latin typeface="Consolas"/>
              </a:defRPr>
            </a:pPr>
            <a:r>
              <a:rPr/>
              <a:t>    device='cuda')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E0E0FF"/>
                </a:solidFill>
                <a:latin typeface="Consolas"/>
              </a:defRPr>
            </a:pPr>
            <a:r>
              <a:rPr/>
              <a:t>xgb_gpu.fit(X_train, y_train)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E0E0FF"/>
                </a:solidFill>
                <a:latin typeface="Consolas"/>
              </a:defRPr>
            </a:pP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80FF80"/>
                </a:solidFill>
                <a:latin typeface="Consolas"/>
              </a:defRPr>
            </a:pPr>
            <a:r>
              <a:rPr/>
              <a:t># Robustness: adversarial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E0E0FF"/>
                </a:solidFill>
                <a:latin typeface="Consolas"/>
              </a:defRPr>
            </a:pPr>
            <a:r>
              <a:rPr/>
              <a:t>for nl in [0, 0.01, 0.05, 0.1,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E0E0FF"/>
                </a:solidFill>
                <a:latin typeface="Consolas"/>
              </a:defRPr>
            </a:pPr>
            <a:r>
              <a:rPr/>
              <a:t>           0.2, 0.5, 1.0]: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E0E0FF"/>
                </a:solidFill>
                <a:latin typeface="Consolas"/>
              </a:defRPr>
            </a:pPr>
            <a:r>
              <a:rPr/>
              <a:t>    X_n = X_test.copy()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E0E0FF"/>
                </a:solidFill>
                <a:latin typeface="Consolas"/>
              </a:defRPr>
            </a:pPr>
            <a:r>
              <a:rPr/>
              <a:t>    X_n[top3] += np.random.normal(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E0E0FF"/>
                </a:solidFill>
                <a:latin typeface="Consolas"/>
              </a:defRPr>
            </a:pPr>
            <a:r>
              <a:rPr/>
              <a:t>        0, nl, X_n[top3].shape)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E0E0FF"/>
                </a:solidFill>
                <a:latin typeface="Consolas"/>
              </a:defRPr>
            </a:pPr>
            <a:r>
              <a:rPr/>
              <a:t>    print(f'RMSE: {eval(X_n)}')</a:t>
            </a:r>
            <a:endParaRPr/>
          </a:p>
        </p:txBody>
      </p:sp>
      <p:sp>
        <p:nvSpPr>
          <p:cNvPr id="11" name="TextBox 10"/>
          <p:cNvSpPr txBox="1"/>
          <p:nvPr/>
        </p:nvSpPr>
        <p:spPr bwMode="auto">
          <a:xfrm>
            <a:off x="1152144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0B0C0"/>
                </a:solidFill>
                <a:latin typeface="Calibri"/>
              </a:defRPr>
            </a:pPr>
            <a:r>
              <a:rPr/>
              <a:t>29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1A1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0" y="0"/>
            <a:ext cx="109728" cy="6858000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 bwMode="auto"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rPr/>
              <a:t>Уровень 5: SBERT + DuckDB</a:t>
            </a:r>
            <a:endParaRPr/>
          </a:p>
        </p:txBody>
      </p:sp>
      <p:sp>
        <p:nvSpPr>
          <p:cNvPr id="4" name="TextBox 3"/>
          <p:cNvSpPr txBox="1"/>
          <p:nvPr/>
        </p:nvSpPr>
        <p:spPr bwMode="auto">
          <a:xfrm>
            <a:off x="45720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A000"/>
                </a:solidFill>
                <a:latin typeface="Calibri"/>
              </a:defRPr>
            </a:pPr>
            <a:r>
              <a:rPr/>
              <a:t>SBERT embeddings -&gt; PCA 32</a:t>
            </a:r>
            <a:endParaRPr/>
          </a:p>
        </p:txBody>
      </p:sp>
      <p:sp>
        <p:nvSpPr>
          <p:cNvPr id="5" name="Rectangle 4"/>
          <p:cNvSpPr/>
          <p:nvPr/>
        </p:nvSpPr>
        <p:spPr bwMode="auto">
          <a:xfrm>
            <a:off x="384048" y="1280160"/>
            <a:ext cx="5486400" cy="3834882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TextBox 5"/>
          <p:cNvSpPr txBox="1"/>
          <p:nvPr/>
        </p:nvSpPr>
        <p:spPr bwMode="auto">
          <a:xfrm>
            <a:off x="530352" y="1316736"/>
            <a:ext cx="5340096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from </a:t>
            </a:r>
            <a:r>
              <a:rPr/>
              <a:t>sentence_transformers</a:t>
            </a:r>
            <a:r>
              <a:rPr/>
              <a:t> import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  </a:t>
            </a:r>
            <a:r>
              <a:rPr/>
              <a:t>SentenceTransformer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from </a:t>
            </a:r>
            <a:r>
              <a:rPr/>
              <a:t>sklearn.decomposition</a:t>
            </a:r>
            <a:r>
              <a:rPr/>
              <a:t> import PCA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model = </a:t>
            </a:r>
            <a:r>
              <a:rPr/>
              <a:t>SentenceTransformer</a:t>
            </a:r>
            <a:r>
              <a:rPr/>
              <a:t>(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  'all-MiniLM-L6-v2')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rPr/>
              <a:t># </a:t>
            </a:r>
            <a:r>
              <a:rPr/>
              <a:t>Эмбеддинги</a:t>
            </a:r>
            <a:r>
              <a:rPr/>
              <a:t> </a:t>
            </a:r>
            <a:r>
              <a:rPr/>
              <a:t>для</a:t>
            </a:r>
            <a:r>
              <a:rPr/>
              <a:t> name + description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emb</a:t>
            </a:r>
            <a:r>
              <a:rPr/>
              <a:t> = </a:t>
            </a:r>
            <a:r>
              <a:rPr/>
              <a:t>model.encode</a:t>
            </a:r>
            <a:r>
              <a:rPr/>
              <a:t>(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  </a:t>
            </a:r>
            <a:r>
              <a:rPr/>
              <a:t>df.select</a:t>
            </a:r>
            <a:r>
              <a:rPr/>
              <a:t>('name').</a:t>
            </a:r>
            <a:r>
              <a:rPr/>
              <a:t>to_series</a:t>
            </a:r>
            <a:r>
              <a:rPr/>
              <a:t>()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  .</a:t>
            </a:r>
            <a:r>
              <a:rPr/>
              <a:t>to_list</a:t>
            </a:r>
            <a:r>
              <a:rPr/>
              <a:t>())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rPr/>
              <a:t># PCA -&gt; 32 </a:t>
            </a:r>
            <a:r>
              <a:rPr/>
              <a:t>компонента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pca</a:t>
            </a:r>
            <a:r>
              <a:rPr/>
              <a:t> = PCA(</a:t>
            </a:r>
            <a:r>
              <a:rPr/>
              <a:t>n_components</a:t>
            </a:r>
            <a:r>
              <a:rPr/>
              <a:t>=32)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emb32 = </a:t>
            </a:r>
            <a:r>
              <a:rPr/>
              <a:t>pca.fit_transform</a:t>
            </a:r>
            <a:r>
              <a:rPr/>
              <a:t>(</a:t>
            </a:r>
            <a:r>
              <a:rPr/>
              <a:t>emb</a:t>
            </a:r>
            <a:r>
              <a:rPr/>
              <a:t>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rPr/>
              <a:t># </a:t>
            </a:r>
            <a:r>
              <a:rPr/>
              <a:t>Добавить</a:t>
            </a:r>
            <a:r>
              <a:rPr/>
              <a:t> в </a:t>
            </a:r>
            <a:r>
              <a:rPr/>
              <a:t>DataFrame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for </a:t>
            </a:r>
            <a:r>
              <a:rPr/>
              <a:t>i</a:t>
            </a:r>
            <a:r>
              <a:rPr/>
              <a:t> in range(32):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  </a:t>
            </a:r>
            <a:r>
              <a:rPr/>
              <a:t>df</a:t>
            </a:r>
            <a:r>
              <a:rPr/>
              <a:t> = </a:t>
            </a:r>
            <a:r>
              <a:rPr/>
              <a:t>df.with_columns</a:t>
            </a:r>
            <a:r>
              <a:rPr/>
              <a:t>(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E0E0FF"/>
                </a:solidFill>
                <a:latin typeface="Consolas"/>
              </a:defRPr>
            </a:pPr>
            <a:r>
              <a:rPr/>
              <a:t>        </a:t>
            </a:r>
            <a:r>
              <a:rPr/>
              <a:t>pl.Series</a:t>
            </a:r>
            <a:r>
              <a:rPr/>
              <a:t>(</a:t>
            </a:r>
            <a:r>
              <a:rPr/>
              <a:t>f'emb</a:t>
            </a:r>
            <a:r>
              <a:rPr/>
              <a:t>_{</a:t>
            </a:r>
            <a:r>
              <a:rPr/>
              <a:t>i</a:t>
            </a:r>
            <a:r>
              <a:rPr/>
              <a:t>}', emb32[:,</a:t>
            </a:r>
            <a:r>
              <a:rPr/>
              <a:t>i</a:t>
            </a:r>
            <a:r>
              <a:rPr/>
              <a:t>]))</a:t>
            </a:r>
            <a:endParaRPr/>
          </a:p>
        </p:txBody>
      </p:sp>
      <p:sp>
        <p:nvSpPr>
          <p:cNvPr id="7" name="TextBox 6"/>
          <p:cNvSpPr txBox="1"/>
          <p:nvPr/>
        </p:nvSpPr>
        <p:spPr bwMode="auto">
          <a:xfrm>
            <a:off x="621792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A000"/>
                </a:solidFill>
                <a:latin typeface="Calibri"/>
              </a:defRPr>
            </a:pPr>
            <a:r>
              <a:rPr/>
              <a:t>DuckDB: 3 SQL-запроса</a:t>
            </a:r>
            <a:endParaRPr/>
          </a:p>
        </p:txBody>
      </p:sp>
      <p:sp>
        <p:nvSpPr>
          <p:cNvPr id="8" name="Rectangle 7"/>
          <p:cNvSpPr/>
          <p:nvPr/>
        </p:nvSpPr>
        <p:spPr bwMode="auto">
          <a:xfrm>
            <a:off x="6217920" y="1280160"/>
            <a:ext cx="5486400" cy="3834882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TextBox 8"/>
          <p:cNvSpPr txBox="1"/>
          <p:nvPr/>
        </p:nvSpPr>
        <p:spPr bwMode="auto">
          <a:xfrm>
            <a:off x="6291072" y="1316736"/>
            <a:ext cx="5340096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E0E0FF"/>
                </a:solidFill>
                <a:latin typeface="Consolas"/>
              </a:defRPr>
            </a:pPr>
            <a:r>
              <a:rPr/>
              <a:t>con = duckdb.connect()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E0E0FF"/>
                </a:solidFill>
                <a:latin typeface="Consolas"/>
              </a:defRPr>
            </a:pPr>
            <a:r>
              <a:rPr/>
              <a:t>con.register('df', df.to_arrow())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E0E0FF"/>
                </a:solidFill>
                <a:latin typeface="Consolas"/>
              </a:defRPr>
            </a:pP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80FF80"/>
                </a:solidFill>
                <a:latin typeface="Consolas"/>
              </a:defRPr>
            </a:pPr>
            <a:r>
              <a:rPr/>
              <a:t># 1. Агрегация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E0E0FF"/>
                </a:solidFill>
                <a:latin typeface="Consolas"/>
              </a:defRPr>
            </a:pPr>
            <a:r>
              <a:rPr/>
              <a:t>con.execute('''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E0E0FF"/>
                </a:solidFill>
                <a:latin typeface="Consolas"/>
              </a:defRPr>
            </a:pPr>
            <a:r>
              <a:rPr/>
              <a:t>  SELECT cat_1, AVG(price)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E0E0FF"/>
                </a:solidFill>
                <a:latin typeface="Consolas"/>
              </a:defRPr>
            </a:pPr>
            <a:r>
              <a:rPr/>
              <a:t>  FROM df GROUP BY cat_1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E0E0FF"/>
                </a:solidFill>
                <a:latin typeface="Consolas"/>
              </a:defRPr>
            </a:pPr>
            <a:r>
              <a:rPr/>
              <a:t>  ORDER BY AVG(price) DESC''').fetchdf()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E0E0FF"/>
                </a:solidFill>
                <a:latin typeface="Consolas"/>
              </a:defRPr>
            </a:pP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80FF80"/>
                </a:solidFill>
                <a:latin typeface="Consolas"/>
              </a:defRPr>
            </a:pPr>
            <a:r>
              <a:rPr/>
              <a:t># 2. Оконная функция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E0E0FF"/>
                </a:solidFill>
                <a:latin typeface="Consolas"/>
              </a:defRPr>
            </a:pPr>
            <a:r>
              <a:rPr/>
              <a:t>con.execute('''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E0E0FF"/>
                </a:solidFill>
                <a:latin typeface="Consolas"/>
              </a:defRPr>
            </a:pPr>
            <a:r>
              <a:rPr/>
              <a:t>  SELECT *, AVG(price) OVER(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E0E0FF"/>
                </a:solidFill>
                <a:latin typeface="Consolas"/>
              </a:defRPr>
            </a:pPr>
            <a:r>
              <a:rPr/>
              <a:t>    PARTITION BY cat_1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E0E0FF"/>
                </a:solidFill>
                <a:latin typeface="Consolas"/>
              </a:defRPr>
            </a:pPr>
            <a:r>
              <a:rPr/>
              <a:t>    ORDER BY price) FROM df''')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E0E0FF"/>
                </a:solidFill>
                <a:latin typeface="Consolas"/>
              </a:defRPr>
            </a:pP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80FF80"/>
                </a:solidFill>
                <a:latin typeface="Consolas"/>
              </a:defRPr>
            </a:pPr>
            <a:r>
              <a:rPr/>
              <a:t># 3. Join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E0E0FF"/>
                </a:solidFill>
                <a:latin typeface="Consolas"/>
              </a:defRPr>
            </a:pPr>
            <a:r>
              <a:rPr/>
              <a:t>con.execute('''SELECT * FROM df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E0E0FF"/>
                </a:solidFill>
                <a:latin typeface="Consolas"/>
              </a:defRPr>
            </a:pPr>
            <a:r>
              <a:rPr/>
              <a:t>  JOIN brands ON df.brand=brands.id''')</a:t>
            </a:r>
            <a:endParaRPr/>
          </a:p>
        </p:txBody>
      </p:sp>
      <p:sp>
        <p:nvSpPr>
          <p:cNvPr id="10" name="TextBox 9"/>
          <p:cNvSpPr txBox="1"/>
          <p:nvPr/>
        </p:nvSpPr>
        <p:spPr bwMode="auto">
          <a:xfrm>
            <a:off x="1152144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0B0C0"/>
                </a:solidFill>
                <a:latin typeface="Calibri"/>
              </a:defRPr>
            </a:pPr>
            <a:r>
              <a:rPr/>
              <a:t>30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1A1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0" y="0"/>
            <a:ext cx="109728" cy="6858000"/>
          </a:xfrm>
          <a:prstGeom prst="rect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 bwMode="auto"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rPr/>
              <a:t>Сравнение уровней: что добавляется</a:t>
            </a:r>
            <a:endParaRPr/>
          </a:p>
        </p:txBody>
      </p:sp>
      <p:graphicFrame>
        <p:nvGraphicFramePr>
          <p:cNvPr id="4" name="Table 3"/>
          <p:cNvGraphicFramePr>
            <a:graphicFrameLocks xmlns:a="http://schemas.openxmlformats.org/drawingml/2006/main" noGrp="1"/>
          </p:cNvGraphicFramePr>
          <p:nvPr/>
        </p:nvGraphicFramePr>
        <p:xfrm>
          <a:off x="457200" y="914400"/>
          <a:ext cx="11247120" cy="3511296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1828800"/>
                <a:gridCol w="2560320"/>
                <a:gridCol w="3200400"/>
                <a:gridCol w="3657600"/>
              </a:tblGrid>
              <a:tr h="292608">
                <a:tc>
                  <a:txBody>
                    <a:bodyPr/>
                    <a:p>
                      <a:pPr>
                        <a:defRPr sz="1100" b="1">
                          <a:solidFill>
                            <a:srgbClr val="00D9FF"/>
                          </a:solidFill>
                          <a:latin typeface="Calibri"/>
                        </a:defRPr>
                      </a:pPr>
                      <a:r>
                        <a:rPr/>
                        <a:t>Аспект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 b="1">
                          <a:solidFill>
                            <a:srgbClr val="00D9FF"/>
                          </a:solidFill>
                          <a:latin typeface="Calibri"/>
                        </a:defRPr>
                      </a:pPr>
                      <a:r>
                        <a:rPr/>
                        <a:t>Уровень 3 (7)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 b="1">
                          <a:solidFill>
                            <a:srgbClr val="00D9FF"/>
                          </a:solidFill>
                          <a:latin typeface="Calibri"/>
                        </a:defRPr>
                      </a:pPr>
                      <a:r>
                        <a:rPr/>
                        <a:t>Уровень 4 (9)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 b="1">
                          <a:solidFill>
                            <a:srgbClr val="00D9FF"/>
                          </a:solidFill>
                          <a:latin typeface="Calibri"/>
                        </a:defRPr>
                      </a:pPr>
                      <a:r>
                        <a:rPr/>
                        <a:t>Уровень 5 (12)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Моделей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5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3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5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Кодирование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One-Hot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+Target, Hash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+CatBoost, SBERT, Entity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Lazy API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Нет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Да + .explain()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Да + Streaming + Parquet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Оптимизация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Нет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Optuna 50+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Optuna 200+ + pruning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Интерпретация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Нет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SHAP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SHAP+LIME+PDP+Perm.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Статистика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Нет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QQ+Shapiro+BP+DW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 радар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Продвинутые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Нет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Нет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Causal+Conformal+Calib.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Robustness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Нет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Нет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7+6 уровней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GPU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Нет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Нет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XGBoost+CuPy+PyTorch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DuckDB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Нет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1 SQL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3 SQL (аггр.+окно+join)</a:t>
                      </a:r>
                      <a:endParaRPr/>
                    </a:p>
                  </a:txBody>
                  <a:tcPr>
                    <a:solidFill>
                      <a:srgbClr val="2A2A44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Benchmark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Нет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Polars vs pandas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Полный (5 операций)</a:t>
                      </a:r>
                      <a:endParaRPr/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 bwMode="auto">
          <a:xfrm>
            <a:off x="1152144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0B0C0"/>
                </a:solidFill>
                <a:latin typeface="Calibri"/>
              </a:defRPr>
            </a:pPr>
            <a:r>
              <a:rPr/>
              <a:t>31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1A1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0" y="0"/>
            <a:ext cx="109728" cy="6858000"/>
          </a:xfrm>
          <a:prstGeom prst="rect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 bwMode="auto"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rPr/>
              <a:t>Радарная диаграмма (уровень 5)</a:t>
            </a:r>
            <a:endParaRPr/>
          </a:p>
        </p:txBody>
      </p:sp>
      <p:sp>
        <p:nvSpPr>
          <p:cNvPr id="4" name="TextBox 3"/>
          <p:cNvSpPr txBox="1"/>
          <p:nvPr/>
        </p:nvSpPr>
        <p:spPr bwMode="auto"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rPr/>
              <a:t>6 критериев оценки комплексного качества решения:</a:t>
            </a:r>
            <a:endParaRPr/>
          </a:p>
        </p:txBody>
      </p:sp>
      <p:sp>
        <p:nvSpPr>
          <p:cNvPr id="5" name="Rectangle 4"/>
          <p:cNvSpPr/>
          <p:nvPr/>
        </p:nvSpPr>
        <p:spPr bwMode="auto">
          <a:xfrm>
            <a:off x="457200" y="1371600"/>
            <a:ext cx="73152" cy="36576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TextBox 5"/>
          <p:cNvSpPr txBox="1"/>
          <p:nvPr/>
        </p:nvSpPr>
        <p:spPr bwMode="auto">
          <a:xfrm>
            <a:off x="640080" y="13533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9FF"/>
                </a:solidFill>
                <a:latin typeface="Calibri"/>
              </a:defRPr>
            </a:pPr>
            <a:r>
              <a:rPr/>
              <a:t>1. Качество моделей</a:t>
            </a:r>
            <a:endParaRPr/>
          </a:p>
        </p:txBody>
      </p:sp>
      <p:sp>
        <p:nvSpPr>
          <p:cNvPr id="7" name="TextBox 6"/>
          <p:cNvSpPr txBox="1"/>
          <p:nvPr/>
        </p:nvSpPr>
        <p:spPr bwMode="auto">
          <a:xfrm>
            <a:off x="4297680" y="135331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/>
              <a:t>R2, RMSE на тесте</a:t>
            </a:r>
            <a:endParaRPr/>
          </a:p>
        </p:txBody>
      </p:sp>
      <p:sp>
        <p:nvSpPr>
          <p:cNvPr id="8" name="Rectangle 7"/>
          <p:cNvSpPr/>
          <p:nvPr/>
        </p:nvSpPr>
        <p:spPr bwMode="auto">
          <a:xfrm>
            <a:off x="457200" y="1874519"/>
            <a:ext cx="73152" cy="36576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TextBox 8"/>
          <p:cNvSpPr txBox="1"/>
          <p:nvPr/>
        </p:nvSpPr>
        <p:spPr bwMode="auto">
          <a:xfrm>
            <a:off x="640080" y="1856231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FF88"/>
                </a:solidFill>
                <a:latin typeface="Calibri"/>
              </a:defRPr>
            </a:pPr>
            <a:r>
              <a:rPr/>
              <a:t>2. Скорость инференса</a:t>
            </a:r>
            <a:endParaRPr/>
          </a:p>
        </p:txBody>
      </p:sp>
      <p:sp>
        <p:nvSpPr>
          <p:cNvPr id="10" name="TextBox 9"/>
          <p:cNvSpPr txBox="1"/>
          <p:nvPr/>
        </p:nvSpPr>
        <p:spPr bwMode="auto">
          <a:xfrm>
            <a:off x="4297680" y="1856231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/>
              <a:t>Время предсказания (мс/сэмпл)</a:t>
            </a:r>
            <a:endParaRPr/>
          </a:p>
        </p:txBody>
      </p:sp>
      <p:sp>
        <p:nvSpPr>
          <p:cNvPr id="11" name="Rectangle 10"/>
          <p:cNvSpPr/>
          <p:nvPr/>
        </p:nvSpPr>
        <p:spPr bwMode="auto">
          <a:xfrm>
            <a:off x="457200" y="2377440"/>
            <a:ext cx="73152" cy="36576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TextBox 11"/>
          <p:cNvSpPr txBox="1"/>
          <p:nvPr/>
        </p:nvSpPr>
        <p:spPr bwMode="auto">
          <a:xfrm>
            <a:off x="640080" y="23591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A000"/>
                </a:solidFill>
                <a:latin typeface="Calibri"/>
              </a:defRPr>
            </a:pPr>
            <a:r>
              <a:rPr/>
              <a:t>3. Интерпретируемость</a:t>
            </a:r>
            <a:endParaRPr/>
          </a:p>
        </p:txBody>
      </p:sp>
      <p:sp>
        <p:nvSpPr>
          <p:cNvPr id="13" name="TextBox 12"/>
          <p:cNvSpPr txBox="1"/>
          <p:nvPr/>
        </p:nvSpPr>
        <p:spPr bwMode="auto">
          <a:xfrm>
            <a:off x="4297680" y="23591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/>
              <a:t>SHAP, LIME, PDP coverage</a:t>
            </a:r>
            <a:endParaRPr/>
          </a:p>
        </p:txBody>
      </p:sp>
      <p:sp>
        <p:nvSpPr>
          <p:cNvPr id="14" name="Rectangle 13"/>
          <p:cNvSpPr/>
          <p:nvPr/>
        </p:nvSpPr>
        <p:spPr bwMode="auto">
          <a:xfrm>
            <a:off x="457200" y="2880360"/>
            <a:ext cx="73152" cy="365760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TextBox 14"/>
          <p:cNvSpPr txBox="1"/>
          <p:nvPr/>
        </p:nvSpPr>
        <p:spPr bwMode="auto">
          <a:xfrm>
            <a:off x="640080" y="28620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5555"/>
                </a:solidFill>
                <a:latin typeface="Calibri"/>
              </a:defRPr>
            </a:pPr>
            <a:r>
              <a:rPr/>
              <a:t>4. Устойчивость</a:t>
            </a:r>
            <a:endParaRPr/>
          </a:p>
        </p:txBody>
      </p:sp>
      <p:sp>
        <p:nvSpPr>
          <p:cNvPr id="16" name="TextBox 15"/>
          <p:cNvSpPr txBox="1"/>
          <p:nvPr/>
        </p:nvSpPr>
        <p:spPr bwMode="auto">
          <a:xfrm>
            <a:off x="4297680" y="286207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/>
              <a:t>Robustness score (RMSE drop)</a:t>
            </a:r>
            <a:endParaRPr/>
          </a:p>
        </p:txBody>
      </p:sp>
      <p:sp>
        <p:nvSpPr>
          <p:cNvPr id="17" name="Rectangle 16"/>
          <p:cNvSpPr/>
          <p:nvPr/>
        </p:nvSpPr>
        <p:spPr bwMode="auto">
          <a:xfrm>
            <a:off x="457200" y="3383280"/>
            <a:ext cx="73152" cy="365760"/>
          </a:xfrm>
          <a:prstGeom prst="rect">
            <a:avLst/>
          </a:prstGeom>
          <a:solidFill>
            <a:srgbClr val="BB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TextBox 17"/>
          <p:cNvSpPr txBox="1"/>
          <p:nvPr/>
        </p:nvSpPr>
        <p:spPr bwMode="auto">
          <a:xfrm>
            <a:off x="640080" y="33649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B88FF"/>
                </a:solidFill>
                <a:latin typeface="Calibri"/>
              </a:defRPr>
            </a:pPr>
            <a:r>
              <a:rPr/>
              <a:t>5. Оптимизация</a:t>
            </a:r>
            <a:endParaRPr/>
          </a:p>
        </p:txBody>
      </p:sp>
      <p:sp>
        <p:nvSpPr>
          <p:cNvPr id="19" name="TextBox 18"/>
          <p:cNvSpPr txBox="1"/>
          <p:nvPr/>
        </p:nvSpPr>
        <p:spPr bwMode="auto">
          <a:xfrm>
            <a:off x="4297680" y="33649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/>
              <a:t>Optuna trials, param importance</a:t>
            </a:r>
            <a:endParaRPr/>
          </a:p>
        </p:txBody>
      </p:sp>
      <p:sp>
        <p:nvSpPr>
          <p:cNvPr id="20" name="Rectangle 19"/>
          <p:cNvSpPr/>
          <p:nvPr/>
        </p:nvSpPr>
        <p:spPr bwMode="auto">
          <a:xfrm>
            <a:off x="457200" y="3886200"/>
            <a:ext cx="73152" cy="36576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TextBox 20"/>
          <p:cNvSpPr txBox="1"/>
          <p:nvPr/>
        </p:nvSpPr>
        <p:spPr bwMode="auto">
          <a:xfrm>
            <a:off x="640080" y="3867911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9FF"/>
                </a:solidFill>
                <a:latin typeface="Calibri"/>
              </a:defRPr>
            </a:pPr>
            <a:r>
              <a:rPr/>
              <a:t>6. Инженерия</a:t>
            </a:r>
            <a:endParaRPr/>
          </a:p>
        </p:txBody>
      </p:sp>
      <p:sp>
        <p:nvSpPr>
          <p:cNvPr id="22" name="TextBox 21"/>
          <p:cNvSpPr txBox="1"/>
          <p:nvPr/>
        </p:nvSpPr>
        <p:spPr bwMode="auto">
          <a:xfrm>
            <a:off x="4297680" y="3867911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/>
              <a:t>FE, encoding, streaming, GPU</a:t>
            </a:r>
            <a:endParaRPr/>
          </a:p>
        </p:txBody>
      </p:sp>
      <p:sp>
        <p:nvSpPr>
          <p:cNvPr id="23" name="TextBox 22"/>
          <p:cNvSpPr txBox="1"/>
          <p:nvPr/>
        </p:nvSpPr>
        <p:spPr bwMode="auto">
          <a:xfrm>
            <a:off x="457200" y="4754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rPr/>
              <a:t>Нормировка [0, 1] -&gt; средний балл по 6 критериям -&gt; радарная диаграмма</a:t>
            </a:r>
            <a:endParaRPr/>
          </a:p>
        </p:txBody>
      </p:sp>
      <p:sp>
        <p:nvSpPr>
          <p:cNvPr id="24" name="Rectangle 23"/>
          <p:cNvSpPr/>
          <p:nvPr/>
        </p:nvSpPr>
        <p:spPr bwMode="auto">
          <a:xfrm>
            <a:off x="457200" y="5212080"/>
            <a:ext cx="11247120" cy="9144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TextBox 24"/>
          <p:cNvSpPr txBox="1"/>
          <p:nvPr/>
        </p:nvSpPr>
        <p:spPr bwMode="auto">
          <a:xfrm>
            <a:off x="530352" y="5248656"/>
            <a:ext cx="11100816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200">
                <a:solidFill>
                  <a:srgbClr val="E0E0FF"/>
                </a:solidFill>
                <a:latin typeface="Consolas"/>
              </a:defRPr>
            </a:pPr>
            <a:r>
              <a:rPr/>
              <a:t>import plotly.graph_objects as go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200">
                <a:solidFill>
                  <a:srgbClr val="E0E0FF"/>
                </a:solidFill>
                <a:latin typeface="Consolas"/>
              </a:defRPr>
            </a:pPr>
            <a:r>
              <a:rPr/>
              <a:t>fig = go.Figure(data=go.Scatterpolar(r=scores, theta=criteria, fill='toself'))</a:t>
            </a:r>
            <a:endParaRPr/>
          </a:p>
          <a:p>
            <a:pPr>
              <a:spcBef>
                <a:spcPts val="0"/>
              </a:spcBef>
              <a:spcAft>
                <a:spcPts val="100"/>
              </a:spcAft>
              <a:defRPr sz="1200">
                <a:solidFill>
                  <a:srgbClr val="E0E0FF"/>
                </a:solidFill>
                <a:latin typeface="Consolas"/>
              </a:defRPr>
            </a:pPr>
            <a:r>
              <a:rPr/>
              <a:t>fig.show()</a:t>
            </a:r>
            <a:endParaRPr/>
          </a:p>
        </p:txBody>
      </p:sp>
      <p:sp>
        <p:nvSpPr>
          <p:cNvPr id="26" name="TextBox 25"/>
          <p:cNvSpPr txBox="1"/>
          <p:nvPr/>
        </p:nvSpPr>
        <p:spPr bwMode="auto">
          <a:xfrm>
            <a:off x="1152144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0B0C0"/>
                </a:solidFill>
                <a:latin typeface="Calibri"/>
              </a:defRPr>
            </a:pPr>
            <a:r>
              <a:rPr/>
              <a:t>32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1A1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0" y="0"/>
            <a:ext cx="109728" cy="6858000"/>
          </a:xfrm>
          <a:prstGeom prst="rect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 bwMode="auto"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rPr/>
              <a:t>Требования к отчёту</a:t>
            </a:r>
            <a:endParaRPr/>
          </a:p>
        </p:txBody>
      </p:sp>
      <p:sp>
        <p:nvSpPr>
          <p:cNvPr id="4" name="Rectangle 3"/>
          <p:cNvSpPr/>
          <p:nvPr/>
        </p:nvSpPr>
        <p:spPr bwMode="auto">
          <a:xfrm>
            <a:off x="457200" y="914400"/>
            <a:ext cx="73152" cy="365760"/>
          </a:xfrm>
          <a:prstGeom prst="rect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TextBox 4"/>
          <p:cNvSpPr txBox="1"/>
          <p:nvPr/>
        </p:nvSpPr>
        <p:spPr bwMode="auto">
          <a:xfrm>
            <a:off x="640080" y="89611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rPr/>
              <a:t>1. Титульный лист (вариант, уровень, датасет)</a:t>
            </a:r>
            <a:endParaRPr/>
          </a:p>
        </p:txBody>
      </p:sp>
      <p:sp>
        <p:nvSpPr>
          <p:cNvPr id="6" name="Rectangle 5"/>
          <p:cNvSpPr/>
          <p:nvPr/>
        </p:nvSpPr>
        <p:spPr bwMode="auto">
          <a:xfrm>
            <a:off x="457200" y="1371600"/>
            <a:ext cx="73152" cy="365760"/>
          </a:xfrm>
          <a:prstGeom prst="rect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TextBox 6"/>
          <p:cNvSpPr txBox="1"/>
          <p:nvPr/>
        </p:nvSpPr>
        <p:spPr bwMode="auto">
          <a:xfrm>
            <a:off x="640080" y="135331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rPr/>
              <a:t>2. Описание датасета: источник, размер, признаки</a:t>
            </a:r>
            <a:endParaRPr/>
          </a:p>
        </p:txBody>
      </p:sp>
      <p:sp>
        <p:nvSpPr>
          <p:cNvPr id="8" name="Rectangle 7"/>
          <p:cNvSpPr/>
          <p:nvPr/>
        </p:nvSpPr>
        <p:spPr bwMode="auto">
          <a:xfrm>
            <a:off x="457200" y="1828800"/>
            <a:ext cx="73152" cy="365760"/>
          </a:xfrm>
          <a:prstGeom prst="rect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TextBox 8"/>
          <p:cNvSpPr txBox="1"/>
          <p:nvPr/>
        </p:nvSpPr>
        <p:spPr bwMode="auto">
          <a:xfrm>
            <a:off x="640080" y="181051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rPr/>
              <a:t>3. EDA: пропуски, типы, распределения, корреляции, выбросы</a:t>
            </a:r>
            <a:endParaRPr/>
          </a:p>
        </p:txBody>
      </p:sp>
      <p:sp>
        <p:nvSpPr>
          <p:cNvPr id="10" name="Rectangle 9"/>
          <p:cNvSpPr/>
          <p:nvPr/>
        </p:nvSpPr>
        <p:spPr bwMode="auto">
          <a:xfrm>
            <a:off x="457200" y="2286000"/>
            <a:ext cx="73152" cy="365760"/>
          </a:xfrm>
          <a:prstGeom prst="rect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TextBox 10"/>
          <p:cNvSpPr txBox="1"/>
          <p:nvPr/>
        </p:nvSpPr>
        <p:spPr bwMode="auto">
          <a:xfrm>
            <a:off x="640080" y="226771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rPr/>
              <a:t>4. Предобработка: кодирование, FE, отбор признаков</a:t>
            </a:r>
            <a:endParaRPr/>
          </a:p>
        </p:txBody>
      </p:sp>
      <p:sp>
        <p:nvSpPr>
          <p:cNvPr id="12" name="Rectangle 11"/>
          <p:cNvSpPr/>
          <p:nvPr/>
        </p:nvSpPr>
        <p:spPr bwMode="auto">
          <a:xfrm>
            <a:off x="457200" y="2743200"/>
            <a:ext cx="73152" cy="365760"/>
          </a:xfrm>
          <a:prstGeom prst="rect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TextBox 12"/>
          <p:cNvSpPr txBox="1"/>
          <p:nvPr/>
        </p:nvSpPr>
        <p:spPr bwMode="auto">
          <a:xfrm>
            <a:off x="640080" y="2724911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rPr/>
              <a:t>5. Модели: описание, гиперпараметры, качество каждой</a:t>
            </a:r>
            <a:endParaRPr/>
          </a:p>
        </p:txBody>
      </p:sp>
      <p:sp>
        <p:nvSpPr>
          <p:cNvPr id="14" name="Rectangle 13"/>
          <p:cNvSpPr/>
          <p:nvPr/>
        </p:nvSpPr>
        <p:spPr bwMode="auto">
          <a:xfrm>
            <a:off x="457200" y="3200400"/>
            <a:ext cx="73152" cy="365760"/>
          </a:xfrm>
          <a:prstGeom prst="rect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TextBox 14"/>
          <p:cNvSpPr txBox="1"/>
          <p:nvPr/>
        </p:nvSpPr>
        <p:spPr bwMode="auto">
          <a:xfrm>
            <a:off x="640080" y="318211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rPr/>
              <a:t>6. Оптимизация: Optuna, история, важность параметров</a:t>
            </a:r>
            <a:endParaRPr/>
          </a:p>
        </p:txBody>
      </p:sp>
      <p:sp>
        <p:nvSpPr>
          <p:cNvPr id="16" name="Rectangle 15"/>
          <p:cNvSpPr/>
          <p:nvPr/>
        </p:nvSpPr>
        <p:spPr bwMode="auto">
          <a:xfrm>
            <a:off x="457200" y="3657600"/>
            <a:ext cx="73152" cy="365760"/>
          </a:xfrm>
          <a:prstGeom prst="rect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TextBox 16"/>
          <p:cNvSpPr txBox="1"/>
          <p:nvPr/>
        </p:nvSpPr>
        <p:spPr bwMode="auto">
          <a:xfrm>
            <a:off x="640080" y="363931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rPr/>
              <a:t>7. Интерпретация: SHAP, Permutation, PDP</a:t>
            </a:r>
            <a:endParaRPr/>
          </a:p>
        </p:txBody>
      </p:sp>
      <p:sp>
        <p:nvSpPr>
          <p:cNvPr id="18" name="Rectangle 17"/>
          <p:cNvSpPr/>
          <p:nvPr/>
        </p:nvSpPr>
        <p:spPr bwMode="auto">
          <a:xfrm>
            <a:off x="457200" y="4114800"/>
            <a:ext cx="73152" cy="36576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TextBox 18"/>
          <p:cNvSpPr txBox="1"/>
          <p:nvPr/>
        </p:nvSpPr>
        <p:spPr bwMode="auto">
          <a:xfrm>
            <a:off x="640080" y="409651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rPr/>
              <a:t>8. Продвинутые (4-5): статистика, causal, conformal, calibration, robustness</a:t>
            </a:r>
            <a:endParaRPr/>
          </a:p>
        </p:txBody>
      </p:sp>
      <p:sp>
        <p:nvSpPr>
          <p:cNvPr id="20" name="Rectangle 19"/>
          <p:cNvSpPr/>
          <p:nvPr/>
        </p:nvSpPr>
        <p:spPr bwMode="auto">
          <a:xfrm>
            <a:off x="457200" y="4572000"/>
            <a:ext cx="73152" cy="36576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TextBox 20"/>
          <p:cNvSpPr txBox="1"/>
          <p:nvPr/>
        </p:nvSpPr>
        <p:spPr bwMode="auto">
          <a:xfrm>
            <a:off x="640080" y="455371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rPr/>
              <a:t>9. Benchmark Polars vs pandas</a:t>
            </a:r>
            <a:endParaRPr/>
          </a:p>
        </p:txBody>
      </p:sp>
      <p:sp>
        <p:nvSpPr>
          <p:cNvPr id="22" name="Rectangle 21"/>
          <p:cNvSpPr/>
          <p:nvPr/>
        </p:nvSpPr>
        <p:spPr bwMode="auto">
          <a:xfrm>
            <a:off x="457200" y="5029200"/>
            <a:ext cx="73152" cy="365760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TextBox 22"/>
          <p:cNvSpPr txBox="1"/>
          <p:nvPr/>
        </p:nvSpPr>
        <p:spPr bwMode="auto">
          <a:xfrm>
            <a:off x="640080" y="501091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rPr/>
              <a:t>10. Выводы и рекомендации</a:t>
            </a:r>
            <a:endParaRPr/>
          </a:p>
        </p:txBody>
      </p:sp>
      <p:sp>
        <p:nvSpPr>
          <p:cNvPr id="24" name="Rectangle 23"/>
          <p:cNvSpPr/>
          <p:nvPr/>
        </p:nvSpPr>
        <p:spPr bwMode="auto">
          <a:xfrm>
            <a:off x="457200" y="5486400"/>
            <a:ext cx="73152" cy="365760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TextBox 24"/>
          <p:cNvSpPr txBox="1"/>
          <p:nvPr/>
        </p:nvSpPr>
        <p:spPr bwMode="auto">
          <a:xfrm>
            <a:off x="640080" y="546811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rPr/>
              <a:t>11. Приложение: полный код</a:t>
            </a:r>
            <a:endParaRPr/>
          </a:p>
        </p:txBody>
      </p:sp>
      <p:sp>
        <p:nvSpPr>
          <p:cNvPr id="26" name="TextBox 25"/>
          <p:cNvSpPr txBox="1"/>
          <p:nvPr/>
        </p:nvSpPr>
        <p:spPr bwMode="auto">
          <a:xfrm>
            <a:off x="45720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9FF"/>
                </a:solidFill>
                <a:latin typeface="Calibri"/>
              </a:defRPr>
            </a:pPr>
            <a:r>
              <a:rPr/>
              <a:t>Формат: PDF + Jupyter Notebook (.ipynb) с выводами</a:t>
            </a:r>
            <a:endParaRPr/>
          </a:p>
        </p:txBody>
      </p:sp>
      <p:sp>
        <p:nvSpPr>
          <p:cNvPr id="27" name="TextBox 26"/>
          <p:cNvSpPr txBox="1"/>
          <p:nvPr/>
        </p:nvSpPr>
        <p:spPr bwMode="auto">
          <a:xfrm>
            <a:off x="1152144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0B0C0"/>
                </a:solidFill>
                <a:latin typeface="Calibri"/>
              </a:defRPr>
            </a:pPr>
            <a:r>
              <a:rPr/>
              <a:t>34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1A1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0" y="0"/>
            <a:ext cx="109728" cy="6858000"/>
          </a:xfrm>
          <a:prstGeom prst="rect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 bwMode="auto"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rPr/>
              <a:t>Типичные ошибки (9 штук)</a:t>
            </a:r>
            <a:endParaRPr/>
          </a:p>
        </p:txBody>
      </p:sp>
      <p:sp>
        <p:nvSpPr>
          <p:cNvPr id="4" name="Rectangle 3"/>
          <p:cNvSpPr/>
          <p:nvPr/>
        </p:nvSpPr>
        <p:spPr bwMode="auto">
          <a:xfrm>
            <a:off x="457200" y="914400"/>
            <a:ext cx="73152" cy="411480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TextBox 4"/>
          <p:cNvSpPr txBox="1"/>
          <p:nvPr/>
        </p:nvSpPr>
        <p:spPr bwMode="auto">
          <a:xfrm>
            <a:off x="640080" y="8961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5555"/>
                </a:solidFill>
                <a:latin typeface="Calibri"/>
              </a:defRPr>
            </a:pPr>
            <a:r>
              <a:rPr/>
              <a:t>1. Data leakage</a:t>
            </a:r>
            <a:endParaRPr/>
          </a:p>
        </p:txBody>
      </p:sp>
      <p:sp>
        <p:nvSpPr>
          <p:cNvPr id="6" name="TextBox 5"/>
          <p:cNvSpPr txBox="1"/>
          <p:nvPr/>
        </p:nvSpPr>
        <p:spPr bwMode="auto">
          <a:xfrm>
            <a:off x="3474720" y="89611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/>
              <a:t>Target encoding на всём датасете, а не только на train</a:t>
            </a:r>
            <a:endParaRPr/>
          </a:p>
        </p:txBody>
      </p:sp>
      <p:sp>
        <p:nvSpPr>
          <p:cNvPr id="7" name="Rectangle 6"/>
          <p:cNvSpPr/>
          <p:nvPr/>
        </p:nvSpPr>
        <p:spPr bwMode="auto">
          <a:xfrm>
            <a:off x="457200" y="1463040"/>
            <a:ext cx="73152" cy="41148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TextBox 7"/>
          <p:cNvSpPr txBox="1"/>
          <p:nvPr/>
        </p:nvSpPr>
        <p:spPr bwMode="auto">
          <a:xfrm>
            <a:off x="640080" y="14447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A000"/>
                </a:solidFill>
                <a:latin typeface="Calibri"/>
              </a:defRPr>
            </a:pPr>
            <a:r>
              <a:rPr/>
              <a:t>2. Игнорирование пропусков</a:t>
            </a:r>
            <a:endParaRPr/>
          </a:p>
        </p:txBody>
      </p:sp>
      <p:sp>
        <p:nvSpPr>
          <p:cNvPr id="9" name="TextBox 8"/>
          <p:cNvSpPr txBox="1"/>
          <p:nvPr/>
        </p:nvSpPr>
        <p:spPr bwMode="auto">
          <a:xfrm>
            <a:off x="3474720" y="14447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/>
              <a:t>Удаление строк вместо кодирования как 'missing'</a:t>
            </a:r>
            <a:endParaRPr/>
          </a:p>
        </p:txBody>
      </p:sp>
      <p:sp>
        <p:nvSpPr>
          <p:cNvPr id="10" name="Rectangle 9"/>
          <p:cNvSpPr/>
          <p:nvPr/>
        </p:nvSpPr>
        <p:spPr bwMode="auto">
          <a:xfrm>
            <a:off x="457200" y="2011680"/>
            <a:ext cx="73152" cy="41148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TextBox 10"/>
          <p:cNvSpPr txBox="1"/>
          <p:nvPr/>
        </p:nvSpPr>
        <p:spPr bwMode="auto">
          <a:xfrm>
            <a:off x="640080" y="19933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A000"/>
                </a:solidFill>
                <a:latin typeface="Calibri"/>
              </a:defRPr>
            </a:pPr>
            <a:r>
              <a:rPr/>
              <a:t>3. Нет проверки OLS</a:t>
            </a:r>
            <a:endParaRPr/>
          </a:p>
        </p:txBody>
      </p:sp>
      <p:sp>
        <p:nvSpPr>
          <p:cNvPr id="12" name="TextBox 11"/>
          <p:cNvSpPr txBox="1"/>
          <p:nvPr/>
        </p:nvSpPr>
        <p:spPr bwMode="auto">
          <a:xfrm>
            <a:off x="3474720" y="199339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/>
              <a:t>Не проверяют 5 условий Гаусса-Маркова</a:t>
            </a:r>
            <a:endParaRPr/>
          </a:p>
        </p:txBody>
      </p:sp>
      <p:sp>
        <p:nvSpPr>
          <p:cNvPr id="13" name="Rectangle 12"/>
          <p:cNvSpPr/>
          <p:nvPr/>
        </p:nvSpPr>
        <p:spPr bwMode="auto">
          <a:xfrm>
            <a:off x="457200" y="2560320"/>
            <a:ext cx="73152" cy="411480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TextBox 13"/>
          <p:cNvSpPr txBox="1"/>
          <p:nvPr/>
        </p:nvSpPr>
        <p:spPr bwMode="auto">
          <a:xfrm>
            <a:off x="640080" y="25420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5555"/>
                </a:solidFill>
                <a:latin typeface="Calibri"/>
              </a:defRPr>
            </a:pPr>
            <a:r>
              <a:rPr/>
              <a:t>4. Переобучение без CV</a:t>
            </a:r>
            <a:endParaRPr/>
          </a:p>
        </p:txBody>
      </p:sp>
      <p:sp>
        <p:nvSpPr>
          <p:cNvPr id="15" name="TextBox 14"/>
          <p:cNvSpPr txBox="1"/>
          <p:nvPr/>
        </p:nvSpPr>
        <p:spPr bwMode="auto">
          <a:xfrm>
            <a:off x="3474720" y="25420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/>
              <a:t>Оценивают на train, не делают кросс-валидацию</a:t>
            </a:r>
            <a:endParaRPr/>
          </a:p>
        </p:txBody>
      </p:sp>
      <p:sp>
        <p:nvSpPr>
          <p:cNvPr id="16" name="Rectangle 15"/>
          <p:cNvSpPr/>
          <p:nvPr/>
        </p:nvSpPr>
        <p:spPr bwMode="auto">
          <a:xfrm>
            <a:off x="457200" y="3108960"/>
            <a:ext cx="73152" cy="411480"/>
          </a:xfrm>
          <a:prstGeom prst="rect">
            <a:avLst/>
          </a:prstGeom>
          <a:solidFill>
            <a:srgbClr val="BB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TextBox 16"/>
          <p:cNvSpPr txBox="1"/>
          <p:nvPr/>
        </p:nvSpPr>
        <p:spPr bwMode="auto">
          <a:xfrm>
            <a:off x="640080" y="30906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B88FF"/>
                </a:solidFill>
                <a:latin typeface="Calibri"/>
              </a:defRPr>
            </a:pPr>
            <a:r>
              <a:rPr/>
              <a:t>5. Неправильная R2</a:t>
            </a:r>
            <a:endParaRPr/>
          </a:p>
        </p:txBody>
      </p:sp>
      <p:sp>
        <p:nvSpPr>
          <p:cNvPr id="18" name="TextBox 17"/>
          <p:cNvSpPr txBox="1"/>
          <p:nvPr/>
        </p:nvSpPr>
        <p:spPr bwMode="auto">
          <a:xfrm>
            <a:off x="3474720" y="309067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/>
              <a:t>Интерпретируют R2 на новых данных неправильно</a:t>
            </a:r>
            <a:endParaRPr/>
          </a:p>
        </p:txBody>
      </p:sp>
      <p:sp>
        <p:nvSpPr>
          <p:cNvPr id="19" name="Rectangle 18"/>
          <p:cNvSpPr/>
          <p:nvPr/>
        </p:nvSpPr>
        <p:spPr bwMode="auto">
          <a:xfrm>
            <a:off x="457200" y="3657600"/>
            <a:ext cx="73152" cy="41148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TextBox 19"/>
          <p:cNvSpPr txBox="1"/>
          <p:nvPr/>
        </p:nvSpPr>
        <p:spPr bwMode="auto">
          <a:xfrm>
            <a:off x="640080" y="36393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9FF"/>
                </a:solidFill>
                <a:latin typeface="Calibri"/>
              </a:defRPr>
            </a:pPr>
            <a:r>
              <a:rPr/>
              <a:t>6. for-циклы в Polars</a:t>
            </a:r>
            <a:endParaRPr/>
          </a:p>
        </p:txBody>
      </p:sp>
      <p:sp>
        <p:nvSpPr>
          <p:cNvPr id="21" name="TextBox 20"/>
          <p:cNvSpPr txBox="1"/>
          <p:nvPr/>
        </p:nvSpPr>
        <p:spPr bwMode="auto">
          <a:xfrm>
            <a:off x="3474720" y="363931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/>
              <a:t>Используют .apply() вместо нативных expressions</a:t>
            </a:r>
            <a:endParaRPr/>
          </a:p>
        </p:txBody>
      </p:sp>
      <p:sp>
        <p:nvSpPr>
          <p:cNvPr id="22" name="Rectangle 21"/>
          <p:cNvSpPr/>
          <p:nvPr/>
        </p:nvSpPr>
        <p:spPr bwMode="auto">
          <a:xfrm>
            <a:off x="457200" y="4206240"/>
            <a:ext cx="73152" cy="41148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TextBox 22"/>
          <p:cNvSpPr txBox="1"/>
          <p:nvPr/>
        </p:nvSpPr>
        <p:spPr bwMode="auto">
          <a:xfrm>
            <a:off x="640080" y="41879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9FF"/>
                </a:solidFill>
                <a:latin typeface="Calibri"/>
              </a:defRPr>
            </a:pPr>
            <a:r>
              <a:rPr/>
              <a:t>7. Нет Lazy API</a:t>
            </a:r>
            <a:endParaRPr/>
          </a:p>
        </p:txBody>
      </p:sp>
      <p:sp>
        <p:nvSpPr>
          <p:cNvPr id="24" name="TextBox 23"/>
          <p:cNvSpPr txBox="1"/>
          <p:nvPr/>
        </p:nvSpPr>
        <p:spPr bwMode="auto">
          <a:xfrm>
            <a:off x="3474720" y="4187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/>
              <a:t>Загружают 3M строк через read_csv() вместо scan_csv()</a:t>
            </a:r>
            <a:endParaRPr/>
          </a:p>
        </p:txBody>
      </p:sp>
      <p:sp>
        <p:nvSpPr>
          <p:cNvPr id="25" name="Rectangle 24"/>
          <p:cNvSpPr/>
          <p:nvPr/>
        </p:nvSpPr>
        <p:spPr bwMode="auto">
          <a:xfrm>
            <a:off x="457200" y="4754880"/>
            <a:ext cx="73152" cy="41148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TextBox 25"/>
          <p:cNvSpPr txBox="1"/>
          <p:nvPr/>
        </p:nvSpPr>
        <p:spPr bwMode="auto">
          <a:xfrm>
            <a:off x="640080" y="47365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FF88"/>
                </a:solidFill>
                <a:latin typeface="Calibri"/>
              </a:defRPr>
            </a:pPr>
            <a:r>
              <a:rPr/>
              <a:t>8. Забывают Streaming</a:t>
            </a:r>
            <a:endParaRPr/>
          </a:p>
        </p:txBody>
      </p:sp>
      <p:sp>
        <p:nvSpPr>
          <p:cNvPr id="27" name="TextBox 26"/>
          <p:cNvSpPr txBox="1"/>
          <p:nvPr/>
        </p:nvSpPr>
        <p:spPr bwMode="auto">
          <a:xfrm>
            <a:off x="3474720" y="473659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/>
              <a:t>OOM на больших данных без collect(streaming=True)</a:t>
            </a:r>
            <a:endParaRPr/>
          </a:p>
        </p:txBody>
      </p:sp>
      <p:sp>
        <p:nvSpPr>
          <p:cNvPr id="28" name="Rectangle 27"/>
          <p:cNvSpPr/>
          <p:nvPr/>
        </p:nvSpPr>
        <p:spPr bwMode="auto">
          <a:xfrm>
            <a:off x="457200" y="5303520"/>
            <a:ext cx="73152" cy="41148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TextBox 28"/>
          <p:cNvSpPr txBox="1"/>
          <p:nvPr/>
        </p:nvSpPr>
        <p:spPr bwMode="auto">
          <a:xfrm>
            <a:off x="640080" y="52852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FF88"/>
                </a:solidFill>
                <a:latin typeface="Calibri"/>
              </a:defRPr>
            </a:pPr>
            <a:r>
              <a:rPr/>
              <a:t>9. Нет benchmark</a:t>
            </a:r>
            <a:endParaRPr/>
          </a:p>
        </p:txBody>
      </p:sp>
      <p:sp>
        <p:nvSpPr>
          <p:cNvPr id="30" name="TextBox 29"/>
          <p:cNvSpPr txBox="1"/>
          <p:nvPr/>
        </p:nvSpPr>
        <p:spPr bwMode="auto">
          <a:xfrm>
            <a:off x="3474720" y="52852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/>
              <a:t>Не сравнивают Polars vs pandas по времени</a:t>
            </a:r>
            <a:endParaRPr/>
          </a:p>
        </p:txBody>
      </p:sp>
      <p:sp>
        <p:nvSpPr>
          <p:cNvPr id="31" name="TextBox 30"/>
          <p:cNvSpPr txBox="1"/>
          <p:nvPr/>
        </p:nvSpPr>
        <p:spPr bwMode="auto">
          <a:xfrm>
            <a:off x="1152144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0B0C0"/>
                </a:solidFill>
                <a:latin typeface="Calibri"/>
              </a:defRPr>
            </a:pPr>
            <a:r>
              <a:rPr/>
              <a:t>35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1A1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0" y="0"/>
            <a:ext cx="109728" cy="6858000"/>
          </a:xfrm>
          <a:prstGeom prst="rect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 bwMode="auto"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rPr/>
              <a:t>Источники данных и библиотек</a:t>
            </a:r>
            <a:endParaRPr/>
          </a:p>
        </p:txBody>
      </p:sp>
      <p:sp>
        <p:nvSpPr>
          <p:cNvPr id="4" name="TextBox 3"/>
          <p:cNvSpPr txBox="1"/>
          <p:nvPr/>
        </p:nvSpPr>
        <p:spPr bwMode="auto">
          <a:xfrm>
            <a:off x="45720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rPr/>
              <a:t>Источники датасетов:</a:t>
            </a:r>
            <a:endParaRPr/>
          </a:p>
        </p:txBody>
      </p:sp>
      <p:sp>
        <p:nvSpPr>
          <p:cNvPr id="5" name="Rectangle 4"/>
          <p:cNvSpPr/>
          <p:nvPr/>
        </p:nvSpPr>
        <p:spPr bwMode="auto">
          <a:xfrm>
            <a:off x="457200" y="1280160"/>
            <a:ext cx="73152" cy="32004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TextBox 5"/>
          <p:cNvSpPr txBox="1"/>
          <p:nvPr/>
        </p:nvSpPr>
        <p:spPr bwMode="auto">
          <a:xfrm>
            <a:off x="640080" y="12618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9FF"/>
                </a:solidFill>
                <a:latin typeface="Calibri"/>
              </a:defRPr>
            </a:pPr>
            <a:r>
              <a:rPr/>
              <a:t>Kaggle</a:t>
            </a:r>
            <a:endParaRPr/>
          </a:p>
        </p:txBody>
      </p:sp>
      <p:sp>
        <p:nvSpPr>
          <p:cNvPr id="7" name="TextBox 6"/>
          <p:cNvSpPr txBox="1"/>
          <p:nvPr/>
        </p:nvSpPr>
        <p:spPr bwMode="auto">
          <a:xfrm>
            <a:off x="2926080" y="12618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rPr/>
              <a:t>https://www.kaggle.com/datasets</a:t>
            </a:r>
            <a:endParaRPr/>
          </a:p>
        </p:txBody>
      </p:sp>
      <p:sp>
        <p:nvSpPr>
          <p:cNvPr id="8" name="Rectangle 7"/>
          <p:cNvSpPr/>
          <p:nvPr/>
        </p:nvSpPr>
        <p:spPr bwMode="auto">
          <a:xfrm>
            <a:off x="457200" y="1691639"/>
            <a:ext cx="73152" cy="32004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TextBox 8"/>
          <p:cNvSpPr txBox="1"/>
          <p:nvPr/>
        </p:nvSpPr>
        <p:spPr bwMode="auto">
          <a:xfrm>
            <a:off x="640080" y="1673351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FF88"/>
                </a:solidFill>
                <a:latin typeface="Calibri"/>
              </a:defRPr>
            </a:pPr>
            <a:r>
              <a:rPr/>
              <a:t>UCI ML Repository</a:t>
            </a:r>
            <a:endParaRPr/>
          </a:p>
        </p:txBody>
      </p:sp>
      <p:sp>
        <p:nvSpPr>
          <p:cNvPr id="10" name="TextBox 9"/>
          <p:cNvSpPr txBox="1"/>
          <p:nvPr/>
        </p:nvSpPr>
        <p:spPr bwMode="auto">
          <a:xfrm>
            <a:off x="2926080" y="1673351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rPr/>
              <a:t>https://archive.ics.uci.edu/</a:t>
            </a:r>
            <a:endParaRPr/>
          </a:p>
        </p:txBody>
      </p:sp>
      <p:sp>
        <p:nvSpPr>
          <p:cNvPr id="11" name="Rectangle 10"/>
          <p:cNvSpPr/>
          <p:nvPr/>
        </p:nvSpPr>
        <p:spPr bwMode="auto">
          <a:xfrm>
            <a:off x="457200" y="2103120"/>
            <a:ext cx="73152" cy="32004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TextBox 11"/>
          <p:cNvSpPr txBox="1"/>
          <p:nvPr/>
        </p:nvSpPr>
        <p:spPr bwMode="auto">
          <a:xfrm>
            <a:off x="640080" y="2084831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A000"/>
                </a:solidFill>
                <a:latin typeface="Calibri"/>
              </a:defRPr>
            </a:pPr>
            <a:r>
              <a:rPr/>
              <a:t>scikit-learn datasets</a:t>
            </a:r>
            <a:endParaRPr/>
          </a:p>
        </p:txBody>
      </p:sp>
      <p:sp>
        <p:nvSpPr>
          <p:cNvPr id="13" name="TextBox 12"/>
          <p:cNvSpPr txBox="1"/>
          <p:nvPr/>
        </p:nvSpPr>
        <p:spPr bwMode="auto">
          <a:xfrm>
            <a:off x="2926080" y="2084831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rPr/>
              <a:t>https://scikit-learn.org/</a:t>
            </a:r>
            <a:endParaRPr/>
          </a:p>
        </p:txBody>
      </p:sp>
      <p:sp>
        <p:nvSpPr>
          <p:cNvPr id="14" name="Rectangle 13"/>
          <p:cNvSpPr/>
          <p:nvPr/>
        </p:nvSpPr>
        <p:spPr bwMode="auto">
          <a:xfrm>
            <a:off x="457200" y="2514600"/>
            <a:ext cx="73152" cy="320040"/>
          </a:xfrm>
          <a:prstGeom prst="rect">
            <a:avLst/>
          </a:prstGeom>
          <a:solidFill>
            <a:srgbClr val="BB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TextBox 14"/>
          <p:cNvSpPr txBox="1"/>
          <p:nvPr/>
        </p:nvSpPr>
        <p:spPr bwMode="auto">
          <a:xfrm>
            <a:off x="640080" y="24963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B88FF"/>
                </a:solidFill>
                <a:latin typeface="Calibri"/>
              </a:defRPr>
            </a:pPr>
            <a:r>
              <a:rPr/>
              <a:t>seaborn-data</a:t>
            </a:r>
            <a:endParaRPr/>
          </a:p>
        </p:txBody>
      </p:sp>
      <p:sp>
        <p:nvSpPr>
          <p:cNvPr id="16" name="TextBox 15"/>
          <p:cNvSpPr txBox="1"/>
          <p:nvPr/>
        </p:nvSpPr>
        <p:spPr bwMode="auto">
          <a:xfrm>
            <a:off x="2926080" y="24963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rPr/>
              <a:t>https://github.com/mwaskom/seaborn-data</a:t>
            </a:r>
            <a:endParaRPr/>
          </a:p>
        </p:txBody>
      </p:sp>
      <p:sp>
        <p:nvSpPr>
          <p:cNvPr id="17" name="TextBox 16"/>
          <p:cNvSpPr txBox="1"/>
          <p:nvPr/>
        </p:nvSpPr>
        <p:spPr bwMode="auto">
          <a:xfrm>
            <a:off x="621792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rPr/>
              <a:t>Библиотеки:</a:t>
            </a:r>
            <a:endParaRPr/>
          </a:p>
        </p:txBody>
      </p:sp>
      <p:sp>
        <p:nvSpPr>
          <p:cNvPr id="18" name="Rectangle 17"/>
          <p:cNvSpPr/>
          <p:nvPr/>
        </p:nvSpPr>
        <p:spPr bwMode="auto">
          <a:xfrm>
            <a:off x="6217920" y="1280160"/>
            <a:ext cx="73152" cy="27432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TextBox 18"/>
          <p:cNvSpPr txBox="1"/>
          <p:nvPr/>
        </p:nvSpPr>
        <p:spPr bwMode="auto">
          <a:xfrm>
            <a:off x="6400800" y="126187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9FF"/>
                </a:solidFill>
                <a:latin typeface="Calibri"/>
              </a:defRPr>
            </a:pPr>
            <a:r>
              <a:rPr/>
              <a:t>Polars</a:t>
            </a:r>
            <a:endParaRPr/>
          </a:p>
        </p:txBody>
      </p:sp>
      <p:sp>
        <p:nvSpPr>
          <p:cNvPr id="20" name="TextBox 19"/>
          <p:cNvSpPr txBox="1"/>
          <p:nvPr/>
        </p:nvSpPr>
        <p:spPr bwMode="auto">
          <a:xfrm>
            <a:off x="9144000" y="126187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Calibri"/>
              </a:defRPr>
            </a:pPr>
            <a:r>
              <a:rPr/>
              <a:t>https://pola.rs/</a:t>
            </a:r>
            <a:endParaRPr/>
          </a:p>
        </p:txBody>
      </p:sp>
      <p:sp>
        <p:nvSpPr>
          <p:cNvPr id="21" name="Rectangle 20"/>
          <p:cNvSpPr/>
          <p:nvPr/>
        </p:nvSpPr>
        <p:spPr bwMode="auto">
          <a:xfrm>
            <a:off x="6217920" y="1645919"/>
            <a:ext cx="73152" cy="27432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TextBox 21"/>
          <p:cNvSpPr txBox="1"/>
          <p:nvPr/>
        </p:nvSpPr>
        <p:spPr bwMode="auto">
          <a:xfrm>
            <a:off x="6400800" y="1627631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A000"/>
                </a:solidFill>
                <a:latin typeface="Calibri"/>
              </a:defRPr>
            </a:pPr>
            <a:r>
              <a:rPr/>
              <a:t>Optuna</a:t>
            </a:r>
            <a:endParaRPr/>
          </a:p>
        </p:txBody>
      </p:sp>
      <p:sp>
        <p:nvSpPr>
          <p:cNvPr id="23" name="TextBox 22"/>
          <p:cNvSpPr txBox="1"/>
          <p:nvPr/>
        </p:nvSpPr>
        <p:spPr bwMode="auto">
          <a:xfrm>
            <a:off x="9144000" y="1627631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Calibri"/>
              </a:defRPr>
            </a:pPr>
            <a:r>
              <a:rPr/>
              <a:t>https://optuna.org/</a:t>
            </a:r>
            <a:endParaRPr/>
          </a:p>
        </p:txBody>
      </p:sp>
      <p:sp>
        <p:nvSpPr>
          <p:cNvPr id="24" name="Rectangle 23"/>
          <p:cNvSpPr/>
          <p:nvPr/>
        </p:nvSpPr>
        <p:spPr bwMode="auto">
          <a:xfrm>
            <a:off x="6217920" y="2011680"/>
            <a:ext cx="73152" cy="274320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TextBox 24"/>
          <p:cNvSpPr txBox="1"/>
          <p:nvPr/>
        </p:nvSpPr>
        <p:spPr bwMode="auto">
          <a:xfrm>
            <a:off x="6400800" y="199339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5555"/>
                </a:solidFill>
                <a:latin typeface="Calibri"/>
              </a:defRPr>
            </a:pPr>
            <a:r>
              <a:rPr/>
              <a:t>SHAP</a:t>
            </a:r>
            <a:endParaRPr/>
          </a:p>
        </p:txBody>
      </p:sp>
      <p:sp>
        <p:nvSpPr>
          <p:cNvPr id="26" name="TextBox 25"/>
          <p:cNvSpPr txBox="1"/>
          <p:nvPr/>
        </p:nvSpPr>
        <p:spPr bwMode="auto">
          <a:xfrm>
            <a:off x="9144000" y="199339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Calibri"/>
              </a:defRPr>
            </a:pPr>
            <a:r>
              <a:rPr/>
              <a:t>github.com/shap/shap</a:t>
            </a:r>
            <a:endParaRPr/>
          </a:p>
        </p:txBody>
      </p:sp>
      <p:sp>
        <p:nvSpPr>
          <p:cNvPr id="27" name="Rectangle 26"/>
          <p:cNvSpPr/>
          <p:nvPr/>
        </p:nvSpPr>
        <p:spPr bwMode="auto">
          <a:xfrm>
            <a:off x="6217920" y="2377440"/>
            <a:ext cx="73152" cy="274320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TextBox 27"/>
          <p:cNvSpPr txBox="1"/>
          <p:nvPr/>
        </p:nvSpPr>
        <p:spPr bwMode="auto">
          <a:xfrm>
            <a:off x="6400800" y="235915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5555"/>
                </a:solidFill>
                <a:latin typeface="Calibri"/>
              </a:defRPr>
            </a:pPr>
            <a:r>
              <a:rPr/>
              <a:t>DoWhy</a:t>
            </a:r>
            <a:endParaRPr/>
          </a:p>
        </p:txBody>
      </p:sp>
      <p:sp>
        <p:nvSpPr>
          <p:cNvPr id="29" name="TextBox 28"/>
          <p:cNvSpPr txBox="1"/>
          <p:nvPr/>
        </p:nvSpPr>
        <p:spPr bwMode="auto">
          <a:xfrm>
            <a:off x="9144000" y="235915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Calibri"/>
              </a:defRPr>
            </a:pPr>
            <a:r>
              <a:rPr/>
              <a:t>github.com/py-why/dowhy</a:t>
            </a:r>
            <a:endParaRPr/>
          </a:p>
        </p:txBody>
      </p:sp>
      <p:sp>
        <p:nvSpPr>
          <p:cNvPr id="30" name="Rectangle 29"/>
          <p:cNvSpPr/>
          <p:nvPr/>
        </p:nvSpPr>
        <p:spPr bwMode="auto">
          <a:xfrm>
            <a:off x="6217920" y="2743200"/>
            <a:ext cx="73152" cy="274320"/>
          </a:xfrm>
          <a:prstGeom prst="rect">
            <a:avLst/>
          </a:prstGeom>
          <a:solidFill>
            <a:srgbClr val="BB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TextBox 30"/>
          <p:cNvSpPr txBox="1"/>
          <p:nvPr/>
        </p:nvSpPr>
        <p:spPr bwMode="auto">
          <a:xfrm>
            <a:off x="6400800" y="2724911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B88FF"/>
                </a:solidFill>
                <a:latin typeface="Calibri"/>
              </a:defRPr>
            </a:pPr>
            <a:r>
              <a:rPr/>
              <a:t>MAPIE</a:t>
            </a:r>
            <a:endParaRPr/>
          </a:p>
        </p:txBody>
      </p:sp>
      <p:sp>
        <p:nvSpPr>
          <p:cNvPr id="32" name="TextBox 31"/>
          <p:cNvSpPr txBox="1"/>
          <p:nvPr/>
        </p:nvSpPr>
        <p:spPr bwMode="auto">
          <a:xfrm>
            <a:off x="9144000" y="2724911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Calibri"/>
              </a:defRPr>
            </a:pPr>
            <a:r>
              <a:rPr/>
              <a:t>github.com/scikit-learn-contrib/MAPIE</a:t>
            </a:r>
            <a:endParaRPr/>
          </a:p>
        </p:txBody>
      </p:sp>
      <p:sp>
        <p:nvSpPr>
          <p:cNvPr id="33" name="Rectangle 32"/>
          <p:cNvSpPr/>
          <p:nvPr/>
        </p:nvSpPr>
        <p:spPr bwMode="auto">
          <a:xfrm>
            <a:off x="6217920" y="3108960"/>
            <a:ext cx="73152" cy="27432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TextBox 33"/>
          <p:cNvSpPr txBox="1"/>
          <p:nvPr/>
        </p:nvSpPr>
        <p:spPr bwMode="auto">
          <a:xfrm>
            <a:off x="6400800" y="309067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FF88"/>
                </a:solidFill>
                <a:latin typeface="Calibri"/>
              </a:defRPr>
            </a:pPr>
            <a:r>
              <a:rPr/>
              <a:t>DuckDB</a:t>
            </a:r>
            <a:endParaRPr/>
          </a:p>
        </p:txBody>
      </p:sp>
      <p:sp>
        <p:nvSpPr>
          <p:cNvPr id="35" name="TextBox 34"/>
          <p:cNvSpPr txBox="1"/>
          <p:nvPr/>
        </p:nvSpPr>
        <p:spPr bwMode="auto">
          <a:xfrm>
            <a:off x="9144000" y="309067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Calibri"/>
              </a:defRPr>
            </a:pPr>
            <a:r>
              <a:rPr/>
              <a:t>https://duckdb.org/</a:t>
            </a:r>
            <a:endParaRPr/>
          </a:p>
        </p:txBody>
      </p:sp>
      <p:sp>
        <p:nvSpPr>
          <p:cNvPr id="36" name="Rectangle 35"/>
          <p:cNvSpPr/>
          <p:nvPr/>
        </p:nvSpPr>
        <p:spPr bwMode="auto">
          <a:xfrm>
            <a:off x="6217920" y="3474720"/>
            <a:ext cx="73152" cy="27432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" name="TextBox 36"/>
          <p:cNvSpPr txBox="1"/>
          <p:nvPr/>
        </p:nvSpPr>
        <p:spPr bwMode="auto">
          <a:xfrm>
            <a:off x="6400800" y="345643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A000"/>
                </a:solidFill>
                <a:latin typeface="Calibri"/>
              </a:defRPr>
            </a:pPr>
            <a:r>
              <a:rPr/>
              <a:t>Sentence-Transformers</a:t>
            </a:r>
            <a:endParaRPr/>
          </a:p>
        </p:txBody>
      </p:sp>
      <p:sp>
        <p:nvSpPr>
          <p:cNvPr id="38" name="TextBox 37"/>
          <p:cNvSpPr txBox="1"/>
          <p:nvPr/>
        </p:nvSpPr>
        <p:spPr bwMode="auto">
          <a:xfrm>
            <a:off x="9144000" y="345643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Calibri"/>
              </a:defRPr>
            </a:pPr>
            <a:r>
              <a:rPr/>
              <a:t>sbert.net/</a:t>
            </a:r>
            <a:endParaRPr/>
          </a:p>
        </p:txBody>
      </p:sp>
      <p:sp>
        <p:nvSpPr>
          <p:cNvPr id="39" name="Rectangle 38"/>
          <p:cNvSpPr/>
          <p:nvPr/>
        </p:nvSpPr>
        <p:spPr bwMode="auto">
          <a:xfrm>
            <a:off x="6217920" y="3840480"/>
            <a:ext cx="73152" cy="27432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" name="TextBox 39"/>
          <p:cNvSpPr txBox="1"/>
          <p:nvPr/>
        </p:nvSpPr>
        <p:spPr bwMode="auto">
          <a:xfrm>
            <a:off x="6400800" y="382219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9FF"/>
                </a:solidFill>
                <a:latin typeface="Calibri"/>
              </a:defRPr>
            </a:pPr>
            <a:r>
              <a:rPr/>
              <a:t>XGBoost / LightGBM / CatBoost</a:t>
            </a:r>
            <a:endParaRPr/>
          </a:p>
        </p:txBody>
      </p:sp>
      <p:sp>
        <p:nvSpPr>
          <p:cNvPr id="41" name="TextBox 40"/>
          <p:cNvSpPr txBox="1"/>
          <p:nvPr/>
        </p:nvSpPr>
        <p:spPr bwMode="auto">
          <a:xfrm>
            <a:off x="9144000" y="382219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Calibri"/>
              </a:defRPr>
            </a:pPr>
            <a:r>
              <a:rPr/>
              <a:t>GPU + CPU</a:t>
            </a:r>
            <a:endParaRPr/>
          </a:p>
        </p:txBody>
      </p:sp>
      <p:sp>
        <p:nvSpPr>
          <p:cNvPr id="42" name="TextBox 41"/>
          <p:cNvSpPr txBox="1"/>
          <p:nvPr/>
        </p:nvSpPr>
        <p:spPr bwMode="auto">
          <a:xfrm>
            <a:off x="1152144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0B0C0"/>
                </a:solidFill>
                <a:latin typeface="Calibri"/>
              </a:defRPr>
            </a:pPr>
            <a:r>
              <a:rPr/>
              <a:t>36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1A1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0" y="0"/>
            <a:ext cx="109728" cy="6858000"/>
          </a:xfrm>
          <a:prstGeom prst="rect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 bwMode="auto"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rPr/>
              <a:t>Ключевые выводы (12)</a:t>
            </a:r>
            <a:endParaRPr/>
          </a:p>
        </p:txBody>
      </p:sp>
      <p:sp>
        <p:nvSpPr>
          <p:cNvPr id="4" name="Rectangle 3"/>
          <p:cNvSpPr/>
          <p:nvPr/>
        </p:nvSpPr>
        <p:spPr bwMode="auto">
          <a:xfrm>
            <a:off x="457200" y="914400"/>
            <a:ext cx="73152" cy="36576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TextBox 4"/>
          <p:cNvSpPr txBox="1"/>
          <p:nvPr/>
        </p:nvSpPr>
        <p:spPr bwMode="auto">
          <a:xfrm>
            <a:off x="640080" y="89611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rPr/>
              <a:t>1. Polars &gt; pandas: параллелизм, Lazy API, streaming, меньше памяти</a:t>
            </a:r>
            <a:endParaRPr/>
          </a:p>
        </p:txBody>
      </p:sp>
      <p:sp>
        <p:nvSpPr>
          <p:cNvPr id="6" name="Rectangle 5"/>
          <p:cNvSpPr/>
          <p:nvPr/>
        </p:nvSpPr>
        <p:spPr bwMode="auto">
          <a:xfrm>
            <a:off x="457200" y="1353312"/>
            <a:ext cx="73152" cy="36576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TextBox 6"/>
          <p:cNvSpPr txBox="1"/>
          <p:nvPr/>
        </p:nvSpPr>
        <p:spPr bwMode="auto">
          <a:xfrm>
            <a:off x="640080" y="133502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rPr/>
              <a:t>2. Lazy API обязателен для &gt;100K: оптимизация плана до выполнения</a:t>
            </a:r>
            <a:endParaRPr/>
          </a:p>
        </p:txBody>
      </p:sp>
      <p:sp>
        <p:nvSpPr>
          <p:cNvPr id="8" name="Rectangle 7"/>
          <p:cNvSpPr/>
          <p:nvPr/>
        </p:nvSpPr>
        <p:spPr bwMode="auto">
          <a:xfrm>
            <a:off x="457200" y="1792224"/>
            <a:ext cx="73152" cy="36576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TextBox 8"/>
          <p:cNvSpPr txBox="1"/>
          <p:nvPr/>
        </p:nvSpPr>
        <p:spPr bwMode="auto">
          <a:xfrm>
            <a:off x="640080" y="1773936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rPr/>
              <a:t>3. Streaming + Parquet: обработка данных, не помещающихся в RAM</a:t>
            </a:r>
            <a:endParaRPr/>
          </a:p>
        </p:txBody>
      </p:sp>
      <p:sp>
        <p:nvSpPr>
          <p:cNvPr id="10" name="Rectangle 9"/>
          <p:cNvSpPr/>
          <p:nvPr/>
        </p:nvSpPr>
        <p:spPr bwMode="auto">
          <a:xfrm>
            <a:off x="457200" y="2231136"/>
            <a:ext cx="73152" cy="36576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TextBox 10"/>
          <p:cNvSpPr txBox="1"/>
          <p:nvPr/>
        </p:nvSpPr>
        <p:spPr bwMode="auto">
          <a:xfrm>
            <a:off x="640080" y="22128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rPr/>
              <a:t>4. Кодирование: One-Hot для линейных, Target для высоких, SBERT для текста</a:t>
            </a:r>
            <a:endParaRPr/>
          </a:p>
        </p:txBody>
      </p:sp>
      <p:sp>
        <p:nvSpPr>
          <p:cNvPr id="12" name="Rectangle 11"/>
          <p:cNvSpPr/>
          <p:nvPr/>
        </p:nvSpPr>
        <p:spPr bwMode="auto">
          <a:xfrm>
            <a:off x="457200" y="2670048"/>
            <a:ext cx="73152" cy="36576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TextBox 12"/>
          <p:cNvSpPr txBox="1"/>
          <p:nvPr/>
        </p:nvSpPr>
        <p:spPr bwMode="auto">
          <a:xfrm>
            <a:off x="640080" y="26517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rPr/>
              <a:t>5. Data leakage — главная ошибка: target encoding только на train</a:t>
            </a:r>
            <a:endParaRPr/>
          </a:p>
        </p:txBody>
      </p:sp>
      <p:sp>
        <p:nvSpPr>
          <p:cNvPr id="14" name="Rectangle 13"/>
          <p:cNvSpPr/>
          <p:nvPr/>
        </p:nvSpPr>
        <p:spPr bwMode="auto">
          <a:xfrm>
            <a:off x="457200" y="3108960"/>
            <a:ext cx="73152" cy="36576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TextBox 14"/>
          <p:cNvSpPr txBox="1"/>
          <p:nvPr/>
        </p:nvSpPr>
        <p:spPr bwMode="auto">
          <a:xfrm>
            <a:off x="640080" y="3090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rPr/>
              <a:t>6. VIF &gt; 10 -&gt; удалить, корреляция &gt; 0.95 -&gt; удалить</a:t>
            </a:r>
            <a:endParaRPr/>
          </a:p>
        </p:txBody>
      </p:sp>
      <p:sp>
        <p:nvSpPr>
          <p:cNvPr id="16" name="Rectangle 15"/>
          <p:cNvSpPr/>
          <p:nvPr/>
        </p:nvSpPr>
        <p:spPr bwMode="auto">
          <a:xfrm>
            <a:off x="457200" y="3547872"/>
            <a:ext cx="73152" cy="36576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TextBox 16"/>
          <p:cNvSpPr txBox="1"/>
          <p:nvPr/>
        </p:nvSpPr>
        <p:spPr bwMode="auto">
          <a:xfrm>
            <a:off x="640080" y="352958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rPr/>
              <a:t>7. Optuna (TPE) &gt;&gt; Grid Search: адаптивный поиск эффективнее</a:t>
            </a:r>
            <a:endParaRPr/>
          </a:p>
        </p:txBody>
      </p:sp>
      <p:sp>
        <p:nvSpPr>
          <p:cNvPr id="18" name="Rectangle 17"/>
          <p:cNvSpPr/>
          <p:nvPr/>
        </p:nvSpPr>
        <p:spPr bwMode="auto">
          <a:xfrm>
            <a:off x="457200" y="3986783"/>
            <a:ext cx="73152" cy="36576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TextBox 18"/>
          <p:cNvSpPr txBox="1"/>
          <p:nvPr/>
        </p:nvSpPr>
        <p:spPr bwMode="auto">
          <a:xfrm>
            <a:off x="640080" y="3968496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rPr/>
              <a:t>8. SHAP обязателен для интерпретации: TreeSHAP для деревьев</a:t>
            </a:r>
            <a:endParaRPr/>
          </a:p>
        </p:txBody>
      </p:sp>
      <p:sp>
        <p:nvSpPr>
          <p:cNvPr id="20" name="Rectangle 19"/>
          <p:cNvSpPr/>
          <p:nvPr/>
        </p:nvSpPr>
        <p:spPr bwMode="auto">
          <a:xfrm>
            <a:off x="457200" y="4425696"/>
            <a:ext cx="73152" cy="36576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TextBox 20"/>
          <p:cNvSpPr txBox="1"/>
          <p:nvPr/>
        </p:nvSpPr>
        <p:spPr bwMode="auto">
          <a:xfrm>
            <a:off x="640080" y="44074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rPr/>
              <a:t>9. Conformal Prediction: гарантированное покрытие 90%</a:t>
            </a:r>
            <a:endParaRPr/>
          </a:p>
        </p:txBody>
      </p:sp>
      <p:sp>
        <p:nvSpPr>
          <p:cNvPr id="22" name="Rectangle 21"/>
          <p:cNvSpPr/>
          <p:nvPr/>
        </p:nvSpPr>
        <p:spPr bwMode="auto">
          <a:xfrm>
            <a:off x="457200" y="4864607"/>
            <a:ext cx="73152" cy="365760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TextBox 22"/>
          <p:cNvSpPr txBox="1"/>
          <p:nvPr/>
        </p:nvSpPr>
        <p:spPr bwMode="auto">
          <a:xfrm>
            <a:off x="640080" y="4846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rPr/>
              <a:t>10. Causal inference: ATE через propensity score matching</a:t>
            </a:r>
            <a:endParaRPr/>
          </a:p>
        </p:txBody>
      </p:sp>
      <p:sp>
        <p:nvSpPr>
          <p:cNvPr id="24" name="Rectangle 23"/>
          <p:cNvSpPr/>
          <p:nvPr/>
        </p:nvSpPr>
        <p:spPr bwMode="auto">
          <a:xfrm>
            <a:off x="457200" y="5303520"/>
            <a:ext cx="73152" cy="365760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TextBox 24"/>
          <p:cNvSpPr txBox="1"/>
          <p:nvPr/>
        </p:nvSpPr>
        <p:spPr bwMode="auto">
          <a:xfrm>
            <a:off x="640080" y="5285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rPr/>
              <a:t>11. Robustness: тест на шум и пропуски -&gt; устойчивость модели</a:t>
            </a:r>
            <a:endParaRPr/>
          </a:p>
        </p:txBody>
      </p:sp>
      <p:sp>
        <p:nvSpPr>
          <p:cNvPr id="26" name="Rectangle 25"/>
          <p:cNvSpPr/>
          <p:nvPr/>
        </p:nvSpPr>
        <p:spPr bwMode="auto">
          <a:xfrm>
            <a:off x="457200" y="5742431"/>
            <a:ext cx="73152" cy="365760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TextBox 26"/>
          <p:cNvSpPr txBox="1"/>
          <p:nvPr/>
        </p:nvSpPr>
        <p:spPr bwMode="auto">
          <a:xfrm>
            <a:off x="640080" y="572414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rPr/>
              <a:t>12. GPU: XGBoost + PyTorch -&gt; ускорение 5-20x</a:t>
            </a:r>
            <a:endParaRPr/>
          </a:p>
        </p:txBody>
      </p:sp>
      <p:sp>
        <p:nvSpPr>
          <p:cNvPr id="28" name="TextBox 27"/>
          <p:cNvSpPr txBox="1"/>
          <p:nvPr/>
        </p:nvSpPr>
        <p:spPr bwMode="auto">
          <a:xfrm>
            <a:off x="1152144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0B0C0"/>
                </a:solidFill>
                <a:latin typeface="Calibri"/>
              </a:defRPr>
            </a:pPr>
            <a:r>
              <a:rPr/>
              <a:t>37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1A1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0" y="0"/>
            <a:ext cx="109728" cy="685800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 bwMode="auto"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rPr/>
              <a:t>Общие пункты задания (для всех уровней)</a:t>
            </a:r>
            <a:endParaRPr/>
          </a:p>
        </p:txBody>
      </p:sp>
      <p:sp>
        <p:nvSpPr>
          <p:cNvPr id="4" name="Rectangle 3"/>
          <p:cNvSpPr/>
          <p:nvPr/>
        </p:nvSpPr>
        <p:spPr bwMode="auto">
          <a:xfrm>
            <a:off x="457200" y="914400"/>
            <a:ext cx="73152" cy="36576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TextBox 4"/>
          <p:cNvSpPr txBox="1"/>
          <p:nvPr/>
        </p:nvSpPr>
        <p:spPr bwMode="auto">
          <a:xfrm>
            <a:off x="640080" y="89611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/>
              <a:t>1. Загрузите данные (read_csv / scan_csv). Выведите первые 10 строк.</a:t>
            </a:r>
            <a:endParaRPr/>
          </a:p>
        </p:txBody>
      </p:sp>
      <p:sp>
        <p:nvSpPr>
          <p:cNvPr id="6" name="Rectangle 5"/>
          <p:cNvSpPr/>
          <p:nvPr/>
        </p:nvSpPr>
        <p:spPr bwMode="auto">
          <a:xfrm>
            <a:off x="457200" y="1371600"/>
            <a:ext cx="73152" cy="36576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TextBox 6"/>
          <p:cNvSpPr txBox="1"/>
          <p:nvPr/>
        </p:nvSpPr>
        <p:spPr bwMode="auto">
          <a:xfrm>
            <a:off x="640080" y="135331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/>
              <a:t>2. Посчитайте размерность данных (строки x столбцы).</a:t>
            </a:r>
            <a:endParaRPr/>
          </a:p>
        </p:txBody>
      </p:sp>
      <p:sp>
        <p:nvSpPr>
          <p:cNvPr id="8" name="Rectangle 7"/>
          <p:cNvSpPr/>
          <p:nvPr/>
        </p:nvSpPr>
        <p:spPr bwMode="auto">
          <a:xfrm>
            <a:off x="457200" y="1828800"/>
            <a:ext cx="73152" cy="36576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TextBox 8"/>
          <p:cNvSpPr txBox="1"/>
          <p:nvPr/>
        </p:nvSpPr>
        <p:spPr bwMode="auto">
          <a:xfrm>
            <a:off x="640080" y="181051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/>
              <a:t>3. Посчитайте пропуски: df.null_count() в каждой переменной.</a:t>
            </a:r>
            <a:endParaRPr/>
          </a:p>
        </p:txBody>
      </p:sp>
      <p:sp>
        <p:nvSpPr>
          <p:cNvPr id="10" name="Rectangle 9"/>
          <p:cNvSpPr/>
          <p:nvPr/>
        </p:nvSpPr>
        <p:spPr bwMode="auto">
          <a:xfrm>
            <a:off x="457200" y="2286000"/>
            <a:ext cx="73152" cy="36576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TextBox 10"/>
          <p:cNvSpPr txBox="1"/>
          <p:nvPr/>
        </p:nvSpPr>
        <p:spPr bwMode="auto">
          <a:xfrm>
            <a:off x="640080" y="226771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/>
              <a:t>4. Выведите типы (df.schema). Переконвертируйте при необходимости.</a:t>
            </a:r>
            <a:endParaRPr/>
          </a:p>
        </p:txBody>
      </p:sp>
      <p:sp>
        <p:nvSpPr>
          <p:cNvPr id="12" name="Rectangle 11"/>
          <p:cNvSpPr/>
          <p:nvPr/>
        </p:nvSpPr>
        <p:spPr bwMode="auto">
          <a:xfrm>
            <a:off x="457200" y="2743200"/>
            <a:ext cx="73152" cy="36576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TextBox 12"/>
          <p:cNvSpPr txBox="1"/>
          <p:nvPr/>
        </p:nvSpPr>
        <p:spPr bwMode="auto">
          <a:xfrm>
            <a:off x="640080" y="2724911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/>
              <a:t>5. Создайте категориальную переменную (pl.when().then()). Удалите без значения.</a:t>
            </a:r>
            <a:endParaRPr/>
          </a:p>
        </p:txBody>
      </p:sp>
      <p:sp>
        <p:nvSpPr>
          <p:cNvPr id="14" name="Rectangle 13"/>
          <p:cNvSpPr/>
          <p:nvPr/>
        </p:nvSpPr>
        <p:spPr bwMode="auto">
          <a:xfrm>
            <a:off x="457200" y="3200400"/>
            <a:ext cx="73152" cy="36576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TextBox 14"/>
          <p:cNvSpPr txBox="1"/>
          <p:nvPr/>
        </p:nvSpPr>
        <p:spPr bwMode="auto">
          <a:xfrm>
            <a:off x="640080" y="318211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/>
              <a:t>6. Визуализируйте распределения числовых переменных.</a:t>
            </a:r>
            <a:endParaRPr/>
          </a:p>
        </p:txBody>
      </p:sp>
      <p:sp>
        <p:nvSpPr>
          <p:cNvPr id="16" name="Rectangle 15"/>
          <p:cNvSpPr/>
          <p:nvPr/>
        </p:nvSpPr>
        <p:spPr bwMode="auto">
          <a:xfrm>
            <a:off x="457200" y="3657600"/>
            <a:ext cx="73152" cy="36576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TextBox 16"/>
          <p:cNvSpPr txBox="1"/>
          <p:nvPr/>
        </p:nvSpPr>
        <p:spPr bwMode="auto">
          <a:xfrm>
            <a:off x="640080" y="363931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/>
              <a:t>7. Для каждой категории: среднее, медиана, количество. Min/max целевой.</a:t>
            </a:r>
            <a:endParaRPr/>
          </a:p>
        </p:txBody>
      </p:sp>
      <p:sp>
        <p:nvSpPr>
          <p:cNvPr id="18" name="Rectangle 17"/>
          <p:cNvSpPr/>
          <p:nvPr/>
        </p:nvSpPr>
        <p:spPr bwMode="auto">
          <a:xfrm>
            <a:off x="457200" y="4114800"/>
            <a:ext cx="73152" cy="365760"/>
          </a:xfrm>
          <a:prstGeom prst="rect">
            <a:avLst/>
          </a:prstGeom>
          <a:solidFill>
            <a:srgbClr val="BB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TextBox 18"/>
          <p:cNvSpPr txBox="1"/>
          <p:nvPr/>
        </p:nvSpPr>
        <p:spPr bwMode="auto">
          <a:xfrm>
            <a:off x="640080" y="409651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/>
              <a:t>8. Разделите на train/test (80/20).</a:t>
            </a:r>
            <a:endParaRPr/>
          </a:p>
        </p:txBody>
      </p:sp>
      <p:sp>
        <p:nvSpPr>
          <p:cNvPr id="20" name="Rectangle 19"/>
          <p:cNvSpPr/>
          <p:nvPr/>
        </p:nvSpPr>
        <p:spPr bwMode="auto">
          <a:xfrm>
            <a:off x="457200" y="4572000"/>
            <a:ext cx="73152" cy="365760"/>
          </a:xfrm>
          <a:prstGeom prst="rect">
            <a:avLst/>
          </a:prstGeom>
          <a:solidFill>
            <a:srgbClr val="BB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TextBox 20"/>
          <p:cNvSpPr txBox="1"/>
          <p:nvPr/>
        </p:nvSpPr>
        <p:spPr bwMode="auto">
          <a:xfrm>
            <a:off x="640080" y="455371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/>
              <a:t>9. Постройте регрессионную модель. Визуализируйте predictions vs actual.</a:t>
            </a:r>
            <a:endParaRPr/>
          </a:p>
        </p:txBody>
      </p:sp>
      <p:sp>
        <p:nvSpPr>
          <p:cNvPr id="22" name="Rectangle 21"/>
          <p:cNvSpPr/>
          <p:nvPr/>
        </p:nvSpPr>
        <p:spPr bwMode="auto">
          <a:xfrm>
            <a:off x="457200" y="5029200"/>
            <a:ext cx="73152" cy="365760"/>
          </a:xfrm>
          <a:prstGeom prst="rect">
            <a:avLst/>
          </a:prstGeom>
          <a:solidFill>
            <a:srgbClr val="BB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TextBox 22"/>
          <p:cNvSpPr txBox="1"/>
          <p:nvPr/>
        </p:nvSpPr>
        <p:spPr bwMode="auto">
          <a:xfrm>
            <a:off x="640080" y="501091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/>
              <a:t>10. Оцените качество на test (MSE, RMSE, MAE, R2).</a:t>
            </a:r>
            <a:endParaRPr/>
          </a:p>
        </p:txBody>
      </p:sp>
      <p:sp>
        <p:nvSpPr>
          <p:cNvPr id="24" name="TextBox 23"/>
          <p:cNvSpPr txBox="1"/>
          <p:nvPr/>
        </p:nvSpPr>
        <p:spPr bwMode="auto">
          <a:xfrm>
            <a:off x="1152144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0B0C0"/>
                </a:solidFill>
                <a:latin typeface="Calibri"/>
              </a:defRPr>
            </a:pPr>
            <a:r>
              <a:rPr/>
              <a:t>39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1A1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0" y="0"/>
            <a:ext cx="109728" cy="685800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 bwMode="auto"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rPr/>
              <a:t>Спасибо за внимание!</a:t>
            </a:r>
            <a:endParaRPr/>
          </a:p>
        </p:txBody>
      </p:sp>
      <p:sp>
        <p:nvSpPr>
          <p:cNvPr id="4" name="TextBox 3"/>
          <p:cNvSpPr txBox="1"/>
          <p:nvPr/>
        </p:nvSpPr>
        <p:spPr bwMode="auto">
          <a:xfrm>
            <a:off x="914400" y="2926080"/>
            <a:ext cx="10078559" cy="1006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D9FF"/>
                </a:solidFill>
                <a:latin typeface="Calibri"/>
              </a:defRPr>
            </a:pPr>
            <a:endParaRPr/>
          </a:p>
          <a:p>
            <a:pPr algn="ctr">
              <a:defRPr sz="2000" b="0">
                <a:solidFill>
                  <a:srgbClr val="00D9FF"/>
                </a:solidFill>
                <a:latin typeface="Calibri"/>
              </a:defRPr>
            </a:pPr>
            <a:r>
              <a:rPr/>
              <a:t>Вариант - последняя цифра в номере студенческого</a:t>
            </a:r>
            <a:endParaRPr/>
          </a:p>
          <a:p>
            <a:pPr algn="ctr">
              <a:defRPr sz="2000" b="0">
                <a:solidFill>
                  <a:srgbClr val="00D9FF"/>
                </a:solidFill>
                <a:latin typeface="Calibri"/>
              </a:defRPr>
            </a:pPr>
            <a:endParaRPr/>
          </a:p>
        </p:txBody>
      </p:sp>
      <p:sp>
        <p:nvSpPr>
          <p:cNvPr id="6" name="TextBox 5"/>
          <p:cNvSpPr txBox="1"/>
          <p:nvPr/>
        </p:nvSpPr>
        <p:spPr bwMode="auto">
          <a:xfrm>
            <a:off x="914400" y="4572000"/>
            <a:ext cx="10060199" cy="30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Calibri"/>
              </a:defRPr>
            </a:pPr>
            <a:r>
              <a:rPr/>
              <a:t>Формат</a:t>
            </a:r>
            <a:r>
              <a:rPr/>
              <a:t>: PDF + .</a:t>
            </a:r>
            <a:r>
              <a:rPr/>
              <a:t>ipynb</a:t>
            </a:r>
            <a:r>
              <a:rPr/>
              <a:t> | </a:t>
            </a:r>
            <a:r>
              <a:rPr/>
              <a:t>Вопросы</a:t>
            </a:r>
            <a:r>
              <a:rPr/>
              <a:t>?</a:t>
            </a:r>
            <a:endParaRPr/>
          </a:p>
        </p:txBody>
      </p:sp>
      <p:sp>
        <p:nvSpPr>
          <p:cNvPr id="7" name="TextBox 6"/>
          <p:cNvSpPr txBox="1"/>
          <p:nvPr/>
        </p:nvSpPr>
        <p:spPr bwMode="auto"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FF88"/>
                </a:solidFill>
                <a:latin typeface="Calibri"/>
              </a:defRPr>
            </a:pPr>
            <a:r>
              <a:rPr/>
              <a:t>Удачи!</a:t>
            </a:r>
            <a:endParaRPr/>
          </a:p>
        </p:txBody>
      </p:sp>
      <p:sp>
        <p:nvSpPr>
          <p:cNvPr id="8" name="TextBox 7"/>
          <p:cNvSpPr txBox="1"/>
          <p:nvPr/>
        </p:nvSpPr>
        <p:spPr bwMode="auto">
          <a:xfrm>
            <a:off x="1152144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0B0C0"/>
                </a:solidFill>
                <a:latin typeface="Calibri"/>
              </a:defRPr>
            </a:pPr>
            <a:r>
              <a:rPr/>
              <a:t>40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Liberation Sans"/>
        <a:cs typeface="Liberation Sans"/>
      </a:majorFont>
      <a:minorFont>
        <a:latin typeface="Calibri"/>
        <a:ea typeface="Liberation Sans"/>
        <a:cs typeface="Liberation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R7-Office/2026.2.1.2268</Application>
  <DocSecurity>0</DocSecurity>
  <PresentationFormat>Широкоэкранный</PresentationFormat>
  <Paragraphs>0</Paragraphs>
  <Slides>38</Slides>
  <Notes>38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3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dc:identifier/>
  <dc:language/>
  <cp:lastModifiedBy>Мария Прошина</cp:lastModifiedBy>
  <cp:revision>7</cp:revision>
  <dcterms:created xsi:type="dcterms:W3CDTF">2013-01-27T09:14:16Z</dcterms:created>
  <dcterms:modified xsi:type="dcterms:W3CDTF">2026-10-01T23:00:57Z</dcterms:modified>
  <cp:category/>
  <cp:contentStatus/>
  <cp:version/>
</cp:coreProperties>
</file>