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11a01de2f54c7d" /><Relationship Type="http://schemas.openxmlformats.org/officeDocument/2006/relationships/extended-properties" Target="/docProps/app.xml" Id="R3c35958883934525" /><Relationship Type="http://schemas.openxmlformats.org/officeDocument/2006/relationships/officeDocument" Target="/ppt/presentation.xml" Id="Rd3262c40f702405f" /></Relationships>
</file>

<file path=ppt/presentation.xml><?xml version="1.0" encoding="utf-8"?>
<p:presentation xmlns:p="http://schemas.openxmlformats.org/presentationml/2006/main">
  <p:sldMasterIdLst>
    <p:sldMasterId xmlns:r="http://schemas.openxmlformats.org/officeDocument/2006/relationships" id="2147483648" r:id="Rcb2ab588516e4427"/>
  </p:sldMasterIdLst>
  <p:notesMasterIdLst>
    <p:notesMasterId xmlns:r="http://schemas.openxmlformats.org/officeDocument/2006/relationships" r:id="Rd41d2c94180a49e5"/>
  </p:notesMasterIdLst>
  <p:sldIdLst>
    <p:sldId xmlns:r="http://schemas.openxmlformats.org/officeDocument/2006/relationships" id="256" r:id="Rdaa3f89430e948da"/>
    <p:sldId xmlns:r="http://schemas.openxmlformats.org/officeDocument/2006/relationships" id="257" r:id="R41c9ba0c972f46e7"/>
    <p:sldId xmlns:r="http://schemas.openxmlformats.org/officeDocument/2006/relationships" id="258" r:id="R2d0eff3d4bc14234"/>
    <p:sldId xmlns:r="http://schemas.openxmlformats.org/officeDocument/2006/relationships" id="259" r:id="R4519142f0bae43a3"/>
    <p:sldId xmlns:r="http://schemas.openxmlformats.org/officeDocument/2006/relationships" id="260" r:id="R2bf6f80933524306"/>
    <p:sldId xmlns:r="http://schemas.openxmlformats.org/officeDocument/2006/relationships" id="261" r:id="Rae04086c7a74497d"/>
    <p:sldId xmlns:r="http://schemas.openxmlformats.org/officeDocument/2006/relationships" id="262" r:id="Rc97bfdbe0fa8465d"/>
    <p:sldId xmlns:r="http://schemas.openxmlformats.org/officeDocument/2006/relationships" id="263" r:id="R57c829e01fe74736"/>
    <p:sldId xmlns:r="http://schemas.openxmlformats.org/officeDocument/2006/relationships" id="264" r:id="R97b82e33b17342bd"/>
    <p:sldId xmlns:r="http://schemas.openxmlformats.org/officeDocument/2006/relationships" id="265" r:id="Rfd57bd633a304850"/>
    <p:sldId xmlns:r="http://schemas.openxmlformats.org/officeDocument/2006/relationships" id="266" r:id="R98e2f8d18fef4e3f"/>
    <p:sldId xmlns:r="http://schemas.openxmlformats.org/officeDocument/2006/relationships" id="267" r:id="R3d5b563ef7bf4465"/>
    <p:sldId xmlns:r="http://schemas.openxmlformats.org/officeDocument/2006/relationships" id="268" r:id="R443e8124ce514169"/>
    <p:sldId xmlns:r="http://schemas.openxmlformats.org/officeDocument/2006/relationships" id="269" r:id="Rb87dc38af7244ead"/>
    <p:sldId xmlns:r="http://schemas.openxmlformats.org/officeDocument/2006/relationships" id="270" r:id="R577de4a3cd984048"/>
    <p:sldId xmlns:r="http://schemas.openxmlformats.org/officeDocument/2006/relationships" id="271" r:id="R5fcad088029d4029"/>
    <p:sldId xmlns:r="http://schemas.openxmlformats.org/officeDocument/2006/relationships" id="272" r:id="R8c5d3de255de4f59"/>
    <p:sldId xmlns:r="http://schemas.openxmlformats.org/officeDocument/2006/relationships" id="273" r:id="R8626f5ccdea44dd9"/>
    <p:sldId xmlns:r="http://schemas.openxmlformats.org/officeDocument/2006/relationships" id="274" r:id="R3ff8c0ee605d457c"/>
    <p:sldId xmlns:r="http://schemas.openxmlformats.org/officeDocument/2006/relationships" id="275" r:id="R1a46fab2d9c04212"/>
    <p:sldId xmlns:r="http://schemas.openxmlformats.org/officeDocument/2006/relationships" id="276" r:id="R7c77642d52b44f6f"/>
    <p:sldId xmlns:r="http://schemas.openxmlformats.org/officeDocument/2006/relationships" id="277" r:id="R44d736e76ec1410a"/>
    <p:sldId xmlns:r="http://schemas.openxmlformats.org/officeDocument/2006/relationships" id="278" r:id="Refbb36fab18d41cd"/>
    <p:sldId xmlns:r="http://schemas.openxmlformats.org/officeDocument/2006/relationships" id="279" r:id="R34caeb9cf2e04375"/>
    <p:sldId xmlns:r="http://schemas.openxmlformats.org/officeDocument/2006/relationships" id="280" r:id="Rb8175b004959450f"/>
    <p:sldId xmlns:r="http://schemas.openxmlformats.org/officeDocument/2006/relationships" id="281" r:id="R284a33932ba84ffc"/>
    <p:sldId xmlns:r="http://schemas.openxmlformats.org/officeDocument/2006/relationships" id="282" r:id="R65c747522ebf4e2c"/>
    <p:sldId xmlns:r="http://schemas.openxmlformats.org/officeDocument/2006/relationships" id="283" r:id="Rfc7fcc5d3728438b"/>
    <p:sldId xmlns:r="http://schemas.openxmlformats.org/officeDocument/2006/relationships" id="284" r:id="R97256e7b287b4538"/>
    <p:sldId xmlns:r="http://schemas.openxmlformats.org/officeDocument/2006/relationships" id="285" r:id="Rf8f43182eaaf4953"/>
    <p:sldId xmlns:r="http://schemas.openxmlformats.org/officeDocument/2006/relationships" id="286" r:id="Rc933cb44277f4cf1"/>
    <p:sldId xmlns:r="http://schemas.openxmlformats.org/officeDocument/2006/relationships" id="287" r:id="R99c2b6f816284d2c"/>
    <p:sldId xmlns:r="http://schemas.openxmlformats.org/officeDocument/2006/relationships" id="288" r:id="Rf581f297bcb94780"/>
    <p:sldId xmlns:r="http://schemas.openxmlformats.org/officeDocument/2006/relationships" id="289" r:id="R42e5634c27744622"/>
    <p:sldId xmlns:r="http://schemas.openxmlformats.org/officeDocument/2006/relationships" id="290" r:id="R6d1dbddd044141b2"/>
    <p:sldId xmlns:r="http://schemas.openxmlformats.org/officeDocument/2006/relationships" id="291" r:id="R0e382e79cc86416d"/>
    <p:sldId xmlns:r="http://schemas.openxmlformats.org/officeDocument/2006/relationships" id="292" r:id="Raf33a976de5e4a08"/>
    <p:sldId xmlns:r="http://schemas.openxmlformats.org/officeDocument/2006/relationships" id="293" r:id="R824b1bb527ee45e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prstDash val="dashDot"/>
            </a:ln>
          </a:left>
          <a:right>
            <a:ln w="12700">
              <a:solidFill>
                <a:schemeClr val="lt1"/>
              </a:solidFill>
              <a:prstDash val="dashDot"/>
            </a:ln>
          </a:right>
          <a:top>
            <a:ln w="12700">
              <a:solidFill>
                <a:schemeClr val="lt1"/>
              </a:solidFill>
              <a:prstDash val="dashDot"/>
            </a:ln>
          </a:top>
          <a:bottom>
            <a:ln w="12700">
              <a:solidFill>
                <a:schemeClr val="lt1"/>
              </a:solidFill>
              <a:prstDash val="dashDot"/>
            </a:ln>
          </a:bottom>
          <a:insideH>
            <a:ln w="12700">
              <a:solidFill>
                <a:schemeClr val="lt1"/>
              </a:solidFill>
              <a:prstDash val="dashDot"/>
            </a:ln>
          </a:insideH>
          <a:insideV>
            <a:ln w="12700">
              <a:solidFill>
                <a:schemeClr val="lt1"/>
              </a:solidFill>
              <a:prstDash val="dashDot"/>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prstDash val="dashDot"/>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prstDash val="dashDot"/>
            </a:ln>
          </a:bottom>
        </a:tcBdr>
        <a:fill>
          <a:solidFill>
            <a:schemeClr val="accent1"/>
          </a:solidFill>
        </a:fill>
      </a:tcStyle>
    </a:firstRow>
    <a:neCell>
      <a:tcStyle>
        <a:tcBdr/>
      </a:tcStyle>
    </a:neCell>
    <a:nwCell>
      <a:tcStyle>
        <a:tcBdr/>
      </a:tcStyle>
    </a:nwCell>
  </a:tblStyle>
</a:tblStyleLst>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ff5dc6004d5413b" /><Relationship Type="http://schemas.openxmlformats.org/officeDocument/2006/relationships/slideMaster" Target="/ppt/slideMasters/slideMaster1.xml" Id="Rcb2ab588516e4427" /><Relationship Type="http://schemas.openxmlformats.org/officeDocument/2006/relationships/notesMaster" Target="/ppt/notesMasters/notesMaster1.xml" Id="Rd41d2c94180a49e5" /><Relationship Type="http://schemas.openxmlformats.org/officeDocument/2006/relationships/presProps" Target="/ppt/presProps.xml" Id="R7438f95b1cab478c" /><Relationship Type="http://schemas.openxmlformats.org/officeDocument/2006/relationships/viewProps" Target="/ppt/viewProps.xml" Id="R0fad2db2fa384144" /><Relationship Type="http://schemas.openxmlformats.org/officeDocument/2006/relationships/tableStyles" Target="/ppt/tableStyles.xml" Id="Rf6959ff3f1244bb4" /><Relationship Type="http://schemas.openxmlformats.org/officeDocument/2006/relationships/slide" Target="/ppt/slides/slide1.xml" Id="Rdaa3f89430e948da" /><Relationship Type="http://schemas.openxmlformats.org/officeDocument/2006/relationships/slide" Target="/ppt/slides/slide2.xml" Id="R41c9ba0c972f46e7" /><Relationship Type="http://schemas.openxmlformats.org/officeDocument/2006/relationships/slide" Target="/ppt/slides/slide3.xml" Id="R2d0eff3d4bc14234" /><Relationship Type="http://schemas.openxmlformats.org/officeDocument/2006/relationships/slide" Target="/ppt/slides/slide4.xml" Id="R4519142f0bae43a3" /><Relationship Type="http://schemas.openxmlformats.org/officeDocument/2006/relationships/slide" Target="/ppt/slides/slide5.xml" Id="R2bf6f80933524306" /><Relationship Type="http://schemas.openxmlformats.org/officeDocument/2006/relationships/slide" Target="/ppt/slides/slide6.xml" Id="Rae04086c7a74497d" /><Relationship Type="http://schemas.openxmlformats.org/officeDocument/2006/relationships/slide" Target="/ppt/slides/slide7.xml" Id="Rc97bfdbe0fa8465d" /><Relationship Type="http://schemas.openxmlformats.org/officeDocument/2006/relationships/slide" Target="/ppt/slides/slide8.xml" Id="R57c829e01fe74736" /><Relationship Type="http://schemas.openxmlformats.org/officeDocument/2006/relationships/slide" Target="/ppt/slides/slide9.xml" Id="R97b82e33b17342bd" /><Relationship Type="http://schemas.openxmlformats.org/officeDocument/2006/relationships/slide" Target="/ppt/slides/slide10.xml" Id="Rfd57bd633a304850" /><Relationship Type="http://schemas.openxmlformats.org/officeDocument/2006/relationships/slide" Target="/ppt/slides/slide11.xml" Id="R98e2f8d18fef4e3f" /><Relationship Type="http://schemas.openxmlformats.org/officeDocument/2006/relationships/slide" Target="/ppt/slides/slide12.xml" Id="R3d5b563ef7bf4465" /><Relationship Type="http://schemas.openxmlformats.org/officeDocument/2006/relationships/slide" Target="/ppt/slides/slide13.xml" Id="R443e8124ce514169" /><Relationship Type="http://schemas.openxmlformats.org/officeDocument/2006/relationships/slide" Target="/ppt/slides/slide14.xml" Id="Rb87dc38af7244ead" /><Relationship Type="http://schemas.openxmlformats.org/officeDocument/2006/relationships/slide" Target="/ppt/slides/slide15.xml" Id="R577de4a3cd984048" /><Relationship Type="http://schemas.openxmlformats.org/officeDocument/2006/relationships/slide" Target="/ppt/slides/slide16.xml" Id="R5fcad088029d4029" /><Relationship Type="http://schemas.openxmlformats.org/officeDocument/2006/relationships/slide" Target="/ppt/slides/slide17.xml" Id="R8c5d3de255de4f59" /><Relationship Type="http://schemas.openxmlformats.org/officeDocument/2006/relationships/slide" Target="/ppt/slides/slide18.xml" Id="R8626f5ccdea44dd9" /><Relationship Type="http://schemas.openxmlformats.org/officeDocument/2006/relationships/slide" Target="/ppt/slides/slide19.xml" Id="R3ff8c0ee605d457c" /><Relationship Type="http://schemas.openxmlformats.org/officeDocument/2006/relationships/slide" Target="/ppt/slides/slide20.xml" Id="R1a46fab2d9c04212" /><Relationship Type="http://schemas.openxmlformats.org/officeDocument/2006/relationships/slide" Target="/ppt/slides/slide21.xml" Id="R7c77642d52b44f6f" /><Relationship Type="http://schemas.openxmlformats.org/officeDocument/2006/relationships/slide" Target="/ppt/slides/slide22.xml" Id="R44d736e76ec1410a" /><Relationship Type="http://schemas.openxmlformats.org/officeDocument/2006/relationships/slide" Target="/ppt/slides/slide23.xml" Id="Refbb36fab18d41cd" /><Relationship Type="http://schemas.openxmlformats.org/officeDocument/2006/relationships/slide" Target="/ppt/slides/slide24.xml" Id="R34caeb9cf2e04375" /><Relationship Type="http://schemas.openxmlformats.org/officeDocument/2006/relationships/slide" Target="/ppt/slides/slide25.xml" Id="Rb8175b004959450f" /><Relationship Type="http://schemas.openxmlformats.org/officeDocument/2006/relationships/slide" Target="/ppt/slides/slide26.xml" Id="R284a33932ba84ffc" /><Relationship Type="http://schemas.openxmlformats.org/officeDocument/2006/relationships/slide" Target="/ppt/slides/slide27.xml" Id="R65c747522ebf4e2c" /><Relationship Type="http://schemas.openxmlformats.org/officeDocument/2006/relationships/slide" Target="/ppt/slides/slide28.xml" Id="Rfc7fcc5d3728438b" /><Relationship Type="http://schemas.openxmlformats.org/officeDocument/2006/relationships/slide" Target="/ppt/slides/slide29.xml" Id="R97256e7b287b4538" /><Relationship Type="http://schemas.openxmlformats.org/officeDocument/2006/relationships/slide" Target="/ppt/slides/slide30.xml" Id="Rf8f43182eaaf4953" /><Relationship Type="http://schemas.openxmlformats.org/officeDocument/2006/relationships/slide" Target="/ppt/slides/slide31.xml" Id="Rc933cb44277f4cf1" /><Relationship Type="http://schemas.openxmlformats.org/officeDocument/2006/relationships/slide" Target="/ppt/slides/slide32.xml" Id="R99c2b6f816284d2c" /><Relationship Type="http://schemas.openxmlformats.org/officeDocument/2006/relationships/slide" Target="/ppt/slides/slide33.xml" Id="Rf581f297bcb94780" /><Relationship Type="http://schemas.openxmlformats.org/officeDocument/2006/relationships/slide" Target="/ppt/slides/slide34.xml" Id="R42e5634c27744622" /><Relationship Type="http://schemas.openxmlformats.org/officeDocument/2006/relationships/slide" Target="/ppt/slides/slide35.xml" Id="R6d1dbddd044141b2" /><Relationship Type="http://schemas.openxmlformats.org/officeDocument/2006/relationships/slide" Target="/ppt/slides/slide36.xml" Id="R0e382e79cc86416d" /><Relationship Type="http://schemas.openxmlformats.org/officeDocument/2006/relationships/slide" Target="/ppt/slides/slide37.xml" Id="Raf33a976de5e4a08" /><Relationship Type="http://schemas.openxmlformats.org/officeDocument/2006/relationships/slide" Target="/ppt/slides/slide38.xml" Id="R824b1bb527ee45e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ae84fbf91b470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Liberation Sans"/>
        <a:cs typeface="Liberation Sans"/>
      </a:majorFont>
      <a:minorFont>
        <a:latin typeface="Calibri"/>
        <a:ea typeface="Liberation Sans"/>
        <a:cs typeface="Liberation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a7f265c9b77461e" /><Relationship Type="http://schemas.openxmlformats.org/officeDocument/2006/relationships/notesMaster" Target="/ppt/notesMasters/notesMaster1.xml" Id="R815dc22e5ef64db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8f47f6b95a4dea" /><Relationship Type="http://schemas.openxmlformats.org/officeDocument/2006/relationships/notesMaster" Target="/ppt/notesMasters/notesMaster1.xml" Id="R0da821f3945d4b12" /></Relationships>
</file>

<file path=ppt/notesSlides/_rels/notesSlide3.xml.rels>&#65279;<?xml version="1.0" encoding="utf-8"?><Relationships xmlns="http://schemas.openxmlformats.org/package/2006/relationships"><Relationship Type="http://schemas.openxmlformats.org/officeDocument/2006/relationships/slide" Target="/ppt/slides/slide3.xml" Id="R193c4e1eefe34d0e" /><Relationship Type="http://schemas.openxmlformats.org/officeDocument/2006/relationships/notesMaster" Target="/ppt/notesMasters/notesMaster1.xml" Id="Rffb938508be2469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05ccac4b084c12" /><Relationship Type="http://schemas.openxmlformats.org/officeDocument/2006/relationships/notesMaster" Target="/ppt/notesMasters/notesMaster1.xml" Id="Rf1096bb8e6db4a5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50639a827894580" /><Relationship Type="http://schemas.openxmlformats.org/officeDocument/2006/relationships/notesMaster" Target="/ppt/notesMasters/notesMaster1.xml" Id="R2ba1238f45434b86"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3ef385fb91479c" /><Relationship Type="http://schemas.openxmlformats.org/officeDocument/2006/relationships/notesMaster" Target="/ppt/notesMasters/notesMaster1.xml" Id="Rc8e6bbd00a0e4f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af29a4beda471d" /><Relationship Type="http://schemas.openxmlformats.org/officeDocument/2006/relationships/notesMaster" Target="/ppt/notesMasters/notesMaster1.xml" Id="R1a50246230034f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6d634492f746af" /><Relationship Type="http://schemas.openxmlformats.org/officeDocument/2006/relationships/notesMaster" Target="/ppt/notesMasters/notesMaster1.xml" Id="R66d3f02d1c784c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b220afddec4e6b" /><Relationship Type="http://schemas.openxmlformats.org/officeDocument/2006/relationships/notesMaster" Target="/ppt/notesMasters/notesMaster1.xml" Id="R771bbdbba386463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b2ea2d85584c2e" /><Relationship Type="http://schemas.openxmlformats.org/officeDocument/2006/relationships/notesMaster" Target="/ppt/notesMasters/notesMaster1.xml" Id="R30628e0fdcd3453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93edbfe14634af2" /><Relationship Type="http://schemas.openxmlformats.org/officeDocument/2006/relationships/notesMaster" Target="/ppt/notesMasters/notesMaster1.xml" Id="R564dfc2026d541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4929c498514440" /><Relationship Type="http://schemas.openxmlformats.org/officeDocument/2006/relationships/notesMaster" Target="/ppt/notesMasters/notesMaster1.xml" Id="R3e9b699e9db644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7f732e6616476b" /><Relationship Type="http://schemas.openxmlformats.org/officeDocument/2006/relationships/notesMaster" Target="/ppt/notesMasters/notesMaster1.xml" Id="Rcdafc1b7b1cd4f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d668d6d2b1d457e" /><Relationship Type="http://schemas.openxmlformats.org/officeDocument/2006/relationships/notesMaster" Target="/ppt/notesMasters/notesMaster1.xml" Id="Rf33e4670eec1465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e48b4f912d4f29" /><Relationship Type="http://schemas.openxmlformats.org/officeDocument/2006/relationships/notesMaster" Target="/ppt/notesMasters/notesMaster1.xml" Id="Ra6a02489a3e044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31893cb2084160" /><Relationship Type="http://schemas.openxmlformats.org/officeDocument/2006/relationships/notesMaster" Target="/ppt/notesMasters/notesMaster1.xml" Id="Rf02f93a96ebd45e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e6a743eb4c34b63" /><Relationship Type="http://schemas.openxmlformats.org/officeDocument/2006/relationships/notesMaster" Target="/ppt/notesMasters/notesMaster1.xml" Id="R3d2cc68b935f494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05ee3d454584da4" /><Relationship Type="http://schemas.openxmlformats.org/officeDocument/2006/relationships/notesMaster" Target="/ppt/notesMasters/notesMaster1.xml" Id="Rbdbfba45736942b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60d8afcdc245c2" /><Relationship Type="http://schemas.openxmlformats.org/officeDocument/2006/relationships/notesMaster" Target="/ppt/notesMasters/notesMaster1.xml" Id="R31298539d6f146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4a3553038664597" /><Relationship Type="http://schemas.openxmlformats.org/officeDocument/2006/relationships/notesMaster" Target="/ppt/notesMasters/notesMaster1.xml" Id="R312d56f787334e8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56af8f2ba9a471f" /><Relationship Type="http://schemas.openxmlformats.org/officeDocument/2006/relationships/notesMaster" Target="/ppt/notesMasters/notesMaster1.xml" Id="R93d813ca1db542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63e01492d6b475c" /><Relationship Type="http://schemas.openxmlformats.org/officeDocument/2006/relationships/notesMaster" Target="/ppt/notesMasters/notesMaster1.xml" Id="Rdf0e4bdda225481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db223f8e929472a" /><Relationship Type="http://schemas.openxmlformats.org/officeDocument/2006/relationships/notesMaster" Target="/ppt/notesMasters/notesMaster1.xml" Id="R08595cd7270e4e8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a9ee55169344cc4" /><Relationship Type="http://schemas.openxmlformats.org/officeDocument/2006/relationships/notesMaster" Target="/ppt/notesMasters/notesMaster1.xml" Id="R2e7eca71083d4658"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316f0cd03ec540d4" /><Relationship Type="http://schemas.openxmlformats.org/officeDocument/2006/relationships/notesMaster" Target="/ppt/notesMasters/notesMaster1.xml" Id="Rc9ad7831f59b47e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f6ac2a3748e408f" /><Relationship Type="http://schemas.openxmlformats.org/officeDocument/2006/relationships/notesMaster" Target="/ppt/notesMasters/notesMaster1.xml" Id="R29aa83ddb41a4c9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bc4baab04154ff2" /><Relationship Type="http://schemas.openxmlformats.org/officeDocument/2006/relationships/notesMaster" Target="/ppt/notesMasters/notesMaster1.xml" Id="R16b7869bd59341b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c6c3cac87ae452e" /><Relationship Type="http://schemas.openxmlformats.org/officeDocument/2006/relationships/notesMaster" Target="/ppt/notesMasters/notesMaster1.xml" Id="R02a7cbd59361419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52157c5cf7b4f79" /><Relationship Type="http://schemas.openxmlformats.org/officeDocument/2006/relationships/notesMaster" Target="/ppt/notesMasters/notesMaster1.xml" Id="R1ed5e8dcf1c0465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24da74b9ea64357" /><Relationship Type="http://schemas.openxmlformats.org/officeDocument/2006/relationships/notesMaster" Target="/ppt/notesMasters/notesMaster1.xml" Id="Rb2e6574fdff5426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acaf826676794184" /><Relationship Type="http://schemas.openxmlformats.org/officeDocument/2006/relationships/notesMaster" Target="/ppt/notesMasters/notesMaster1.xml" Id="R10a3d5bc566648c4"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58d33f452624db3" /><Relationship Type="http://schemas.openxmlformats.org/officeDocument/2006/relationships/notesMaster" Target="/ppt/notesMasters/notesMaster1.xml" Id="R5e280cfb7f2b499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81d7bbae48dd47f2" /><Relationship Type="http://schemas.openxmlformats.org/officeDocument/2006/relationships/notesMaster" Target="/ppt/notesMasters/notesMaster1.xml" Id="R9aacebdf4af1478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08cfa5169c402f" /><Relationship Type="http://schemas.openxmlformats.org/officeDocument/2006/relationships/notesMaster" Target="/ppt/notesMasters/notesMaster1.xml" Id="R815d63c7631a429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a1660d331b1465e" /><Relationship Type="http://schemas.openxmlformats.org/officeDocument/2006/relationships/notesMaster" Target="/ppt/notesMasters/notesMaster1.xml" Id="R7a5cef78f76a4da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6113f11de2194f03" /><Relationship Type="http://schemas.openxmlformats.org/officeDocument/2006/relationships/notesMaster" Target="/ppt/notesMasters/notesMaster1.xml" Id="R94e39ebebd5f45d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8a19e0fe14a4d14" /><Relationship Type="http://schemas.openxmlformats.org/officeDocument/2006/relationships/notesMaster" Target="/ppt/notesMasters/notesMaster1.xml" Id="R4b5de9acf21f4e9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c6b2c6aa82246ff" /><Relationship Type="http://schemas.openxmlformats.org/officeDocument/2006/relationships/notesMaster" Target="/ppt/notesMasters/notesMaster1.xml" Id="R263da487282241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8b65b69af2461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b68008990e24a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630b04f6c9647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494ec1da41479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f1e8b99705549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b80c4b458a48e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13e578a8e5d45f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a87f554a757a492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ad0103b8c9f54453"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06d6e126d6f411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ab878bd8b5144f3" /></Relationships>
</file>

<file path=ppt/slideLayouts/slideLayout1.xml><?xml version="1.0" encoding="utf-8"?>
<p:sldLayout xmlns:p="http://schemas.openxmlformats.org/presentationml/2006/main" showMasterPhAnim="0" matchingName="" type="title"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93116D-709D-433D-999F-F3A04BB830D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pPr>
              <a:buNone/>
            </a:pPr>
            <a:r>
              <a:t>Click to edit Master title style</a:t>
            </a:r>
            <a:endParaRPr/>
          </a:p>
        </p:txBody>
      </p:sp>
      <p:sp>
        <p:nvSpPr>
          <p:cNvPr id="3" name="Subtitle 2">
            <a:extLst xmlns:a="http://schemas.openxmlformats.org/drawingml/2006/main">
              <a:ext uri="{FF2B5EF4-FFF2-40B4-BE49-F238E27FC236}">
                <a16:creationId xmlns:a16="http://schemas.microsoft.com/office/drawing/2014/main" id="{C9D8F647-B87B-4F14-872E-CA8CFAF35A08}"/>
              </a:ext>
            </a:extLst>
          </p:cNvPr>
          <p:cNvSpPr>
            <a:spLocks xmlns:a="http://schemas.openxmlformats.org/drawingml/2006/main" noGrp="1"/>
          </p:cNvSpPr>
          <p:nvPr>
            <p:ph type="subTitle" idx="1"/>
          </p:nvPr>
        </p:nvSpPr>
        <p:spPr>
          <a:xfrm xmlns:a="http://schemas.openxmlformats.org/drawingml/2006/main">
            <a:off x="1371600" y="3886200"/>
            <a:ext cx="6400800" cy="1752599"/>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pPr>
              <a:buNone/>
            </a:pPr>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21F2799-0771-49FC-B5F4-AF656A9268C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5" name="Footer Placeholder 4">
            <a:extLst xmlns:a="http://schemas.openxmlformats.org/drawingml/2006/main">
              <a:ext uri="{FF2B5EF4-FFF2-40B4-BE49-F238E27FC236}">
                <a16:creationId xmlns:a16="http://schemas.microsoft.com/office/drawing/2014/main" id="{202EEC4C-EE5C-478D-BC45-F11B116DD9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4DCF4BD0-E385-4DB5-BDBA-6039C349001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2.xml><?xml version="1.0" encoding="utf-8"?>
<p:sldLayout xmlns:p="http://schemas.openxmlformats.org/presentationml/2006/main" showMasterPhAnim="0" matchingName="" type="obj" preserve="1" userDrawn="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274346D-BD3F-4777-B31A-0BB2F5C9A25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74E543-9AB3-4B6E-A03D-915F3C4743BC}"/>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E8B92787-882E-4DF8-A77C-8D5B2EA6612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5" name="Footer Placeholder 4">
            <a:extLst xmlns:a="http://schemas.openxmlformats.org/drawingml/2006/main">
              <a:ext uri="{FF2B5EF4-FFF2-40B4-BE49-F238E27FC236}">
                <a16:creationId xmlns:a16="http://schemas.microsoft.com/office/drawing/2014/main" id="{863A729F-4A95-4286-9DD9-25269C4252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716A6AB1-9DF7-4C49-A161-948F87FEF3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3.xml><?xml version="1.0" encoding="utf-8"?>
<p:sldLayout xmlns:p="http://schemas.openxmlformats.org/presentationml/2006/main" showMasterPhAnim="0" matchingName="" type="secHead" preserve="1" userDrawn="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6A3FD1-3BB2-4E2C-AA13-3B2DD111A09B}"/>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pPr>
              <a:buNone/>
            </a:pPr>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0F765365-F3E9-4573-B42B-6AA1D1D9AA9D}"/>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endParaRPr/>
          </a:p>
        </p:txBody>
      </p:sp>
      <p:sp>
        <p:nvSpPr>
          <p:cNvPr id="4" name="Date Placeholder 3">
            <a:extLst xmlns:a="http://schemas.openxmlformats.org/drawingml/2006/main">
              <a:ext uri="{FF2B5EF4-FFF2-40B4-BE49-F238E27FC236}">
                <a16:creationId xmlns:a16="http://schemas.microsoft.com/office/drawing/2014/main" id="{0BB654B0-DA46-43F9-94EF-A9B9952234D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5" name="Footer Placeholder 4">
            <a:extLst xmlns:a="http://schemas.openxmlformats.org/drawingml/2006/main">
              <a:ext uri="{FF2B5EF4-FFF2-40B4-BE49-F238E27FC236}">
                <a16:creationId xmlns:a16="http://schemas.microsoft.com/office/drawing/2014/main" id="{1466C51F-B9A9-4949-A17E-6616DFAF69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C8F9E599-3B41-4673-AB0D-B4498CCD31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4.xml><?xml version="1.0" encoding="utf-8"?>
<p:sldLayout xmlns:p="http://schemas.openxmlformats.org/presentationml/2006/main" showMasterPhAnim="0" matchingName="" type="twoObj" preserve="1" userDrawn="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F5C7F5C-F042-4F3B-BBC6-012E9FAAD93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FD173B00-CA6A-4235-8197-80A5381DB8DD}"/>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52644AF4-C6C9-4DFD-9955-3426E2FE038A}"/>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4C5E444-C160-45C9-BF9C-504A660269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6" name="Footer Placeholder 5">
            <a:extLst xmlns:a="http://schemas.openxmlformats.org/drawingml/2006/main">
              <a:ext uri="{FF2B5EF4-FFF2-40B4-BE49-F238E27FC236}">
                <a16:creationId xmlns:a16="http://schemas.microsoft.com/office/drawing/2014/main" id="{C96585BF-8716-4F69-9FB7-1323B36EEFD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30510BA6-BA41-424E-89CE-6CFDCEF0586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5.xml><?xml version="1.0" encoding="utf-8"?>
<p:sldLayout xmlns:p="http://schemas.openxmlformats.org/presentationml/2006/main" showMasterPhAnim="0" matchingName="" type="twoTxTwoObj" preserve="1" userDrawn="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F2EF67-CAD3-4783-9526-99427239EA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pPr>
              <a:buNone/>
            </a:pPr>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844C2B8A-F4AC-496C-964A-0DD626FEBA34}"/>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4" name="Content Placeholder 3">
            <a:extLst xmlns:a="http://schemas.openxmlformats.org/drawingml/2006/main">
              <a:ext uri="{FF2B5EF4-FFF2-40B4-BE49-F238E27FC236}">
                <a16:creationId xmlns:a16="http://schemas.microsoft.com/office/drawing/2014/main" id="{0BF9633B-FA2B-4239-B7B1-F183A5D3D370}"/>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451328F8-F1BA-44CE-81C1-F34A16C891F7}"/>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endParaRPr/>
          </a:p>
        </p:txBody>
      </p:sp>
      <p:sp>
        <p:nvSpPr>
          <p:cNvPr id="6" name="Content Placeholder 5">
            <a:extLst xmlns:a="http://schemas.openxmlformats.org/drawingml/2006/main">
              <a:ext uri="{FF2B5EF4-FFF2-40B4-BE49-F238E27FC236}">
                <a16:creationId xmlns:a16="http://schemas.microsoft.com/office/drawing/2014/main" id="{C677AA1F-931D-4BAE-A6BF-7A91E5D8316D}"/>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0A83E47C-8EA4-4E99-8FC0-7357897E2E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8" name="Footer Placeholder 7">
            <a:extLst xmlns:a="http://schemas.openxmlformats.org/drawingml/2006/main">
              <a:ext uri="{FF2B5EF4-FFF2-40B4-BE49-F238E27FC236}">
                <a16:creationId xmlns:a16="http://schemas.microsoft.com/office/drawing/2014/main" id="{964C2C27-68EA-43AC-9F2A-7DF75C99CA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9" name="Slide Number Placeholder 8">
            <a:extLst xmlns:a="http://schemas.openxmlformats.org/drawingml/2006/main">
              <a:ext uri="{FF2B5EF4-FFF2-40B4-BE49-F238E27FC236}">
                <a16:creationId xmlns:a16="http://schemas.microsoft.com/office/drawing/2014/main" id="{0549B94C-2B84-4F5C-AA22-F69F9D39FB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6.xml><?xml version="1.0" encoding="utf-8"?>
<p:sldLayout xmlns:p="http://schemas.openxmlformats.org/presentationml/2006/main" showMasterPhAnim="0" matchingName="" type="titleOnly" preserve="1" userDrawn="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EA5688E-4709-49ED-A1A2-09B5819D083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732049B8-2861-41D4-8762-8F5B1FFAA1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4" name="Footer Placeholder 3">
            <a:extLst xmlns:a="http://schemas.openxmlformats.org/drawingml/2006/main">
              <a:ext uri="{FF2B5EF4-FFF2-40B4-BE49-F238E27FC236}">
                <a16:creationId xmlns:a16="http://schemas.microsoft.com/office/drawing/2014/main" id="{F8432A00-645F-40EC-A56C-D3F189AD71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5" name="Slide Number Placeholder 4">
            <a:extLst xmlns:a="http://schemas.openxmlformats.org/drawingml/2006/main">
              <a:ext uri="{FF2B5EF4-FFF2-40B4-BE49-F238E27FC236}">
                <a16:creationId xmlns:a16="http://schemas.microsoft.com/office/drawing/2014/main" id="{96BE196A-5A47-47CD-9B51-00ECD2F3A9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7.xml><?xml version="1.0" encoding="utf-8"?>
<p:sldLayout xmlns:p="http://schemas.openxmlformats.org/presentationml/2006/main" showMasterPhAnim="0" matchingName="" type="blank" preserve="1" userDrawn="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54527188-FAD4-4D1C-9B92-7FF3E81DCD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3" name="Footer Placeholder 2">
            <a:extLst xmlns:a="http://schemas.openxmlformats.org/drawingml/2006/main">
              <a:ext uri="{FF2B5EF4-FFF2-40B4-BE49-F238E27FC236}">
                <a16:creationId xmlns:a16="http://schemas.microsoft.com/office/drawing/2014/main" id="{8BDE0C8B-0C7D-44EF-8BE3-97815B06F4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4" name="Slide Number Placeholder 3">
            <a:extLst xmlns:a="http://schemas.openxmlformats.org/drawingml/2006/main">
              <a:ext uri="{FF2B5EF4-FFF2-40B4-BE49-F238E27FC236}">
                <a16:creationId xmlns:a16="http://schemas.microsoft.com/office/drawing/2014/main" id="{5F432B29-C85A-474C-8503-BCC7D9BBFE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8.xml><?xml version="1.0" encoding="utf-8"?>
<p:sldLayout xmlns:p="http://schemas.openxmlformats.org/presentationml/2006/main" showMasterPhAnim="0" matchingName="" type="objTx" preserve="1" userDrawn="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952EC6-4BB2-48A4-9502-6BF8C871C48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pPr>
              <a:buNone/>
            </a:pPr>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7E93562-2A3E-451D-ACFA-C60A951CB4F1}"/>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21155C01-140A-4AA5-9BD8-88FAAF96B96E}"/>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A39AAFA8-3F24-4D14-BCA4-E42BEC82E5F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6" name="Footer Placeholder 5">
            <a:extLst xmlns:a="http://schemas.openxmlformats.org/drawingml/2006/main">
              <a:ext uri="{FF2B5EF4-FFF2-40B4-BE49-F238E27FC236}">
                <a16:creationId xmlns:a16="http://schemas.microsoft.com/office/drawing/2014/main" id="{12785990-C53E-41FB-A2EE-F3AB58FF206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98D94298-9CCA-40B5-9882-942DE6C91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9.xml><?xml version="1.0" encoding="utf-8"?>
<p:sldLayout xmlns:p="http://schemas.openxmlformats.org/presentationml/2006/main" showMasterPhAnim="0" matchingName="" type="picTx" preserve="1" userDrawn="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5EBDF1-1A9A-4FBC-8F70-311CF5940B1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pPr>
              <a:buNone/>
            </a:pPr>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DF989F8-7F91-41C7-9195-A5D0543CC66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endParaRPr/>
          </a:p>
        </p:txBody>
      </p:sp>
      <p:sp>
        <p:nvSpPr>
          <p:cNvPr id="4" name="Text Placeholder 3">
            <a:extLst xmlns:a="http://schemas.openxmlformats.org/drawingml/2006/main">
              <a:ext uri="{FF2B5EF4-FFF2-40B4-BE49-F238E27FC236}">
                <a16:creationId xmlns:a16="http://schemas.microsoft.com/office/drawing/2014/main" id="{04AA55FD-519E-4EDC-B55B-A154385D7B6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endParaRPr/>
          </a:p>
        </p:txBody>
      </p:sp>
      <p:sp>
        <p:nvSpPr>
          <p:cNvPr id="5" name="Date Placeholder 4">
            <a:extLst xmlns:a="http://schemas.openxmlformats.org/drawingml/2006/main">
              <a:ext uri="{FF2B5EF4-FFF2-40B4-BE49-F238E27FC236}">
                <a16:creationId xmlns:a16="http://schemas.microsoft.com/office/drawing/2014/main" id="{CCED2331-4390-4A84-93E1-725DB2853C7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6" name="Footer Placeholder 5">
            <a:extLst xmlns:a="http://schemas.openxmlformats.org/drawingml/2006/main">
              <a:ext uri="{FF2B5EF4-FFF2-40B4-BE49-F238E27FC236}">
                <a16:creationId xmlns:a16="http://schemas.microsoft.com/office/drawing/2014/main" id="{68672B4E-1679-40CA-B362-792D5727E7A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7" name="Slide Number Placeholder 6">
            <a:extLst xmlns:a="http://schemas.openxmlformats.org/drawingml/2006/main">
              <a:ext uri="{FF2B5EF4-FFF2-40B4-BE49-F238E27FC236}">
                <a16:creationId xmlns:a16="http://schemas.microsoft.com/office/drawing/2014/main" id="{3E763627-C215-4157-8160-FEF29462BD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10.xml><?xml version="1.0" encoding="utf-8"?>
<p:sldLayout xmlns:p="http://schemas.openxmlformats.org/presentationml/2006/main" showMasterPhAnim="0" matchingName="" type="vertTx" preserve="1" userDrawn="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AB85D85-6849-4E51-9278-27D256FE5B6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8FD91AEC-A5FE-4810-A5DD-C97E431A178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9B3004A-4864-4540-914C-580DF491B5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5" name="Footer Placeholder 4">
            <a:extLst xmlns:a="http://schemas.openxmlformats.org/drawingml/2006/main">
              <a:ext uri="{FF2B5EF4-FFF2-40B4-BE49-F238E27FC236}">
                <a16:creationId xmlns:a16="http://schemas.microsoft.com/office/drawing/2014/main" id="{5AE256C3-C5B8-49BF-949C-FC19C824255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FF75FC57-D0E6-4575-84E6-C7D7112B82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Layouts/slideLayout11.xml><?xml version="1.0" encoding="utf-8"?>
<p:sldLayout xmlns:p="http://schemas.openxmlformats.org/presentationml/2006/main" showMasterPhAnim="0" matchingName="" type="vertTitleAndTx" preserve="1" userDrawn="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76C370D4-A8C3-4517-848D-1B80700E59D8}"/>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pPr>
              <a:buNone/>
            </a:pPr>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9287F855-681C-48C8-951A-BB61136173ED}"/>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B791C0FE-7026-4FD2-B660-7F4AB0AEE4E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5BCAD085-E8A6-8845-BD4E-CB4CCA059FC4}" type="datetimeFigureOut">
              <a:t/>
            </a:fld>
            <a:endParaRPr/>
          </a:p>
        </p:txBody>
      </p:sp>
      <p:sp>
        <p:nvSpPr>
          <p:cNvPr id="5" name="Footer Placeholder 4">
            <a:extLst xmlns:a="http://schemas.openxmlformats.org/drawingml/2006/main">
              <a:ext uri="{FF2B5EF4-FFF2-40B4-BE49-F238E27FC236}">
                <a16:creationId xmlns:a16="http://schemas.microsoft.com/office/drawing/2014/main" id="{9A6E71D1-C45D-4F2F-A1D4-624EE244DC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3FB2DDA1-ED92-43B0-B133-56110698DF0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C1FF6DA9-008F-8B48-92A6-B652298478BF}" type="slidenum">
              <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62bdb3c10d24a8c" /><Relationship Type="http://schemas.openxmlformats.org/officeDocument/2006/relationships/slideLayout" Target="/ppt/slideLayouts/slideLayout1.xml" Id="Rccbcc2bf536a4148" /><Relationship Type="http://schemas.openxmlformats.org/officeDocument/2006/relationships/slideLayout" Target="/ppt/slideLayouts/slideLayout2.xml" Id="Rd413403526454449" /><Relationship Type="http://schemas.openxmlformats.org/officeDocument/2006/relationships/slideLayout" Target="/ppt/slideLayouts/slideLayout3.xml" Id="R79fba858fec444b0" /><Relationship Type="http://schemas.openxmlformats.org/officeDocument/2006/relationships/slideLayout" Target="/ppt/slideLayouts/slideLayout4.xml" Id="R783742df13a84733" /><Relationship Type="http://schemas.openxmlformats.org/officeDocument/2006/relationships/slideLayout" Target="/ppt/slideLayouts/slideLayout5.xml" Id="R2c291935a9a84200" /><Relationship Type="http://schemas.openxmlformats.org/officeDocument/2006/relationships/slideLayout" Target="/ppt/slideLayouts/slideLayout6.xml" Id="Rb8603416c01f4204" /><Relationship Type="http://schemas.openxmlformats.org/officeDocument/2006/relationships/slideLayout" Target="/ppt/slideLayouts/slideLayout7.xml" Id="R1f94daec649c495e" /><Relationship Type="http://schemas.openxmlformats.org/officeDocument/2006/relationships/slideLayout" Target="/ppt/slideLayouts/slideLayout8.xml" Id="R8280a3a4125247e9" /><Relationship Type="http://schemas.openxmlformats.org/officeDocument/2006/relationships/slideLayout" Target="/ppt/slideLayouts/slideLayout9.xml" Id="Rcb13e9eaa2e44f3c" /><Relationship Type="http://schemas.openxmlformats.org/officeDocument/2006/relationships/slideLayout" Target="/ppt/slideLayouts/slideLayout10.xml" Id="Rb4ae44b51670439d" /><Relationship Type="http://schemas.openxmlformats.org/officeDocument/2006/relationships/slideLayout" Target="/ppt/slideLayouts/slideLayout11.xml" Id="R7075d89d1836419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CC23698-54CE-428B-B2EB-E9430414DDF0}"/>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pPr>
              <a:buNone/>
            </a:pPr>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96595EAB-E8BB-4D7E-B5EC-C525D1F0156F}"/>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endParaRPr/>
          </a:p>
          <a:p xmlns:a="http://schemas.openxmlformats.org/drawingml/2006/main">
            <a:pPr lvl="1">
              <a:buNone/>
            </a:pPr>
            <a:r>
              <a:t>Second level</a:t>
            </a:r>
            <a:endParaRPr/>
          </a:p>
          <a:p xmlns:a="http://schemas.openxmlformats.org/drawingml/2006/main">
            <a:pPr lvl="2">
              <a:buNone/>
            </a:pPr>
            <a:r>
              <a:t>Third level</a:t>
            </a:r>
            <a:endParaRPr/>
          </a:p>
          <a:p xmlns:a="http://schemas.openxmlformats.org/drawingml/2006/main">
            <a:pPr lvl="3">
              <a:buNone/>
            </a:pPr>
            <a:r>
              <a:t>Fourth level</a:t>
            </a:r>
            <a:endParaRP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8C5D207C-D350-4536-9827-1B0AA6C5E787}"/>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5BCAD085-E8A6-8845-BD4E-CB4CCA059FC4}" type="datetimeFigureOut">
              <a:t/>
            </a:fld>
            <a:endParaRPr/>
          </a:p>
        </p:txBody>
      </p:sp>
      <p:sp>
        <p:nvSpPr>
          <p:cNvPr id="5" name="Footer Placeholder 4">
            <a:extLst xmlns:a="http://schemas.openxmlformats.org/drawingml/2006/main">
              <a:ext uri="{FF2B5EF4-FFF2-40B4-BE49-F238E27FC236}">
                <a16:creationId xmlns:a16="http://schemas.microsoft.com/office/drawing/2014/main" id="{3BF03669-C0D6-4FE3-9C62-39F75256842D}"/>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endParaRPr/>
          </a:p>
        </p:txBody>
      </p:sp>
      <p:sp>
        <p:nvSpPr>
          <p:cNvPr id="6" name="Slide Number Placeholder 5">
            <a:extLst xmlns:a="http://schemas.openxmlformats.org/drawingml/2006/main">
              <a:ext uri="{FF2B5EF4-FFF2-40B4-BE49-F238E27FC236}">
                <a16:creationId xmlns:a16="http://schemas.microsoft.com/office/drawing/2014/main" id="{62A5C0E2-CF4C-4A04-925F-72184275503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C1FF6DA9-008F-8B48-92A6-B652298478BF}" type="slidenum">
              <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cbcc2bf536a4148"/>
    <p:sldLayoutId xmlns:r="http://schemas.openxmlformats.org/officeDocument/2006/relationships" id="2147483650" r:id="Rd413403526454449"/>
    <p:sldLayoutId xmlns:r="http://schemas.openxmlformats.org/officeDocument/2006/relationships" id="2147483651" r:id="R79fba858fec444b0"/>
    <p:sldLayoutId xmlns:r="http://schemas.openxmlformats.org/officeDocument/2006/relationships" id="2147483652" r:id="R783742df13a84733"/>
    <p:sldLayoutId xmlns:r="http://schemas.openxmlformats.org/officeDocument/2006/relationships" id="2147483653" r:id="R2c291935a9a84200"/>
    <p:sldLayoutId xmlns:r="http://schemas.openxmlformats.org/officeDocument/2006/relationships" id="2147483654" r:id="Rb8603416c01f4204"/>
    <p:sldLayoutId xmlns:r="http://schemas.openxmlformats.org/officeDocument/2006/relationships" id="2147483655" r:id="R1f94daec649c495e"/>
    <p:sldLayoutId xmlns:r="http://schemas.openxmlformats.org/officeDocument/2006/relationships" id="2147483656" r:id="R8280a3a4125247e9"/>
    <p:sldLayoutId xmlns:r="http://schemas.openxmlformats.org/officeDocument/2006/relationships" id="2147483657" r:id="Rcb13e9eaa2e44f3c"/>
    <p:sldLayoutId xmlns:r="http://schemas.openxmlformats.org/officeDocument/2006/relationships" id="2147483658" r:id="Rb4ae44b51670439d"/>
    <p:sldLayoutId xmlns:r="http://schemas.openxmlformats.org/officeDocument/2006/relationships" id="2147483659" r:id="R7075d89d18364192"/>
  </p:sldLayoutIdLst>
  <p:txStyles>
    <p:titleStyle>
      <a:lvl1pPr xmlns:a="http://schemas.openxmlformats.org/drawingml/2006/main" algn="ctr" defTabSz="457200">
        <a:spcBef>
          <a:spcPts val="0"/>
        </a:spcBef>
        <a:buNone/>
        <a:defRPr sz="4400">
          <a:solidFill>
            <a:schemeClr val="tx1"/>
          </a:solidFill>
          <a:latin typeface="+mj-lt"/>
          <a:ea typeface="+mj-lt"/>
          <a:cs typeface="+mj-lt"/>
        </a:defRPr>
      </a:lvl1pPr>
    </p:titleStyle>
    <p:bodyStyle>
      <a:lvl1pPr xmlns:a="http://schemas.openxmlformats.org/drawingml/2006/main" marL="342900" indent="-342900" algn="l" defTabSz="457200">
        <a:spcBef>
          <a:spcPts val="0"/>
        </a:spcBef>
        <a:buFont typeface="Arial"/>
        <a:buChar char="•"/>
        <a:defRPr sz="3200">
          <a:solidFill>
            <a:schemeClr val="tx1"/>
          </a:solidFill>
          <a:latin typeface="+mn-lt"/>
          <a:ea typeface="+mn-lt"/>
          <a:cs typeface="+mn-lt"/>
        </a:defRPr>
      </a:lvl1pPr>
      <a:lvl2pPr xmlns:a="http://schemas.openxmlformats.org/drawingml/2006/main" marL="742950" indent="-285750" algn="l" defTabSz="457200">
        <a:spcBef>
          <a:spcPts val="0"/>
        </a:spcBef>
        <a:buFont typeface="Arial"/>
        <a:buChar char="–"/>
        <a:defRPr sz="2800">
          <a:solidFill>
            <a:schemeClr val="tx1"/>
          </a:solidFill>
          <a:latin typeface="+mn-lt"/>
          <a:ea typeface="+mn-lt"/>
          <a:cs typeface="+mn-lt"/>
        </a:defRPr>
      </a:lvl2pPr>
      <a:lvl3pPr xmlns:a="http://schemas.openxmlformats.org/drawingml/2006/main" marL="1143000" indent="-228600" algn="l" defTabSz="457200">
        <a:spcBef>
          <a:spcPts val="0"/>
        </a:spcBef>
        <a:buFont typeface="Arial"/>
        <a:buChar char="•"/>
        <a:defRPr sz="2400">
          <a:solidFill>
            <a:schemeClr val="tx1"/>
          </a:solidFill>
          <a:latin typeface="+mn-lt"/>
          <a:ea typeface="+mn-lt"/>
          <a:cs typeface="+mn-lt"/>
        </a:defRPr>
      </a:lvl3pPr>
      <a:lvl4pPr xmlns:a="http://schemas.openxmlformats.org/drawingml/2006/main" marL="1600200" indent="-228600" algn="l" defTabSz="457200">
        <a:spcBef>
          <a:spcPts val="0"/>
        </a:spcBef>
        <a:buFont typeface="Arial"/>
        <a:buChar char="–"/>
        <a:defRPr sz="2000">
          <a:solidFill>
            <a:schemeClr val="tx1"/>
          </a:solidFill>
          <a:latin typeface="+mn-lt"/>
          <a:ea typeface="+mn-lt"/>
          <a:cs typeface="+mn-lt"/>
        </a:defRPr>
      </a:lvl4pPr>
      <a:lvl5pPr xmlns:a="http://schemas.openxmlformats.org/drawingml/2006/main" marL="2057400" indent="-228600" algn="l" defTabSz="457200">
        <a:spcBef>
          <a:spcPts val="0"/>
        </a:spcBef>
        <a:buFont typeface="Arial"/>
        <a:buChar char="»"/>
        <a:defRPr sz="2000">
          <a:solidFill>
            <a:schemeClr val="tx1"/>
          </a:solidFill>
          <a:latin typeface="+mn-lt"/>
          <a:ea typeface="+mn-lt"/>
          <a:cs typeface="+mn-lt"/>
        </a:defRPr>
      </a:lvl5pPr>
      <a:lvl6pPr xmlns:a="http://schemas.openxmlformats.org/drawingml/2006/main" marL="2514600" indent="-228600" algn="l" defTabSz="457200">
        <a:spcBef>
          <a:spcPts val="0"/>
        </a:spcBef>
        <a:buFont typeface="Arial"/>
        <a:buChar char="•"/>
        <a:defRPr sz="2000">
          <a:solidFill>
            <a:schemeClr val="tx1"/>
          </a:solidFill>
          <a:latin typeface="+mn-lt"/>
          <a:ea typeface="+mn-lt"/>
          <a:cs typeface="+mn-lt"/>
        </a:defRPr>
      </a:lvl6pPr>
      <a:lvl7pPr xmlns:a="http://schemas.openxmlformats.org/drawingml/2006/main" marL="2971800" indent="-228600" algn="l" defTabSz="457200">
        <a:spcBef>
          <a:spcPts val="0"/>
        </a:spcBef>
        <a:buFont typeface="Arial"/>
        <a:buChar char="•"/>
        <a:defRPr sz="2000">
          <a:solidFill>
            <a:schemeClr val="tx1"/>
          </a:solidFill>
          <a:latin typeface="+mn-lt"/>
          <a:ea typeface="+mn-lt"/>
          <a:cs typeface="+mn-lt"/>
        </a:defRPr>
      </a:lvl7pPr>
      <a:lvl8pPr xmlns:a="http://schemas.openxmlformats.org/drawingml/2006/main" marL="3429000" indent="-228600" algn="l" defTabSz="457200">
        <a:spcBef>
          <a:spcPts val="0"/>
        </a:spcBef>
        <a:buFont typeface="Arial"/>
        <a:buChar char="•"/>
        <a:defRPr sz="2000">
          <a:solidFill>
            <a:schemeClr val="tx1"/>
          </a:solidFill>
          <a:latin typeface="+mn-lt"/>
          <a:ea typeface="+mn-lt"/>
          <a:cs typeface="+mn-lt"/>
        </a:defRPr>
      </a:lvl8pPr>
      <a:lvl9pPr xmlns:a="http://schemas.openxmlformats.org/drawingml/2006/main" marL="3886200" indent="-228600" algn="l" defTabSz="457200">
        <a:spcBef>
          <a:spcPts val="0"/>
        </a:spcBef>
        <a:buFont typeface="Arial"/>
        <a:buChar char="•"/>
        <a:defRPr sz="2000">
          <a:solidFill>
            <a:schemeClr val="tx1"/>
          </a:solidFill>
          <a:latin typeface="+mn-lt"/>
          <a:ea typeface="+mn-lt"/>
          <a:cs typeface="+mn-lt"/>
        </a:defRPr>
      </a:lvl9pPr>
    </p:bodyStyle>
    <p:otherStyle>
      <a:lvl1pPr xmlns:a="http://schemas.openxmlformats.org/drawingml/2006/main" marL="0" algn="l" defTabSz="457200">
        <a:buNone/>
        <a:defRPr sz="1800">
          <a:solidFill>
            <a:schemeClr val="tx1"/>
          </a:solidFill>
          <a:latin typeface="+mn-lt"/>
          <a:ea typeface="+mn-lt"/>
          <a:cs typeface="+mn-lt"/>
        </a:defRPr>
      </a:lvl1pPr>
      <a:lvl2pPr xmlns:a="http://schemas.openxmlformats.org/drawingml/2006/main" marL="457200" algn="l" defTabSz="457200">
        <a:buNone/>
        <a:defRPr sz="1800">
          <a:solidFill>
            <a:schemeClr val="tx1"/>
          </a:solidFill>
          <a:latin typeface="+mn-lt"/>
          <a:ea typeface="+mn-lt"/>
          <a:cs typeface="+mn-lt"/>
        </a:defRPr>
      </a:lvl2pPr>
      <a:lvl3pPr xmlns:a="http://schemas.openxmlformats.org/drawingml/2006/main" marL="914400" algn="l" defTabSz="457200">
        <a:buNone/>
        <a:defRPr sz="1800">
          <a:solidFill>
            <a:schemeClr val="tx1"/>
          </a:solidFill>
          <a:latin typeface="+mn-lt"/>
          <a:ea typeface="+mn-lt"/>
          <a:cs typeface="+mn-lt"/>
        </a:defRPr>
      </a:lvl3pPr>
      <a:lvl4pPr xmlns:a="http://schemas.openxmlformats.org/drawingml/2006/main" marL="1371600" algn="l" defTabSz="457200">
        <a:buNone/>
        <a:defRPr sz="1800">
          <a:solidFill>
            <a:schemeClr val="tx1"/>
          </a:solidFill>
          <a:latin typeface="+mn-lt"/>
          <a:ea typeface="+mn-lt"/>
          <a:cs typeface="+mn-lt"/>
        </a:defRPr>
      </a:lvl4pPr>
      <a:lvl5pPr xmlns:a="http://schemas.openxmlformats.org/drawingml/2006/main" marL="1828800" algn="l" defTabSz="457200">
        <a:buNone/>
        <a:defRPr sz="1800">
          <a:solidFill>
            <a:schemeClr val="tx1"/>
          </a:solidFill>
          <a:latin typeface="+mn-lt"/>
          <a:ea typeface="+mn-lt"/>
          <a:cs typeface="+mn-lt"/>
        </a:defRPr>
      </a:lvl5pPr>
      <a:lvl6pPr xmlns:a="http://schemas.openxmlformats.org/drawingml/2006/main" marL="2286000" algn="l" defTabSz="457200">
        <a:buNone/>
        <a:defRPr sz="1800">
          <a:solidFill>
            <a:schemeClr val="tx1"/>
          </a:solidFill>
          <a:latin typeface="+mn-lt"/>
          <a:ea typeface="+mn-lt"/>
          <a:cs typeface="+mn-lt"/>
        </a:defRPr>
      </a:lvl6pPr>
      <a:lvl7pPr xmlns:a="http://schemas.openxmlformats.org/drawingml/2006/main" marL="2743200" algn="l" defTabSz="457200">
        <a:buNone/>
        <a:defRPr sz="1800">
          <a:solidFill>
            <a:schemeClr val="tx1"/>
          </a:solidFill>
          <a:latin typeface="+mn-lt"/>
          <a:ea typeface="+mn-lt"/>
          <a:cs typeface="+mn-lt"/>
        </a:defRPr>
      </a:lvl7pPr>
      <a:lvl8pPr xmlns:a="http://schemas.openxmlformats.org/drawingml/2006/main" marL="3200400" algn="l" defTabSz="457200">
        <a:buNone/>
        <a:defRPr sz="1800">
          <a:solidFill>
            <a:schemeClr val="tx1"/>
          </a:solidFill>
          <a:latin typeface="+mn-lt"/>
          <a:ea typeface="+mn-lt"/>
          <a:cs typeface="+mn-lt"/>
        </a:defRPr>
      </a:lvl8pPr>
      <a:lvl9pPr xmlns:a="http://schemas.openxmlformats.org/drawingml/2006/main" marL="3657600" algn="l" defTabSz="4572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Liberation Sans"/>
        <a:cs typeface="Liberation Sans"/>
      </a:majorFont>
      <a:minorFont>
        <a:latin typeface="Calibri"/>
        <a:ea typeface="Liberation Sans"/>
        <a:cs typeface="Liberation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1874d041001e4597" /><Relationship Type="http://schemas.openxmlformats.org/officeDocument/2006/relationships/notesSlide" Target="/ppt/notesSlides/notesSlide1.xml" Id="R94aac62f774640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1e870e601a164fa9" /><Relationship Type="http://schemas.openxmlformats.org/officeDocument/2006/relationships/notesSlide" Target="/ppt/notesSlides/notesSlide2.xml" Id="Rfc1c4713c8f24e9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74ec5fb037f4827" /><Relationship Type="http://schemas.openxmlformats.org/officeDocument/2006/relationships/notesSlide" Target="/ppt/notesSlides/notesSlide3.xml" Id="R8221308930bc47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e4b94811d424b61" /><Relationship Type="http://schemas.openxmlformats.org/officeDocument/2006/relationships/notesSlide" Target="/ppt/notesSlides/notesSlide4.xml" Id="R85e106fc0fa44e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37e263f3a5ec4700" /><Relationship Type="http://schemas.openxmlformats.org/officeDocument/2006/relationships/notesSlide" Target="/ppt/notesSlides/notesSlide5.xml" Id="Rf9d87e8f3ab24e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cdb9e2113500432e" /><Relationship Type="http://schemas.openxmlformats.org/officeDocument/2006/relationships/notesSlide" Target="/ppt/notesSlides/notesSlide6.xml" Id="R7e00593b342a4c5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c14a4380bb2242e7" /><Relationship Type="http://schemas.openxmlformats.org/officeDocument/2006/relationships/notesSlide" Target="/ppt/notesSlides/notesSlide7.xml" Id="Rbfb35838f7dc4139"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1454541f1284977" /><Relationship Type="http://schemas.openxmlformats.org/officeDocument/2006/relationships/notesSlide" Target="/ppt/notesSlides/notesSlide8.xml" Id="R2f779d69516d4b3a"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6856ec03f3cb44ab" /><Relationship Type="http://schemas.openxmlformats.org/officeDocument/2006/relationships/notesSlide" Target="/ppt/notesSlides/notesSlide9.xml" Id="R9113154fc06c4b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3a8a399648ff4a42" /><Relationship Type="http://schemas.openxmlformats.org/officeDocument/2006/relationships/notesSlide" Target="/ppt/notesSlides/notesSlide10.xml" Id="Re517a94a66df46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e744f96c21f74ac8" /><Relationship Type="http://schemas.openxmlformats.org/officeDocument/2006/relationships/notesSlide" Target="/ppt/notesSlides/notesSlide11.xml" Id="R9d19019a54ac4f1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3828ac319b57431c" /><Relationship Type="http://schemas.openxmlformats.org/officeDocument/2006/relationships/notesSlide" Target="/ppt/notesSlides/notesSlide12.xml" Id="R978f5471cc1742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be4b1ee11c6d4623" /><Relationship Type="http://schemas.openxmlformats.org/officeDocument/2006/relationships/notesSlide" Target="/ppt/notesSlides/notesSlide13.xml" Id="Rb33d9159f46c4df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50df5a87c15e4044" /><Relationship Type="http://schemas.openxmlformats.org/officeDocument/2006/relationships/notesSlide" Target="/ppt/notesSlides/notesSlide14.xml" Id="Ra164c52967a14c9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2981b318838641b3" /><Relationship Type="http://schemas.openxmlformats.org/officeDocument/2006/relationships/notesSlide" Target="/ppt/notesSlides/notesSlide15.xml" Id="R89edd427a3c9415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2d0458915d004f7b" /><Relationship Type="http://schemas.openxmlformats.org/officeDocument/2006/relationships/notesSlide" Target="/ppt/notesSlides/notesSlide16.xml" Id="R401abb8edf714e8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a956bac277a046a3" /><Relationship Type="http://schemas.openxmlformats.org/officeDocument/2006/relationships/notesSlide" Target="/ppt/notesSlides/notesSlide17.xml" Id="R4e6321da6d4b40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5e0ad3fe98b24333" /><Relationship Type="http://schemas.openxmlformats.org/officeDocument/2006/relationships/notesSlide" Target="/ppt/notesSlides/notesSlide18.xml" Id="Rd2ba4f0b6abc4c0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650bc8196428489c" /><Relationship Type="http://schemas.openxmlformats.org/officeDocument/2006/relationships/notesSlide" Target="/ppt/notesSlides/notesSlide19.xml" Id="Rb3d41220ebec456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89f36cdd88344b4a" /><Relationship Type="http://schemas.openxmlformats.org/officeDocument/2006/relationships/notesSlide" Target="/ppt/notesSlides/notesSlide20.xml" Id="R93b3cb76ff254d0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475dc2174bf14d7e" /><Relationship Type="http://schemas.openxmlformats.org/officeDocument/2006/relationships/notesSlide" Target="/ppt/notesSlides/notesSlide21.xml" Id="Re84aa886b20a4f4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1818bb336c1a4358" /><Relationship Type="http://schemas.openxmlformats.org/officeDocument/2006/relationships/notesSlide" Target="/ppt/notesSlides/notesSlide22.xml" Id="Rfa3765a51e8a446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6d57332a7a1b4377" /><Relationship Type="http://schemas.openxmlformats.org/officeDocument/2006/relationships/notesSlide" Target="/ppt/notesSlides/notesSlide23.xml" Id="R4fdce7a61af247e4"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5a8f8a5339364d15" /><Relationship Type="http://schemas.openxmlformats.org/officeDocument/2006/relationships/notesSlide" Target="/ppt/notesSlides/notesSlide24.xml" Id="R79dbc629ca3e460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d63e6fb14bec4a97" /><Relationship Type="http://schemas.openxmlformats.org/officeDocument/2006/relationships/notesSlide" Target="/ppt/notesSlides/notesSlide25.xml" Id="R0be661f6dadb47a6"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e54bced5c0db4a82" /><Relationship Type="http://schemas.openxmlformats.org/officeDocument/2006/relationships/notesSlide" Target="/ppt/notesSlides/notesSlide26.xml" Id="R65cc8a7c789245b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c015a1ddfaad4cd3" /><Relationship Type="http://schemas.openxmlformats.org/officeDocument/2006/relationships/notesSlide" Target="/ppt/notesSlides/notesSlide27.xml" Id="Rc80118c84b2a43d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8e38ad7782814958" /><Relationship Type="http://schemas.openxmlformats.org/officeDocument/2006/relationships/notesSlide" Target="/ppt/notesSlides/notesSlide28.xml" Id="Rdc0c5b61c2e2412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7419cb50550c4504" /><Relationship Type="http://schemas.openxmlformats.org/officeDocument/2006/relationships/notesSlide" Target="/ppt/notesSlides/notesSlide29.xml" Id="Rd36a7092b1344c2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78bb045104234775" /><Relationship Type="http://schemas.openxmlformats.org/officeDocument/2006/relationships/notesSlide" Target="/ppt/notesSlides/notesSlide30.xml" Id="R266e538156f34b1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dd1ee2d7b8aa4c6a" /><Relationship Type="http://schemas.openxmlformats.org/officeDocument/2006/relationships/notesSlide" Target="/ppt/notesSlides/notesSlide31.xml" Id="R1aa44e62910a44a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dc92b619db70408a" /><Relationship Type="http://schemas.openxmlformats.org/officeDocument/2006/relationships/notesSlide" Target="/ppt/notesSlides/notesSlide32.xml" Id="R712178366b28453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86b0c6acc0554633" /><Relationship Type="http://schemas.openxmlformats.org/officeDocument/2006/relationships/notesSlide" Target="/ppt/notesSlides/notesSlide33.xml" Id="R2a28232721dd405a"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c5d96a8d6a604ce1" /><Relationship Type="http://schemas.openxmlformats.org/officeDocument/2006/relationships/notesSlide" Target="/ppt/notesSlides/notesSlide34.xml" Id="R768914d2d4a6431b"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1ea3e8f330bc4666" /><Relationship Type="http://schemas.openxmlformats.org/officeDocument/2006/relationships/notesSlide" Target="/ppt/notesSlides/notesSlide35.xml" Id="Rd1d4bd49e26a4d3c"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a9473baf53a64141" /><Relationship Type="http://schemas.openxmlformats.org/officeDocument/2006/relationships/notesSlide" Target="/ppt/notesSlides/notesSlide36.xml" Id="R1afd82ded2f04f5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c99fab3450174e9b" /><Relationship Type="http://schemas.openxmlformats.org/officeDocument/2006/relationships/notesSlide" Target="/ppt/notesSlides/notesSlide37.xml" Id="Ra9ad812d18d8402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cab1f10187524107" /><Relationship Type="http://schemas.openxmlformats.org/officeDocument/2006/relationships/notesSlide" Target="/ppt/notesSlides/notesSlide38.xml" Id="Rfd2a3981076a4408" /></Relationships>
</file>

<file path=ppt/slides/slide1.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B6C32A8-57D5-4396-A739-41424CC2FEF6}"/>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FDB22DF0-4E04-4286-A332-D4C3006D008F}"/>
              </a:ext>
            </a:extLst>
          </p:cNvPr>
          <p:cNvSpPr>
            <a:spLocks xmlns:a="http://schemas.openxmlformats.org/drawingml/2006/main" noGrp="1"/>
          </p:cNvSpPr>
          <p:nvPr/>
        </p:nvSpPr>
        <p:spPr>
          <a:xfrm xmlns:a="http://schemas.openxmlformats.org/drawingml/2006/main">
            <a:off x="914400" y="1097280"/>
            <a:ext cx="10058400" cy="10972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4000" b="1">
                <a:solidFill>
                  <a:srgbClr val="FFFFFF"/>
                </a:solidFill>
                <a:latin typeface="Calibri"/>
                <a:ea typeface="Calibri"/>
                <a:cs typeface="Calibri"/>
              </a:defRPr>
            </a:pPr>
            <a:r>
              <a:t>Trabajo de laboratorio n.º 3</a:t>
            </a:r>
            <a:endParaRPr/>
          </a:p>
        </p:txBody>
      </p:sp>
      <p:sp>
        <p:nvSpPr>
          <p:cNvPr id="4" name="TextBox 3">
            <a:extLst xmlns:a="http://schemas.openxmlformats.org/drawingml/2006/main">
              <a:ext uri="{FF2B5EF4-FFF2-40B4-BE49-F238E27FC236}">
                <a16:creationId xmlns:a16="http://schemas.microsoft.com/office/drawing/2014/main" id="{0CE3211E-C25D-4373-A6E9-32CF85C68C24}"/>
              </a:ext>
            </a:extLst>
          </p:cNvPr>
          <p:cNvSpPr>
            <a:spLocks xmlns:a="http://schemas.openxmlformats.org/drawingml/2006/main" noGrp="1"/>
          </p:cNvSpPr>
          <p:nvPr/>
        </p:nvSpPr>
        <p:spPr>
          <a:xfrm xmlns:a="http://schemas.openxmlformats.org/drawingml/2006/main">
            <a:off x="914400" y="2194560"/>
            <a:ext cx="1005840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800" b="0">
                <a:solidFill>
                  <a:srgbClr val="00D9FF"/>
                </a:solidFill>
                <a:latin typeface="Calibri"/>
                <a:ea typeface="Calibri"/>
                <a:cs typeface="Calibri"/>
              </a:defRPr>
            </a:pPr>
            <a:r>
              <a:t>EDA y modelado de regresión con Polars</a:t>
            </a:r>
            <a:endParaRPr/>
          </a:p>
        </p:txBody>
      </p:sp>
      <p:sp>
        <p:nvSpPr>
          <p:cNvPr id="5" name="TextBox 4">
            <a:extLst xmlns:a="http://schemas.openxmlformats.org/drawingml/2006/main">
              <a:ext uri="{FF2B5EF4-FFF2-40B4-BE49-F238E27FC236}">
                <a16:creationId xmlns:a16="http://schemas.microsoft.com/office/drawing/2014/main" id="{413D7EFB-A154-4816-A03C-B72A606AEFCD}"/>
              </a:ext>
            </a:extLst>
          </p:cNvPr>
          <p:cNvSpPr>
            <a:spLocks xmlns:a="http://schemas.openxmlformats.org/drawingml/2006/main" noGrp="1"/>
          </p:cNvSpPr>
          <p:nvPr/>
        </p:nvSpPr>
        <p:spPr>
          <a:xfrm xmlns:a="http://schemas.openxmlformats.org/drawingml/2006/main">
            <a:off x="914400" y="3200400"/>
            <a:ext cx="10058759" cy="3965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000" b="0">
                <a:solidFill>
                  <a:srgbClr val="B0B0C0"/>
                </a:solidFill>
                <a:latin typeface="Calibri"/>
                <a:ea typeface="Calibri"/>
                <a:cs typeface="Calibri"/>
              </a:defRPr>
            </a:pPr>
            <a:endParaRPr/>
          </a:p>
        </p:txBody>
      </p:sp>
      <p:sp>
        <p:nvSpPr>
          <p:cNvPr id="6" name="TextBox 5">
            <a:extLst xmlns:a="http://schemas.openxmlformats.org/drawingml/2006/main">
              <a:ext uri="{FF2B5EF4-FFF2-40B4-BE49-F238E27FC236}">
                <a16:creationId xmlns:a16="http://schemas.microsoft.com/office/drawing/2014/main" id="{B0AEB7F2-F3D0-4F36-A52F-87927C5CED33}"/>
              </a:ext>
            </a:extLst>
          </p:cNvPr>
          <p:cNvSpPr>
            <a:spLocks xmlns:a="http://schemas.openxmlformats.org/drawingml/2006/main" noGrp="1"/>
          </p:cNvSpPr>
          <p:nvPr/>
        </p:nvSpPr>
        <p:spPr>
          <a:xfrm xmlns:a="http://schemas.openxmlformats.org/drawingml/2006/main">
            <a:off x="914400" y="4114800"/>
            <a:ext cx="10058400" cy="33855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600" b="0">
                <a:solidFill>
                  <a:srgbClr val="B0B0C0"/>
                </a:solidFill>
                <a:latin typeface="Calibri"/>
                <a:ea typeface="Calibri"/>
                <a:cs typeface="Calibri"/>
              </a:defRPr>
            </a:pPr>
            <a:r>
              <a:t>Seminario n.º 3</a:t>
            </a:r>
            <a:endParaRPr/>
          </a:p>
        </p:txBody>
      </p:sp>
      <p:sp>
        <p:nvSpPr>
          <p:cNvPr id="7" name="TextBox 6">
            <a:extLst xmlns:a="http://schemas.openxmlformats.org/drawingml/2006/main">
              <a:ext uri="{FF2B5EF4-FFF2-40B4-BE49-F238E27FC236}">
                <a16:creationId xmlns:a16="http://schemas.microsoft.com/office/drawing/2014/main" id="{CB2BFA42-59FE-45F0-97D4-B3665785D5FD}"/>
              </a:ext>
            </a:extLst>
          </p:cNvPr>
          <p:cNvSpPr>
            <a:spLocks xmlns:a="http://schemas.openxmlformats.org/drawingml/2006/main" noGrp="1"/>
          </p:cNvSpPr>
          <p:nvPr/>
        </p:nvSpPr>
        <p:spPr>
          <a:xfrm xmlns:a="http://schemas.openxmlformats.org/drawingml/2006/main">
            <a:off x="914400" y="5943600"/>
            <a:ext cx="10058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Moscú, 2026</a:t>
            </a:r>
            <a:endParaRPr/>
          </a:p>
        </p:txBody>
      </p:sp>
      <p:sp>
        <p:nvSpPr>
          <p:cNvPr id="8" name="TextBox 7">
            <a:extLst xmlns:a="http://schemas.openxmlformats.org/drawingml/2006/main">
              <a:ext uri="{FF2B5EF4-FFF2-40B4-BE49-F238E27FC236}">
                <a16:creationId xmlns:a16="http://schemas.microsoft.com/office/drawing/2014/main" id="{D4401202-1C1A-4FF4-B4D8-E02557FB60F6}"/>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a:t>
            </a:r>
            <a:endParaRPr/>
          </a:p>
        </p:txBody>
      </p:sp>
    </p:spTree>
    <p:extLst>
      <p:ext uri="{BB962C8B-B14F-4D97-AF65-F5344CB8AC3E}">
        <p14:creationId xmlns:p14="http://schemas.microsoft.com/office/powerpoint/2010/main" val="123029919"/>
      </p:ext>
    </p:extLst>
  </p:cSld>
</p:sld>
</file>

<file path=ppt/slides/slide2.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E328F37-0AF4-44E1-88F7-04F9111B99E6}"/>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DECE162E-BB75-42F4-8334-AF2BC9BE6E2B}"/>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Objetivo y herramientas</a:t>
            </a:r>
            <a:endParaRPr/>
          </a:p>
        </p:txBody>
      </p:sp>
      <p:sp>
        <p:nvSpPr>
          <p:cNvPr id="4" name="TextBox 3">
            <a:extLst xmlns:a="http://schemas.openxmlformats.org/drawingml/2006/main">
              <a:ext uri="{FF2B5EF4-FFF2-40B4-BE49-F238E27FC236}">
                <a16:creationId xmlns:a16="http://schemas.microsoft.com/office/drawing/2014/main" id="{85E6DFE9-803A-4651-A307-2FFF975C2E58}"/>
              </a:ext>
            </a:extLst>
          </p:cNvPr>
          <p:cNvSpPr>
            <a:spLocks xmlns:a="http://schemas.openxmlformats.org/drawingml/2006/main" noGrp="1"/>
          </p:cNvSpPr>
          <p:nvPr/>
        </p:nvSpPr>
        <p:spPr>
          <a:xfrm xmlns:a="http://schemas.openxmlformats.org/drawingml/2006/main">
            <a:off x="457200" y="1005840"/>
            <a:ext cx="109728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0">
                <a:solidFill>
                  <a:srgbClr val="00D9FF"/>
                </a:solidFill>
                <a:latin typeface="Calibri"/>
                <a:ea typeface="Calibri"/>
                <a:cs typeface="Calibri"/>
              </a:defRPr>
            </a:pPr>
            <a:r>
              <a:t>Objetivo: ciclo completo, desde EDA hasta inferencia causal y predicción conformal</a:t>
            </a:r>
            <a:endParaRPr/>
          </a:p>
        </p:txBody>
      </p:sp>
      <p:sp>
        <p:nvSpPr>
          <p:cNvPr id="5" name="Rectangle 4">
            <a:extLst xmlns:a="http://schemas.openxmlformats.org/drawingml/2006/main">
              <a:ext uri="{FF2B5EF4-FFF2-40B4-BE49-F238E27FC236}">
                <a16:creationId xmlns:a16="http://schemas.microsoft.com/office/drawing/2014/main" id="{5BE78900-76F5-4A83-98C3-6008BBC1A342}"/>
              </a:ext>
            </a:extLst>
          </p:cNvPr>
          <p:cNvSpPr>
            <a:spLocks xmlns:a="http://schemas.openxmlformats.org/drawingml/2006/main" noGrp="1"/>
          </p:cNvSpPr>
          <p:nvPr/>
        </p:nvSpPr>
        <p:spPr>
          <a:xfrm xmlns:a="http://schemas.openxmlformats.org/drawingml/2006/main">
            <a:off x="457200" y="164592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6B6A907-1656-4D35-81CF-0232D0A86F1A}"/>
              </a:ext>
            </a:extLst>
          </p:cNvPr>
          <p:cNvSpPr>
            <a:spLocks xmlns:a="http://schemas.openxmlformats.org/drawingml/2006/main" noGrp="1"/>
          </p:cNvSpPr>
          <p:nvPr/>
        </p:nvSpPr>
        <p:spPr>
          <a:xfrm xmlns:a="http://schemas.openxmlformats.org/drawingml/2006/main">
            <a:off x="685800" y="162763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00D9FF"/>
                </a:solidFill>
                <a:latin typeface="Calibri"/>
                <a:ea typeface="Calibri"/>
                <a:cs typeface="Calibri"/>
              </a:defRPr>
            </a:pPr>
            <a:r>
              <a:t>Polars</a:t>
            </a:r>
            <a:endParaRPr/>
          </a:p>
        </p:txBody>
      </p:sp>
      <p:sp>
        <p:nvSpPr>
          <p:cNvPr id="7" name="TextBox 6">
            <a:extLst xmlns:a="http://schemas.openxmlformats.org/drawingml/2006/main">
              <a:ext uri="{FF2B5EF4-FFF2-40B4-BE49-F238E27FC236}">
                <a16:creationId xmlns:a16="http://schemas.microsoft.com/office/drawing/2014/main" id="{61736F18-DF35-4DD7-90C0-71B23C366BA2}"/>
              </a:ext>
            </a:extLst>
          </p:cNvPr>
          <p:cNvSpPr>
            <a:spLocks xmlns:a="http://schemas.openxmlformats.org/drawingml/2006/main" noGrp="1"/>
          </p:cNvSpPr>
          <p:nvPr/>
        </p:nvSpPr>
        <p:spPr>
          <a:xfrm xmlns:a="http://schemas.openxmlformats.org/drawingml/2006/main">
            <a:off x="4846320" y="162763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API eager y lazy, streaming, Parquet</a:t>
            </a:r>
            <a:endParaRPr/>
          </a:p>
        </p:txBody>
      </p:sp>
      <p:sp>
        <p:nvSpPr>
          <p:cNvPr id="8" name="Rectangle 7">
            <a:extLst xmlns:a="http://schemas.openxmlformats.org/drawingml/2006/main">
              <a:ext uri="{FF2B5EF4-FFF2-40B4-BE49-F238E27FC236}">
                <a16:creationId xmlns:a16="http://schemas.microsoft.com/office/drawing/2014/main" id="{5C4AFD8C-F196-48F0-A72C-DFE71DA5733D}"/>
              </a:ext>
            </a:extLst>
          </p:cNvPr>
          <p:cNvSpPr>
            <a:spLocks xmlns:a="http://schemas.openxmlformats.org/drawingml/2006/main" noGrp="1"/>
          </p:cNvSpPr>
          <p:nvPr/>
        </p:nvSpPr>
        <p:spPr>
          <a:xfrm xmlns:a="http://schemas.openxmlformats.org/drawingml/2006/main">
            <a:off x="457200" y="2148840"/>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3645B28-D39E-43C6-8741-A02C6D9FB2E0}"/>
              </a:ext>
            </a:extLst>
          </p:cNvPr>
          <p:cNvSpPr>
            <a:spLocks xmlns:a="http://schemas.openxmlformats.org/drawingml/2006/main" noGrp="1"/>
          </p:cNvSpPr>
          <p:nvPr/>
        </p:nvSpPr>
        <p:spPr>
          <a:xfrm xmlns:a="http://schemas.openxmlformats.org/drawingml/2006/main">
            <a:off x="685800" y="213055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00FF88"/>
                </a:solidFill>
                <a:latin typeface="Calibri"/>
                <a:ea typeface="Calibri"/>
                <a:cs typeface="Calibri"/>
              </a:defRPr>
            </a:pPr>
            <a:r>
              <a:t>scikit-learn, XGBoost, LightGBM, CatBoost</a:t>
            </a:r>
            <a:endParaRPr/>
          </a:p>
        </p:txBody>
      </p:sp>
      <p:sp>
        <p:nvSpPr>
          <p:cNvPr id="10" name="TextBox 9">
            <a:extLst xmlns:a="http://schemas.openxmlformats.org/drawingml/2006/main">
              <a:ext uri="{FF2B5EF4-FFF2-40B4-BE49-F238E27FC236}">
                <a16:creationId xmlns:a16="http://schemas.microsoft.com/office/drawing/2014/main" id="{76F2F9E4-2DFD-4954-A10B-B9E61E08A21E}"/>
              </a:ext>
            </a:extLst>
          </p:cNvPr>
          <p:cNvSpPr>
            <a:spLocks xmlns:a="http://schemas.openxmlformats.org/drawingml/2006/main" noGrp="1"/>
          </p:cNvSpPr>
          <p:nvPr/>
        </p:nvSpPr>
        <p:spPr>
          <a:xfrm xmlns:a="http://schemas.openxmlformats.org/drawingml/2006/main">
            <a:off x="4846320" y="2130552"/>
            <a:ext cx="6860879" cy="30515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modelos de regresión</a:t>
            </a:r>
            <a:endParaRPr/>
          </a:p>
        </p:txBody>
      </p:sp>
      <p:sp>
        <p:nvSpPr>
          <p:cNvPr id="11" name="Rectangle 10">
            <a:extLst xmlns:a="http://schemas.openxmlformats.org/drawingml/2006/main">
              <a:ext uri="{FF2B5EF4-FFF2-40B4-BE49-F238E27FC236}">
                <a16:creationId xmlns:a16="http://schemas.microsoft.com/office/drawing/2014/main" id="{951C03ED-AC0D-4A78-8266-5989740301A5}"/>
              </a:ext>
            </a:extLst>
          </p:cNvPr>
          <p:cNvSpPr>
            <a:spLocks xmlns:a="http://schemas.openxmlformats.org/drawingml/2006/main" noGrp="1"/>
          </p:cNvSpPr>
          <p:nvPr/>
        </p:nvSpPr>
        <p:spPr>
          <a:xfrm xmlns:a="http://schemas.openxmlformats.org/drawingml/2006/main">
            <a:off x="457200" y="265176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EE9BD356-83B5-47C5-B259-06AD37DF7FF4}"/>
              </a:ext>
            </a:extLst>
          </p:cNvPr>
          <p:cNvSpPr>
            <a:spLocks xmlns:a="http://schemas.openxmlformats.org/drawingml/2006/main" noGrp="1"/>
          </p:cNvSpPr>
          <p:nvPr/>
        </p:nvSpPr>
        <p:spPr>
          <a:xfrm xmlns:a="http://schemas.openxmlformats.org/drawingml/2006/main">
            <a:off x="685800" y="263347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Optuna</a:t>
            </a:r>
            <a:endParaRPr/>
          </a:p>
        </p:txBody>
      </p:sp>
      <p:sp>
        <p:nvSpPr>
          <p:cNvPr id="13" name="TextBox 12">
            <a:extLst xmlns:a="http://schemas.openxmlformats.org/drawingml/2006/main">
              <a:ext uri="{FF2B5EF4-FFF2-40B4-BE49-F238E27FC236}">
                <a16:creationId xmlns:a16="http://schemas.microsoft.com/office/drawing/2014/main" id="{F94D9116-6128-4B57-9B94-6F635C7DEEB2}"/>
              </a:ext>
            </a:extLst>
          </p:cNvPr>
          <p:cNvSpPr>
            <a:spLocks xmlns:a="http://schemas.openxmlformats.org/drawingml/2006/main" noGrp="1"/>
          </p:cNvSpPr>
          <p:nvPr/>
        </p:nvSpPr>
        <p:spPr>
          <a:xfrm xmlns:a="http://schemas.openxmlformats.org/drawingml/2006/main">
            <a:off x="4846320" y="263347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TPE, poda, multiobjetivo, más de 200 pruebas</a:t>
            </a:r>
            <a:endParaRPr/>
          </a:p>
        </p:txBody>
      </p:sp>
      <p:sp>
        <p:nvSpPr>
          <p:cNvPr id="14" name="Rectangle 13">
            <a:extLst xmlns:a="http://schemas.openxmlformats.org/drawingml/2006/main">
              <a:ext uri="{FF2B5EF4-FFF2-40B4-BE49-F238E27FC236}">
                <a16:creationId xmlns:a16="http://schemas.microsoft.com/office/drawing/2014/main" id="{5ABA1804-B1A2-4B95-927C-39056A25FD89}"/>
              </a:ext>
            </a:extLst>
          </p:cNvPr>
          <p:cNvSpPr>
            <a:spLocks xmlns:a="http://schemas.openxmlformats.org/drawingml/2006/main" noGrp="1"/>
          </p:cNvSpPr>
          <p:nvPr/>
        </p:nvSpPr>
        <p:spPr>
          <a:xfrm xmlns:a="http://schemas.openxmlformats.org/drawingml/2006/main">
            <a:off x="457200" y="3154680"/>
            <a:ext cx="73152" cy="36576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A7405DF-C344-45A8-BBF3-2F0379457F03}"/>
              </a:ext>
            </a:extLst>
          </p:cNvPr>
          <p:cNvSpPr>
            <a:spLocks xmlns:a="http://schemas.openxmlformats.org/drawingml/2006/main" noGrp="1"/>
          </p:cNvSpPr>
          <p:nvPr/>
        </p:nvSpPr>
        <p:spPr>
          <a:xfrm xmlns:a="http://schemas.openxmlformats.org/drawingml/2006/main">
            <a:off x="685800" y="313639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BB88FF"/>
                </a:solidFill>
                <a:latin typeface="Calibri"/>
                <a:ea typeface="Calibri"/>
                <a:cs typeface="Calibri"/>
              </a:defRPr>
            </a:pPr>
            <a:r>
              <a:t>SHAP, LIME, Permutation</a:t>
            </a:r>
            <a:endParaRPr/>
          </a:p>
        </p:txBody>
      </p:sp>
      <p:sp>
        <p:nvSpPr>
          <p:cNvPr id="16" name="TextBox 15">
            <a:extLst xmlns:a="http://schemas.openxmlformats.org/drawingml/2006/main">
              <a:ext uri="{FF2B5EF4-FFF2-40B4-BE49-F238E27FC236}">
                <a16:creationId xmlns:a16="http://schemas.microsoft.com/office/drawing/2014/main" id="{AB64618E-C13F-4063-8088-C7DF4509DE10}"/>
              </a:ext>
            </a:extLst>
          </p:cNvPr>
          <p:cNvSpPr>
            <a:spLocks xmlns:a="http://schemas.openxmlformats.org/drawingml/2006/main" noGrp="1"/>
          </p:cNvSpPr>
          <p:nvPr/>
        </p:nvSpPr>
        <p:spPr>
          <a:xfrm xmlns:a="http://schemas.openxmlformats.org/drawingml/2006/main">
            <a:off x="4846320" y="313639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interpretación de modelos</a:t>
            </a:r>
            <a:endParaRPr/>
          </a:p>
        </p:txBody>
      </p:sp>
      <p:sp>
        <p:nvSpPr>
          <p:cNvPr id="17" name="Rectangle 16">
            <a:extLst xmlns:a="http://schemas.openxmlformats.org/drawingml/2006/main">
              <a:ext uri="{FF2B5EF4-FFF2-40B4-BE49-F238E27FC236}">
                <a16:creationId xmlns:a16="http://schemas.microsoft.com/office/drawing/2014/main" id="{5D25EC48-4200-476F-ACB6-96167722D8CC}"/>
              </a:ext>
            </a:extLst>
          </p:cNvPr>
          <p:cNvSpPr>
            <a:spLocks xmlns:a="http://schemas.openxmlformats.org/drawingml/2006/main" noGrp="1"/>
          </p:cNvSpPr>
          <p:nvPr/>
        </p:nvSpPr>
        <p:spPr>
          <a:xfrm xmlns:a="http://schemas.openxmlformats.org/drawingml/2006/main">
            <a:off x="457200" y="3657600"/>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4843554-BFF3-4F05-90F8-B8FCB0A6FABB}"/>
              </a:ext>
            </a:extLst>
          </p:cNvPr>
          <p:cNvSpPr>
            <a:spLocks xmlns:a="http://schemas.openxmlformats.org/drawingml/2006/main" noGrp="1"/>
          </p:cNvSpPr>
          <p:nvPr/>
        </p:nvSpPr>
        <p:spPr>
          <a:xfrm xmlns:a="http://schemas.openxmlformats.org/drawingml/2006/main">
            <a:off x="685800" y="363931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5555"/>
                </a:solidFill>
                <a:latin typeface="Calibri"/>
                <a:ea typeface="Calibri"/>
                <a:cs typeface="Calibri"/>
              </a:defRPr>
            </a:pPr>
            <a:r>
              <a:t>DoWhy / EconML</a:t>
            </a:r>
            <a:endParaRPr/>
          </a:p>
        </p:txBody>
      </p:sp>
      <p:sp>
        <p:nvSpPr>
          <p:cNvPr id="19" name="TextBox 18">
            <a:extLst xmlns:a="http://schemas.openxmlformats.org/drawingml/2006/main">
              <a:ext uri="{FF2B5EF4-FFF2-40B4-BE49-F238E27FC236}">
                <a16:creationId xmlns:a16="http://schemas.microsoft.com/office/drawing/2014/main" id="{81379F0F-3928-47F5-9A88-1B76D8B06415}"/>
              </a:ext>
            </a:extLst>
          </p:cNvPr>
          <p:cNvSpPr>
            <a:spLocks xmlns:a="http://schemas.openxmlformats.org/drawingml/2006/main" noGrp="1"/>
          </p:cNvSpPr>
          <p:nvPr/>
        </p:nvSpPr>
        <p:spPr>
          <a:xfrm xmlns:a="http://schemas.openxmlformats.org/drawingml/2006/main">
            <a:off x="4846320" y="363931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inferencia causal (ATE, refutación)</a:t>
            </a:r>
            <a:endParaRPr/>
          </a:p>
        </p:txBody>
      </p:sp>
      <p:sp>
        <p:nvSpPr>
          <p:cNvPr id="20" name="Rectangle 19">
            <a:extLst xmlns:a="http://schemas.openxmlformats.org/drawingml/2006/main">
              <a:ext uri="{FF2B5EF4-FFF2-40B4-BE49-F238E27FC236}">
                <a16:creationId xmlns:a16="http://schemas.microsoft.com/office/drawing/2014/main" id="{9B730C63-A95E-4E06-AA37-AFF4FAFA0EBE}"/>
              </a:ext>
            </a:extLst>
          </p:cNvPr>
          <p:cNvSpPr>
            <a:spLocks xmlns:a="http://schemas.openxmlformats.org/drawingml/2006/main" noGrp="1"/>
          </p:cNvSpPr>
          <p:nvPr/>
        </p:nvSpPr>
        <p:spPr>
          <a:xfrm xmlns:a="http://schemas.openxmlformats.org/drawingml/2006/main">
            <a:off x="457200" y="4160519"/>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67AC046-388E-4F4A-B250-B5EB445F84FE}"/>
              </a:ext>
            </a:extLst>
          </p:cNvPr>
          <p:cNvSpPr>
            <a:spLocks xmlns:a="http://schemas.openxmlformats.org/drawingml/2006/main" noGrp="1"/>
          </p:cNvSpPr>
          <p:nvPr/>
        </p:nvSpPr>
        <p:spPr>
          <a:xfrm xmlns:a="http://schemas.openxmlformats.org/drawingml/2006/main">
            <a:off x="685800" y="414223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5555"/>
                </a:solidFill>
                <a:latin typeface="Calibri"/>
                <a:ea typeface="Calibri"/>
                <a:cs typeface="Calibri"/>
              </a:defRPr>
            </a:pPr>
            <a:r>
              <a:t>MAPIE</a:t>
            </a:r>
            <a:endParaRPr/>
          </a:p>
        </p:txBody>
      </p:sp>
      <p:sp>
        <p:nvSpPr>
          <p:cNvPr id="22" name="TextBox 21">
            <a:extLst xmlns:a="http://schemas.openxmlformats.org/drawingml/2006/main">
              <a:ext uri="{FF2B5EF4-FFF2-40B4-BE49-F238E27FC236}">
                <a16:creationId xmlns:a16="http://schemas.microsoft.com/office/drawing/2014/main" id="{1D36FF7D-7FB3-4D9A-A542-70613CA6C9D9}"/>
              </a:ext>
            </a:extLst>
          </p:cNvPr>
          <p:cNvSpPr>
            <a:spLocks xmlns:a="http://schemas.openxmlformats.org/drawingml/2006/main" noGrp="1"/>
          </p:cNvSpPr>
          <p:nvPr/>
        </p:nvSpPr>
        <p:spPr>
          <a:xfrm xmlns:a="http://schemas.openxmlformats.org/drawingml/2006/main">
            <a:off x="4846320" y="414223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predicción conformal (90 % de cobertura)</a:t>
            </a:r>
            <a:endParaRPr/>
          </a:p>
        </p:txBody>
      </p:sp>
      <p:sp>
        <p:nvSpPr>
          <p:cNvPr id="23" name="Rectangle 22">
            <a:extLst xmlns:a="http://schemas.openxmlformats.org/drawingml/2006/main">
              <a:ext uri="{FF2B5EF4-FFF2-40B4-BE49-F238E27FC236}">
                <a16:creationId xmlns:a16="http://schemas.microsoft.com/office/drawing/2014/main" id="{A6B24D41-AF07-41D7-A5EF-97900AD2DD13}"/>
              </a:ext>
            </a:extLst>
          </p:cNvPr>
          <p:cNvSpPr>
            <a:spLocks xmlns:a="http://schemas.openxmlformats.org/drawingml/2006/main" noGrp="1"/>
          </p:cNvSpPr>
          <p:nvPr/>
        </p:nvSpPr>
        <p:spPr>
          <a:xfrm xmlns:a="http://schemas.openxmlformats.org/drawingml/2006/main">
            <a:off x="457200" y="4663440"/>
            <a:ext cx="73152" cy="36576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38ED4D9F-BA79-4C7B-B093-E2847EB65446}"/>
              </a:ext>
            </a:extLst>
          </p:cNvPr>
          <p:cNvSpPr>
            <a:spLocks xmlns:a="http://schemas.openxmlformats.org/drawingml/2006/main" noGrp="1"/>
          </p:cNvSpPr>
          <p:nvPr/>
        </p:nvSpPr>
        <p:spPr>
          <a:xfrm xmlns:a="http://schemas.openxmlformats.org/drawingml/2006/main">
            <a:off x="685800" y="464515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BB88FF"/>
                </a:solidFill>
                <a:latin typeface="Calibri"/>
                <a:ea typeface="Calibri"/>
                <a:cs typeface="Calibri"/>
              </a:defRPr>
            </a:pPr>
            <a:r>
              <a:t>PyTorch</a:t>
            </a:r>
            <a:endParaRPr/>
          </a:p>
        </p:txBody>
      </p:sp>
      <p:sp>
        <p:nvSpPr>
          <p:cNvPr id="25" name="TextBox 24">
            <a:extLst xmlns:a="http://schemas.openxmlformats.org/drawingml/2006/main">
              <a:ext uri="{FF2B5EF4-FFF2-40B4-BE49-F238E27FC236}">
                <a16:creationId xmlns:a16="http://schemas.microsoft.com/office/drawing/2014/main" id="{72123AB3-7317-4EB8-8486-4FD775F0B24A}"/>
              </a:ext>
            </a:extLst>
          </p:cNvPr>
          <p:cNvSpPr>
            <a:spLocks xmlns:a="http://schemas.openxmlformats.org/drawingml/2006/main" noGrp="1"/>
          </p:cNvSpPr>
          <p:nvPr/>
        </p:nvSpPr>
        <p:spPr>
          <a:xfrm xmlns:a="http://schemas.openxmlformats.org/drawingml/2006/main">
            <a:off x="4846320" y="464515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red neuronal tabular (BatchNorm, Dropout)</a:t>
            </a:r>
            <a:endParaRPr/>
          </a:p>
        </p:txBody>
      </p:sp>
      <p:sp>
        <p:nvSpPr>
          <p:cNvPr id="26" name="Rectangle 25">
            <a:extLst xmlns:a="http://schemas.openxmlformats.org/drawingml/2006/main">
              <a:ext uri="{FF2B5EF4-FFF2-40B4-BE49-F238E27FC236}">
                <a16:creationId xmlns:a16="http://schemas.microsoft.com/office/drawing/2014/main" id="{64D430B2-1C6A-45CF-8CC4-0D132B1FBD57}"/>
              </a:ext>
            </a:extLst>
          </p:cNvPr>
          <p:cNvSpPr>
            <a:spLocks xmlns:a="http://schemas.openxmlformats.org/drawingml/2006/main" noGrp="1"/>
          </p:cNvSpPr>
          <p:nvPr/>
        </p:nvSpPr>
        <p:spPr>
          <a:xfrm xmlns:a="http://schemas.openxmlformats.org/drawingml/2006/main">
            <a:off x="457200" y="516636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ED85F5B0-F673-408A-A13A-3939536EE8D9}"/>
              </a:ext>
            </a:extLst>
          </p:cNvPr>
          <p:cNvSpPr>
            <a:spLocks xmlns:a="http://schemas.openxmlformats.org/drawingml/2006/main" noGrp="1"/>
          </p:cNvSpPr>
          <p:nvPr/>
        </p:nvSpPr>
        <p:spPr>
          <a:xfrm xmlns:a="http://schemas.openxmlformats.org/drawingml/2006/main">
            <a:off x="685800" y="514807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Sentence-Transformers</a:t>
            </a:r>
            <a:endParaRPr/>
          </a:p>
        </p:txBody>
      </p:sp>
      <p:sp>
        <p:nvSpPr>
          <p:cNvPr id="28" name="TextBox 27">
            <a:extLst xmlns:a="http://schemas.openxmlformats.org/drawingml/2006/main">
              <a:ext uri="{FF2B5EF4-FFF2-40B4-BE49-F238E27FC236}">
                <a16:creationId xmlns:a16="http://schemas.microsoft.com/office/drawing/2014/main" id="{948E47CF-F2AF-439F-A745-91E20016C074}"/>
              </a:ext>
            </a:extLst>
          </p:cNvPr>
          <p:cNvSpPr>
            <a:spLocks xmlns:a="http://schemas.openxmlformats.org/drawingml/2006/main" noGrp="1"/>
          </p:cNvSpPr>
          <p:nvPr/>
        </p:nvSpPr>
        <p:spPr>
          <a:xfrm xmlns:a="http://schemas.openxmlformats.org/drawingml/2006/main">
            <a:off x="4846320" y="514807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SBERT → PCA 32 (embeddings)</a:t>
            </a:r>
            <a:endParaRPr/>
          </a:p>
        </p:txBody>
      </p:sp>
      <p:sp>
        <p:nvSpPr>
          <p:cNvPr id="29" name="Rectangle 28">
            <a:extLst xmlns:a="http://schemas.openxmlformats.org/drawingml/2006/main">
              <a:ext uri="{FF2B5EF4-FFF2-40B4-BE49-F238E27FC236}">
                <a16:creationId xmlns:a16="http://schemas.microsoft.com/office/drawing/2014/main" id="{E798AADC-D47D-46FC-8233-C640DDA5620F}"/>
              </a:ext>
            </a:extLst>
          </p:cNvPr>
          <p:cNvSpPr>
            <a:spLocks xmlns:a="http://schemas.openxmlformats.org/drawingml/2006/main" noGrp="1"/>
          </p:cNvSpPr>
          <p:nvPr/>
        </p:nvSpPr>
        <p:spPr>
          <a:xfrm xmlns:a="http://schemas.openxmlformats.org/drawingml/2006/main">
            <a:off x="457200" y="5669280"/>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03DD139F-6ECB-459F-93E7-3F2C92BC9666}"/>
              </a:ext>
            </a:extLst>
          </p:cNvPr>
          <p:cNvSpPr>
            <a:spLocks xmlns:a="http://schemas.openxmlformats.org/drawingml/2006/main" noGrp="1"/>
          </p:cNvSpPr>
          <p:nvPr/>
        </p:nvSpPr>
        <p:spPr>
          <a:xfrm xmlns:a="http://schemas.openxmlformats.org/drawingml/2006/main">
            <a:off x="685800" y="5650992"/>
            <a:ext cx="4114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00FF88"/>
                </a:solidFill>
                <a:latin typeface="Calibri"/>
                <a:ea typeface="Calibri"/>
                <a:cs typeface="Calibri"/>
              </a:defRPr>
            </a:pPr>
            <a:r>
              <a:t>DuckDB</a:t>
            </a:r>
            <a:endParaRPr/>
          </a:p>
        </p:txBody>
      </p:sp>
      <p:sp>
        <p:nvSpPr>
          <p:cNvPr id="31" name="TextBox 30">
            <a:extLst xmlns:a="http://schemas.openxmlformats.org/drawingml/2006/main">
              <a:ext uri="{FF2B5EF4-FFF2-40B4-BE49-F238E27FC236}">
                <a16:creationId xmlns:a16="http://schemas.microsoft.com/office/drawing/2014/main" id="{092AC1B2-EAEC-45A7-882D-D816DFC09EA5}"/>
              </a:ext>
            </a:extLst>
          </p:cNvPr>
          <p:cNvSpPr>
            <a:spLocks xmlns:a="http://schemas.openxmlformats.org/drawingml/2006/main" noGrp="1"/>
          </p:cNvSpPr>
          <p:nvPr/>
        </p:nvSpPr>
        <p:spPr>
          <a:xfrm xmlns:a="http://schemas.openxmlformats.org/drawingml/2006/main">
            <a:off x="4846320" y="5650992"/>
            <a:ext cx="6858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SQL sobre Polars (agregaciones, ventanas)</a:t>
            </a:r>
            <a:endParaRPr/>
          </a:p>
        </p:txBody>
      </p:sp>
      <p:sp>
        <p:nvSpPr>
          <p:cNvPr id="32" name="TextBox 31">
            <a:extLst xmlns:a="http://schemas.openxmlformats.org/drawingml/2006/main">
              <a:ext uri="{FF2B5EF4-FFF2-40B4-BE49-F238E27FC236}">
                <a16:creationId xmlns:a16="http://schemas.microsoft.com/office/drawing/2014/main" id="{14930F91-E441-411F-B309-70D7A0D78763}"/>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a:t>
            </a:r>
            <a:endParaRPr/>
          </a:p>
        </p:txBody>
      </p:sp>
    </p:spTree>
    <p:extLst>
      <p:ext uri="{BB962C8B-B14F-4D97-AF65-F5344CB8AC3E}">
        <p14:creationId xmlns:p14="http://schemas.microsoft.com/office/powerpoint/2010/main" val="612045302"/>
      </p:ext>
    </p:extLst>
  </p:cSld>
</p:sld>
</file>

<file path=ppt/slides/slide3.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146399080" name="Rectangle 1">
            <a:extLst xmlns:a="http://schemas.openxmlformats.org/drawingml/2006/main">
              <a:ext uri="{FF2B5EF4-FFF2-40B4-BE49-F238E27FC236}">
                <a16:creationId xmlns:a16="http://schemas.microsoft.com/office/drawing/2014/main" id="{7DF3C3E7-2934-437D-8328-FE2EF97DA01A}"/>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3072678" name="TextBox 2">
            <a:extLst xmlns:a="http://schemas.openxmlformats.org/drawingml/2006/main">
              <a:ext uri="{FF2B5EF4-FFF2-40B4-BE49-F238E27FC236}">
                <a16:creationId xmlns:a16="http://schemas.microsoft.com/office/drawing/2014/main" id="{60D65B33-21A0-4FE8-A0D5-5F576CBCD3FD}"/>
              </a:ext>
            </a:extLst>
          </p:cNvPr>
          <p:cNvSpPr>
            <a:spLocks xmlns:a="http://schemas.openxmlformats.org/drawingml/2006/main" noGrp="1"/>
          </p:cNvSpPr>
          <p:nvPr/>
        </p:nvSpPr>
        <p:spPr>
          <a:xfrm xmlns:a="http://schemas.openxmlformats.org/drawingml/2006/main">
            <a:off x="457200" y="365760"/>
            <a:ext cx="10973160" cy="4880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defRPr sz="2600" b="1">
                <a:solidFill>
                  <a:srgbClr val="FFFFFF"/>
                </a:solidFill>
                <a:latin typeface="Calibri"/>
                <a:ea typeface="Calibri"/>
                <a:cs typeface="Calibri"/>
              </a:defRPr>
            </a:pPr>
            <a:r>
              <a:t>Objetivo y herramientas</a:t>
            </a:r>
            <a:endParaRPr/>
          </a:p>
        </p:txBody>
      </p:sp>
      <p:sp>
        <p:nvSpPr>
          <p:cNvPr id="562445242" name="TextBox 3">
            <a:extLst xmlns:a="http://schemas.openxmlformats.org/drawingml/2006/main">
              <a:ext uri="{FF2B5EF4-FFF2-40B4-BE49-F238E27FC236}">
                <a16:creationId xmlns:a16="http://schemas.microsoft.com/office/drawing/2014/main" id="{7438E2A8-4D0E-436D-880D-007499EB6548}"/>
              </a:ext>
            </a:extLst>
          </p:cNvPr>
          <p:cNvSpPr>
            <a:spLocks xmlns:a="http://schemas.openxmlformats.org/drawingml/2006/main" noGrp="1"/>
          </p:cNvSpPr>
          <p:nvPr/>
        </p:nvSpPr>
        <p:spPr>
          <a:xfrm xmlns:a="http://schemas.openxmlformats.org/drawingml/2006/main" flipH="0" flipV="0">
            <a:off x="215478" y="914400"/>
            <a:ext cx="5503376" cy="530387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just">
              <a:buNone/>
            </a:pPr>
            <a:r>
              <a:rPr sz="1200" b="0" i="0" u="none">
                <a:solidFill>
                  <a:schemeClr val="bg1"/>
                </a:solidFill>
                <a:latin typeface="Liberation Sans"/>
                <a:ea typeface="Liberation Sans"/>
                <a:cs typeface="Liberation Sans"/>
              </a:rPr>
              <a:t>El objetivo del ciclo completo no consiste solo en construir un modelo, sino en establecer un proceso integral: desde la comprensión inicial de los datos y la búsqueda de relaciones causales hasta la evaluación de la incertidumbre de los pronósticos en problemas reales.</a:t>
            </a:r>
            <a:endParaRPr>
              <a:solidFill>
                <a:schemeClr val="bg1"/>
              </a:solidFill>
            </a:endParaRPr>
          </a:p>
          <a:p xmlns:a="http://schemas.openxmlformats.org/drawingml/2006/main">
            <a:pPr algn="just">
              <a:buNone/>
            </a:pPr>
            <a:r>
              <a:rPr sz="1800" b="1" i="0" u="none">
                <a:solidFill>
                  <a:srgbClr val="FFC000"/>
                </a:solidFill>
                <a:latin typeface="Liberation Sans"/>
                <a:ea typeface="Liberation Sans"/>
                <a:cs typeface="Liberation Sans"/>
              </a:rPr>
              <a:t>1. EDA (análisis exploratorio de datos)</a:t>
            </a:r>
            <a:endParaRPr>
              <a:solidFill>
                <a:schemeClr val="bg1"/>
              </a:solidFill>
            </a:endParaRPr>
          </a:p>
          <a:p xmlns:a="http://schemas.openxmlformats.org/drawingml/2006/main">
            <a:pPr algn="just">
              <a:buNone/>
            </a:pPr>
            <a:r>
              <a:rPr sz="1200" b="0" i="0" u="none">
                <a:solidFill>
                  <a:schemeClr val="bg1"/>
                </a:solidFill>
                <a:latin typeface="Liberation Sans"/>
                <a:ea typeface="Liberation Sans"/>
                <a:cs typeface="Liberation Sans"/>
              </a:rPr>
              <a:t>En esta etapa se desarrolla una comprensión intuitiva de los datos.</a:t>
            </a:r>
            <a:endParaRPr>
              <a:solidFill>
                <a:schemeClr val="bg1"/>
              </a:solidFill>
            </a:endParaRPr>
          </a:p>
          <a:p xmlns:a="http://schemas.openxmlformats.org/drawingml/2006/main">
            <a:pPr algn="just">
              <a:buNone/>
            </a:pPr>
            <a:r>
              <a:rPr sz="1200" b="1" i="0" u="none">
                <a:solidFill>
                  <a:schemeClr val="bg1"/>
                </a:solidFill>
                <a:latin typeface="Liberation Sans"/>
                <a:ea typeface="Liberation Sans"/>
                <a:cs typeface="Liberation Sans"/>
              </a:rPr>
              <a:t>Se estudia la estructura: tamaño del conjunto de datos, tipos de variables, valores faltantes y duplicados.</a:t>
            </a:r>
            <a:endParaRPr>
              <a:solidFill>
                <a:schemeClr val="bg1"/>
              </a:solidFill>
            </a:endParaRPr>
          </a:p>
          <a:p xmlns:a="http://schemas.openxmlformats.org/drawingml/2006/main">
            <a:pPr algn="just">
              <a:buNone/>
            </a:pPr>
            <a:r>
              <a:rPr sz="1200" b="1" i="0" u="none">
                <a:solidFill>
                  <a:schemeClr val="bg1"/>
                </a:solidFill>
                <a:latin typeface="Liberation Sans"/>
                <a:ea typeface="Liberation Sans"/>
                <a:cs typeface="Liberation Sans"/>
              </a:rPr>
              <a:t>Se detectan anomalías y valores atípicos, que pueden distorsionar mucho las conclusiones.</a:t>
            </a:r>
            <a:endParaRPr>
              <a:solidFill>
                <a:schemeClr val="bg1"/>
              </a:solidFill>
            </a:endParaRPr>
          </a:p>
          <a:p xmlns:a="http://schemas.openxmlformats.org/drawingml/2006/main">
            <a:pPr algn="just">
              <a:buNone/>
            </a:pPr>
            <a:r>
              <a:rPr sz="1200" b="1" i="0" u="none">
                <a:solidFill>
                  <a:schemeClr val="bg1"/>
                </a:solidFill>
                <a:latin typeface="Liberation Sans"/>
                <a:ea typeface="Liberation Sans"/>
                <a:cs typeface="Liberation Sans"/>
              </a:rPr>
              <a:t>Se buscan correlaciones entre variables para formular las primeras hipótesis sobre sus relaciones.</a:t>
            </a:r>
            <a:endParaRPr>
              <a:solidFill>
                <a:schemeClr val="bg1"/>
              </a:solidFill>
            </a:endParaRPr>
          </a:p>
          <a:p xmlns:a="http://schemas.openxmlformats.org/drawingml/2006/main">
            <a:pPr algn="just">
              <a:buNone/>
            </a:pPr>
            <a:r>
              <a:rPr sz="1200" b="1" i="0" u="none">
                <a:solidFill>
                  <a:schemeClr val="bg1"/>
                </a:solidFill>
                <a:latin typeface="Liberation Sans"/>
                <a:ea typeface="Liberation Sans"/>
                <a:cs typeface="Liberation Sans"/>
              </a:rPr>
              <a:t>Se preparan los datos para los pasos siguientes: limpieza, imputación de faltantes y escalado de características.</a:t>
            </a:r>
            <a:endParaRPr>
              <a:solidFill>
                <a:schemeClr val="bg1"/>
              </a:solidFill>
            </a:endParaRPr>
          </a:p>
          <a:p xmlns:a="http://schemas.openxmlformats.org/drawingml/2006/main">
            <a:pPr algn="just">
              <a:buNone/>
            </a:pPr>
            <a:r>
              <a:rPr sz="1800" b="1" i="0" u="none">
                <a:solidFill>
                  <a:srgbClr val="92D050"/>
                </a:solidFill>
                <a:latin typeface="Liberation Sans"/>
                <a:ea typeface="Liberation Sans"/>
                <a:cs typeface="Liberation Sans"/>
              </a:rPr>
              <a:t>2. Inferencia causal (análisis de relaciones causa-efecto)</a:t>
            </a:r>
            <a:endParaRPr>
              <a:solidFill>
                <a:srgbClr val="92D050"/>
              </a:solidFill>
            </a:endParaRPr>
          </a:p>
          <a:p xmlns:a="http://schemas.openxmlformats.org/drawingml/2006/main">
            <a:pPr algn="just">
              <a:buNone/>
            </a:pPr>
            <a:r>
              <a:rPr sz="1200" b="0" i="0" u="none">
                <a:solidFill>
                  <a:schemeClr val="bg1"/>
                </a:solidFill>
                <a:latin typeface="Liberation Sans"/>
                <a:ea typeface="Liberation Sans"/>
                <a:cs typeface="Liberation Sans"/>
              </a:rPr>
              <a:t>Después de identificar patrones, se pasa al análisis causal.</a:t>
            </a:r>
            <a:endParaRPr>
              <a:solidFill>
                <a:schemeClr val="bg1"/>
              </a:solidFill>
            </a:endParaRPr>
          </a:p>
          <a:p xmlns:a="http://schemas.openxmlformats.org/drawingml/2006/main">
            <a:pPr algn="just">
              <a:buNone/>
            </a:pPr>
            <a:r>
              <a:rPr sz="1200" b="1" i="0" u="none">
                <a:solidFill>
                  <a:schemeClr val="bg1"/>
                </a:solidFill>
                <a:latin typeface="Liberation Sans"/>
                <a:ea typeface="Liberation Sans"/>
                <a:cs typeface="Liberation Sans"/>
              </a:rPr>
              <a:t>Se formulan hipótesis sobre cómo unos factores influyen en otros; por ejemplo, cómo un cambio en la interfaz afectó la conversión.</a:t>
            </a:r>
            <a:endParaRPr>
              <a:solidFill>
                <a:schemeClr val="bg1"/>
              </a:solidFill>
            </a:endParaRPr>
          </a:p>
          <a:p xmlns:a="http://schemas.openxmlformats.org/drawingml/2006/main">
            <a:pPr algn="just">
              <a:buNone/>
            </a:pPr>
            <a:r>
              <a:rPr sz="1200" b="1" i="0" u="none">
                <a:solidFill>
                  <a:schemeClr val="bg1"/>
                </a:solidFill>
                <a:latin typeface="Liberation Sans"/>
                <a:ea typeface="Liberation Sans"/>
                <a:cs typeface="Liberation Sans"/>
              </a:rPr>
              <a:t>Se aplican métodos para reducir el efecto de variables de confusión, cuando una tercera variable distorsiona la relación real. Pueden utilizarse la ponderación por probabilidad inversa (IPW), T-learner y modelos causales estructurales.</a:t>
            </a:r>
            <a:endParaRPr>
              <a:solidFill>
                <a:schemeClr val="bg1"/>
              </a:solidFill>
            </a:endParaRPr>
          </a:p>
          <a:p xmlns:a="http://schemas.openxmlformats.org/drawingml/2006/main">
            <a:pPr algn="just">
              <a:buNone/>
            </a:pPr>
            <a:r>
              <a:rPr sz="1200" b="1" i="0" u="none">
                <a:solidFill>
                  <a:schemeClr val="bg1"/>
                </a:solidFill>
                <a:latin typeface="Liberation Sans"/>
                <a:ea typeface="Liberation Sans"/>
                <a:cs typeface="Liberation Sans"/>
              </a:rPr>
              <a:t>Se comprueba la solidez de las conclusiones y cuánto dependen de los métodos y supuestos elegidos.</a:t>
            </a:r>
            <a:endParaRPr>
              <a:solidFill>
                <a:schemeClr val="bg1"/>
              </a:solidFill>
            </a:endParaRPr>
          </a:p>
        </p:txBody>
      </p:sp>
      <p:sp>
        <p:nvSpPr>
          <p:cNvPr id="388486660" name="TextBox 31">
            <a:extLst xmlns:a="http://schemas.openxmlformats.org/drawingml/2006/main">
              <a:ext uri="{FF2B5EF4-FFF2-40B4-BE49-F238E27FC236}">
                <a16:creationId xmlns:a16="http://schemas.microsoft.com/office/drawing/2014/main" id="{0BFA3C90-7845-44E8-9E2A-EAA40D8E24A0}"/>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a:t>
            </a:r>
            <a:endParaRPr/>
          </a:p>
        </p:txBody>
      </p:sp>
      <p:sp>
        <p:nvSpPr>
          <p:cNvPr id="1377817520" name="">
            <a:extLst xmlns:a="http://schemas.openxmlformats.org/drawingml/2006/main">
              <a:ext uri="{FF2B5EF4-FFF2-40B4-BE49-F238E27FC236}">
                <a16:creationId xmlns:a16="http://schemas.microsoft.com/office/drawing/2014/main" id="{B1459BEE-2311-40A4-8BDF-FE7C1367C514}"/>
              </a:ext>
            </a:extLst>
          </p:cNvPr>
          <p:cNvSpPr>
            <a:spLocks xmlns:a="http://schemas.openxmlformats.org/drawingml/2006/main" noGrp="1"/>
          </p:cNvSpPr>
          <p:nvPr/>
        </p:nvSpPr>
        <p:spPr>
          <a:xfrm xmlns:a="http://schemas.openxmlformats.org/drawingml/2006/main" flipH="0" flipV="0">
            <a:off x="5845725" y="365760"/>
            <a:ext cx="5998274" cy="6248759"/>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spAutoFit/>
          </a:bodyPr>
          <a:lstStyle xmlns:a="http://schemas.openxmlformats.org/drawingml/2006/main"/>
          <a:p xmlns:a="http://schemas.openxmlformats.org/drawingml/2006/main">
            <a:pPr algn="just">
              <a:buNone/>
            </a:pPr>
            <a:r>
              <a:rPr sz="1800" b="1" i="0" u="none">
                <a:solidFill>
                  <a:srgbClr val="C00000"/>
                </a:solidFill>
                <a:latin typeface="Liberation Sans"/>
                <a:ea typeface="Liberation Sans"/>
                <a:cs typeface="Liberation Sans"/>
              </a:rPr>
              <a:t>3. Predicción conformal</a:t>
            </a:r>
            <a:endParaRPr sz="1800">
              <a:solidFill>
                <a:srgbClr val="C00000"/>
              </a:solidFill>
            </a:endParaRPr>
          </a:p>
          <a:p xmlns:a="http://schemas.openxmlformats.org/drawingml/2006/main">
            <a:pPr algn="just">
              <a:buNone/>
            </a:pPr>
            <a:r>
              <a:rPr sz="1400" b="0" i="0" u="none">
                <a:solidFill>
                  <a:schemeClr val="bg1"/>
                </a:solidFill>
                <a:latin typeface="Liberation Sans"/>
                <a:ea typeface="Liberation Sans"/>
                <a:cs typeface="Liberation Sans"/>
              </a:rPr>
              <a:t>Esta etapa integra todo el proceso y se centra en evaluar la incertidumbre.</a:t>
            </a:r>
            <a:endParaRPr sz="1400">
              <a:solidFill>
                <a:schemeClr val="bg1"/>
              </a:solidFill>
            </a:endParaRPr>
          </a:p>
          <a:p xmlns:a="http://schemas.openxmlformats.org/drawingml/2006/main">
            <a:pPr algn="just">
              <a:buNone/>
            </a:pPr>
            <a:r>
              <a:rPr sz="1400" b="0" i="0" u="none">
                <a:solidFill>
                  <a:schemeClr val="bg1"/>
                </a:solidFill>
                <a:latin typeface="Liberation Sans"/>
                <a:ea typeface="Liberation Sans"/>
                <a:cs typeface="Liberation Sans"/>
              </a:rPr>
              <a:t>Se toma el modelo entrenado y se aplican métodos de predicción conformal.</a:t>
            </a:r>
            <a:endParaRPr sz="1400">
              <a:solidFill>
                <a:schemeClr val="bg1"/>
              </a:solidFill>
            </a:endParaRPr>
          </a:p>
          <a:p xmlns:a="http://schemas.openxmlformats.org/drawingml/2006/main">
            <a:pPr algn="just">
              <a:buNone/>
            </a:pPr>
            <a:r>
              <a:rPr sz="1400" b="0" i="0" u="none">
                <a:solidFill>
                  <a:schemeClr val="bg1"/>
                </a:solidFill>
                <a:latin typeface="Liberation Sans"/>
                <a:ea typeface="Liberation Sans"/>
                <a:cs typeface="Liberation Sans"/>
              </a:rPr>
              <a:t>La ventaja principal es que el marco ofrece garantías estadísticas rigurosas, como cobertura marginal en muestras finitas, sin exigir supuestos paramétricos estrictos sobre la distribución de los errores. Así se obtiene un intervalo que cubre el valor real con una probabilidad especificada, no solo una predicción puntual.</a:t>
            </a:r>
            <a:endParaRPr sz="1400">
              <a:solidFill>
                <a:schemeClr val="bg1"/>
              </a:solidFill>
            </a:endParaRPr>
          </a:p>
          <a:p xmlns:a="http://schemas.openxmlformats.org/drawingml/2006/main">
            <a:pPr algn="just">
              <a:buNone/>
            </a:pPr>
            <a:r>
              <a:rPr sz="1400" b="0" i="0" u="none">
                <a:solidFill>
                  <a:schemeClr val="bg1"/>
                </a:solidFill>
                <a:latin typeface="Liberation Sans"/>
                <a:ea typeface="Liberation Sans"/>
                <a:cs typeface="Liberation Sans"/>
              </a:rPr>
              <a:t>Esto resulta especialmente valioso en escenarios reales, donde importa saber qué predice el modelo y cuánta incertidumbre tiene.</a:t>
            </a:r>
            <a:endParaRPr sz="1400">
              <a:solidFill>
                <a:schemeClr val="bg1"/>
              </a:solidFill>
            </a:endParaRPr>
          </a:p>
          <a:p xmlns:a="http://schemas.openxmlformats.org/drawingml/2006/main">
            <a:pPr algn="just">
              <a:buNone/>
            </a:pPr>
            <a:r>
              <a:rPr sz="1800" b="1" i="0" u="none">
                <a:solidFill>
                  <a:srgbClr val="00B0F0"/>
                </a:solidFill>
                <a:latin typeface="Liberation Sans"/>
                <a:ea typeface="Liberation Sans"/>
                <a:cs typeface="Liberation Sans"/>
              </a:rPr>
              <a:t>¿Cómo funciona todo en conjunto?</a:t>
            </a:r>
            <a:endParaRPr sz="1800">
              <a:solidFill>
                <a:srgbClr val="00B0F0"/>
              </a:solidFill>
            </a:endParaRPr>
          </a:p>
          <a:p xmlns:a="http://schemas.openxmlformats.org/drawingml/2006/main">
            <a:pPr algn="just">
              <a:buNone/>
            </a:pPr>
            <a:r>
              <a:rPr sz="1400" b="0" i="0" u="none">
                <a:solidFill>
                  <a:schemeClr val="bg1"/>
                </a:solidFill>
                <a:latin typeface="Liberation Sans"/>
                <a:ea typeface="Liberation Sans"/>
                <a:cs typeface="Liberation Sans"/>
              </a:rPr>
              <a:t>Imagine que desea recomendar productos y, además de personalizar las propuestas, mostrar la confianza del modelo. Por ejemplo: «recomendamos este producto con una probabilidad del 80 %, pero para el 20 % de los usuarios podemos ofrecer una alternativa debido a la incertidumbre».</a:t>
            </a:r>
            <a:endParaRPr sz="1400">
              <a:solidFill>
                <a:schemeClr val="bg1"/>
              </a:solidFill>
            </a:endParaRPr>
          </a:p>
          <a:p xmlns:a="http://schemas.openxmlformats.org/drawingml/2006/main">
            <a:pPr algn="just">
              <a:buNone/>
            </a:pPr>
            <a:r>
              <a:rPr sz="1400" b="1" i="0" u="none">
                <a:solidFill>
                  <a:schemeClr val="bg1"/>
                </a:solidFill>
                <a:latin typeface="Liberation Sans"/>
                <a:ea typeface="Liberation Sans"/>
                <a:cs typeface="Liberation Sans"/>
              </a:rPr>
              <a:t>EDA encontrará características y valores atípicos.</a:t>
            </a:r>
            <a:endParaRPr sz="1400">
              <a:solidFill>
                <a:schemeClr val="bg1"/>
              </a:solidFill>
            </a:endParaRPr>
          </a:p>
          <a:p xmlns:a="http://schemas.openxmlformats.org/drawingml/2006/main">
            <a:pPr algn="just">
              <a:buNone/>
            </a:pPr>
            <a:r>
              <a:rPr sz="1400" b="1" i="0" u="none">
                <a:solidFill>
                  <a:schemeClr val="bg1"/>
                </a:solidFill>
                <a:latin typeface="Liberation Sans"/>
                <a:ea typeface="Liberation Sans"/>
                <a:cs typeface="Liberation Sans"/>
              </a:rPr>
              <a:t>La inferencia causal ayudará a estimar el efecto de la recomendación y corregir sesgos.</a:t>
            </a:r>
            <a:endParaRPr sz="1400">
              <a:solidFill>
                <a:schemeClr val="bg1"/>
              </a:solidFill>
            </a:endParaRPr>
          </a:p>
          <a:p xmlns:a="http://schemas.openxmlformats.org/drawingml/2006/main">
            <a:pPr algn="just">
              <a:buNone/>
            </a:pPr>
            <a:r>
              <a:rPr sz="1400" b="1" i="0" u="none">
                <a:solidFill>
                  <a:schemeClr val="bg1"/>
                </a:solidFill>
                <a:latin typeface="Liberation Sans"/>
                <a:ea typeface="Liberation Sans"/>
                <a:cs typeface="Liberation Sans"/>
              </a:rPr>
              <a:t>La predicción conformal permitirá recomendar y comunicar con transparencia el nivel de incertidumbre.</a:t>
            </a:r>
            <a:endParaRPr sz="1400">
              <a:solidFill>
                <a:schemeClr val="bg1"/>
              </a:solidFill>
            </a:endParaRPr>
          </a:p>
        </p:txBody>
      </p:sp>
    </p:spTree>
    <p:extLst>
      <p:ext uri="{BB962C8B-B14F-4D97-AF65-F5344CB8AC3E}">
        <p14:creationId xmlns:p14="http://schemas.microsoft.com/office/powerpoint/2010/main" val="1720038282"/>
      </p:ext>
    </p:extLst>
  </p:cSld>
</p:sld>
</file>

<file path=ppt/slides/slide4.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67752FD-1221-48F5-BDA6-2B01924E3628}"/>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B6DF0CF4-B3CD-4C62-B4CB-4CB01A186B63}"/>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Tres niveles de dificultad y flujo de trabajo</a:t>
            </a:r>
            <a:endParaRPr/>
          </a:p>
        </p:txBody>
      </p:sp>
      <p:graphicFrame>
        <p:nvGraphicFramePr>
          <p:cNvPr id="49" name="Table 3"/>
          <p:cNvGraphicFramePr/>
          <p:nvPr/>
        </p:nvGraphicFramePr>
        <p:xfrm>
          <a:off xmlns:a="http://schemas.openxmlformats.org/drawingml/2006/main" x="457200" y="1005840"/>
          <a:ext xmlns:a="http://schemas.openxmlformats.org/drawingml/2006/main" cx="11247120" cy="1170432"/>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1828800"/>
                <a:gridCol w="1097280"/>
                <a:gridCol w="1097280"/>
                <a:gridCol w="1828800"/>
                <a:gridCol w="5394960"/>
              </a:tblGrid>
              <a:tr h="292608">
                <a:tc>
                  <a:txBody>
                    <a:bodyPr/>
                    <a:lstStyle/>
                    <a:p>
                      <a:pPr>
                        <a:buNone/>
                      </a:pPr>
                      <a:r>
                        <a:rPr sz="1300" b="1">
                          <a:solidFill>
                            <a:srgbClr val="00D9FF"/>
                          </a:solidFill>
                          <a:latin typeface="Calibri"/>
                          <a:ea typeface="Calibri"/>
                          <a:cs typeface="Calibri"/>
                        </a:rPr>
                        <a:t>Nivel</a:t>
                      </a:r>
                      <a:endParaRPr/>
                    </a:p>
                  </a:txBody>
                  <a:tcPr marL="91440" marR="91440" marT="45720" marB="45720">
                    <a:solidFill>
                      <a:srgbClr val="22223A"/>
                    </a:solidFill>
                  </a:tcPr>
                </a:tc>
                <a:tc>
                  <a:txBody>
                    <a:bodyPr/>
                    <a:lstStyle/>
                    <a:p>
                      <a:pPr>
                        <a:buNone/>
                      </a:pPr>
                      <a:r>
                        <a:rPr sz="1300" b="1">
                          <a:solidFill>
                            <a:srgbClr val="00D9FF"/>
                          </a:solidFill>
                          <a:latin typeface="Calibri"/>
                          <a:ea typeface="Calibri"/>
                          <a:cs typeface="Calibri"/>
                        </a:rPr>
                        <a:t>Puntos</a:t>
                      </a:r>
                      <a:endParaRPr/>
                    </a:p>
                  </a:txBody>
                  <a:tcPr marL="91440" marR="91440" marT="45720" marB="45720">
                    <a:solidFill>
                      <a:srgbClr val="22223A"/>
                    </a:solidFill>
                  </a:tcPr>
                </a:tc>
                <a:tc>
                  <a:txBody>
                    <a:bodyPr/>
                    <a:lstStyle/>
                    <a:p>
                      <a:pPr>
                        <a:buNone/>
                      </a:pPr>
                      <a:r>
                        <a:rPr sz="1300" b="1">
                          <a:solidFill>
                            <a:srgbClr val="00D9FF"/>
                          </a:solidFill>
                          <a:latin typeface="Calibri"/>
                          <a:ea typeface="Calibri"/>
                          <a:cs typeface="Calibri"/>
                        </a:rPr>
                        <a:t>Variantes</a:t>
                      </a:r>
                      <a:endParaRPr/>
                    </a:p>
                  </a:txBody>
                  <a:tcPr marL="91440" marR="91440" marT="45720" marB="45720">
                    <a:solidFill>
                      <a:srgbClr val="22223A"/>
                    </a:solidFill>
                  </a:tcPr>
                </a:tc>
                <a:tc>
                  <a:txBody>
                    <a:bodyPr/>
                    <a:lstStyle/>
                    <a:p>
                      <a:pPr>
                        <a:buNone/>
                      </a:pPr>
                      <a:r>
                        <a:rPr sz="1300" b="1">
                          <a:solidFill>
                            <a:srgbClr val="00D9FF"/>
                          </a:solidFill>
                          <a:latin typeface="Calibri"/>
                          <a:ea typeface="Calibri"/>
                          <a:cs typeface="Calibri"/>
                        </a:rPr>
                        <a:t>Tamaño de datos</a:t>
                      </a:r>
                      <a:endParaRPr/>
                    </a:p>
                  </a:txBody>
                  <a:tcPr marL="91440" marR="91440" marT="45720" marB="45720">
                    <a:solidFill>
                      <a:srgbClr val="22223A"/>
                    </a:solidFill>
                  </a:tcPr>
                </a:tc>
                <a:tc>
                  <a:txBody>
                    <a:bodyPr/>
                    <a:lstStyle/>
                    <a:p>
                      <a:pPr>
                        <a:buNone/>
                      </a:pPr>
                      <a:r>
                        <a:rPr sz="1300" b="1">
                          <a:solidFill>
                            <a:srgbClr val="00D9FF"/>
                          </a:solidFill>
                          <a:latin typeface="Calibri"/>
                          <a:ea typeface="Calibri"/>
                          <a:cs typeface="Calibri"/>
                        </a:rPr>
                        <a:t>Elementos clave</a:t>
                      </a:r>
                      <a:endParaRPr/>
                    </a:p>
                  </a:txBody>
                  <a:tcPr marL="91440" marR="91440" marT="45720" marB="45720">
                    <a:solidFill>
                      <a:srgbClr val="22223A"/>
                    </a:solidFill>
                  </a:tcPr>
                </a:tc>
              </a:tr>
              <a:tr h="292608">
                <a:tc>
                  <a:txBody>
                    <a:bodyPr/>
                    <a:lstStyle/>
                    <a:p>
                      <a:pPr>
                        <a:buNone/>
                      </a:pPr>
                      <a:r>
                        <a:rPr sz="1300">
                          <a:solidFill>
                            <a:srgbClr val="FFFFFF"/>
                          </a:solidFill>
                          <a:latin typeface="Calibri"/>
                          <a:ea typeface="Calibri"/>
                          <a:cs typeface="Calibri"/>
                        </a:rPr>
                        <a:t>3 (básico)</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7</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10</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0,3 mil–55 mil</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One-Hot, 4 métricas</a:t>
                      </a:r>
                      <a:endParaRPr/>
                    </a:p>
                  </a:txBody>
                  <a:tcPr marL="91440" marR="91440" marT="45720" marB="45720">
                    <a:solidFill>
                      <a:srgbClr val="22223A"/>
                    </a:solidFill>
                  </a:tcPr>
                </a:tc>
              </a:tr>
              <a:tr h="292608">
                <a:tc>
                  <a:txBody>
                    <a:bodyPr/>
                    <a:lstStyle/>
                    <a:p>
                      <a:pPr>
                        <a:buNone/>
                      </a:pPr>
                      <a:r>
                        <a:rPr sz="1300">
                          <a:solidFill>
                            <a:srgbClr val="FFFFFF"/>
                          </a:solidFill>
                          <a:latin typeface="Calibri"/>
                          <a:ea typeface="Calibri"/>
                          <a:cs typeface="Calibri"/>
                        </a:rPr>
                        <a:t>4 (avanzado)</a:t>
                      </a:r>
                      <a:endParaRPr/>
                    </a:p>
                  </a:txBody>
                  <a:tcPr marL="91440" marR="91440" marT="45720" marB="45720">
                    <a:solidFill>
                      <a:srgbClr val="2A2A44"/>
                    </a:solidFill>
                  </a:tcPr>
                </a:tc>
                <a:tc>
                  <a:txBody>
                    <a:bodyPr/>
                    <a:lstStyle/>
                    <a:p>
                      <a:pPr>
                        <a:buNone/>
                      </a:pPr>
                      <a:r>
                        <a:rPr sz="1300">
                          <a:solidFill>
                            <a:srgbClr val="FFFFFF"/>
                          </a:solidFill>
                          <a:latin typeface="Calibri"/>
                          <a:ea typeface="Calibri"/>
                          <a:cs typeface="Calibri"/>
                        </a:rPr>
                        <a:t>9</a:t>
                      </a:r>
                      <a:endParaRPr/>
                    </a:p>
                  </a:txBody>
                  <a:tcPr marL="91440" marR="91440" marT="45720" marB="45720">
                    <a:solidFill>
                      <a:srgbClr val="2A2A44"/>
                    </a:solidFill>
                  </a:tcPr>
                </a:tc>
                <a:tc>
                  <a:txBody>
                    <a:bodyPr/>
                    <a:lstStyle/>
                    <a:p>
                      <a:pPr>
                        <a:buNone/>
                      </a:pPr>
                      <a:r>
                        <a:rPr sz="1300">
                          <a:solidFill>
                            <a:srgbClr val="FFFFFF"/>
                          </a:solidFill>
                          <a:latin typeface="Calibri"/>
                          <a:ea typeface="Calibri"/>
                          <a:cs typeface="Calibri"/>
                        </a:rPr>
                        <a:t>10</a:t>
                      </a:r>
                      <a:endParaRPr/>
                    </a:p>
                  </a:txBody>
                  <a:tcPr marL="91440" marR="91440" marT="45720" marB="45720">
                    <a:solidFill>
                      <a:srgbClr val="2A2A44"/>
                    </a:solidFill>
                  </a:tcPr>
                </a:tc>
                <a:tc>
                  <a:txBody>
                    <a:bodyPr/>
                    <a:lstStyle/>
                    <a:p>
                      <a:pPr>
                        <a:buNone/>
                      </a:pPr>
                      <a:r>
                        <a:rPr sz="1300">
                          <a:solidFill>
                            <a:srgbClr val="FFFFFF"/>
                          </a:solidFill>
                          <a:latin typeface="Calibri"/>
                          <a:ea typeface="Calibri"/>
                          <a:cs typeface="Calibri"/>
                        </a:rPr>
                        <a:t>17 mil–300 mil</a:t>
                      </a:r>
                      <a:endParaRPr/>
                    </a:p>
                  </a:txBody>
                  <a:tcPr marL="91440" marR="91440" marT="45720" marB="45720">
                    <a:solidFill>
                      <a:srgbClr val="2A2A44"/>
                    </a:solidFill>
                  </a:tcPr>
                </a:tc>
                <a:tc>
                  <a:txBody>
                    <a:bodyPr/>
                    <a:lstStyle/>
                    <a:p>
                      <a:pPr>
                        <a:buNone/>
                      </a:pPr>
                      <a:r>
                        <a:rPr sz="1300">
                          <a:solidFill>
                            <a:srgbClr val="FFFFFF"/>
                          </a:solidFill>
                          <a:latin typeface="Calibri"/>
                          <a:ea typeface="Calibri"/>
                          <a:cs typeface="Calibri"/>
                        </a:rPr>
                        <a:t>Lazy, Optuna, SHAP, VIF</a:t>
                      </a:r>
                      <a:endParaRPr/>
                    </a:p>
                  </a:txBody>
                  <a:tcPr marL="91440" marR="91440" marT="45720" marB="45720">
                    <a:solidFill>
                      <a:srgbClr val="2A2A44"/>
                    </a:solidFill>
                  </a:tcPr>
                </a:tc>
              </a:tr>
              <a:tr h="292608">
                <a:tc>
                  <a:txBody>
                    <a:bodyPr/>
                    <a:lstStyle/>
                    <a:p>
                      <a:pPr>
                        <a:buNone/>
                      </a:pPr>
                      <a:r>
                        <a:rPr sz="1300">
                          <a:solidFill>
                            <a:srgbClr val="FFFFFF"/>
                          </a:solidFill>
                          <a:latin typeface="Calibri"/>
                          <a:ea typeface="Calibri"/>
                          <a:cs typeface="Calibri"/>
                        </a:rPr>
                        <a:t>5 (excelente)</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12</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10</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0,5 M–3 M+</a:t>
                      </a:r>
                      <a:endParaRPr/>
                    </a:p>
                  </a:txBody>
                  <a:tcPr marL="91440" marR="91440" marT="45720" marB="45720">
                    <a:solidFill>
                      <a:srgbClr val="22223A"/>
                    </a:solidFill>
                  </a:tcPr>
                </a:tc>
                <a:tc>
                  <a:txBody>
                    <a:bodyPr/>
                    <a:lstStyle/>
                    <a:p>
                      <a:pPr>
                        <a:buNone/>
                      </a:pPr>
                      <a:r>
                        <a:rPr sz="1300">
                          <a:solidFill>
                            <a:srgbClr val="FFFFFF"/>
                          </a:solidFill>
                          <a:latin typeface="Calibri"/>
                          <a:ea typeface="Calibri"/>
                          <a:cs typeface="Calibri"/>
                        </a:rPr>
                        <a:t>Causal, conformal, GPU</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35241755-1940-4A79-9063-A61E38A4D58B}"/>
              </a:ext>
            </a:extLst>
          </p:cNvPr>
          <p:cNvSpPr>
            <a:spLocks xmlns:a="http://schemas.openxmlformats.org/drawingml/2006/main" noGrp="1"/>
          </p:cNvSpPr>
          <p:nvPr/>
        </p:nvSpPr>
        <p:spPr>
          <a:xfrm xmlns:a="http://schemas.openxmlformats.org/drawingml/2006/main">
            <a:off x="457200" y="3017519"/>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FFFF"/>
                </a:solidFill>
                <a:latin typeface="Calibri"/>
                <a:ea typeface="Calibri"/>
                <a:cs typeface="Calibri"/>
              </a:defRPr>
            </a:pPr>
            <a:r>
              <a:t>Flujo de trabajo de 10 pasos:</a:t>
            </a:r>
            <a:endParaRPr/>
          </a:p>
        </p:txBody>
      </p:sp>
      <p:sp>
        <p:nvSpPr>
          <p:cNvPr id="6" name="Rectangle 5">
            <a:extLst xmlns:a="http://schemas.openxmlformats.org/drawingml/2006/main">
              <a:ext uri="{FF2B5EF4-FFF2-40B4-BE49-F238E27FC236}">
                <a16:creationId xmlns:a16="http://schemas.microsoft.com/office/drawing/2014/main" id="{BA46E92E-B811-438F-8378-097962A3C521}"/>
              </a:ext>
            </a:extLst>
          </p:cNvPr>
          <p:cNvSpPr>
            <a:spLocks xmlns:a="http://schemas.openxmlformats.org/drawingml/2006/main" noGrp="1"/>
          </p:cNvSpPr>
          <p:nvPr/>
        </p:nvSpPr>
        <p:spPr>
          <a:xfrm xmlns:a="http://schemas.openxmlformats.org/drawingml/2006/main">
            <a:off x="457200" y="3657600"/>
            <a:ext cx="1005840" cy="4572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BE12540-3579-4140-A380-D0AA84E00178}"/>
              </a:ext>
            </a:extLst>
          </p:cNvPr>
          <p:cNvSpPr>
            <a:spLocks xmlns:a="http://schemas.openxmlformats.org/drawingml/2006/main" noGrp="1"/>
          </p:cNvSpPr>
          <p:nvPr/>
        </p:nvSpPr>
        <p:spPr>
          <a:xfrm xmlns:a="http://schemas.openxmlformats.org/drawingml/2006/main">
            <a:off x="457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1</a:t>
            </a:r>
            <a:endParaRPr/>
          </a:p>
        </p:txBody>
      </p:sp>
      <p:sp>
        <p:nvSpPr>
          <p:cNvPr id="8" name="TextBox 7">
            <a:extLst xmlns:a="http://schemas.openxmlformats.org/drawingml/2006/main">
              <a:ext uri="{FF2B5EF4-FFF2-40B4-BE49-F238E27FC236}">
                <a16:creationId xmlns:a16="http://schemas.microsoft.com/office/drawing/2014/main" id="{E40016D8-A1D6-49AA-A44C-C78EA6EF7C42}"/>
              </a:ext>
            </a:extLst>
          </p:cNvPr>
          <p:cNvSpPr>
            <a:spLocks xmlns:a="http://schemas.openxmlformats.org/drawingml/2006/main" noGrp="1"/>
          </p:cNvSpPr>
          <p:nvPr/>
        </p:nvSpPr>
        <p:spPr>
          <a:xfrm xmlns:a="http://schemas.openxmlformats.org/drawingml/2006/main">
            <a:off x="411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Carga</a:t>
            </a:r>
            <a:endParaRPr/>
          </a:p>
        </p:txBody>
      </p:sp>
      <p:sp>
        <p:nvSpPr>
          <p:cNvPr id="9" name="TextBox 8">
            <a:extLst xmlns:a="http://schemas.openxmlformats.org/drawingml/2006/main">
              <a:ext uri="{FF2B5EF4-FFF2-40B4-BE49-F238E27FC236}">
                <a16:creationId xmlns:a16="http://schemas.microsoft.com/office/drawing/2014/main" id="{3C54B7B9-B8FD-4963-8B7D-B58518E6AC49}"/>
              </a:ext>
            </a:extLst>
          </p:cNvPr>
          <p:cNvSpPr>
            <a:spLocks xmlns:a="http://schemas.openxmlformats.org/drawingml/2006/main" noGrp="1"/>
          </p:cNvSpPr>
          <p:nvPr/>
        </p:nvSpPr>
        <p:spPr>
          <a:xfrm xmlns:a="http://schemas.openxmlformats.org/drawingml/2006/main">
            <a:off x="1417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10" name="Rectangle 9">
            <a:extLst xmlns:a="http://schemas.openxmlformats.org/drawingml/2006/main">
              <a:ext uri="{FF2B5EF4-FFF2-40B4-BE49-F238E27FC236}">
                <a16:creationId xmlns:a16="http://schemas.microsoft.com/office/drawing/2014/main" id="{DD297565-E1A7-419D-96D9-A26499B1E8A5}"/>
              </a:ext>
            </a:extLst>
          </p:cNvPr>
          <p:cNvSpPr>
            <a:spLocks xmlns:a="http://schemas.openxmlformats.org/drawingml/2006/main" noGrp="1"/>
          </p:cNvSpPr>
          <p:nvPr/>
        </p:nvSpPr>
        <p:spPr>
          <a:xfrm xmlns:a="http://schemas.openxmlformats.org/drawingml/2006/main">
            <a:off x="1600200" y="3657600"/>
            <a:ext cx="1005840" cy="4572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C7533B05-543E-4310-95FF-B3077A88D57D}"/>
              </a:ext>
            </a:extLst>
          </p:cNvPr>
          <p:cNvSpPr>
            <a:spLocks xmlns:a="http://schemas.openxmlformats.org/drawingml/2006/main" noGrp="1"/>
          </p:cNvSpPr>
          <p:nvPr/>
        </p:nvSpPr>
        <p:spPr>
          <a:xfrm xmlns:a="http://schemas.openxmlformats.org/drawingml/2006/main">
            <a:off x="1600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2</a:t>
            </a:r>
            <a:endParaRPr/>
          </a:p>
        </p:txBody>
      </p:sp>
      <p:sp>
        <p:nvSpPr>
          <p:cNvPr id="12" name="TextBox 11">
            <a:extLst xmlns:a="http://schemas.openxmlformats.org/drawingml/2006/main">
              <a:ext uri="{FF2B5EF4-FFF2-40B4-BE49-F238E27FC236}">
                <a16:creationId xmlns:a16="http://schemas.microsoft.com/office/drawing/2014/main" id="{FBED5DE1-C5F2-451E-A7E8-E91A9551D167}"/>
              </a:ext>
            </a:extLst>
          </p:cNvPr>
          <p:cNvSpPr>
            <a:spLocks xmlns:a="http://schemas.openxmlformats.org/drawingml/2006/main" noGrp="1"/>
          </p:cNvSpPr>
          <p:nvPr/>
        </p:nvSpPr>
        <p:spPr>
          <a:xfrm xmlns:a="http://schemas.openxmlformats.org/drawingml/2006/main">
            <a:off x="1554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EDA</a:t>
            </a:r>
            <a:endParaRPr/>
          </a:p>
        </p:txBody>
      </p:sp>
      <p:sp>
        <p:nvSpPr>
          <p:cNvPr id="13" name="TextBox 12">
            <a:extLst xmlns:a="http://schemas.openxmlformats.org/drawingml/2006/main">
              <a:ext uri="{FF2B5EF4-FFF2-40B4-BE49-F238E27FC236}">
                <a16:creationId xmlns:a16="http://schemas.microsoft.com/office/drawing/2014/main" id="{A88DD459-7DD3-489F-97B4-A4ABBE228A82}"/>
              </a:ext>
            </a:extLst>
          </p:cNvPr>
          <p:cNvSpPr>
            <a:spLocks xmlns:a="http://schemas.openxmlformats.org/drawingml/2006/main" noGrp="1"/>
          </p:cNvSpPr>
          <p:nvPr/>
        </p:nvSpPr>
        <p:spPr>
          <a:xfrm xmlns:a="http://schemas.openxmlformats.org/drawingml/2006/main">
            <a:off x="2560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14" name="Rectangle 13">
            <a:extLst xmlns:a="http://schemas.openxmlformats.org/drawingml/2006/main">
              <a:ext uri="{FF2B5EF4-FFF2-40B4-BE49-F238E27FC236}">
                <a16:creationId xmlns:a16="http://schemas.microsoft.com/office/drawing/2014/main" id="{38263CD0-79DD-4D5B-8683-B47613353D71}"/>
              </a:ext>
            </a:extLst>
          </p:cNvPr>
          <p:cNvSpPr>
            <a:spLocks xmlns:a="http://schemas.openxmlformats.org/drawingml/2006/main" noGrp="1"/>
          </p:cNvSpPr>
          <p:nvPr/>
        </p:nvSpPr>
        <p:spPr>
          <a:xfrm xmlns:a="http://schemas.openxmlformats.org/drawingml/2006/main">
            <a:off x="2743200" y="3657600"/>
            <a:ext cx="1005840" cy="4572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A841D4A-0C27-4DF6-A685-A03B6CD48E73}"/>
              </a:ext>
            </a:extLst>
          </p:cNvPr>
          <p:cNvSpPr>
            <a:spLocks xmlns:a="http://schemas.openxmlformats.org/drawingml/2006/main" noGrp="1"/>
          </p:cNvSpPr>
          <p:nvPr/>
        </p:nvSpPr>
        <p:spPr>
          <a:xfrm xmlns:a="http://schemas.openxmlformats.org/drawingml/2006/main">
            <a:off x="2743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3</a:t>
            </a:r>
            <a:endParaRPr/>
          </a:p>
        </p:txBody>
      </p:sp>
      <p:sp>
        <p:nvSpPr>
          <p:cNvPr id="16" name="TextBox 15">
            <a:extLst xmlns:a="http://schemas.openxmlformats.org/drawingml/2006/main">
              <a:ext uri="{FF2B5EF4-FFF2-40B4-BE49-F238E27FC236}">
                <a16:creationId xmlns:a16="http://schemas.microsoft.com/office/drawing/2014/main" id="{C5873909-1043-427A-A32B-38C4F51FE0D9}"/>
              </a:ext>
            </a:extLst>
          </p:cNvPr>
          <p:cNvSpPr>
            <a:spLocks xmlns:a="http://schemas.openxmlformats.org/drawingml/2006/main" noGrp="1"/>
          </p:cNvSpPr>
          <p:nvPr/>
        </p:nvSpPr>
        <p:spPr>
          <a:xfrm xmlns:a="http://schemas.openxmlformats.org/drawingml/2006/main">
            <a:off x="2697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Faltantes</a:t>
            </a:r>
            <a:endParaRPr/>
          </a:p>
        </p:txBody>
      </p:sp>
      <p:sp>
        <p:nvSpPr>
          <p:cNvPr id="17" name="TextBox 16">
            <a:extLst xmlns:a="http://schemas.openxmlformats.org/drawingml/2006/main">
              <a:ext uri="{FF2B5EF4-FFF2-40B4-BE49-F238E27FC236}">
                <a16:creationId xmlns:a16="http://schemas.microsoft.com/office/drawing/2014/main" id="{8F0AB0AA-5E6D-4025-B897-15F1DFEE0C7E}"/>
              </a:ext>
            </a:extLst>
          </p:cNvPr>
          <p:cNvSpPr>
            <a:spLocks xmlns:a="http://schemas.openxmlformats.org/drawingml/2006/main" noGrp="1"/>
          </p:cNvSpPr>
          <p:nvPr/>
        </p:nvSpPr>
        <p:spPr>
          <a:xfrm xmlns:a="http://schemas.openxmlformats.org/drawingml/2006/main">
            <a:off x="3703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18" name="Rectangle 17">
            <a:extLst xmlns:a="http://schemas.openxmlformats.org/drawingml/2006/main">
              <a:ext uri="{FF2B5EF4-FFF2-40B4-BE49-F238E27FC236}">
                <a16:creationId xmlns:a16="http://schemas.microsoft.com/office/drawing/2014/main" id="{D4B2BA71-7697-4DE1-98D5-AD551F9D9C47}"/>
              </a:ext>
            </a:extLst>
          </p:cNvPr>
          <p:cNvSpPr>
            <a:spLocks xmlns:a="http://schemas.openxmlformats.org/drawingml/2006/main" noGrp="1"/>
          </p:cNvSpPr>
          <p:nvPr/>
        </p:nvSpPr>
        <p:spPr>
          <a:xfrm xmlns:a="http://schemas.openxmlformats.org/drawingml/2006/main">
            <a:off x="3886200" y="3657600"/>
            <a:ext cx="1005840" cy="4572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20DC2E64-5C52-466F-8927-774F44B3C06E}"/>
              </a:ext>
            </a:extLst>
          </p:cNvPr>
          <p:cNvSpPr>
            <a:spLocks xmlns:a="http://schemas.openxmlformats.org/drawingml/2006/main" noGrp="1"/>
          </p:cNvSpPr>
          <p:nvPr/>
        </p:nvSpPr>
        <p:spPr>
          <a:xfrm xmlns:a="http://schemas.openxmlformats.org/drawingml/2006/main">
            <a:off x="3886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4</a:t>
            </a:r>
            <a:endParaRPr/>
          </a:p>
        </p:txBody>
      </p:sp>
      <p:sp>
        <p:nvSpPr>
          <p:cNvPr id="20" name="TextBox 19">
            <a:extLst xmlns:a="http://schemas.openxmlformats.org/drawingml/2006/main">
              <a:ext uri="{FF2B5EF4-FFF2-40B4-BE49-F238E27FC236}">
                <a16:creationId xmlns:a16="http://schemas.microsoft.com/office/drawing/2014/main" id="{25D09F8F-E95E-432A-96F9-FE59F86A047B}"/>
              </a:ext>
            </a:extLst>
          </p:cNvPr>
          <p:cNvSpPr>
            <a:spLocks xmlns:a="http://schemas.openxmlformats.org/drawingml/2006/main" noGrp="1"/>
          </p:cNvSpPr>
          <p:nvPr/>
        </p:nvSpPr>
        <p:spPr>
          <a:xfrm xmlns:a="http://schemas.openxmlformats.org/drawingml/2006/main">
            <a:off x="3840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FE</a:t>
            </a:r>
            <a:endParaRPr/>
          </a:p>
        </p:txBody>
      </p:sp>
      <p:sp>
        <p:nvSpPr>
          <p:cNvPr id="21" name="TextBox 20">
            <a:extLst xmlns:a="http://schemas.openxmlformats.org/drawingml/2006/main">
              <a:ext uri="{FF2B5EF4-FFF2-40B4-BE49-F238E27FC236}">
                <a16:creationId xmlns:a16="http://schemas.microsoft.com/office/drawing/2014/main" id="{E3198A87-205E-4239-88B4-8FB69BBD20B4}"/>
              </a:ext>
            </a:extLst>
          </p:cNvPr>
          <p:cNvSpPr>
            <a:spLocks xmlns:a="http://schemas.openxmlformats.org/drawingml/2006/main" noGrp="1"/>
          </p:cNvSpPr>
          <p:nvPr/>
        </p:nvSpPr>
        <p:spPr>
          <a:xfrm xmlns:a="http://schemas.openxmlformats.org/drawingml/2006/main">
            <a:off x="4846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22" name="Rectangle 21">
            <a:extLst xmlns:a="http://schemas.openxmlformats.org/drawingml/2006/main">
              <a:ext uri="{FF2B5EF4-FFF2-40B4-BE49-F238E27FC236}">
                <a16:creationId xmlns:a16="http://schemas.microsoft.com/office/drawing/2014/main" id="{2C286ACB-CE7A-4CBD-8017-B96B90856429}"/>
              </a:ext>
            </a:extLst>
          </p:cNvPr>
          <p:cNvSpPr>
            <a:spLocks xmlns:a="http://schemas.openxmlformats.org/drawingml/2006/main" noGrp="1"/>
          </p:cNvSpPr>
          <p:nvPr/>
        </p:nvSpPr>
        <p:spPr>
          <a:xfrm xmlns:a="http://schemas.openxmlformats.org/drawingml/2006/main">
            <a:off x="5029200" y="3657600"/>
            <a:ext cx="1005840" cy="4572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9AFDE445-08F2-42CC-925F-EE0D80230673}"/>
              </a:ext>
            </a:extLst>
          </p:cNvPr>
          <p:cNvSpPr>
            <a:spLocks xmlns:a="http://schemas.openxmlformats.org/drawingml/2006/main" noGrp="1"/>
          </p:cNvSpPr>
          <p:nvPr/>
        </p:nvSpPr>
        <p:spPr>
          <a:xfrm xmlns:a="http://schemas.openxmlformats.org/drawingml/2006/main">
            <a:off x="5029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5</a:t>
            </a:r>
            <a:endParaRPr/>
          </a:p>
        </p:txBody>
      </p:sp>
      <p:sp>
        <p:nvSpPr>
          <p:cNvPr id="24" name="TextBox 23">
            <a:extLst xmlns:a="http://schemas.openxmlformats.org/drawingml/2006/main">
              <a:ext uri="{FF2B5EF4-FFF2-40B4-BE49-F238E27FC236}">
                <a16:creationId xmlns:a16="http://schemas.microsoft.com/office/drawing/2014/main" id="{AF090AAC-8DE2-4352-A62F-E801E518786B}"/>
              </a:ext>
            </a:extLst>
          </p:cNvPr>
          <p:cNvSpPr>
            <a:spLocks xmlns:a="http://schemas.openxmlformats.org/drawingml/2006/main" noGrp="1"/>
          </p:cNvSpPr>
          <p:nvPr/>
        </p:nvSpPr>
        <p:spPr>
          <a:xfrm xmlns:a="http://schemas.openxmlformats.org/drawingml/2006/main">
            <a:off x="4983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Codif.</a:t>
            </a:r>
            <a:endParaRPr/>
          </a:p>
        </p:txBody>
      </p:sp>
      <p:sp>
        <p:nvSpPr>
          <p:cNvPr id="25" name="TextBox 24">
            <a:extLst xmlns:a="http://schemas.openxmlformats.org/drawingml/2006/main">
              <a:ext uri="{FF2B5EF4-FFF2-40B4-BE49-F238E27FC236}">
                <a16:creationId xmlns:a16="http://schemas.microsoft.com/office/drawing/2014/main" id="{DE70A52C-4C69-4D30-A4B2-6D9B2A2D7C43}"/>
              </a:ext>
            </a:extLst>
          </p:cNvPr>
          <p:cNvSpPr>
            <a:spLocks xmlns:a="http://schemas.openxmlformats.org/drawingml/2006/main" noGrp="1"/>
          </p:cNvSpPr>
          <p:nvPr/>
        </p:nvSpPr>
        <p:spPr>
          <a:xfrm xmlns:a="http://schemas.openxmlformats.org/drawingml/2006/main">
            <a:off x="5989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26" name="Rectangle 25">
            <a:extLst xmlns:a="http://schemas.openxmlformats.org/drawingml/2006/main">
              <a:ext uri="{FF2B5EF4-FFF2-40B4-BE49-F238E27FC236}">
                <a16:creationId xmlns:a16="http://schemas.microsoft.com/office/drawing/2014/main" id="{0006872D-D865-484C-B1C7-72EC4C440CD9}"/>
              </a:ext>
            </a:extLst>
          </p:cNvPr>
          <p:cNvSpPr>
            <a:spLocks xmlns:a="http://schemas.openxmlformats.org/drawingml/2006/main" noGrp="1"/>
          </p:cNvSpPr>
          <p:nvPr/>
        </p:nvSpPr>
        <p:spPr>
          <a:xfrm xmlns:a="http://schemas.openxmlformats.org/drawingml/2006/main">
            <a:off x="6172200" y="3657600"/>
            <a:ext cx="1005840" cy="4572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8FACA17F-9539-4544-B40C-C640F3C41B57}"/>
              </a:ext>
            </a:extLst>
          </p:cNvPr>
          <p:cNvSpPr>
            <a:spLocks xmlns:a="http://schemas.openxmlformats.org/drawingml/2006/main" noGrp="1"/>
          </p:cNvSpPr>
          <p:nvPr/>
        </p:nvSpPr>
        <p:spPr>
          <a:xfrm xmlns:a="http://schemas.openxmlformats.org/drawingml/2006/main">
            <a:off x="6172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6</a:t>
            </a:r>
            <a:endParaRPr/>
          </a:p>
        </p:txBody>
      </p:sp>
      <p:sp>
        <p:nvSpPr>
          <p:cNvPr id="28" name="TextBox 27">
            <a:extLst xmlns:a="http://schemas.openxmlformats.org/drawingml/2006/main">
              <a:ext uri="{FF2B5EF4-FFF2-40B4-BE49-F238E27FC236}">
                <a16:creationId xmlns:a16="http://schemas.microsoft.com/office/drawing/2014/main" id="{E9767EB4-F1A2-4812-9534-B5A0F3E233FE}"/>
              </a:ext>
            </a:extLst>
          </p:cNvPr>
          <p:cNvSpPr>
            <a:spLocks xmlns:a="http://schemas.openxmlformats.org/drawingml/2006/main" noGrp="1"/>
          </p:cNvSpPr>
          <p:nvPr/>
        </p:nvSpPr>
        <p:spPr>
          <a:xfrm xmlns:a="http://schemas.openxmlformats.org/drawingml/2006/main">
            <a:off x="6126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Selección</a:t>
            </a:r>
            <a:endParaRPr/>
          </a:p>
        </p:txBody>
      </p:sp>
      <p:sp>
        <p:nvSpPr>
          <p:cNvPr id="29" name="TextBox 28">
            <a:extLst xmlns:a="http://schemas.openxmlformats.org/drawingml/2006/main">
              <a:ext uri="{FF2B5EF4-FFF2-40B4-BE49-F238E27FC236}">
                <a16:creationId xmlns:a16="http://schemas.microsoft.com/office/drawing/2014/main" id="{898ADB76-6F9E-471D-B6C2-C4C8CB21BE86}"/>
              </a:ext>
            </a:extLst>
          </p:cNvPr>
          <p:cNvSpPr>
            <a:spLocks xmlns:a="http://schemas.openxmlformats.org/drawingml/2006/main" noGrp="1"/>
          </p:cNvSpPr>
          <p:nvPr/>
        </p:nvSpPr>
        <p:spPr>
          <a:xfrm xmlns:a="http://schemas.openxmlformats.org/drawingml/2006/main">
            <a:off x="7132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30" name="Rectangle 29">
            <a:extLst xmlns:a="http://schemas.openxmlformats.org/drawingml/2006/main">
              <a:ext uri="{FF2B5EF4-FFF2-40B4-BE49-F238E27FC236}">
                <a16:creationId xmlns:a16="http://schemas.microsoft.com/office/drawing/2014/main" id="{77B598D1-A9EF-4F8E-92EE-163F9C28D8CE}"/>
              </a:ext>
            </a:extLst>
          </p:cNvPr>
          <p:cNvSpPr>
            <a:spLocks xmlns:a="http://schemas.openxmlformats.org/drawingml/2006/main" noGrp="1"/>
          </p:cNvSpPr>
          <p:nvPr/>
        </p:nvSpPr>
        <p:spPr>
          <a:xfrm xmlns:a="http://schemas.openxmlformats.org/drawingml/2006/main">
            <a:off x="7315200" y="3657600"/>
            <a:ext cx="1005840" cy="45720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D380A7A1-5CAC-4E09-9742-66EDE8F64204}"/>
              </a:ext>
            </a:extLst>
          </p:cNvPr>
          <p:cNvSpPr>
            <a:spLocks xmlns:a="http://schemas.openxmlformats.org/drawingml/2006/main" noGrp="1"/>
          </p:cNvSpPr>
          <p:nvPr/>
        </p:nvSpPr>
        <p:spPr>
          <a:xfrm xmlns:a="http://schemas.openxmlformats.org/drawingml/2006/main">
            <a:off x="7315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7</a:t>
            </a:r>
            <a:endParaRPr/>
          </a:p>
        </p:txBody>
      </p:sp>
      <p:sp>
        <p:nvSpPr>
          <p:cNvPr id="32" name="TextBox 31">
            <a:extLst xmlns:a="http://schemas.openxmlformats.org/drawingml/2006/main">
              <a:ext uri="{FF2B5EF4-FFF2-40B4-BE49-F238E27FC236}">
                <a16:creationId xmlns:a16="http://schemas.microsoft.com/office/drawing/2014/main" id="{5956E61E-7897-47B2-BB9D-69047A792CD1}"/>
              </a:ext>
            </a:extLst>
          </p:cNvPr>
          <p:cNvSpPr>
            <a:spLocks xmlns:a="http://schemas.openxmlformats.org/drawingml/2006/main" noGrp="1"/>
          </p:cNvSpPr>
          <p:nvPr/>
        </p:nvSpPr>
        <p:spPr>
          <a:xfrm xmlns:a="http://schemas.openxmlformats.org/drawingml/2006/main">
            <a:off x="7269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Modelos</a:t>
            </a:r>
            <a:endParaRPr/>
          </a:p>
        </p:txBody>
      </p:sp>
      <p:sp>
        <p:nvSpPr>
          <p:cNvPr id="33" name="TextBox 32">
            <a:extLst xmlns:a="http://schemas.openxmlformats.org/drawingml/2006/main">
              <a:ext uri="{FF2B5EF4-FFF2-40B4-BE49-F238E27FC236}">
                <a16:creationId xmlns:a16="http://schemas.microsoft.com/office/drawing/2014/main" id="{44F359A0-CC18-4FC8-811B-A8F80EBC557C}"/>
              </a:ext>
            </a:extLst>
          </p:cNvPr>
          <p:cNvSpPr>
            <a:spLocks xmlns:a="http://schemas.openxmlformats.org/drawingml/2006/main" noGrp="1"/>
          </p:cNvSpPr>
          <p:nvPr/>
        </p:nvSpPr>
        <p:spPr>
          <a:xfrm xmlns:a="http://schemas.openxmlformats.org/drawingml/2006/main">
            <a:off x="8275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34" name="Rectangle 33">
            <a:extLst xmlns:a="http://schemas.openxmlformats.org/drawingml/2006/main">
              <a:ext uri="{FF2B5EF4-FFF2-40B4-BE49-F238E27FC236}">
                <a16:creationId xmlns:a16="http://schemas.microsoft.com/office/drawing/2014/main" id="{287688A7-2A03-41E0-84F0-91A08D057680}"/>
              </a:ext>
            </a:extLst>
          </p:cNvPr>
          <p:cNvSpPr>
            <a:spLocks xmlns:a="http://schemas.openxmlformats.org/drawingml/2006/main" noGrp="1"/>
          </p:cNvSpPr>
          <p:nvPr/>
        </p:nvSpPr>
        <p:spPr>
          <a:xfrm xmlns:a="http://schemas.openxmlformats.org/drawingml/2006/main">
            <a:off x="8458200" y="3657600"/>
            <a:ext cx="1005840" cy="45720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60658DF9-098F-4C3D-BAEC-E1B8B6A6B017}"/>
              </a:ext>
            </a:extLst>
          </p:cNvPr>
          <p:cNvSpPr>
            <a:spLocks xmlns:a="http://schemas.openxmlformats.org/drawingml/2006/main" noGrp="1"/>
          </p:cNvSpPr>
          <p:nvPr/>
        </p:nvSpPr>
        <p:spPr>
          <a:xfrm xmlns:a="http://schemas.openxmlformats.org/drawingml/2006/main">
            <a:off x="8458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8</a:t>
            </a:r>
            <a:endParaRPr/>
          </a:p>
        </p:txBody>
      </p:sp>
      <p:sp>
        <p:nvSpPr>
          <p:cNvPr id="36" name="TextBox 35">
            <a:extLst xmlns:a="http://schemas.openxmlformats.org/drawingml/2006/main">
              <a:ext uri="{FF2B5EF4-FFF2-40B4-BE49-F238E27FC236}">
                <a16:creationId xmlns:a16="http://schemas.microsoft.com/office/drawing/2014/main" id="{7F699A76-B15B-467D-9051-98E2A1ECF517}"/>
              </a:ext>
            </a:extLst>
          </p:cNvPr>
          <p:cNvSpPr>
            <a:spLocks xmlns:a="http://schemas.openxmlformats.org/drawingml/2006/main" noGrp="1"/>
          </p:cNvSpPr>
          <p:nvPr/>
        </p:nvSpPr>
        <p:spPr>
          <a:xfrm xmlns:a="http://schemas.openxmlformats.org/drawingml/2006/main">
            <a:off x="8412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Optim.</a:t>
            </a:r>
            <a:endParaRPr/>
          </a:p>
        </p:txBody>
      </p:sp>
      <p:sp>
        <p:nvSpPr>
          <p:cNvPr id="37" name="TextBox 36">
            <a:extLst xmlns:a="http://schemas.openxmlformats.org/drawingml/2006/main">
              <a:ext uri="{FF2B5EF4-FFF2-40B4-BE49-F238E27FC236}">
                <a16:creationId xmlns:a16="http://schemas.microsoft.com/office/drawing/2014/main" id="{81E84F61-4CE1-4D1A-B276-E7E2537FF6CE}"/>
              </a:ext>
            </a:extLst>
          </p:cNvPr>
          <p:cNvSpPr>
            <a:spLocks xmlns:a="http://schemas.openxmlformats.org/drawingml/2006/main" noGrp="1"/>
          </p:cNvSpPr>
          <p:nvPr/>
        </p:nvSpPr>
        <p:spPr>
          <a:xfrm xmlns:a="http://schemas.openxmlformats.org/drawingml/2006/main">
            <a:off x="9418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38" name="Rectangle 37">
            <a:extLst xmlns:a="http://schemas.openxmlformats.org/drawingml/2006/main">
              <a:ext uri="{FF2B5EF4-FFF2-40B4-BE49-F238E27FC236}">
                <a16:creationId xmlns:a16="http://schemas.microsoft.com/office/drawing/2014/main" id="{A9137B99-316A-4090-BC49-8A33CC589578}"/>
              </a:ext>
            </a:extLst>
          </p:cNvPr>
          <p:cNvSpPr>
            <a:spLocks xmlns:a="http://schemas.openxmlformats.org/drawingml/2006/main" noGrp="1"/>
          </p:cNvSpPr>
          <p:nvPr/>
        </p:nvSpPr>
        <p:spPr>
          <a:xfrm xmlns:a="http://schemas.openxmlformats.org/drawingml/2006/main">
            <a:off x="9601200" y="3657600"/>
            <a:ext cx="1005840" cy="4572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1C35CA22-87ED-4E06-91F5-A534A5475E10}"/>
              </a:ext>
            </a:extLst>
          </p:cNvPr>
          <p:cNvSpPr>
            <a:spLocks xmlns:a="http://schemas.openxmlformats.org/drawingml/2006/main" noGrp="1"/>
          </p:cNvSpPr>
          <p:nvPr/>
        </p:nvSpPr>
        <p:spPr>
          <a:xfrm xmlns:a="http://schemas.openxmlformats.org/drawingml/2006/main">
            <a:off x="9601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9</a:t>
            </a:r>
            <a:endParaRPr/>
          </a:p>
        </p:txBody>
      </p:sp>
      <p:sp>
        <p:nvSpPr>
          <p:cNvPr id="40" name="TextBox 39">
            <a:extLst xmlns:a="http://schemas.openxmlformats.org/drawingml/2006/main">
              <a:ext uri="{FF2B5EF4-FFF2-40B4-BE49-F238E27FC236}">
                <a16:creationId xmlns:a16="http://schemas.microsoft.com/office/drawing/2014/main" id="{8721AD08-E03A-41AB-BB67-B6728129129A}"/>
              </a:ext>
            </a:extLst>
          </p:cNvPr>
          <p:cNvSpPr>
            <a:spLocks xmlns:a="http://schemas.openxmlformats.org/drawingml/2006/main" noGrp="1"/>
          </p:cNvSpPr>
          <p:nvPr/>
        </p:nvSpPr>
        <p:spPr>
          <a:xfrm xmlns:a="http://schemas.openxmlformats.org/drawingml/2006/main">
            <a:off x="9555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Interpret.</a:t>
            </a:r>
            <a:endParaRPr/>
          </a:p>
        </p:txBody>
      </p:sp>
      <p:sp>
        <p:nvSpPr>
          <p:cNvPr id="41" name="TextBox 40">
            <a:extLst xmlns:a="http://schemas.openxmlformats.org/drawingml/2006/main">
              <a:ext uri="{FF2B5EF4-FFF2-40B4-BE49-F238E27FC236}">
                <a16:creationId xmlns:a16="http://schemas.microsoft.com/office/drawing/2014/main" id="{800E52A8-CDA9-49CD-90A1-D25297D2D1BB}"/>
              </a:ext>
            </a:extLst>
          </p:cNvPr>
          <p:cNvSpPr>
            <a:spLocks xmlns:a="http://schemas.openxmlformats.org/drawingml/2006/main" noGrp="1"/>
          </p:cNvSpPr>
          <p:nvPr/>
        </p:nvSpPr>
        <p:spPr>
          <a:xfrm xmlns:a="http://schemas.openxmlformats.org/drawingml/2006/main">
            <a:off x="10561320" y="3703320"/>
            <a:ext cx="228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-&gt;</a:t>
            </a:r>
            <a:endParaRPr/>
          </a:p>
        </p:txBody>
      </p:sp>
      <p:sp>
        <p:nvSpPr>
          <p:cNvPr id="42" name="Rectangle 41">
            <a:extLst xmlns:a="http://schemas.openxmlformats.org/drawingml/2006/main">
              <a:ext uri="{FF2B5EF4-FFF2-40B4-BE49-F238E27FC236}">
                <a16:creationId xmlns:a16="http://schemas.microsoft.com/office/drawing/2014/main" id="{34A0640A-9DA1-4102-B031-3511D110F15B}"/>
              </a:ext>
            </a:extLst>
          </p:cNvPr>
          <p:cNvSpPr>
            <a:spLocks xmlns:a="http://schemas.openxmlformats.org/drawingml/2006/main" noGrp="1"/>
          </p:cNvSpPr>
          <p:nvPr/>
        </p:nvSpPr>
        <p:spPr>
          <a:xfrm xmlns:a="http://schemas.openxmlformats.org/drawingml/2006/main">
            <a:off x="10744200" y="3657600"/>
            <a:ext cx="1005840" cy="4572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F6321EEB-8F18-45B8-8722-B4DABB791E0C}"/>
              </a:ext>
            </a:extLst>
          </p:cNvPr>
          <p:cNvSpPr>
            <a:spLocks xmlns:a="http://schemas.openxmlformats.org/drawingml/2006/main" noGrp="1"/>
          </p:cNvSpPr>
          <p:nvPr/>
        </p:nvSpPr>
        <p:spPr>
          <a:xfrm xmlns:a="http://schemas.openxmlformats.org/drawingml/2006/main">
            <a:off x="10744200" y="3703320"/>
            <a:ext cx="100584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10</a:t>
            </a:r>
            <a:endParaRPr/>
          </a:p>
        </p:txBody>
      </p:sp>
      <p:sp>
        <p:nvSpPr>
          <p:cNvPr id="44" name="TextBox 43">
            <a:extLst xmlns:a="http://schemas.openxmlformats.org/drawingml/2006/main">
              <a:ext uri="{FF2B5EF4-FFF2-40B4-BE49-F238E27FC236}">
                <a16:creationId xmlns:a16="http://schemas.microsoft.com/office/drawing/2014/main" id="{F42B084E-820F-4097-B3CE-FB1B835E6AEB}"/>
              </a:ext>
            </a:extLst>
          </p:cNvPr>
          <p:cNvSpPr>
            <a:spLocks xmlns:a="http://schemas.openxmlformats.org/drawingml/2006/main" noGrp="1"/>
          </p:cNvSpPr>
          <p:nvPr/>
        </p:nvSpPr>
        <p:spPr>
          <a:xfrm xmlns:a="http://schemas.openxmlformats.org/drawingml/2006/main">
            <a:off x="10698480" y="4160519"/>
            <a:ext cx="1097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900" b="0">
                <a:solidFill>
                  <a:srgbClr val="FFFFFF"/>
                </a:solidFill>
                <a:latin typeface="Calibri"/>
                <a:ea typeface="Calibri"/>
                <a:cs typeface="Calibri"/>
              </a:defRPr>
            </a:pPr>
            <a:r>
              <a:t>Evaluación</a:t>
            </a:r>
            <a:endParaRPr/>
          </a:p>
        </p:txBody>
      </p:sp>
      <p:sp>
        <p:nvSpPr>
          <p:cNvPr id="45" name="TextBox 44">
            <a:extLst xmlns:a="http://schemas.openxmlformats.org/drawingml/2006/main">
              <a:ext uri="{FF2B5EF4-FFF2-40B4-BE49-F238E27FC236}">
                <a16:creationId xmlns:a16="http://schemas.microsoft.com/office/drawing/2014/main" id="{4CF540FC-EBBD-452C-A8CE-DBDEBDC07D58}"/>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4</a:t>
            </a:r>
            <a:endParaRPr/>
          </a:p>
        </p:txBody>
      </p:sp>
    </p:spTree>
    <p:extLst>
      <p:ext uri="{BB962C8B-B14F-4D97-AF65-F5344CB8AC3E}">
        <p14:creationId xmlns:p14="http://schemas.microsoft.com/office/powerpoint/2010/main" val="484392636"/>
      </p:ext>
    </p:extLst>
  </p:cSld>
</p:sld>
</file>

<file path=ppt/slides/slide5.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5D920C5-159E-49DD-A878-0B378EC447C9}"/>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890B336-ECBA-43BA-90DC-A96BC259EF1B}"/>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Polars: Eager vs. Lazy vs. Streaming</a:t>
            </a:r>
            <a:endParaRPr/>
          </a:p>
        </p:txBody>
      </p:sp>
      <p:sp>
        <p:nvSpPr>
          <p:cNvPr id="4" name="Rectangle 3">
            <a:extLst xmlns:a="http://schemas.openxmlformats.org/drawingml/2006/main">
              <a:ext uri="{FF2B5EF4-FFF2-40B4-BE49-F238E27FC236}">
                <a16:creationId xmlns:a16="http://schemas.microsoft.com/office/drawing/2014/main" id="{B9ED68A5-678A-4040-B4C3-152FCE7EC675}"/>
              </a:ext>
            </a:extLst>
          </p:cNvPr>
          <p:cNvSpPr>
            <a:spLocks xmlns:a="http://schemas.openxmlformats.org/drawingml/2006/main" noGrp="1"/>
          </p:cNvSpPr>
          <p:nvPr/>
        </p:nvSpPr>
        <p:spPr>
          <a:xfrm xmlns:a="http://schemas.openxmlformats.org/drawingml/2006/main">
            <a:off x="457200" y="1005840"/>
            <a:ext cx="3657600" cy="4572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6D8D922-42AB-4FE2-9B37-1568B86655FC}"/>
              </a:ext>
            </a:extLst>
          </p:cNvPr>
          <p:cNvSpPr>
            <a:spLocks xmlns:a="http://schemas.openxmlformats.org/drawingml/2006/main" noGrp="1"/>
          </p:cNvSpPr>
          <p:nvPr/>
        </p:nvSpPr>
        <p:spPr>
          <a:xfrm xmlns:a="http://schemas.openxmlformats.org/drawingml/2006/main">
            <a:off x="457200" y="1024128"/>
            <a:ext cx="3657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Eager</a:t>
            </a:r>
            <a:endParaRPr/>
          </a:p>
        </p:txBody>
      </p:sp>
      <p:sp>
        <p:nvSpPr>
          <p:cNvPr id="6" name="Rectangle 5">
            <a:extLst xmlns:a="http://schemas.openxmlformats.org/drawingml/2006/main">
              <a:ext uri="{FF2B5EF4-FFF2-40B4-BE49-F238E27FC236}">
                <a16:creationId xmlns:a16="http://schemas.microsoft.com/office/drawing/2014/main" id="{C3AFB0E0-00E1-49D5-A7BE-179EF2EF4E1C}"/>
              </a:ext>
            </a:extLst>
          </p:cNvPr>
          <p:cNvSpPr>
            <a:spLocks xmlns:a="http://schemas.openxmlformats.org/drawingml/2006/main" noGrp="1"/>
          </p:cNvSpPr>
          <p:nvPr/>
        </p:nvSpPr>
        <p:spPr>
          <a:xfrm xmlns:a="http://schemas.openxmlformats.org/drawingml/2006/main">
            <a:off x="457200" y="1554480"/>
            <a:ext cx="3657600" cy="41148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A9474B1-4044-4866-A10D-C1EC5D4754B8}"/>
              </a:ext>
            </a:extLst>
          </p:cNvPr>
          <p:cNvSpPr>
            <a:spLocks xmlns:a="http://schemas.openxmlformats.org/drawingml/2006/main" noGrp="1"/>
          </p:cNvSpPr>
          <p:nvPr/>
        </p:nvSpPr>
        <p:spPr>
          <a:xfrm xmlns:a="http://schemas.openxmlformats.org/drawingml/2006/main">
            <a:off x="530352" y="1591056"/>
            <a:ext cx="3511296"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read_csv()</a:t>
            </a:r>
            <a:endParaRPr/>
          </a:p>
        </p:txBody>
      </p:sp>
      <p:sp>
        <p:nvSpPr>
          <p:cNvPr id="8" name="TextBox 7">
            <a:extLst xmlns:a="http://schemas.openxmlformats.org/drawingml/2006/main">
              <a:ext uri="{FF2B5EF4-FFF2-40B4-BE49-F238E27FC236}">
                <a16:creationId xmlns:a16="http://schemas.microsoft.com/office/drawing/2014/main" id="{663A3473-D70F-4CD0-BE5C-6DED55C0594E}"/>
              </a:ext>
            </a:extLst>
          </p:cNvPr>
          <p:cNvSpPr>
            <a:spLocks xmlns:a="http://schemas.openxmlformats.org/drawingml/2006/main" noGrp="1"/>
          </p:cNvSpPr>
          <p:nvPr/>
        </p:nvSpPr>
        <p:spPr>
          <a:xfrm xmlns:a="http://schemas.openxmlformats.org/drawingml/2006/main">
            <a:off x="548640" y="2057400"/>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Carga todo en la RAM</a:t>
            </a:r>
            <a:endParaRPr/>
          </a:p>
        </p:txBody>
      </p:sp>
      <p:sp>
        <p:nvSpPr>
          <p:cNvPr id="9" name="TextBox 8">
            <a:extLst xmlns:a="http://schemas.openxmlformats.org/drawingml/2006/main">
              <a:ext uri="{FF2B5EF4-FFF2-40B4-BE49-F238E27FC236}">
                <a16:creationId xmlns:a16="http://schemas.microsoft.com/office/drawing/2014/main" id="{E1DC95A2-5369-48AD-9F76-720F1681C6B6}"/>
              </a:ext>
            </a:extLst>
          </p:cNvPr>
          <p:cNvSpPr>
            <a:spLocks xmlns:a="http://schemas.openxmlformats.org/drawingml/2006/main" noGrp="1"/>
          </p:cNvSpPr>
          <p:nvPr/>
        </p:nvSpPr>
        <p:spPr>
          <a:xfrm xmlns:a="http://schemas.openxmlformats.org/drawingml/2006/main">
            <a:off x="548640" y="2404872"/>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Simplicidad</a:t>
            </a:r>
            <a:endParaRPr/>
          </a:p>
        </p:txBody>
      </p:sp>
      <p:sp>
        <p:nvSpPr>
          <p:cNvPr id="10" name="TextBox 9">
            <a:extLst xmlns:a="http://schemas.openxmlformats.org/drawingml/2006/main">
              <a:ext uri="{FF2B5EF4-FFF2-40B4-BE49-F238E27FC236}">
                <a16:creationId xmlns:a16="http://schemas.microsoft.com/office/drawing/2014/main" id="{2CC02CC8-E89D-4236-B932-4EDC0A1B2C4A}"/>
              </a:ext>
            </a:extLst>
          </p:cNvPr>
          <p:cNvSpPr>
            <a:spLocks xmlns:a="http://schemas.openxmlformats.org/drawingml/2006/main" noGrp="1"/>
          </p:cNvSpPr>
          <p:nvPr/>
        </p:nvSpPr>
        <p:spPr>
          <a:xfrm xmlns:a="http://schemas.openxmlformats.org/drawingml/2006/main">
            <a:off x="548640" y="2752343"/>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Datos pequeños (&lt;100 mil)</a:t>
            </a:r>
            <a:endParaRPr/>
          </a:p>
        </p:txBody>
      </p:sp>
      <p:sp>
        <p:nvSpPr>
          <p:cNvPr id="11" name="Rectangle 10">
            <a:extLst xmlns:a="http://schemas.openxmlformats.org/drawingml/2006/main">
              <a:ext uri="{FF2B5EF4-FFF2-40B4-BE49-F238E27FC236}">
                <a16:creationId xmlns:a16="http://schemas.microsoft.com/office/drawing/2014/main" id="{3367CB7F-9499-4D45-A46A-6DBBBA0181AC}"/>
              </a:ext>
            </a:extLst>
          </p:cNvPr>
          <p:cNvSpPr>
            <a:spLocks xmlns:a="http://schemas.openxmlformats.org/drawingml/2006/main" noGrp="1"/>
          </p:cNvSpPr>
          <p:nvPr/>
        </p:nvSpPr>
        <p:spPr>
          <a:xfrm xmlns:a="http://schemas.openxmlformats.org/drawingml/2006/main">
            <a:off x="4389120" y="1005840"/>
            <a:ext cx="3657600" cy="4572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CDA21652-E04E-4321-91AF-FBF687DC5159}"/>
              </a:ext>
            </a:extLst>
          </p:cNvPr>
          <p:cNvSpPr>
            <a:spLocks xmlns:a="http://schemas.openxmlformats.org/drawingml/2006/main" noGrp="1"/>
          </p:cNvSpPr>
          <p:nvPr/>
        </p:nvSpPr>
        <p:spPr>
          <a:xfrm xmlns:a="http://schemas.openxmlformats.org/drawingml/2006/main">
            <a:off x="4389120" y="1024128"/>
            <a:ext cx="3657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Lazy</a:t>
            </a:r>
            <a:endParaRPr/>
          </a:p>
        </p:txBody>
      </p:sp>
      <p:sp>
        <p:nvSpPr>
          <p:cNvPr id="13" name="Rectangle 12">
            <a:extLst xmlns:a="http://schemas.openxmlformats.org/drawingml/2006/main">
              <a:ext uri="{FF2B5EF4-FFF2-40B4-BE49-F238E27FC236}">
                <a16:creationId xmlns:a16="http://schemas.microsoft.com/office/drawing/2014/main" id="{E68444A0-6316-4F66-BADD-1361B9BD3C8A}"/>
              </a:ext>
            </a:extLst>
          </p:cNvPr>
          <p:cNvSpPr>
            <a:spLocks xmlns:a="http://schemas.openxmlformats.org/drawingml/2006/main" noGrp="1"/>
          </p:cNvSpPr>
          <p:nvPr/>
        </p:nvSpPr>
        <p:spPr>
          <a:xfrm xmlns:a="http://schemas.openxmlformats.org/drawingml/2006/main">
            <a:off x="4389120" y="1554480"/>
            <a:ext cx="3657600" cy="41148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C720F63E-3752-4458-883E-0683C6983450}"/>
              </a:ext>
            </a:extLst>
          </p:cNvPr>
          <p:cNvSpPr>
            <a:spLocks xmlns:a="http://schemas.openxmlformats.org/drawingml/2006/main" noGrp="1"/>
          </p:cNvSpPr>
          <p:nvPr/>
        </p:nvSpPr>
        <p:spPr>
          <a:xfrm xmlns:a="http://schemas.openxmlformats.org/drawingml/2006/main">
            <a:off x="4462272" y="1591056"/>
            <a:ext cx="3511296"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scan_csv().collect()</a:t>
            </a:r>
            <a:endParaRPr/>
          </a:p>
        </p:txBody>
      </p:sp>
      <p:sp>
        <p:nvSpPr>
          <p:cNvPr id="15" name="TextBox 14">
            <a:extLst xmlns:a="http://schemas.openxmlformats.org/drawingml/2006/main">
              <a:ext uri="{FF2B5EF4-FFF2-40B4-BE49-F238E27FC236}">
                <a16:creationId xmlns:a16="http://schemas.microsoft.com/office/drawing/2014/main" id="{A4F62336-4FE2-4EF0-BA14-43C22529E356}"/>
              </a:ext>
            </a:extLst>
          </p:cNvPr>
          <p:cNvSpPr>
            <a:spLocks xmlns:a="http://schemas.openxmlformats.org/drawingml/2006/main" noGrp="1"/>
          </p:cNvSpPr>
          <p:nvPr/>
        </p:nvSpPr>
        <p:spPr>
          <a:xfrm xmlns:a="http://schemas.openxmlformats.org/drawingml/2006/main">
            <a:off x="4480559" y="2057400"/>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Optimización del plan</a:t>
            </a:r>
            <a:endParaRPr/>
          </a:p>
        </p:txBody>
      </p:sp>
      <p:sp>
        <p:nvSpPr>
          <p:cNvPr id="16" name="TextBox 15">
            <a:extLst xmlns:a="http://schemas.openxmlformats.org/drawingml/2006/main">
              <a:ext uri="{FF2B5EF4-FFF2-40B4-BE49-F238E27FC236}">
                <a16:creationId xmlns:a16="http://schemas.microsoft.com/office/drawing/2014/main" id="{78C1AEE1-F4DE-4CC8-9E5A-5FA346577068}"/>
              </a:ext>
            </a:extLst>
          </p:cNvPr>
          <p:cNvSpPr>
            <a:spLocks xmlns:a="http://schemas.openxmlformats.org/drawingml/2006/main" noGrp="1"/>
          </p:cNvSpPr>
          <p:nvPr/>
        </p:nvSpPr>
        <p:spPr>
          <a:xfrm xmlns:a="http://schemas.openxmlformats.org/drawingml/2006/main">
            <a:off x="4480559" y="2404872"/>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Inserción de predicados</a:t>
            </a:r>
            <a:endParaRPr/>
          </a:p>
        </p:txBody>
      </p:sp>
      <p:sp>
        <p:nvSpPr>
          <p:cNvPr id="17" name="TextBox 16">
            <a:extLst xmlns:a="http://schemas.openxmlformats.org/drawingml/2006/main">
              <a:ext uri="{FF2B5EF4-FFF2-40B4-BE49-F238E27FC236}">
                <a16:creationId xmlns:a16="http://schemas.microsoft.com/office/drawing/2014/main" id="{3B507D53-5A4E-4D1D-BDC7-2A2BDE2CCFB1}"/>
              </a:ext>
            </a:extLst>
          </p:cNvPr>
          <p:cNvSpPr>
            <a:spLocks xmlns:a="http://schemas.openxmlformats.org/drawingml/2006/main" noGrp="1"/>
          </p:cNvSpPr>
          <p:nvPr/>
        </p:nvSpPr>
        <p:spPr>
          <a:xfrm xmlns:a="http://schemas.openxmlformats.org/drawingml/2006/main">
            <a:off x="4480559" y="2752343"/>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.explain()</a:t>
            </a:r>
            <a:endParaRPr/>
          </a:p>
        </p:txBody>
      </p:sp>
      <p:sp>
        <p:nvSpPr>
          <p:cNvPr id="18" name="TextBox 17">
            <a:extLst xmlns:a="http://schemas.openxmlformats.org/drawingml/2006/main">
              <a:ext uri="{FF2B5EF4-FFF2-40B4-BE49-F238E27FC236}">
                <a16:creationId xmlns:a16="http://schemas.microsoft.com/office/drawing/2014/main" id="{4A4C8B13-1BDF-49CF-8144-FDC1F12A17D6}"/>
              </a:ext>
            </a:extLst>
          </p:cNvPr>
          <p:cNvSpPr>
            <a:spLocks xmlns:a="http://schemas.openxmlformats.org/drawingml/2006/main" noGrp="1"/>
          </p:cNvSpPr>
          <p:nvPr/>
        </p:nvSpPr>
        <p:spPr>
          <a:xfrm xmlns:a="http://schemas.openxmlformats.org/drawingml/2006/main">
            <a:off x="4480559" y="3099816"/>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Datos medianos (100 mil–1 M)</a:t>
            </a:r>
            <a:endParaRPr/>
          </a:p>
        </p:txBody>
      </p:sp>
      <p:sp>
        <p:nvSpPr>
          <p:cNvPr id="19" name="Rectangle 18">
            <a:extLst xmlns:a="http://schemas.openxmlformats.org/drawingml/2006/main">
              <a:ext uri="{FF2B5EF4-FFF2-40B4-BE49-F238E27FC236}">
                <a16:creationId xmlns:a16="http://schemas.microsoft.com/office/drawing/2014/main" id="{69BE76AC-7983-4042-BAFD-CF96720D1C13}"/>
              </a:ext>
            </a:extLst>
          </p:cNvPr>
          <p:cNvSpPr>
            <a:spLocks xmlns:a="http://schemas.openxmlformats.org/drawingml/2006/main" noGrp="1"/>
          </p:cNvSpPr>
          <p:nvPr/>
        </p:nvSpPr>
        <p:spPr>
          <a:xfrm xmlns:a="http://schemas.openxmlformats.org/drawingml/2006/main">
            <a:off x="8321039" y="1005840"/>
            <a:ext cx="3657600" cy="4572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347CAB4E-C84C-4B79-8E86-74E8185E10B4}"/>
              </a:ext>
            </a:extLst>
          </p:cNvPr>
          <p:cNvSpPr>
            <a:spLocks xmlns:a="http://schemas.openxmlformats.org/drawingml/2006/main" noGrp="1"/>
          </p:cNvSpPr>
          <p:nvPr/>
        </p:nvSpPr>
        <p:spPr>
          <a:xfrm xmlns:a="http://schemas.openxmlformats.org/drawingml/2006/main">
            <a:off x="8321039" y="1024128"/>
            <a:ext cx="3657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Streaming</a:t>
            </a:r>
            <a:endParaRPr/>
          </a:p>
        </p:txBody>
      </p:sp>
      <p:sp>
        <p:nvSpPr>
          <p:cNvPr id="21" name="Rectangle 20">
            <a:extLst xmlns:a="http://schemas.openxmlformats.org/drawingml/2006/main">
              <a:ext uri="{FF2B5EF4-FFF2-40B4-BE49-F238E27FC236}">
                <a16:creationId xmlns:a16="http://schemas.microsoft.com/office/drawing/2014/main" id="{3DD3DBE6-1F7E-4B68-854E-0FE8CBE2580D}"/>
              </a:ext>
            </a:extLst>
          </p:cNvPr>
          <p:cNvSpPr>
            <a:spLocks xmlns:a="http://schemas.openxmlformats.org/drawingml/2006/main" noGrp="1"/>
          </p:cNvSpPr>
          <p:nvPr/>
        </p:nvSpPr>
        <p:spPr>
          <a:xfrm xmlns:a="http://schemas.openxmlformats.org/drawingml/2006/main">
            <a:off x="8321039" y="1554480"/>
            <a:ext cx="3657600" cy="41148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09C2BBDE-DD05-434A-A7CA-180DF2732766}"/>
              </a:ext>
            </a:extLst>
          </p:cNvPr>
          <p:cNvSpPr>
            <a:spLocks xmlns:a="http://schemas.openxmlformats.org/drawingml/2006/main" noGrp="1"/>
          </p:cNvSpPr>
          <p:nvPr/>
        </p:nvSpPr>
        <p:spPr>
          <a:xfrm xmlns:a="http://schemas.openxmlformats.org/drawingml/2006/main">
            <a:off x="8394192" y="1591056"/>
            <a:ext cx="3511296"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collect(streaming=True)</a:t>
            </a:r>
            <a:endParaRPr/>
          </a:p>
        </p:txBody>
      </p:sp>
      <p:sp>
        <p:nvSpPr>
          <p:cNvPr id="23" name="TextBox 22">
            <a:extLst xmlns:a="http://schemas.openxmlformats.org/drawingml/2006/main">
              <a:ext uri="{FF2B5EF4-FFF2-40B4-BE49-F238E27FC236}">
                <a16:creationId xmlns:a16="http://schemas.microsoft.com/office/drawing/2014/main" id="{4BC7F03B-F223-4D43-B4DB-967B63C38153}"/>
              </a:ext>
            </a:extLst>
          </p:cNvPr>
          <p:cNvSpPr>
            <a:spLocks xmlns:a="http://schemas.openxmlformats.org/drawingml/2006/main" noGrp="1"/>
          </p:cNvSpPr>
          <p:nvPr/>
        </p:nvSpPr>
        <p:spPr>
          <a:xfrm xmlns:a="http://schemas.openxmlformats.org/drawingml/2006/main">
            <a:off x="8412480" y="2057400"/>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Procesamiento por lotes</a:t>
            </a:r>
            <a:endParaRPr/>
          </a:p>
        </p:txBody>
      </p:sp>
      <p:sp>
        <p:nvSpPr>
          <p:cNvPr id="24" name="TextBox 23">
            <a:extLst xmlns:a="http://schemas.openxmlformats.org/drawingml/2006/main">
              <a:ext uri="{FF2B5EF4-FFF2-40B4-BE49-F238E27FC236}">
                <a16:creationId xmlns:a16="http://schemas.microsoft.com/office/drawing/2014/main" id="{16BAAE8D-A137-478A-9F7D-E5D80029BE6A}"/>
              </a:ext>
            </a:extLst>
          </p:cNvPr>
          <p:cNvSpPr>
            <a:spLocks xmlns:a="http://schemas.openxmlformats.org/drawingml/2006/main" noGrp="1"/>
          </p:cNvSpPr>
          <p:nvPr/>
        </p:nvSpPr>
        <p:spPr>
          <a:xfrm xmlns:a="http://schemas.openxmlformats.org/drawingml/2006/main">
            <a:off x="8412480" y="2404872"/>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No requiere toda la RAM</a:t>
            </a:r>
            <a:endParaRPr/>
          </a:p>
        </p:txBody>
      </p:sp>
      <p:sp>
        <p:nvSpPr>
          <p:cNvPr id="25" name="TextBox 24">
            <a:extLst xmlns:a="http://schemas.openxmlformats.org/drawingml/2006/main">
              <a:ext uri="{FF2B5EF4-FFF2-40B4-BE49-F238E27FC236}">
                <a16:creationId xmlns:a16="http://schemas.microsoft.com/office/drawing/2014/main" id="{F253111F-2416-4F2A-9C6B-453A2D97930D}"/>
              </a:ext>
            </a:extLst>
          </p:cNvPr>
          <p:cNvSpPr>
            <a:spLocks xmlns:a="http://schemas.openxmlformats.org/drawingml/2006/main" noGrp="1"/>
          </p:cNvSpPr>
          <p:nvPr/>
        </p:nvSpPr>
        <p:spPr>
          <a:xfrm xmlns:a="http://schemas.openxmlformats.org/drawingml/2006/main">
            <a:off x="8412480" y="2752343"/>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Datos grandes (&gt;1 M)</a:t>
            </a:r>
            <a:endParaRPr/>
          </a:p>
        </p:txBody>
      </p:sp>
      <p:sp>
        <p:nvSpPr>
          <p:cNvPr id="26" name="TextBox 25">
            <a:extLst xmlns:a="http://schemas.openxmlformats.org/drawingml/2006/main">
              <a:ext uri="{FF2B5EF4-FFF2-40B4-BE49-F238E27FC236}">
                <a16:creationId xmlns:a16="http://schemas.microsoft.com/office/drawing/2014/main" id="{E0FB25CF-857F-43E2-9327-BC0D462D49BB}"/>
              </a:ext>
            </a:extLst>
          </p:cNvPr>
          <p:cNvSpPr>
            <a:spLocks xmlns:a="http://schemas.openxmlformats.org/drawingml/2006/main" noGrp="1"/>
          </p:cNvSpPr>
          <p:nvPr/>
        </p:nvSpPr>
        <p:spPr>
          <a:xfrm xmlns:a="http://schemas.openxmlformats.org/drawingml/2006/main">
            <a:off x="8412480" y="3099816"/>
            <a:ext cx="347472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Parquet partition_by</a:t>
            </a:r>
            <a:endParaRPr/>
          </a:p>
        </p:txBody>
      </p:sp>
      <p:sp>
        <p:nvSpPr>
          <p:cNvPr id="27" name="TextBox 26">
            <a:extLst xmlns:a="http://schemas.openxmlformats.org/drawingml/2006/main">
              <a:ext uri="{FF2B5EF4-FFF2-40B4-BE49-F238E27FC236}">
                <a16:creationId xmlns:a16="http://schemas.microsoft.com/office/drawing/2014/main" id="{B3D544CA-27D7-4D19-BE5A-D01583531A3B}"/>
              </a:ext>
            </a:extLst>
          </p:cNvPr>
          <p:cNvSpPr>
            <a:spLocks xmlns:a="http://schemas.openxmlformats.org/drawingml/2006/main" noGrp="1"/>
          </p:cNvSpPr>
          <p:nvPr/>
        </p:nvSpPr>
        <p:spPr>
          <a:xfrm xmlns:a="http://schemas.openxmlformats.org/drawingml/2006/main">
            <a:off x="457200" y="393192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Ventaja principal: la API Lazy optimiza el plan antes de ejecutarlo</a:t>
            </a:r>
            <a:endParaRPr/>
          </a:p>
        </p:txBody>
      </p:sp>
      <p:sp>
        <p:nvSpPr>
          <p:cNvPr id="28" name="Rectangle 27">
            <a:extLst xmlns:a="http://schemas.openxmlformats.org/drawingml/2006/main">
              <a:ext uri="{FF2B5EF4-FFF2-40B4-BE49-F238E27FC236}">
                <a16:creationId xmlns:a16="http://schemas.microsoft.com/office/drawing/2014/main" id="{44C6DF8B-AA27-4265-91EF-0D9B1ECFB922}"/>
              </a:ext>
            </a:extLst>
          </p:cNvPr>
          <p:cNvSpPr>
            <a:spLocks xmlns:a="http://schemas.openxmlformats.org/drawingml/2006/main" noGrp="1"/>
          </p:cNvSpPr>
          <p:nvPr/>
        </p:nvSpPr>
        <p:spPr>
          <a:xfrm xmlns:a="http://schemas.openxmlformats.org/drawingml/2006/main">
            <a:off x="457200" y="4480560"/>
            <a:ext cx="11247120" cy="16459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0C478A69-25B2-4A27-A38A-139F45F34F5B}"/>
              </a:ext>
            </a:extLst>
          </p:cNvPr>
          <p:cNvSpPr>
            <a:spLocks xmlns:a="http://schemas.openxmlformats.org/drawingml/2006/main" noGrp="1"/>
          </p:cNvSpPr>
          <p:nvPr/>
        </p:nvSpPr>
        <p:spPr>
          <a:xfrm xmlns:a="http://schemas.openxmlformats.org/drawingml/2006/main">
            <a:off x="530352" y="4517136"/>
            <a:ext cx="11100816" cy="15727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200">
                <a:solidFill>
                  <a:srgbClr val="E0E0FF"/>
                </a:solidFill>
                <a:latin typeface="Consolas"/>
                <a:ea typeface="Consolas"/>
                <a:cs typeface="Consolas"/>
              </a:defRPr>
            </a:pPr>
            <a:r>
              <a:t>lazy = pl.scan_csv('train.tsv', separator='\t').filter(pl.col('price') &gt; 0)</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lazy.explain()  # mostrar el plan lógico</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 = lazy.collect(streaming=True)  # streaming para 1,4 M de filas</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df.write_parquet('mercari.parquet', partition_by=['category_name'])</a:t>
            </a:r>
            <a:endParaRPr/>
          </a:p>
        </p:txBody>
      </p:sp>
      <p:sp>
        <p:nvSpPr>
          <p:cNvPr id="30" name="TextBox 29">
            <a:extLst xmlns:a="http://schemas.openxmlformats.org/drawingml/2006/main">
              <a:ext uri="{FF2B5EF4-FFF2-40B4-BE49-F238E27FC236}">
                <a16:creationId xmlns:a16="http://schemas.microsoft.com/office/drawing/2014/main" id="{C77FF269-91B9-44C6-A91D-A45F36F310CE}"/>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5</a:t>
            </a:r>
            <a:endParaRPr/>
          </a:p>
        </p:txBody>
      </p:sp>
    </p:spTree>
    <p:extLst>
      <p:ext uri="{BB962C8B-B14F-4D97-AF65-F5344CB8AC3E}">
        <p14:creationId xmlns:p14="http://schemas.microsoft.com/office/powerpoint/2010/main" val="1572214607"/>
      </p:ext>
    </p:extLst>
  </p:cSld>
</p:sld>
</file>

<file path=ppt/slides/slide6.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66E03E1-96EE-4DEE-8FA5-A16D018C350A}"/>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20871AC8-ACF3-47C3-976A-D1854B810A7B}"/>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Parquet y DuckDB sobre Polars</a:t>
            </a:r>
            <a:endParaRPr/>
          </a:p>
        </p:txBody>
      </p:sp>
      <p:sp>
        <p:nvSpPr>
          <p:cNvPr id="4" name="TextBox 3">
            <a:extLst xmlns:a="http://schemas.openxmlformats.org/drawingml/2006/main">
              <a:ext uri="{FF2B5EF4-FFF2-40B4-BE49-F238E27FC236}">
                <a16:creationId xmlns:a16="http://schemas.microsoft.com/office/drawing/2014/main" id="{A7DFA328-47AE-4B1D-BFB4-80E9A02F918F}"/>
              </a:ext>
            </a:extLst>
          </p:cNvPr>
          <p:cNvSpPr>
            <a:spLocks xmlns:a="http://schemas.openxmlformats.org/drawingml/2006/main" noGrp="1"/>
          </p:cNvSpPr>
          <p:nvPr/>
        </p:nvSpPr>
        <p:spPr>
          <a:xfrm xmlns:a="http://schemas.openxmlformats.org/drawingml/2006/main">
            <a:off x="457200" y="100584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8"/>
                </a:solidFill>
                <a:latin typeface="Calibri"/>
                <a:ea typeface="Calibri"/>
                <a:cs typeface="Calibri"/>
              </a:defRPr>
            </a:pPr>
            <a:r>
              <a:t>Parquet: más rápido, más compacto y particionado</a:t>
            </a:r>
            <a:endParaRPr/>
          </a:p>
        </p:txBody>
      </p:sp>
      <p:sp>
        <p:nvSpPr>
          <p:cNvPr id="5" name="TextBox 4">
            <a:extLst xmlns:a="http://schemas.openxmlformats.org/drawingml/2006/main">
              <a:ext uri="{FF2B5EF4-FFF2-40B4-BE49-F238E27FC236}">
                <a16:creationId xmlns:a16="http://schemas.microsoft.com/office/drawing/2014/main" id="{F025F062-29B4-4FE3-87A6-BB3520872C3D}"/>
              </a:ext>
            </a:extLst>
          </p:cNvPr>
          <p:cNvSpPr>
            <a:spLocks xmlns:a="http://schemas.openxmlformats.org/drawingml/2006/main" noGrp="1"/>
          </p:cNvSpPr>
          <p:nvPr/>
        </p:nvSpPr>
        <p:spPr>
          <a:xfrm xmlns:a="http://schemas.openxmlformats.org/drawingml/2006/main">
            <a:off x="457200" y="137160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Almacenamiento columnar: solo las columnas necesarias</a:t>
            </a:r>
            <a:endParaRPr/>
          </a:p>
        </p:txBody>
      </p:sp>
      <p:sp>
        <p:nvSpPr>
          <p:cNvPr id="6" name="TextBox 5">
            <a:extLst xmlns:a="http://schemas.openxmlformats.org/drawingml/2006/main">
              <a:ext uri="{FF2B5EF4-FFF2-40B4-BE49-F238E27FC236}">
                <a16:creationId xmlns:a16="http://schemas.microsoft.com/office/drawing/2014/main" id="{A0FFA33F-A3EF-4308-9E34-7FBC96847A15}"/>
              </a:ext>
            </a:extLst>
          </p:cNvPr>
          <p:cNvSpPr>
            <a:spLocks xmlns:a="http://schemas.openxmlformats.org/drawingml/2006/main" noGrp="1"/>
          </p:cNvSpPr>
          <p:nvPr/>
        </p:nvSpPr>
        <p:spPr>
          <a:xfrm xmlns:a="http://schemas.openxmlformats.org/drawingml/2006/main">
            <a:off x="457200" y="169164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Compresión de 3 a 10 veces frente a CSV</a:t>
            </a:r>
            <a:endParaRPr/>
          </a:p>
        </p:txBody>
      </p:sp>
      <p:sp>
        <p:nvSpPr>
          <p:cNvPr id="7" name="TextBox 6">
            <a:extLst xmlns:a="http://schemas.openxmlformats.org/drawingml/2006/main">
              <a:ext uri="{FF2B5EF4-FFF2-40B4-BE49-F238E27FC236}">
                <a16:creationId xmlns:a16="http://schemas.microsoft.com/office/drawing/2014/main" id="{911C045D-EC9A-4557-99BF-1952897422DD}"/>
              </a:ext>
            </a:extLst>
          </p:cNvPr>
          <p:cNvSpPr>
            <a:spLocks xmlns:a="http://schemas.openxmlformats.org/drawingml/2006/main" noGrp="1"/>
          </p:cNvSpPr>
          <p:nvPr/>
        </p:nvSpPr>
        <p:spPr>
          <a:xfrm xmlns:a="http://schemas.openxmlformats.org/drawingml/2006/main">
            <a:off x="457200" y="201168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partition_by: filtrado a nivel de archivo</a:t>
            </a:r>
            <a:endParaRPr/>
          </a:p>
        </p:txBody>
      </p:sp>
      <p:sp>
        <p:nvSpPr>
          <p:cNvPr id="8" name="TextBox 7">
            <a:extLst xmlns:a="http://schemas.openxmlformats.org/drawingml/2006/main">
              <a:ext uri="{FF2B5EF4-FFF2-40B4-BE49-F238E27FC236}">
                <a16:creationId xmlns:a16="http://schemas.microsoft.com/office/drawing/2014/main" id="{02CAEA0A-A766-4A83-877E-87A8D035C6B6}"/>
              </a:ext>
            </a:extLst>
          </p:cNvPr>
          <p:cNvSpPr>
            <a:spLocks xmlns:a="http://schemas.openxmlformats.org/drawingml/2006/main" noGrp="1"/>
          </p:cNvSpPr>
          <p:nvPr/>
        </p:nvSpPr>
        <p:spPr>
          <a:xfrm xmlns:a="http://schemas.openxmlformats.org/drawingml/2006/main">
            <a:off x="457200" y="233172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scan_parquet(): lectura lazy de particiones</a:t>
            </a:r>
            <a:endParaRPr/>
          </a:p>
        </p:txBody>
      </p:sp>
      <p:sp>
        <p:nvSpPr>
          <p:cNvPr id="9" name="TextBox 8">
            <a:extLst xmlns:a="http://schemas.openxmlformats.org/drawingml/2006/main">
              <a:ext uri="{FF2B5EF4-FFF2-40B4-BE49-F238E27FC236}">
                <a16:creationId xmlns:a16="http://schemas.microsoft.com/office/drawing/2014/main" id="{45993889-B1DF-4D87-8C24-C20643354C20}"/>
              </a:ext>
            </a:extLst>
          </p:cNvPr>
          <p:cNvSpPr>
            <a:spLocks xmlns:a="http://schemas.openxmlformats.org/drawingml/2006/main" noGrp="1"/>
          </p:cNvSpPr>
          <p:nvPr/>
        </p:nvSpPr>
        <p:spPr>
          <a:xfrm xmlns:a="http://schemas.openxmlformats.org/drawingml/2006/main">
            <a:off x="457200" y="265176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Ideal para flujos con más de 1 M de filas</a:t>
            </a:r>
            <a:endParaRPr/>
          </a:p>
        </p:txBody>
      </p:sp>
      <p:sp>
        <p:nvSpPr>
          <p:cNvPr id="10" name="TextBox 9">
            <a:extLst xmlns:a="http://schemas.openxmlformats.org/drawingml/2006/main">
              <a:ext uri="{FF2B5EF4-FFF2-40B4-BE49-F238E27FC236}">
                <a16:creationId xmlns:a16="http://schemas.microsoft.com/office/drawing/2014/main" id="{E2EB60C9-E60D-478F-B6F6-4F92CE91370A}"/>
              </a:ext>
            </a:extLst>
          </p:cNvPr>
          <p:cNvSpPr>
            <a:spLocks xmlns:a="http://schemas.openxmlformats.org/drawingml/2006/main" noGrp="1"/>
          </p:cNvSpPr>
          <p:nvPr/>
        </p:nvSpPr>
        <p:spPr>
          <a:xfrm xmlns:a="http://schemas.openxmlformats.org/drawingml/2006/main">
            <a:off x="6217920" y="100584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00FF88"/>
                </a:solidFill>
                <a:latin typeface="Calibri"/>
                <a:ea typeface="Calibri"/>
                <a:cs typeface="Calibri"/>
              </a:defRPr>
            </a:pPr>
            <a:r>
              <a:t>DuckDB: SQL sobre Polars</a:t>
            </a:r>
            <a:endParaRPr/>
          </a:p>
        </p:txBody>
      </p:sp>
      <p:sp>
        <p:nvSpPr>
          <p:cNvPr id="11" name="Rectangle 10">
            <a:extLst xmlns:a="http://schemas.openxmlformats.org/drawingml/2006/main">
              <a:ext uri="{FF2B5EF4-FFF2-40B4-BE49-F238E27FC236}">
                <a16:creationId xmlns:a16="http://schemas.microsoft.com/office/drawing/2014/main" id="{A18D2467-56EB-4CCD-85C2-9320B5FD54A3}"/>
              </a:ext>
            </a:extLst>
          </p:cNvPr>
          <p:cNvSpPr>
            <a:spLocks xmlns:a="http://schemas.openxmlformats.org/drawingml/2006/main" noGrp="1"/>
          </p:cNvSpPr>
          <p:nvPr/>
        </p:nvSpPr>
        <p:spPr>
          <a:xfrm xmlns:a="http://schemas.openxmlformats.org/drawingml/2006/main">
            <a:off x="6217920" y="1371600"/>
            <a:ext cx="5486400" cy="32004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028D08B-59F2-4B7C-AEBE-D56246C1C09B}"/>
              </a:ext>
            </a:extLst>
          </p:cNvPr>
          <p:cNvSpPr>
            <a:spLocks xmlns:a="http://schemas.openxmlformats.org/drawingml/2006/main" noGrp="1"/>
          </p:cNvSpPr>
          <p:nvPr/>
        </p:nvSpPr>
        <p:spPr>
          <a:xfrm xmlns:a="http://schemas.openxmlformats.org/drawingml/2006/main">
            <a:off x="6291072" y="1408176"/>
            <a:ext cx="5340096" cy="31272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import duckdb</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con = duckdb.connect()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con.register('mercari', df.to_arrow())</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res = con.execute('''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SELECT category_name,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AVG(price) as avg_price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FROM mercari</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GROUP BY category_name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ORDER BY avg_price DESC</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LIMIT 10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''').fetchdf()</a:t>
            </a:r>
            <a:endParaRPr/>
          </a:p>
        </p:txBody>
      </p:sp>
      <p:sp>
        <p:nvSpPr>
          <p:cNvPr id="13" name="TextBox 12">
            <a:extLst xmlns:a="http://schemas.openxmlformats.org/drawingml/2006/main">
              <a:ext uri="{FF2B5EF4-FFF2-40B4-BE49-F238E27FC236}">
                <a16:creationId xmlns:a16="http://schemas.microsoft.com/office/drawing/2014/main" id="{BDD37FB0-56D0-4343-A6CA-9A60718BE6E5}"/>
              </a:ext>
            </a:extLst>
          </p:cNvPr>
          <p:cNvSpPr>
            <a:spLocks xmlns:a="http://schemas.openxmlformats.org/drawingml/2006/main" noGrp="1"/>
          </p:cNvSpPr>
          <p:nvPr/>
        </p:nvSpPr>
        <p:spPr>
          <a:xfrm xmlns:a="http://schemas.openxmlformats.org/drawingml/2006/main">
            <a:off x="457200" y="475488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FFA000"/>
                </a:solidFill>
                <a:latin typeface="Calibri"/>
                <a:ea typeface="Calibri"/>
                <a:cs typeface="Calibri"/>
              </a:defRPr>
            </a:pPr>
            <a:r>
              <a:t>Nivel 5: al menos 3 consultas SQL (agregación, función de ventana y join)</a:t>
            </a:r>
            <a:endParaRPr/>
          </a:p>
        </p:txBody>
      </p:sp>
      <p:sp>
        <p:nvSpPr>
          <p:cNvPr id="14" name="TextBox 13">
            <a:extLst xmlns:a="http://schemas.openxmlformats.org/drawingml/2006/main">
              <a:ext uri="{FF2B5EF4-FFF2-40B4-BE49-F238E27FC236}">
                <a16:creationId xmlns:a16="http://schemas.microsoft.com/office/drawing/2014/main" id="{87E6D3F7-96B6-4314-B7CE-283A58A21642}"/>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6</a:t>
            </a:r>
            <a:endParaRPr/>
          </a:p>
        </p:txBody>
      </p:sp>
    </p:spTree>
    <p:extLst>
      <p:ext uri="{BB962C8B-B14F-4D97-AF65-F5344CB8AC3E}">
        <p14:creationId xmlns:p14="http://schemas.microsoft.com/office/powerpoint/2010/main" val="1767015759"/>
      </p:ext>
    </p:extLst>
  </p:cSld>
</p:sld>
</file>

<file path=ppt/slides/slide7.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9D6620C-D465-4C83-8305-042730CD37B2}"/>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8371081E-7128-4692-BF11-1DA4B1E30B19}"/>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EDA: valores faltantes y tipos de datos</a:t>
            </a:r>
            <a:endParaRPr/>
          </a:p>
        </p:txBody>
      </p:sp>
      <p:sp>
        <p:nvSpPr>
          <p:cNvPr id="4" name="Rectangle 3">
            <a:extLst xmlns:a="http://schemas.openxmlformats.org/drawingml/2006/main">
              <a:ext uri="{FF2B5EF4-FFF2-40B4-BE49-F238E27FC236}">
                <a16:creationId xmlns:a16="http://schemas.microsoft.com/office/drawing/2014/main" id="{98A4FE92-B890-413D-B9A8-2B4382594DCA}"/>
              </a:ext>
            </a:extLst>
          </p:cNvPr>
          <p:cNvSpPr>
            <a:spLocks xmlns:a="http://schemas.openxmlformats.org/drawingml/2006/main" noGrp="1"/>
          </p:cNvSpPr>
          <p:nvPr/>
        </p:nvSpPr>
        <p:spPr>
          <a:xfrm xmlns:a="http://schemas.openxmlformats.org/drawingml/2006/main">
            <a:off x="457200" y="1005840"/>
            <a:ext cx="3657600" cy="4572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B5B92DE-120D-419B-A7CB-B475B2127626}"/>
              </a:ext>
            </a:extLst>
          </p:cNvPr>
          <p:cNvSpPr>
            <a:spLocks xmlns:a="http://schemas.openxmlformats.org/drawingml/2006/main" noGrp="1"/>
          </p:cNvSpPr>
          <p:nvPr/>
        </p:nvSpPr>
        <p:spPr>
          <a:xfrm xmlns:a="http://schemas.openxmlformats.org/drawingml/2006/main">
            <a:off x="457200" y="1024128"/>
            <a:ext cx="3657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MCAR</a:t>
            </a:r>
            <a:endParaRPr/>
          </a:p>
        </p:txBody>
      </p:sp>
      <p:sp>
        <p:nvSpPr>
          <p:cNvPr id="6" name="TextBox 5">
            <a:extLst xmlns:a="http://schemas.openxmlformats.org/drawingml/2006/main">
              <a:ext uri="{FF2B5EF4-FFF2-40B4-BE49-F238E27FC236}">
                <a16:creationId xmlns:a16="http://schemas.microsoft.com/office/drawing/2014/main" id="{01846D82-F17F-4756-9936-B0FBFF62EB78}"/>
              </a:ext>
            </a:extLst>
          </p:cNvPr>
          <p:cNvSpPr>
            <a:spLocks xmlns:a="http://schemas.openxmlformats.org/drawingml/2006/main" noGrp="1"/>
          </p:cNvSpPr>
          <p:nvPr/>
        </p:nvSpPr>
        <p:spPr>
          <a:xfrm xmlns:a="http://schemas.openxmlformats.org/drawingml/2006/main">
            <a:off x="457200" y="1554480"/>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B0B0C0"/>
                </a:solidFill>
                <a:latin typeface="Calibri"/>
                <a:ea typeface="Calibri"/>
                <a:cs typeface="Calibri"/>
              </a:defRPr>
            </a:pPr>
            <a:r>
              <a:t>Faltantes completamente al azar</a:t>
            </a:r>
            <a:endParaRPr/>
          </a:p>
        </p:txBody>
      </p:sp>
      <p:sp>
        <p:nvSpPr>
          <p:cNvPr id="7" name="TextBox 6">
            <a:extLst xmlns:a="http://schemas.openxmlformats.org/drawingml/2006/main">
              <a:ext uri="{FF2B5EF4-FFF2-40B4-BE49-F238E27FC236}">
                <a16:creationId xmlns:a16="http://schemas.microsoft.com/office/drawing/2014/main" id="{FA1FCE48-4795-422E-9566-61725AD968F0}"/>
              </a:ext>
            </a:extLst>
          </p:cNvPr>
          <p:cNvSpPr>
            <a:spLocks xmlns:a="http://schemas.openxmlformats.org/drawingml/2006/main" noGrp="1"/>
          </p:cNvSpPr>
          <p:nvPr/>
        </p:nvSpPr>
        <p:spPr>
          <a:xfrm xmlns:a="http://schemas.openxmlformats.org/drawingml/2006/main">
            <a:off x="457200" y="1874519"/>
            <a:ext cx="365760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300" b="0">
                <a:solidFill>
                  <a:srgbClr val="FFFFFF"/>
                </a:solidFill>
                <a:latin typeface="Calibri"/>
                <a:ea typeface="Calibri"/>
                <a:cs typeface="Calibri"/>
              </a:defRPr>
            </a:pPr>
            <a:r>
              <a:t>Aleatorios; se pueden eliminar</a:t>
            </a:r>
            <a:endParaRPr/>
          </a:p>
        </p:txBody>
      </p:sp>
      <p:sp>
        <p:nvSpPr>
          <p:cNvPr id="8" name="Rectangle 7">
            <a:extLst xmlns:a="http://schemas.openxmlformats.org/drawingml/2006/main">
              <a:ext uri="{FF2B5EF4-FFF2-40B4-BE49-F238E27FC236}">
                <a16:creationId xmlns:a16="http://schemas.microsoft.com/office/drawing/2014/main" id="{F79F8FEC-2FBC-41EE-82E8-CC97C5C0959B}"/>
              </a:ext>
            </a:extLst>
          </p:cNvPr>
          <p:cNvSpPr>
            <a:spLocks xmlns:a="http://schemas.openxmlformats.org/drawingml/2006/main" noGrp="1"/>
          </p:cNvSpPr>
          <p:nvPr/>
        </p:nvSpPr>
        <p:spPr>
          <a:xfrm xmlns:a="http://schemas.openxmlformats.org/drawingml/2006/main">
            <a:off x="4389120" y="1005840"/>
            <a:ext cx="3657600" cy="4572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CB3F895-26B6-4AF0-A1B7-DB6A485002E7}"/>
              </a:ext>
            </a:extLst>
          </p:cNvPr>
          <p:cNvSpPr>
            <a:spLocks xmlns:a="http://schemas.openxmlformats.org/drawingml/2006/main" noGrp="1"/>
          </p:cNvSpPr>
          <p:nvPr/>
        </p:nvSpPr>
        <p:spPr>
          <a:xfrm xmlns:a="http://schemas.openxmlformats.org/drawingml/2006/main">
            <a:off x="4389120" y="1024128"/>
            <a:ext cx="3657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MAR</a:t>
            </a:r>
            <a:endParaRPr/>
          </a:p>
        </p:txBody>
      </p:sp>
      <p:sp>
        <p:nvSpPr>
          <p:cNvPr id="10" name="TextBox 9">
            <a:extLst xmlns:a="http://schemas.openxmlformats.org/drawingml/2006/main">
              <a:ext uri="{FF2B5EF4-FFF2-40B4-BE49-F238E27FC236}">
                <a16:creationId xmlns:a16="http://schemas.microsoft.com/office/drawing/2014/main" id="{CA1AFC20-3051-4A02-9622-6D0C1451F47F}"/>
              </a:ext>
            </a:extLst>
          </p:cNvPr>
          <p:cNvSpPr>
            <a:spLocks xmlns:a="http://schemas.openxmlformats.org/drawingml/2006/main" noGrp="1"/>
          </p:cNvSpPr>
          <p:nvPr/>
        </p:nvSpPr>
        <p:spPr>
          <a:xfrm xmlns:a="http://schemas.openxmlformats.org/drawingml/2006/main">
            <a:off x="4389120" y="1554480"/>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B0B0C0"/>
                </a:solidFill>
                <a:latin typeface="Calibri"/>
                <a:ea typeface="Calibri"/>
                <a:cs typeface="Calibri"/>
              </a:defRPr>
            </a:pPr>
            <a:r>
              <a:t>Faltantes al azar</a:t>
            </a:r>
            <a:endParaRPr/>
          </a:p>
        </p:txBody>
      </p:sp>
      <p:sp>
        <p:nvSpPr>
          <p:cNvPr id="11" name="TextBox 10">
            <a:extLst xmlns:a="http://schemas.openxmlformats.org/drawingml/2006/main">
              <a:ext uri="{FF2B5EF4-FFF2-40B4-BE49-F238E27FC236}">
                <a16:creationId xmlns:a16="http://schemas.microsoft.com/office/drawing/2014/main" id="{B34B55F6-3421-49CA-939E-243DE86A2A28}"/>
              </a:ext>
            </a:extLst>
          </p:cNvPr>
          <p:cNvSpPr>
            <a:spLocks xmlns:a="http://schemas.openxmlformats.org/drawingml/2006/main" noGrp="1"/>
          </p:cNvSpPr>
          <p:nvPr/>
        </p:nvSpPr>
        <p:spPr>
          <a:xfrm xmlns:a="http://schemas.openxmlformats.org/drawingml/2006/main">
            <a:off x="4389120" y="1874519"/>
            <a:ext cx="365760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300" b="0">
                <a:solidFill>
                  <a:srgbClr val="FFFFFF"/>
                </a:solidFill>
                <a:latin typeface="Calibri"/>
                <a:ea typeface="Calibri"/>
                <a:cs typeface="Calibri"/>
              </a:defRPr>
            </a:pPr>
            <a:r>
              <a:t>Dependen de otras características</a:t>
            </a:r>
            <a:endParaRPr/>
          </a:p>
        </p:txBody>
      </p:sp>
      <p:sp>
        <p:nvSpPr>
          <p:cNvPr id="12" name="Rectangle 11">
            <a:extLst xmlns:a="http://schemas.openxmlformats.org/drawingml/2006/main">
              <a:ext uri="{FF2B5EF4-FFF2-40B4-BE49-F238E27FC236}">
                <a16:creationId xmlns:a16="http://schemas.microsoft.com/office/drawing/2014/main" id="{1D8F613D-ED22-46C8-A9B1-0DD20F2B0634}"/>
              </a:ext>
            </a:extLst>
          </p:cNvPr>
          <p:cNvSpPr>
            <a:spLocks xmlns:a="http://schemas.openxmlformats.org/drawingml/2006/main" noGrp="1"/>
          </p:cNvSpPr>
          <p:nvPr/>
        </p:nvSpPr>
        <p:spPr>
          <a:xfrm xmlns:a="http://schemas.openxmlformats.org/drawingml/2006/main">
            <a:off x="8321039" y="1005840"/>
            <a:ext cx="3657600" cy="4572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107259C-2A49-4780-ADBE-A5F7B66D5356}"/>
              </a:ext>
            </a:extLst>
          </p:cNvPr>
          <p:cNvSpPr>
            <a:spLocks xmlns:a="http://schemas.openxmlformats.org/drawingml/2006/main" noGrp="1"/>
          </p:cNvSpPr>
          <p:nvPr/>
        </p:nvSpPr>
        <p:spPr>
          <a:xfrm xmlns:a="http://schemas.openxmlformats.org/drawingml/2006/main">
            <a:off x="8321039" y="1024128"/>
            <a:ext cx="36576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800" b="1">
                <a:solidFill>
                  <a:srgbClr val="1A1A2E"/>
                </a:solidFill>
                <a:latin typeface="Calibri"/>
                <a:ea typeface="Calibri"/>
                <a:cs typeface="Calibri"/>
              </a:defRPr>
            </a:pPr>
            <a:r>
              <a:t>MNAR</a:t>
            </a:r>
            <a:endParaRPr/>
          </a:p>
        </p:txBody>
      </p:sp>
      <p:sp>
        <p:nvSpPr>
          <p:cNvPr id="14" name="TextBox 13">
            <a:extLst xmlns:a="http://schemas.openxmlformats.org/drawingml/2006/main">
              <a:ext uri="{FF2B5EF4-FFF2-40B4-BE49-F238E27FC236}">
                <a16:creationId xmlns:a16="http://schemas.microsoft.com/office/drawing/2014/main" id="{CE23306E-AF11-4865-BF59-6FA6882B925F}"/>
              </a:ext>
            </a:extLst>
          </p:cNvPr>
          <p:cNvSpPr>
            <a:spLocks xmlns:a="http://schemas.openxmlformats.org/drawingml/2006/main" noGrp="1"/>
          </p:cNvSpPr>
          <p:nvPr/>
        </p:nvSpPr>
        <p:spPr>
          <a:xfrm xmlns:a="http://schemas.openxmlformats.org/drawingml/2006/main">
            <a:off x="8321039" y="1554480"/>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B0B0C0"/>
                </a:solidFill>
                <a:latin typeface="Calibri"/>
                <a:ea typeface="Calibri"/>
                <a:cs typeface="Calibri"/>
              </a:defRPr>
            </a:pPr>
            <a:r>
              <a:t>Faltantes no aleatorios</a:t>
            </a:r>
            <a:endParaRPr/>
          </a:p>
        </p:txBody>
      </p:sp>
      <p:sp>
        <p:nvSpPr>
          <p:cNvPr id="15" name="TextBox 14">
            <a:extLst xmlns:a="http://schemas.openxmlformats.org/drawingml/2006/main">
              <a:ext uri="{FF2B5EF4-FFF2-40B4-BE49-F238E27FC236}">
                <a16:creationId xmlns:a16="http://schemas.microsoft.com/office/drawing/2014/main" id="{B89121C8-D2BE-4AC4-9F00-45A8421D07A4}"/>
              </a:ext>
            </a:extLst>
          </p:cNvPr>
          <p:cNvSpPr>
            <a:spLocks xmlns:a="http://schemas.openxmlformats.org/drawingml/2006/main" noGrp="1"/>
          </p:cNvSpPr>
          <p:nvPr/>
        </p:nvSpPr>
        <p:spPr>
          <a:xfrm xmlns:a="http://schemas.openxmlformats.org/drawingml/2006/main">
            <a:off x="8321039" y="1874519"/>
            <a:ext cx="3657600" cy="5029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300" b="0">
                <a:solidFill>
                  <a:srgbClr val="FFFFFF"/>
                </a:solidFill>
                <a:latin typeface="Calibri"/>
                <a:ea typeface="Calibri"/>
                <a:cs typeface="Calibri"/>
              </a:defRPr>
            </a:pPr>
            <a:r>
              <a:t>Dependen del propio valor</a:t>
            </a:r>
            <a:endParaRPr/>
          </a:p>
        </p:txBody>
      </p:sp>
      <p:sp>
        <p:nvSpPr>
          <p:cNvPr id="16" name="TextBox 15">
            <a:extLst xmlns:a="http://schemas.openxmlformats.org/drawingml/2006/main">
              <a:ext uri="{FF2B5EF4-FFF2-40B4-BE49-F238E27FC236}">
                <a16:creationId xmlns:a16="http://schemas.microsoft.com/office/drawing/2014/main" id="{62712B3A-95E3-43C2-9388-1D1F0312912F}"/>
              </a:ext>
            </a:extLst>
          </p:cNvPr>
          <p:cNvSpPr>
            <a:spLocks xmlns:a="http://schemas.openxmlformats.org/drawingml/2006/main" noGrp="1"/>
          </p:cNvSpPr>
          <p:nvPr/>
        </p:nvSpPr>
        <p:spPr>
          <a:xfrm xmlns:a="http://schemas.openxmlformats.org/drawingml/2006/main">
            <a:off x="457200" y="265176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600" b="1">
                <a:solidFill>
                  <a:srgbClr val="FFFFFF"/>
                </a:solidFill>
                <a:latin typeface="Calibri"/>
                <a:ea typeface="Calibri"/>
                <a:cs typeface="Calibri"/>
              </a:defRPr>
            </a:pPr>
            <a:r>
              <a:t>Métodos para tratar valores faltantes:</a:t>
            </a:r>
            <a:endParaRPr/>
          </a:p>
        </p:txBody>
      </p:sp>
      <p:sp>
        <p:nvSpPr>
          <p:cNvPr id="17" name="Rectangle 16">
            <a:extLst xmlns:a="http://schemas.openxmlformats.org/drawingml/2006/main">
              <a:ext uri="{FF2B5EF4-FFF2-40B4-BE49-F238E27FC236}">
                <a16:creationId xmlns:a16="http://schemas.microsoft.com/office/drawing/2014/main" id="{8FB4E8C0-1035-4A20-88CA-6EC94A9F2F13}"/>
              </a:ext>
            </a:extLst>
          </p:cNvPr>
          <p:cNvSpPr>
            <a:spLocks xmlns:a="http://schemas.openxmlformats.org/drawingml/2006/main" noGrp="1"/>
          </p:cNvSpPr>
          <p:nvPr/>
        </p:nvSpPr>
        <p:spPr>
          <a:xfrm xmlns:a="http://schemas.openxmlformats.org/drawingml/2006/main">
            <a:off x="457200" y="3017519"/>
            <a:ext cx="1737360" cy="384048"/>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097B1531-2AB1-4E3B-8E3C-2DBFA21D3C0A}"/>
              </a:ext>
            </a:extLst>
          </p:cNvPr>
          <p:cNvSpPr>
            <a:spLocks xmlns:a="http://schemas.openxmlformats.org/drawingml/2006/main" noGrp="1"/>
          </p:cNvSpPr>
          <p:nvPr/>
        </p:nvSpPr>
        <p:spPr>
          <a:xfrm xmlns:a="http://schemas.openxmlformats.org/drawingml/2006/main">
            <a:off x="457200" y="3035808"/>
            <a:ext cx="1737360"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Eliminación</a:t>
            </a:r>
            <a:endParaRPr/>
          </a:p>
        </p:txBody>
      </p:sp>
      <p:sp>
        <p:nvSpPr>
          <p:cNvPr id="19" name="Rectangle 18">
            <a:extLst xmlns:a="http://schemas.openxmlformats.org/drawingml/2006/main">
              <a:ext uri="{FF2B5EF4-FFF2-40B4-BE49-F238E27FC236}">
                <a16:creationId xmlns:a16="http://schemas.microsoft.com/office/drawing/2014/main" id="{44AB6C23-F728-4B8C-9103-2691A207C296}"/>
              </a:ext>
            </a:extLst>
          </p:cNvPr>
          <p:cNvSpPr>
            <a:spLocks xmlns:a="http://schemas.openxmlformats.org/drawingml/2006/main" noGrp="1"/>
          </p:cNvSpPr>
          <p:nvPr/>
        </p:nvSpPr>
        <p:spPr>
          <a:xfrm xmlns:a="http://schemas.openxmlformats.org/drawingml/2006/main">
            <a:off x="2377440" y="3017519"/>
            <a:ext cx="1737360" cy="384048"/>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ECE7CDF7-7997-496B-B549-725FAF047A13}"/>
              </a:ext>
            </a:extLst>
          </p:cNvPr>
          <p:cNvSpPr>
            <a:spLocks xmlns:a="http://schemas.openxmlformats.org/drawingml/2006/main" noGrp="1"/>
          </p:cNvSpPr>
          <p:nvPr/>
        </p:nvSpPr>
        <p:spPr>
          <a:xfrm xmlns:a="http://schemas.openxmlformats.org/drawingml/2006/main">
            <a:off x="2377440" y="3035808"/>
            <a:ext cx="1737360"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Mediana/media</a:t>
            </a:r>
            <a:endParaRPr/>
          </a:p>
        </p:txBody>
      </p:sp>
      <p:sp>
        <p:nvSpPr>
          <p:cNvPr id="21" name="Rectangle 20">
            <a:extLst xmlns:a="http://schemas.openxmlformats.org/drawingml/2006/main">
              <a:ext uri="{FF2B5EF4-FFF2-40B4-BE49-F238E27FC236}">
                <a16:creationId xmlns:a16="http://schemas.microsoft.com/office/drawing/2014/main" id="{3798B2DA-57BF-481B-8A4B-6265B036152F}"/>
              </a:ext>
            </a:extLst>
          </p:cNvPr>
          <p:cNvSpPr>
            <a:spLocks xmlns:a="http://schemas.openxmlformats.org/drawingml/2006/main" noGrp="1"/>
          </p:cNvSpPr>
          <p:nvPr/>
        </p:nvSpPr>
        <p:spPr>
          <a:xfrm xmlns:a="http://schemas.openxmlformats.org/drawingml/2006/main">
            <a:off x="4297680" y="3017519"/>
            <a:ext cx="1737360" cy="384048"/>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0D5C8EC-C755-44A6-9EE6-77FA4DC469CB}"/>
              </a:ext>
            </a:extLst>
          </p:cNvPr>
          <p:cNvSpPr>
            <a:spLocks xmlns:a="http://schemas.openxmlformats.org/drawingml/2006/main" noGrp="1"/>
          </p:cNvSpPr>
          <p:nvPr/>
        </p:nvSpPr>
        <p:spPr>
          <a:xfrm xmlns:a="http://schemas.openxmlformats.org/drawingml/2006/main">
            <a:off x="4297680" y="3035808"/>
            <a:ext cx="1737360"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Imputador KNN</a:t>
            </a:r>
            <a:endParaRPr/>
          </a:p>
        </p:txBody>
      </p:sp>
      <p:sp>
        <p:nvSpPr>
          <p:cNvPr id="23" name="Rectangle 22">
            <a:extLst xmlns:a="http://schemas.openxmlformats.org/drawingml/2006/main">
              <a:ext uri="{FF2B5EF4-FFF2-40B4-BE49-F238E27FC236}">
                <a16:creationId xmlns:a16="http://schemas.microsoft.com/office/drawing/2014/main" id="{20D1731E-D0D0-4489-A095-D4E67E8FD733}"/>
              </a:ext>
            </a:extLst>
          </p:cNvPr>
          <p:cNvSpPr>
            <a:spLocks xmlns:a="http://schemas.openxmlformats.org/drawingml/2006/main" noGrp="1"/>
          </p:cNvSpPr>
          <p:nvPr/>
        </p:nvSpPr>
        <p:spPr>
          <a:xfrm xmlns:a="http://schemas.openxmlformats.org/drawingml/2006/main">
            <a:off x="6217920" y="3017519"/>
            <a:ext cx="1737360" cy="384048"/>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1AE95B7C-DE2D-4F60-BFCB-620A0814DBD2}"/>
              </a:ext>
            </a:extLst>
          </p:cNvPr>
          <p:cNvSpPr>
            <a:spLocks xmlns:a="http://schemas.openxmlformats.org/drawingml/2006/main" noGrp="1"/>
          </p:cNvSpPr>
          <p:nvPr/>
        </p:nvSpPr>
        <p:spPr>
          <a:xfrm xmlns:a="http://schemas.openxmlformats.org/drawingml/2006/main">
            <a:off x="6217920" y="3035808"/>
            <a:ext cx="1737360"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Iterativo (MICE)</a:t>
            </a:r>
            <a:endParaRPr/>
          </a:p>
        </p:txBody>
      </p:sp>
      <p:sp>
        <p:nvSpPr>
          <p:cNvPr id="25" name="Rectangle 24">
            <a:extLst xmlns:a="http://schemas.openxmlformats.org/drawingml/2006/main">
              <a:ext uri="{FF2B5EF4-FFF2-40B4-BE49-F238E27FC236}">
                <a16:creationId xmlns:a16="http://schemas.microsoft.com/office/drawing/2014/main" id="{F6F621F3-7C3A-4668-9BA9-5B29ECDBFC72}"/>
              </a:ext>
            </a:extLst>
          </p:cNvPr>
          <p:cNvSpPr>
            <a:spLocks xmlns:a="http://schemas.openxmlformats.org/drawingml/2006/main" noGrp="1"/>
          </p:cNvSpPr>
          <p:nvPr/>
        </p:nvSpPr>
        <p:spPr>
          <a:xfrm xmlns:a="http://schemas.openxmlformats.org/drawingml/2006/main">
            <a:off x="8138160" y="3017519"/>
            <a:ext cx="1737360" cy="384048"/>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118F45B8-AF84-496F-BADC-BDB19B0BB48B}"/>
              </a:ext>
            </a:extLst>
          </p:cNvPr>
          <p:cNvSpPr>
            <a:spLocks xmlns:a="http://schemas.openxmlformats.org/drawingml/2006/main" noGrp="1"/>
          </p:cNvSpPr>
          <p:nvPr/>
        </p:nvSpPr>
        <p:spPr>
          <a:xfrm xmlns:a="http://schemas.openxmlformats.org/drawingml/2006/main">
            <a:off x="8138160" y="3035808"/>
            <a:ext cx="1737360"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Codificar como 'missing'</a:t>
            </a:r>
            <a:endParaRPr/>
          </a:p>
        </p:txBody>
      </p:sp>
      <p:sp>
        <p:nvSpPr>
          <p:cNvPr id="27" name="Rectangle 26">
            <a:extLst xmlns:a="http://schemas.openxmlformats.org/drawingml/2006/main">
              <a:ext uri="{FF2B5EF4-FFF2-40B4-BE49-F238E27FC236}">
                <a16:creationId xmlns:a16="http://schemas.microsoft.com/office/drawing/2014/main" id="{82EFAD47-BF1F-476A-85E9-EC59CDBBDAAB}"/>
              </a:ext>
            </a:extLst>
          </p:cNvPr>
          <p:cNvSpPr>
            <a:spLocks xmlns:a="http://schemas.openxmlformats.org/drawingml/2006/main" noGrp="1"/>
          </p:cNvSpPr>
          <p:nvPr/>
        </p:nvSpPr>
        <p:spPr>
          <a:xfrm xmlns:a="http://schemas.openxmlformats.org/drawingml/2006/main">
            <a:off x="10058400" y="3017519"/>
            <a:ext cx="1737360" cy="384048"/>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FB3BD77B-5661-4B5C-B67C-0B464A648747}"/>
              </a:ext>
            </a:extLst>
          </p:cNvPr>
          <p:cNvSpPr>
            <a:spLocks xmlns:a="http://schemas.openxmlformats.org/drawingml/2006/main" noGrp="1"/>
          </p:cNvSpPr>
          <p:nvPr/>
        </p:nvSpPr>
        <p:spPr>
          <a:xfrm xmlns:a="http://schemas.openxmlformats.org/drawingml/2006/main">
            <a:off x="10058400" y="3035808"/>
            <a:ext cx="1737360" cy="3383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Predicción del modelo</a:t>
            </a:r>
            <a:endParaRPr/>
          </a:p>
        </p:txBody>
      </p:sp>
      <p:sp>
        <p:nvSpPr>
          <p:cNvPr id="29" name="Rectangle 28">
            <a:extLst xmlns:a="http://schemas.openxmlformats.org/drawingml/2006/main">
              <a:ext uri="{FF2B5EF4-FFF2-40B4-BE49-F238E27FC236}">
                <a16:creationId xmlns:a16="http://schemas.microsoft.com/office/drawing/2014/main" id="{BA454E59-B40A-4018-8DDE-69A6E08A29EA}"/>
              </a:ext>
            </a:extLst>
          </p:cNvPr>
          <p:cNvSpPr>
            <a:spLocks xmlns:a="http://schemas.openxmlformats.org/drawingml/2006/main" noGrp="1"/>
          </p:cNvSpPr>
          <p:nvPr/>
        </p:nvSpPr>
        <p:spPr>
          <a:xfrm xmlns:a="http://schemas.openxmlformats.org/drawingml/2006/main">
            <a:off x="457200" y="3657600"/>
            <a:ext cx="11247120" cy="25603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3D6F57E7-D9BB-4B76-8258-CDC56FC761C0}"/>
              </a:ext>
            </a:extLst>
          </p:cNvPr>
          <p:cNvSpPr>
            <a:spLocks xmlns:a="http://schemas.openxmlformats.org/drawingml/2006/main" noGrp="1"/>
          </p:cNvSpPr>
          <p:nvPr/>
        </p:nvSpPr>
        <p:spPr>
          <a:xfrm xmlns:a="http://schemas.openxmlformats.org/drawingml/2006/main">
            <a:off x="530352" y="3694176"/>
            <a:ext cx="11100816" cy="24871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200">
                <a:solidFill>
                  <a:srgbClr val="80FF80"/>
                </a:solidFill>
                <a:latin typeface="Consolas"/>
                <a:ea typeface="Consolas"/>
                <a:cs typeface="Consolas"/>
              </a:defRPr>
            </a:pPr>
            <a:r>
              <a:t># Conteo de valores faltantes en Polars</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df.null_count()</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200">
                <a:solidFill>
                  <a:srgbClr val="80FF80"/>
                </a:solidFill>
                <a:latin typeface="Consolas"/>
                <a:ea typeface="Consolas"/>
                <a:cs typeface="Consolas"/>
              </a:defRPr>
            </a:pPr>
            <a:r>
              <a:t># Crear la categoría 'missing' en lugar de eliminar</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 = df.with_columns(</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pl.when(pl.col('brand_name').is_null())</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.then(pl.lit('missing'))</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.otherwise(pl.col('brand_name')).alias('brand_clean')</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200">
                <a:solidFill>
                  <a:srgbClr val="80FF80"/>
                </a:solidFill>
                <a:latin typeface="Consolas"/>
                <a:ea typeface="Consolas"/>
                <a:cs typeface="Consolas"/>
              </a:defRPr>
            </a:pPr>
            <a:r>
              <a:t># Reducir el tipo para ahorrar memoria</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 = df.with_columns(pl.col('price').cast(pl.Float32))</a:t>
            </a:r>
            <a:endParaRPr/>
          </a:p>
        </p:txBody>
      </p:sp>
      <p:sp>
        <p:nvSpPr>
          <p:cNvPr id="31" name="TextBox 30">
            <a:extLst xmlns:a="http://schemas.openxmlformats.org/drawingml/2006/main">
              <a:ext uri="{FF2B5EF4-FFF2-40B4-BE49-F238E27FC236}">
                <a16:creationId xmlns:a16="http://schemas.microsoft.com/office/drawing/2014/main" id="{1B456FC5-D114-4E00-A0BC-831E7CBFB886}"/>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7</a:t>
            </a:r>
            <a:endParaRPr/>
          </a:p>
        </p:txBody>
      </p:sp>
    </p:spTree>
    <p:extLst>
      <p:ext uri="{BB962C8B-B14F-4D97-AF65-F5344CB8AC3E}">
        <p14:creationId xmlns:p14="http://schemas.microsoft.com/office/powerpoint/2010/main" val="79040096"/>
      </p:ext>
    </p:extLst>
  </p:cSld>
</p:sld>
</file>

<file path=ppt/slides/slide8.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5F1B4D4-86B9-486D-9D40-BECD2AAD044B}"/>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EA10B79-DA06-474C-8FF1-0B65DDBF3E9F}"/>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Visualización y valores atípicos</a:t>
            </a:r>
            <a:endParaRPr/>
          </a:p>
        </p:txBody>
      </p:sp>
      <p:sp>
        <p:nvSpPr>
          <p:cNvPr id="4" name="TextBox 3">
            <a:extLst xmlns:a="http://schemas.openxmlformats.org/drawingml/2006/main">
              <a:ext uri="{FF2B5EF4-FFF2-40B4-BE49-F238E27FC236}">
                <a16:creationId xmlns:a16="http://schemas.microsoft.com/office/drawing/2014/main" id="{8CF15713-C6A6-4654-BDC8-00F70653E321}"/>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6 tipos de gráficos:</a:t>
            </a:r>
            <a:endParaRPr/>
          </a:p>
        </p:txBody>
      </p:sp>
      <p:sp>
        <p:nvSpPr>
          <p:cNvPr id="5" name="TextBox 4">
            <a:extLst xmlns:a="http://schemas.openxmlformats.org/drawingml/2006/main">
              <a:ext uri="{FF2B5EF4-FFF2-40B4-BE49-F238E27FC236}">
                <a16:creationId xmlns:a16="http://schemas.microsoft.com/office/drawing/2014/main" id="{30884543-34BE-46CB-9816-BD6F93B1F28A}"/>
              </a:ext>
            </a:extLst>
          </p:cNvPr>
          <p:cNvSpPr>
            <a:spLocks xmlns:a="http://schemas.openxmlformats.org/drawingml/2006/main" noGrp="1"/>
          </p:cNvSpPr>
          <p:nvPr/>
        </p:nvSpPr>
        <p:spPr>
          <a:xfrm xmlns:a="http://schemas.openxmlformats.org/drawingml/2006/main">
            <a:off x="457200" y="128016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Histograma</a:t>
            </a:r>
            <a:endParaRPr/>
          </a:p>
        </p:txBody>
      </p:sp>
      <p:sp>
        <p:nvSpPr>
          <p:cNvPr id="6" name="TextBox 5">
            <a:extLst xmlns:a="http://schemas.openxmlformats.org/drawingml/2006/main">
              <a:ext uri="{FF2B5EF4-FFF2-40B4-BE49-F238E27FC236}">
                <a16:creationId xmlns:a16="http://schemas.microsoft.com/office/drawing/2014/main" id="{645DF167-1E1A-423C-A274-AF850DB6FCA7}"/>
              </a:ext>
            </a:extLst>
          </p:cNvPr>
          <p:cNvSpPr>
            <a:spLocks xmlns:a="http://schemas.openxmlformats.org/drawingml/2006/main" noGrp="1"/>
          </p:cNvSpPr>
          <p:nvPr/>
        </p:nvSpPr>
        <p:spPr>
          <a:xfrm xmlns:a="http://schemas.openxmlformats.org/drawingml/2006/main">
            <a:off x="457200" y="1572768"/>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Diagrama de caja</a:t>
            </a:r>
            <a:endParaRPr/>
          </a:p>
        </p:txBody>
      </p:sp>
      <p:sp>
        <p:nvSpPr>
          <p:cNvPr id="7" name="TextBox 6">
            <a:extLst xmlns:a="http://schemas.openxmlformats.org/drawingml/2006/main">
              <a:ext uri="{FF2B5EF4-FFF2-40B4-BE49-F238E27FC236}">
                <a16:creationId xmlns:a16="http://schemas.microsoft.com/office/drawing/2014/main" id="{C9EE881B-4F6F-4DA9-8FFD-2ECD7390250A}"/>
              </a:ext>
            </a:extLst>
          </p:cNvPr>
          <p:cNvSpPr>
            <a:spLocks xmlns:a="http://schemas.openxmlformats.org/drawingml/2006/main" noGrp="1"/>
          </p:cNvSpPr>
          <p:nvPr/>
        </p:nvSpPr>
        <p:spPr>
          <a:xfrm xmlns:a="http://schemas.openxmlformats.org/drawingml/2006/main">
            <a:off x="457200" y="1865376"/>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Gráfico Q-Q</a:t>
            </a:r>
            <a:endParaRPr/>
          </a:p>
        </p:txBody>
      </p:sp>
      <p:sp>
        <p:nvSpPr>
          <p:cNvPr id="8" name="TextBox 7">
            <a:extLst xmlns:a="http://schemas.openxmlformats.org/drawingml/2006/main">
              <a:ext uri="{FF2B5EF4-FFF2-40B4-BE49-F238E27FC236}">
                <a16:creationId xmlns:a16="http://schemas.microsoft.com/office/drawing/2014/main" id="{12D04D00-3AFF-43F3-9370-6769E5430665}"/>
              </a:ext>
            </a:extLst>
          </p:cNvPr>
          <p:cNvSpPr>
            <a:spLocks xmlns:a="http://schemas.openxmlformats.org/drawingml/2006/main" noGrp="1"/>
          </p:cNvSpPr>
          <p:nvPr/>
        </p:nvSpPr>
        <p:spPr>
          <a:xfrm xmlns:a="http://schemas.openxmlformats.org/drawingml/2006/main">
            <a:off x="457200" y="2157984"/>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Diagrama de dispersión</a:t>
            </a:r>
            <a:endParaRPr/>
          </a:p>
        </p:txBody>
      </p:sp>
      <p:sp>
        <p:nvSpPr>
          <p:cNvPr id="9" name="TextBox 8">
            <a:extLst xmlns:a="http://schemas.openxmlformats.org/drawingml/2006/main">
              <a:ext uri="{FF2B5EF4-FFF2-40B4-BE49-F238E27FC236}">
                <a16:creationId xmlns:a16="http://schemas.microsoft.com/office/drawing/2014/main" id="{A5F29071-BF3F-4047-8727-8EB23F81A873}"/>
              </a:ext>
            </a:extLst>
          </p:cNvPr>
          <p:cNvSpPr>
            <a:spLocks xmlns:a="http://schemas.openxmlformats.org/drawingml/2006/main" noGrp="1"/>
          </p:cNvSpPr>
          <p:nvPr/>
        </p:nvSpPr>
        <p:spPr>
          <a:xfrm xmlns:a="http://schemas.openxmlformats.org/drawingml/2006/main">
            <a:off x="457200" y="2450591"/>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Matriz de correlación</a:t>
            </a:r>
            <a:endParaRPr/>
          </a:p>
        </p:txBody>
      </p:sp>
      <p:sp>
        <p:nvSpPr>
          <p:cNvPr id="10" name="TextBox 9">
            <a:extLst xmlns:a="http://schemas.openxmlformats.org/drawingml/2006/main">
              <a:ext uri="{FF2B5EF4-FFF2-40B4-BE49-F238E27FC236}">
                <a16:creationId xmlns:a16="http://schemas.microsoft.com/office/drawing/2014/main" id="{66F8D5F0-B188-4448-813D-C69BA118951C}"/>
              </a:ext>
            </a:extLst>
          </p:cNvPr>
          <p:cNvSpPr>
            <a:spLocks xmlns:a="http://schemas.openxmlformats.org/drawingml/2006/main" noGrp="1"/>
          </p:cNvSpPr>
          <p:nvPr/>
        </p:nvSpPr>
        <p:spPr>
          <a:xfrm xmlns:a="http://schemas.openxmlformats.org/drawingml/2006/main">
            <a:off x="457200" y="274320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Gráfico de barras (group_by)</a:t>
            </a:r>
            <a:endParaRPr/>
          </a:p>
        </p:txBody>
      </p:sp>
      <p:sp>
        <p:nvSpPr>
          <p:cNvPr id="11" name="TextBox 10">
            <a:extLst xmlns:a="http://schemas.openxmlformats.org/drawingml/2006/main">
              <a:ext uri="{FF2B5EF4-FFF2-40B4-BE49-F238E27FC236}">
                <a16:creationId xmlns:a16="http://schemas.microsoft.com/office/drawing/2014/main" id="{7BCCD17B-5E40-4FC6-8B02-40A684817A95}"/>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3 métodos para detectar valores atípicos:</a:t>
            </a:r>
            <a:endParaRPr/>
          </a:p>
        </p:txBody>
      </p:sp>
      <p:sp>
        <p:nvSpPr>
          <p:cNvPr id="12" name="TextBox 11">
            <a:extLst xmlns:a="http://schemas.openxmlformats.org/drawingml/2006/main">
              <a:ext uri="{FF2B5EF4-FFF2-40B4-BE49-F238E27FC236}">
                <a16:creationId xmlns:a16="http://schemas.microsoft.com/office/drawing/2014/main" id="{AC272AE4-8B62-481C-84A2-29D2D5A9AD56}"/>
              </a:ext>
            </a:extLst>
          </p:cNvPr>
          <p:cNvSpPr>
            <a:spLocks xmlns:a="http://schemas.openxmlformats.org/drawingml/2006/main" noGrp="1"/>
          </p:cNvSpPr>
          <p:nvPr/>
        </p:nvSpPr>
        <p:spPr>
          <a:xfrm xmlns:a="http://schemas.openxmlformats.org/drawingml/2006/main">
            <a:off x="6217920" y="1280160"/>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D9FF"/>
                </a:solidFill>
                <a:latin typeface="Calibri"/>
                <a:ea typeface="Calibri"/>
                <a:cs typeface="Calibri"/>
              </a:defRPr>
            </a:pPr>
            <a:r>
              <a:t>IQR</a:t>
            </a:r>
            <a:endParaRPr/>
          </a:p>
        </p:txBody>
      </p:sp>
      <p:sp>
        <p:nvSpPr>
          <p:cNvPr id="13" name="TextBox 12">
            <a:extLst xmlns:a="http://schemas.openxmlformats.org/drawingml/2006/main">
              <a:ext uri="{FF2B5EF4-FFF2-40B4-BE49-F238E27FC236}">
                <a16:creationId xmlns:a16="http://schemas.microsoft.com/office/drawing/2014/main" id="{C9023CF6-99B5-401E-B483-9A59351AF1CE}"/>
              </a:ext>
            </a:extLst>
          </p:cNvPr>
          <p:cNvSpPr>
            <a:spLocks xmlns:a="http://schemas.openxmlformats.org/drawingml/2006/main" noGrp="1"/>
          </p:cNvSpPr>
          <p:nvPr/>
        </p:nvSpPr>
        <p:spPr>
          <a:xfrm xmlns:a="http://schemas.openxmlformats.org/drawingml/2006/main">
            <a:off x="8046720" y="1280160"/>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B0B0C0"/>
                </a:solidFill>
                <a:latin typeface="Calibri"/>
                <a:ea typeface="Calibri"/>
                <a:cs typeface="Calibri"/>
              </a:defRPr>
            </a:pPr>
            <a:r>
              <a:t>Q1-1.5*IQR, Q3+1.5*IQR</a:t>
            </a:r>
            <a:endParaRPr/>
          </a:p>
        </p:txBody>
      </p:sp>
      <p:sp>
        <p:nvSpPr>
          <p:cNvPr id="14" name="TextBox 13">
            <a:extLst xmlns:a="http://schemas.openxmlformats.org/drawingml/2006/main">
              <a:ext uri="{FF2B5EF4-FFF2-40B4-BE49-F238E27FC236}">
                <a16:creationId xmlns:a16="http://schemas.microsoft.com/office/drawing/2014/main" id="{208B4EF3-4608-4270-B6C4-3F349FA7C072}"/>
              </a:ext>
            </a:extLst>
          </p:cNvPr>
          <p:cNvSpPr>
            <a:spLocks xmlns:a="http://schemas.openxmlformats.org/drawingml/2006/main" noGrp="1"/>
          </p:cNvSpPr>
          <p:nvPr/>
        </p:nvSpPr>
        <p:spPr>
          <a:xfrm xmlns:a="http://schemas.openxmlformats.org/drawingml/2006/main">
            <a:off x="6217920" y="1783080"/>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A000"/>
                </a:solidFill>
                <a:latin typeface="Calibri"/>
                <a:ea typeface="Calibri"/>
                <a:cs typeface="Calibri"/>
              </a:defRPr>
            </a:pPr>
            <a:r>
              <a:t>Z-score</a:t>
            </a:r>
            <a:endParaRPr/>
          </a:p>
        </p:txBody>
      </p:sp>
      <p:sp>
        <p:nvSpPr>
          <p:cNvPr id="15" name="TextBox 14">
            <a:extLst xmlns:a="http://schemas.openxmlformats.org/drawingml/2006/main">
              <a:ext uri="{FF2B5EF4-FFF2-40B4-BE49-F238E27FC236}">
                <a16:creationId xmlns:a16="http://schemas.microsoft.com/office/drawing/2014/main" id="{221223B2-58C5-483D-A36B-C4C6446A2D4B}"/>
              </a:ext>
            </a:extLst>
          </p:cNvPr>
          <p:cNvSpPr>
            <a:spLocks xmlns:a="http://schemas.openxmlformats.org/drawingml/2006/main" noGrp="1"/>
          </p:cNvSpPr>
          <p:nvPr/>
        </p:nvSpPr>
        <p:spPr>
          <a:xfrm xmlns:a="http://schemas.openxmlformats.org/drawingml/2006/main">
            <a:off x="8046720" y="1783080"/>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B0B0C0"/>
                </a:solidFill>
                <a:latin typeface="Calibri"/>
                <a:ea typeface="Calibri"/>
                <a:cs typeface="Calibri"/>
              </a:defRPr>
            </a:pPr>
            <a:r>
              <a:t>|z| &gt; 3</a:t>
            </a:r>
            <a:endParaRPr/>
          </a:p>
        </p:txBody>
      </p:sp>
      <p:sp>
        <p:nvSpPr>
          <p:cNvPr id="16" name="TextBox 15">
            <a:extLst xmlns:a="http://schemas.openxmlformats.org/drawingml/2006/main">
              <a:ext uri="{FF2B5EF4-FFF2-40B4-BE49-F238E27FC236}">
                <a16:creationId xmlns:a16="http://schemas.microsoft.com/office/drawing/2014/main" id="{3FA66DBE-81FA-4534-AEDC-DF2DFC82AD5A}"/>
              </a:ext>
            </a:extLst>
          </p:cNvPr>
          <p:cNvSpPr>
            <a:spLocks xmlns:a="http://schemas.openxmlformats.org/drawingml/2006/main" noGrp="1"/>
          </p:cNvSpPr>
          <p:nvPr/>
        </p:nvSpPr>
        <p:spPr>
          <a:xfrm xmlns:a="http://schemas.openxmlformats.org/drawingml/2006/main">
            <a:off x="6217920" y="2286000"/>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5555"/>
                </a:solidFill>
                <a:latin typeface="Calibri"/>
                <a:ea typeface="Calibri"/>
                <a:cs typeface="Calibri"/>
              </a:defRPr>
            </a:pPr>
            <a:r>
              <a:t>Isolation Forest</a:t>
            </a:r>
            <a:endParaRPr/>
          </a:p>
        </p:txBody>
      </p:sp>
      <p:sp>
        <p:nvSpPr>
          <p:cNvPr id="17" name="TextBox 16">
            <a:extLst xmlns:a="http://schemas.openxmlformats.org/drawingml/2006/main">
              <a:ext uri="{FF2B5EF4-FFF2-40B4-BE49-F238E27FC236}">
                <a16:creationId xmlns:a16="http://schemas.microsoft.com/office/drawing/2014/main" id="{2B05A85F-F087-4434-A416-0B2C907B33EC}"/>
              </a:ext>
            </a:extLst>
          </p:cNvPr>
          <p:cNvSpPr>
            <a:spLocks xmlns:a="http://schemas.openxmlformats.org/drawingml/2006/main" noGrp="1"/>
          </p:cNvSpPr>
          <p:nvPr/>
        </p:nvSpPr>
        <p:spPr>
          <a:xfrm xmlns:a="http://schemas.openxmlformats.org/drawingml/2006/main">
            <a:off x="8046720" y="2286000"/>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B0B0C0"/>
                </a:solidFill>
                <a:latin typeface="Calibri"/>
                <a:ea typeface="Calibri"/>
                <a:cs typeface="Calibri"/>
              </a:defRPr>
            </a:pPr>
            <a:r>
              <a:t>Anomalías = rutas cortas</a:t>
            </a:r>
            <a:endParaRPr/>
          </a:p>
        </p:txBody>
      </p:sp>
      <p:sp>
        <p:nvSpPr>
          <p:cNvPr id="18" name="TextBox 17">
            <a:extLst xmlns:a="http://schemas.openxmlformats.org/drawingml/2006/main">
              <a:ext uri="{FF2B5EF4-FFF2-40B4-BE49-F238E27FC236}">
                <a16:creationId xmlns:a16="http://schemas.microsoft.com/office/drawing/2014/main" id="{A4545A12-495D-4C08-841D-F024FFCA91FA}"/>
              </a:ext>
            </a:extLst>
          </p:cNvPr>
          <p:cNvSpPr>
            <a:spLocks xmlns:a="http://schemas.openxmlformats.org/drawingml/2006/main" noGrp="1"/>
          </p:cNvSpPr>
          <p:nvPr/>
        </p:nvSpPr>
        <p:spPr>
          <a:xfrm xmlns:a="http://schemas.openxmlformats.org/drawingml/2006/main">
            <a:off x="457200" y="3017519"/>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Tipos de correlación:</a:t>
            </a:r>
            <a:endParaRPr/>
          </a:p>
        </p:txBody>
      </p:sp>
      <p:sp>
        <p:nvSpPr>
          <p:cNvPr id="19" name="Rectangle 18">
            <a:extLst xmlns:a="http://schemas.openxmlformats.org/drawingml/2006/main">
              <a:ext uri="{FF2B5EF4-FFF2-40B4-BE49-F238E27FC236}">
                <a16:creationId xmlns:a16="http://schemas.microsoft.com/office/drawing/2014/main" id="{EC6B19AB-BA23-49B0-9877-C56161E9D5A1}"/>
              </a:ext>
            </a:extLst>
          </p:cNvPr>
          <p:cNvSpPr>
            <a:spLocks xmlns:a="http://schemas.openxmlformats.org/drawingml/2006/main" noGrp="1"/>
          </p:cNvSpPr>
          <p:nvPr/>
        </p:nvSpPr>
        <p:spPr>
          <a:xfrm xmlns:a="http://schemas.openxmlformats.org/drawingml/2006/main">
            <a:off x="457200" y="3383280"/>
            <a:ext cx="265176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B2B02CF8-1326-4FE7-AF35-E7616305F351}"/>
              </a:ext>
            </a:extLst>
          </p:cNvPr>
          <p:cNvSpPr>
            <a:spLocks xmlns:a="http://schemas.openxmlformats.org/drawingml/2006/main" noGrp="1"/>
          </p:cNvSpPr>
          <p:nvPr/>
        </p:nvSpPr>
        <p:spPr>
          <a:xfrm xmlns:a="http://schemas.openxmlformats.org/drawingml/2006/main">
            <a:off x="548640" y="3401568"/>
            <a:ext cx="1371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BB88FF"/>
                </a:solidFill>
                <a:latin typeface="Calibri"/>
                <a:ea typeface="Calibri"/>
                <a:cs typeface="Calibri"/>
              </a:defRPr>
            </a:pPr>
            <a:r>
              <a:t>Pearson</a:t>
            </a:r>
            <a:endParaRPr/>
          </a:p>
        </p:txBody>
      </p:sp>
      <p:sp>
        <p:nvSpPr>
          <p:cNvPr id="21" name="TextBox 20">
            <a:extLst xmlns:a="http://schemas.openxmlformats.org/drawingml/2006/main">
              <a:ext uri="{FF2B5EF4-FFF2-40B4-BE49-F238E27FC236}">
                <a16:creationId xmlns:a16="http://schemas.microsoft.com/office/drawing/2014/main" id="{16D9A017-181F-46F1-AF07-574A21AF6D72}"/>
              </a:ext>
            </a:extLst>
          </p:cNvPr>
          <p:cNvSpPr>
            <a:spLocks xmlns:a="http://schemas.openxmlformats.org/drawingml/2006/main" noGrp="1"/>
          </p:cNvSpPr>
          <p:nvPr/>
        </p:nvSpPr>
        <p:spPr>
          <a:xfrm xmlns:a="http://schemas.openxmlformats.org/drawingml/2006/main">
            <a:off x="1828800" y="3401568"/>
            <a:ext cx="128016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lineal</a:t>
            </a:r>
            <a:endParaRPr/>
          </a:p>
        </p:txBody>
      </p:sp>
      <p:sp>
        <p:nvSpPr>
          <p:cNvPr id="22" name="Rectangle 21">
            <a:extLst xmlns:a="http://schemas.openxmlformats.org/drawingml/2006/main">
              <a:ext uri="{FF2B5EF4-FFF2-40B4-BE49-F238E27FC236}">
                <a16:creationId xmlns:a16="http://schemas.microsoft.com/office/drawing/2014/main" id="{014B5EEE-4969-46C6-BB66-40DF641518FE}"/>
              </a:ext>
            </a:extLst>
          </p:cNvPr>
          <p:cNvSpPr>
            <a:spLocks xmlns:a="http://schemas.openxmlformats.org/drawingml/2006/main" noGrp="1"/>
          </p:cNvSpPr>
          <p:nvPr/>
        </p:nvSpPr>
        <p:spPr>
          <a:xfrm xmlns:a="http://schemas.openxmlformats.org/drawingml/2006/main">
            <a:off x="3383280" y="3383280"/>
            <a:ext cx="265176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D4826BA6-1EF6-41AD-887C-EC380349A6C2}"/>
              </a:ext>
            </a:extLst>
          </p:cNvPr>
          <p:cNvSpPr>
            <a:spLocks xmlns:a="http://schemas.openxmlformats.org/drawingml/2006/main" noGrp="1"/>
          </p:cNvSpPr>
          <p:nvPr/>
        </p:nvSpPr>
        <p:spPr>
          <a:xfrm xmlns:a="http://schemas.openxmlformats.org/drawingml/2006/main">
            <a:off x="3474720" y="3401568"/>
            <a:ext cx="1371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BB88FF"/>
                </a:solidFill>
                <a:latin typeface="Calibri"/>
                <a:ea typeface="Calibri"/>
                <a:cs typeface="Calibri"/>
              </a:defRPr>
            </a:pPr>
            <a:r>
              <a:t>Spearman</a:t>
            </a:r>
            <a:endParaRPr/>
          </a:p>
        </p:txBody>
      </p:sp>
      <p:sp>
        <p:nvSpPr>
          <p:cNvPr id="24" name="TextBox 23">
            <a:extLst xmlns:a="http://schemas.openxmlformats.org/drawingml/2006/main">
              <a:ext uri="{FF2B5EF4-FFF2-40B4-BE49-F238E27FC236}">
                <a16:creationId xmlns:a16="http://schemas.microsoft.com/office/drawing/2014/main" id="{F255F53F-D8BA-47C7-85EE-BDC199756ED6}"/>
              </a:ext>
            </a:extLst>
          </p:cNvPr>
          <p:cNvSpPr>
            <a:spLocks xmlns:a="http://schemas.openxmlformats.org/drawingml/2006/main" noGrp="1"/>
          </p:cNvSpPr>
          <p:nvPr/>
        </p:nvSpPr>
        <p:spPr>
          <a:xfrm xmlns:a="http://schemas.openxmlformats.org/drawingml/2006/main">
            <a:off x="4754880" y="3401568"/>
            <a:ext cx="128016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monótona</a:t>
            </a:r>
            <a:endParaRPr/>
          </a:p>
        </p:txBody>
      </p:sp>
      <p:sp>
        <p:nvSpPr>
          <p:cNvPr id="25" name="Rectangle 24">
            <a:extLst xmlns:a="http://schemas.openxmlformats.org/drawingml/2006/main">
              <a:ext uri="{FF2B5EF4-FFF2-40B4-BE49-F238E27FC236}">
                <a16:creationId xmlns:a16="http://schemas.microsoft.com/office/drawing/2014/main" id="{DA0A0A2A-F26D-4D0D-9A43-0E989AA6C100}"/>
              </a:ext>
            </a:extLst>
          </p:cNvPr>
          <p:cNvSpPr>
            <a:spLocks xmlns:a="http://schemas.openxmlformats.org/drawingml/2006/main" noGrp="1"/>
          </p:cNvSpPr>
          <p:nvPr/>
        </p:nvSpPr>
        <p:spPr>
          <a:xfrm xmlns:a="http://schemas.openxmlformats.org/drawingml/2006/main">
            <a:off x="6309360" y="3383280"/>
            <a:ext cx="265176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978CBDBB-F5E5-4F55-9FA8-9D15D91FC509}"/>
              </a:ext>
            </a:extLst>
          </p:cNvPr>
          <p:cNvSpPr>
            <a:spLocks xmlns:a="http://schemas.openxmlformats.org/drawingml/2006/main" noGrp="1"/>
          </p:cNvSpPr>
          <p:nvPr/>
        </p:nvSpPr>
        <p:spPr>
          <a:xfrm xmlns:a="http://schemas.openxmlformats.org/drawingml/2006/main">
            <a:off x="6400800" y="3401568"/>
            <a:ext cx="1371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BB88FF"/>
                </a:solidFill>
                <a:latin typeface="Calibri"/>
                <a:ea typeface="Calibri"/>
                <a:cs typeface="Calibri"/>
              </a:defRPr>
            </a:pPr>
            <a:r>
              <a:t>Kendall</a:t>
            </a:r>
            <a:endParaRPr/>
          </a:p>
        </p:txBody>
      </p:sp>
      <p:sp>
        <p:nvSpPr>
          <p:cNvPr id="27" name="TextBox 26">
            <a:extLst xmlns:a="http://schemas.openxmlformats.org/drawingml/2006/main">
              <a:ext uri="{FF2B5EF4-FFF2-40B4-BE49-F238E27FC236}">
                <a16:creationId xmlns:a16="http://schemas.microsoft.com/office/drawing/2014/main" id="{20D03B2E-D82E-48C1-ABB1-16E556D6C1D5}"/>
              </a:ext>
            </a:extLst>
          </p:cNvPr>
          <p:cNvSpPr>
            <a:spLocks xmlns:a="http://schemas.openxmlformats.org/drawingml/2006/main" noGrp="1"/>
          </p:cNvSpPr>
          <p:nvPr/>
        </p:nvSpPr>
        <p:spPr>
          <a:xfrm xmlns:a="http://schemas.openxmlformats.org/drawingml/2006/main">
            <a:off x="7680960" y="3401568"/>
            <a:ext cx="128016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por rangos</a:t>
            </a:r>
            <a:endParaRPr/>
          </a:p>
        </p:txBody>
      </p:sp>
      <p:sp>
        <p:nvSpPr>
          <p:cNvPr id="28" name="Rectangle 27">
            <a:extLst xmlns:a="http://schemas.openxmlformats.org/drawingml/2006/main">
              <a:ext uri="{FF2B5EF4-FFF2-40B4-BE49-F238E27FC236}">
                <a16:creationId xmlns:a16="http://schemas.microsoft.com/office/drawing/2014/main" id="{071C689B-6B33-4997-90F7-76CE9DAD4737}"/>
              </a:ext>
            </a:extLst>
          </p:cNvPr>
          <p:cNvSpPr>
            <a:spLocks xmlns:a="http://schemas.openxmlformats.org/drawingml/2006/main" noGrp="1"/>
          </p:cNvSpPr>
          <p:nvPr/>
        </p:nvSpPr>
        <p:spPr>
          <a:xfrm xmlns:a="http://schemas.openxmlformats.org/drawingml/2006/main">
            <a:off x="9235440" y="3383280"/>
            <a:ext cx="265176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E66B8BAF-88BB-40A8-9192-97881B3E893B}"/>
              </a:ext>
            </a:extLst>
          </p:cNvPr>
          <p:cNvSpPr>
            <a:spLocks xmlns:a="http://schemas.openxmlformats.org/drawingml/2006/main" noGrp="1"/>
          </p:cNvSpPr>
          <p:nvPr/>
        </p:nvSpPr>
        <p:spPr>
          <a:xfrm xmlns:a="http://schemas.openxmlformats.org/drawingml/2006/main">
            <a:off x="9326880" y="3401568"/>
            <a:ext cx="1371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BB88FF"/>
                </a:solidFill>
                <a:latin typeface="Calibri"/>
                <a:ea typeface="Calibri"/>
                <a:cs typeface="Calibri"/>
              </a:defRPr>
            </a:pPr>
            <a:r>
              <a:t>Cramer's V</a:t>
            </a:r>
            <a:endParaRPr/>
          </a:p>
        </p:txBody>
      </p:sp>
      <p:sp>
        <p:nvSpPr>
          <p:cNvPr id="30" name="TextBox 29">
            <a:extLst xmlns:a="http://schemas.openxmlformats.org/drawingml/2006/main">
              <a:ext uri="{FF2B5EF4-FFF2-40B4-BE49-F238E27FC236}">
                <a16:creationId xmlns:a16="http://schemas.microsoft.com/office/drawing/2014/main" id="{23737948-FBF5-408F-BF74-72C30147DB7D}"/>
              </a:ext>
            </a:extLst>
          </p:cNvPr>
          <p:cNvSpPr>
            <a:spLocks xmlns:a="http://schemas.openxmlformats.org/drawingml/2006/main" noGrp="1"/>
          </p:cNvSpPr>
          <p:nvPr/>
        </p:nvSpPr>
        <p:spPr>
          <a:xfrm xmlns:a="http://schemas.openxmlformats.org/drawingml/2006/main">
            <a:off x="10607040" y="3401568"/>
            <a:ext cx="128016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categórica</a:t>
            </a:r>
            <a:endParaRPr/>
          </a:p>
        </p:txBody>
      </p:sp>
      <p:sp>
        <p:nvSpPr>
          <p:cNvPr id="31" name="Rectangle 30">
            <a:extLst xmlns:a="http://schemas.openxmlformats.org/drawingml/2006/main">
              <a:ext uri="{FF2B5EF4-FFF2-40B4-BE49-F238E27FC236}">
                <a16:creationId xmlns:a16="http://schemas.microsoft.com/office/drawing/2014/main" id="{DBE103A7-0824-4B11-B47C-CB20D7D3F916}"/>
              </a:ext>
            </a:extLst>
          </p:cNvPr>
          <p:cNvSpPr>
            <a:spLocks xmlns:a="http://schemas.openxmlformats.org/drawingml/2006/main" noGrp="1"/>
          </p:cNvSpPr>
          <p:nvPr/>
        </p:nvSpPr>
        <p:spPr>
          <a:xfrm xmlns:a="http://schemas.openxmlformats.org/drawingml/2006/main">
            <a:off x="457200" y="4023360"/>
            <a:ext cx="11247120" cy="18288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D13ADFF1-2266-4D2D-8849-3D7E3C110835}"/>
              </a:ext>
            </a:extLst>
          </p:cNvPr>
          <p:cNvSpPr>
            <a:spLocks xmlns:a="http://schemas.openxmlformats.org/drawingml/2006/main" noGrp="1"/>
          </p:cNvSpPr>
          <p:nvPr/>
        </p:nvSpPr>
        <p:spPr>
          <a:xfrm xmlns:a="http://schemas.openxmlformats.org/drawingml/2006/main">
            <a:off x="530352" y="4059936"/>
            <a:ext cx="11100816" cy="17556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200">
                <a:solidFill>
                  <a:srgbClr val="E0E0FF"/>
                </a:solidFill>
                <a:latin typeface="Consolas"/>
                <a:ea typeface="Consolas"/>
                <a:cs typeface="Consolas"/>
              </a:defRPr>
            </a:pPr>
            <a:r>
              <a:t>q1 = df['price'].quantile(0.25)</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q3 = df['price'].quantile(0.75)</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iqr = q3 - q1</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df_clean = df.filter((pl.col('price') &gt;= q1 - 1.5*iqr) &amp; (pl.col('price') &lt;= q3 + 1.5*iqr))</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corr = df.select(pl.numeric()).corr()</a:t>
            </a:r>
            <a:endParaRPr/>
          </a:p>
        </p:txBody>
      </p:sp>
      <p:sp>
        <p:nvSpPr>
          <p:cNvPr id="33" name="TextBox 32">
            <a:extLst xmlns:a="http://schemas.openxmlformats.org/drawingml/2006/main">
              <a:ext uri="{FF2B5EF4-FFF2-40B4-BE49-F238E27FC236}">
                <a16:creationId xmlns:a16="http://schemas.microsoft.com/office/drawing/2014/main" id="{8C9B6B83-98CA-42ED-B5B7-7BAE8E5DF6A1}"/>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8</a:t>
            </a:r>
            <a:endParaRPr/>
          </a:p>
        </p:txBody>
      </p:sp>
    </p:spTree>
    <p:extLst>
      <p:ext uri="{BB962C8B-B14F-4D97-AF65-F5344CB8AC3E}">
        <p14:creationId xmlns:p14="http://schemas.microsoft.com/office/powerpoint/2010/main" val="362768112"/>
      </p:ext>
    </p:extLst>
  </p:cSld>
</p:sld>
</file>

<file path=ppt/slides/slide9.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40DC134-93EA-4AAA-9E8B-B3ECCCA03831}"/>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C95B819-D57A-4B64-9225-91A0515965CC}"/>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Codificación de variables categóricas (8 métodos)</a:t>
            </a:r>
            <a:endParaRPr/>
          </a:p>
        </p:txBody>
      </p:sp>
      <p:graphicFrame>
        <p:nvGraphicFramePr>
          <p:cNvPr id="10" name="Table 3"/>
          <p:cNvGraphicFramePr/>
          <p:nvPr/>
        </p:nvGraphicFramePr>
        <p:xfrm>
          <a:off xmlns:a="http://schemas.openxmlformats.org/drawingml/2006/main" x="457200" y="914400"/>
          <a:ext xmlns:a="http://schemas.openxmlformats.org/drawingml/2006/main" cx="11247120" cy="2633472"/>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1828800"/>
                <a:gridCol w="457200"/>
                <a:gridCol w="2286000"/>
                <a:gridCol w="2286000"/>
                <a:gridCol w="4389120"/>
              </a:tblGrid>
              <a:tr h="292608">
                <a:tc>
                  <a:txBody>
                    <a:bodyPr/>
                    <a:lstStyle/>
                    <a:p>
                      <a:pPr>
                        <a:buNone/>
                      </a:pPr>
                      <a:r>
                        <a:rPr sz="1100" b="1">
                          <a:solidFill>
                            <a:srgbClr val="00D9FF"/>
                          </a:solidFill>
                          <a:latin typeface="Calibri"/>
                          <a:ea typeface="Calibri"/>
                          <a:cs typeface="Calibri"/>
                        </a:rPr>
                        <a:t>Método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Niv.</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Ventajas</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Desventajas</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Cuándo usarlo</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One-Hot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3</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Simple; modelos lineales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Explosión dimensional</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Pocas categorías</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Label/Ordinal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3</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Compacto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Impone un orden</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Existe un orden natural</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Target (Bayesian)</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4</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Considera el objetivo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¡Fuga de datos!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Alta cardinalidad</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Frequency</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4</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Simple y compacto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Pierde información</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Cardinalidad media</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Hashing</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4</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Tamaño fijo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Colisiones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Cardinalidad muy alta</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CatBoost Enc.</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5</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Resistente a fugas</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Complejo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CatBoost; alta cardinalidad</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Entity Embeddings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5</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Aprende relaciones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Requiere una red</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Modelos profundos</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SBERT + PCA</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5</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Texto → vector</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GPU; lento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Columnas de texto</a:t>
                      </a:r>
                      <a:endParaRPr/>
                    </a:p>
                  </a:txBody>
                  <a:tcPr marL="91440" marR="91440" marT="45720" marB="45720">
                    <a:solidFill>
                      <a:srgbClr val="2A2A44"/>
                    </a:solidFill>
                  </a:tcPr>
                </a:tc>
              </a:tr>
            </a:tbl>
          </a:graphicData>
        </a:graphic>
      </p:graphicFrame>
      <p:sp>
        <p:nvSpPr>
          <p:cNvPr id="5" name="TextBox 4">
            <a:extLst xmlns:a="http://schemas.openxmlformats.org/drawingml/2006/main">
              <a:ext uri="{FF2B5EF4-FFF2-40B4-BE49-F238E27FC236}">
                <a16:creationId xmlns:a16="http://schemas.microsoft.com/office/drawing/2014/main" id="{7AF59AB2-7870-44CA-A59B-1C31FE079836}"/>
              </a:ext>
            </a:extLst>
          </p:cNvPr>
          <p:cNvSpPr>
            <a:spLocks xmlns:a="http://schemas.openxmlformats.org/drawingml/2006/main" noGrp="1"/>
          </p:cNvSpPr>
          <p:nvPr/>
        </p:nvSpPr>
        <p:spPr>
          <a:xfrm xmlns:a="http://schemas.openxmlformats.org/drawingml/2006/main">
            <a:off x="457200" y="475488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A000"/>
                </a:solidFill>
                <a:latin typeface="Calibri"/>
                <a:ea typeface="Calibri"/>
                <a:cs typeface="Calibri"/>
              </a:defRPr>
            </a:pPr>
            <a:r>
              <a:t>Regla: cuanto mayor sea el nivel, más métodos deben compararse</a:t>
            </a:r>
            <a:endParaRPr/>
          </a:p>
        </p:txBody>
      </p:sp>
      <p:sp>
        <p:nvSpPr>
          <p:cNvPr id="6" name="TextBox 5">
            <a:extLst xmlns:a="http://schemas.openxmlformats.org/drawingml/2006/main">
              <a:ext uri="{FF2B5EF4-FFF2-40B4-BE49-F238E27FC236}">
                <a16:creationId xmlns:a16="http://schemas.microsoft.com/office/drawing/2014/main" id="{D678C595-B573-4C45-8A30-04985C943C6E}"/>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9</a:t>
            </a:r>
            <a:endParaRPr/>
          </a:p>
        </p:txBody>
      </p:sp>
    </p:spTree>
    <p:extLst>
      <p:ext uri="{BB962C8B-B14F-4D97-AF65-F5344CB8AC3E}">
        <p14:creationId xmlns:p14="http://schemas.microsoft.com/office/powerpoint/2010/main" val="1550733721"/>
      </p:ext>
    </p:extLst>
  </p:cSld>
</p:sld>
</file>

<file path=ppt/slides/slide10.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EF73DE9-CA63-45A0-9FBE-5312E36FC476}"/>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1FA9222-972D-49B3-A786-E1619A61C9CF}"/>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Codificación: ejemplos con Polars</a:t>
            </a:r>
            <a:endParaRPr/>
          </a:p>
        </p:txBody>
      </p:sp>
      <p:sp>
        <p:nvSpPr>
          <p:cNvPr id="4" name="TextBox 3">
            <a:extLst xmlns:a="http://schemas.openxmlformats.org/drawingml/2006/main">
              <a:ext uri="{FF2B5EF4-FFF2-40B4-BE49-F238E27FC236}">
                <a16:creationId xmlns:a16="http://schemas.microsoft.com/office/drawing/2014/main" id="{60BDB22C-F051-4CB8-B0C3-4536B08B208C}"/>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00D9FF"/>
                </a:solidFill>
                <a:latin typeface="Calibri"/>
                <a:ea typeface="Calibri"/>
                <a:cs typeface="Calibri"/>
              </a:defRPr>
            </a:pPr>
            <a:r>
              <a:t>One-Hot + codificación objetivo</a:t>
            </a:r>
            <a:endParaRPr/>
          </a:p>
        </p:txBody>
      </p:sp>
      <p:sp>
        <p:nvSpPr>
          <p:cNvPr id="5" name="Rectangle 4">
            <a:extLst xmlns:a="http://schemas.openxmlformats.org/drawingml/2006/main">
              <a:ext uri="{FF2B5EF4-FFF2-40B4-BE49-F238E27FC236}">
                <a16:creationId xmlns:a16="http://schemas.microsoft.com/office/drawing/2014/main" id="{169C4666-0CF8-4264-92A8-EE5BFC824E1B}"/>
              </a:ext>
            </a:extLst>
          </p:cNvPr>
          <p:cNvSpPr>
            <a:spLocks xmlns:a="http://schemas.openxmlformats.org/drawingml/2006/main" noGrp="1"/>
          </p:cNvSpPr>
          <p:nvPr/>
        </p:nvSpPr>
        <p:spPr>
          <a:xfrm xmlns:a="http://schemas.openxmlformats.org/drawingml/2006/main">
            <a:off x="457200" y="1280160"/>
            <a:ext cx="5486400" cy="3935652"/>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B81462CC-A4CF-420C-9DE3-121C6F10DF99}"/>
              </a:ext>
            </a:extLst>
          </p:cNvPr>
          <p:cNvSpPr>
            <a:spLocks xmlns:a="http://schemas.openxmlformats.org/drawingml/2006/main" noGrp="1"/>
          </p:cNvSpPr>
          <p:nvPr/>
        </p:nvSpPr>
        <p:spPr>
          <a:xfrm xmlns:a="http://schemas.openxmlformats.org/drawingml/2006/main">
            <a:off x="530352" y="1316736"/>
            <a:ext cx="5340096" cy="3903633"/>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80FF80"/>
                </a:solidFill>
                <a:latin typeface="Consolas"/>
                <a:ea typeface="Consolas"/>
                <a:cs typeface="Consolas"/>
              </a:defRPr>
            </a:pPr>
            <a:r>
              <a:t># One-Hot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df_enc</a:t>
            </a:r>
            <a:r>
              <a:t> = </a:t>
            </a:r>
            <a:r>
              <a:t>df.to_dummies</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 </a:t>
            </a:r>
            <a:r>
              <a:t>columns</a:t>
            </a:r>
            <a:r>
              <a:t>=['</a:t>
            </a:r>
            <a:r>
              <a:t>item_condition_id</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80FF80"/>
                </a:solidFill>
                <a:latin typeface="Consolas"/>
                <a:ea typeface="Consolas"/>
                <a:cs typeface="Consolas"/>
              </a:defRPr>
            </a:pPr>
            <a:r>
              <a:t># Target Encoding (Bayesian)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cat_stats</a:t>
            </a:r>
            <a:r>
              <a:t> = (</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df.group_by</a:t>
            </a:r>
            <a:r>
              <a:t>('</a:t>
            </a:r>
            <a:r>
              <a:t>category_name</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agg</a:t>
            </a:r>
            <a:r>
              <a:t>(</a:t>
            </a:r>
            <a:r>
              <a:t>pl.col</a:t>
            </a:r>
            <a:r>
              <a:t>('price').mean()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.alias('</a:t>
            </a:r>
            <a:r>
              <a:t>cat_mean</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pl.col</a:t>
            </a:r>
            <a:r>
              <a:t>('price').count()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.alias('</a:t>
            </a:r>
            <a:r>
              <a:t>cat_count</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global_mean</a:t>
            </a:r>
            <a:r>
              <a:t> = </a:t>
            </a:r>
            <a:r>
              <a:t>df</a:t>
            </a:r>
            <a:r>
              <a:t>['price'].mean()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alpha = 10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cat_stats</a:t>
            </a:r>
            <a:r>
              <a:t> = </a:t>
            </a:r>
            <a:r>
              <a:t>cat_stats.with_columns</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pl.col</a:t>
            </a:r>
            <a:r>
              <a:t>('</a:t>
            </a:r>
            <a:r>
              <a:t>cat_mean</a:t>
            </a:r>
            <a:r>
              <a:t>')*</a:t>
            </a:r>
            <a:r>
              <a:t>pl.col</a:t>
            </a:r>
            <a:r>
              <a:t>('</a:t>
            </a:r>
            <a:r>
              <a:t>cat_count</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 </a:t>
            </a:r>
            <a:r>
              <a:t>global_mean</a:t>
            </a:r>
            <a:r>
              <a:t>*alpha)</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 (</a:t>
            </a:r>
            <a:r>
              <a:t>pl.col</a:t>
            </a:r>
            <a:r>
              <a:t>('</a:t>
            </a:r>
            <a:r>
              <a:t>cat_count</a:t>
            </a:r>
            <a:r>
              <a:t>')+alpha)</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).alias('</a:t>
            </a:r>
            <a:r>
              <a:t>category_te</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df</a:t>
            </a:r>
            <a:r>
              <a:t> = </a:t>
            </a:r>
            <a:r>
              <a:t>df.join</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cat_stats.select</a:t>
            </a:r>
            <a:r>
              <a:t>(['category_name','</a:t>
            </a:r>
            <a:r>
              <a:t>category_te</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on='</a:t>
            </a:r>
            <a:r>
              <a:t>category_name</a:t>
            </a:r>
            <a:r>
              <a:t>')</a:t>
            </a:r>
            <a:endParaRPr/>
          </a:p>
        </p:txBody>
      </p:sp>
      <p:sp>
        <p:nvSpPr>
          <p:cNvPr id="7" name="TextBox 6">
            <a:extLst xmlns:a="http://schemas.openxmlformats.org/drawingml/2006/main">
              <a:ext uri="{FF2B5EF4-FFF2-40B4-BE49-F238E27FC236}">
                <a16:creationId xmlns:a16="http://schemas.microsoft.com/office/drawing/2014/main" id="{AEFB28DF-22C1-4DD3-9F85-F03F96069E02}"/>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SBERT + PCA</a:t>
            </a:r>
            <a:endParaRPr/>
          </a:p>
        </p:txBody>
      </p:sp>
      <p:sp>
        <p:nvSpPr>
          <p:cNvPr id="8" name="Rectangle 7">
            <a:extLst xmlns:a="http://schemas.openxmlformats.org/drawingml/2006/main">
              <a:ext uri="{FF2B5EF4-FFF2-40B4-BE49-F238E27FC236}">
                <a16:creationId xmlns:a16="http://schemas.microsoft.com/office/drawing/2014/main" id="{3227B884-A8A6-4455-933C-4C321A5CB14F}"/>
              </a:ext>
            </a:extLst>
          </p:cNvPr>
          <p:cNvSpPr>
            <a:spLocks xmlns:a="http://schemas.openxmlformats.org/drawingml/2006/main" noGrp="1"/>
          </p:cNvSpPr>
          <p:nvPr/>
        </p:nvSpPr>
        <p:spPr>
          <a:xfrm xmlns:a="http://schemas.openxmlformats.org/drawingml/2006/main">
            <a:off x="6217920" y="1280160"/>
            <a:ext cx="5486400" cy="34747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F3FD0EC-FA4C-42E3-9EB2-D82085A8C9D4}"/>
              </a:ext>
            </a:extLst>
          </p:cNvPr>
          <p:cNvSpPr>
            <a:spLocks xmlns:a="http://schemas.openxmlformats.org/drawingml/2006/main" noGrp="1"/>
          </p:cNvSpPr>
          <p:nvPr/>
        </p:nvSpPr>
        <p:spPr>
          <a:xfrm xmlns:a="http://schemas.openxmlformats.org/drawingml/2006/main">
            <a:off x="6291072" y="1316736"/>
            <a:ext cx="5340096" cy="2993127"/>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from </a:t>
            </a:r>
            <a:r>
              <a:t>sentence_transformers</a:t>
            </a:r>
            <a:r>
              <a:t> </a:t>
            </a:r>
            <a:r>
              <a:t>import </a:t>
            </a:r>
            <a:r>
              <a:t>SentenceTransformer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from </a:t>
            </a:r>
            <a:r>
              <a:t>sklearn.decomposition</a:t>
            </a:r>
            <a:r>
              <a:t> import PCA</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model = </a:t>
            </a:r>
            <a:r>
              <a:t>SentenceTransformer</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'all-MiniLM-L6-v2')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embeddings</a:t>
            </a:r>
            <a:r>
              <a:t> = </a:t>
            </a:r>
            <a:r>
              <a:t>model.encode</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df</a:t>
            </a:r>
            <a:r>
              <a:t>['name'].</a:t>
            </a:r>
            <a:r>
              <a:t>to_list</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pca</a:t>
            </a:r>
            <a:r>
              <a:t> = PCA(</a:t>
            </a:r>
            <a:r>
              <a:t>n_components</a:t>
            </a:r>
            <a:r>
              <a:t>=32)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emb_pca</a:t>
            </a:r>
            <a:r>
              <a:t> = </a:t>
            </a:r>
            <a:r>
              <a:t>pca.fit_transform</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embeddings</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for </a:t>
            </a:r>
            <a:r>
              <a:t>i</a:t>
            </a:r>
            <a:r>
              <a:t> in range(32):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df</a:t>
            </a:r>
            <a:r>
              <a:t> = </a:t>
            </a:r>
            <a:r>
              <a:t>df.with_columns</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pl.Series</a:t>
            </a:r>
            <a:r>
              <a:t>(</a:t>
            </a:r>
            <a:r>
              <a:t>f'emb</a:t>
            </a:r>
            <a:r>
              <a:t>_{</a:t>
            </a:r>
            <a:r>
              <a:t>i</a:t>
            </a: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r>
              <a:t>emb_pca</a:t>
            </a:r>
            <a:r>
              <a:t>[:,</a:t>
            </a:r>
            <a:r>
              <a:t>i</a:t>
            </a:r>
            <a:r>
              <a:t>]))</a:t>
            </a:r>
            <a:endParaRPr/>
          </a:p>
        </p:txBody>
      </p:sp>
      <p:sp>
        <p:nvSpPr>
          <p:cNvPr id="10" name="TextBox 9">
            <a:extLst xmlns:a="http://schemas.openxmlformats.org/drawingml/2006/main">
              <a:ext uri="{FF2B5EF4-FFF2-40B4-BE49-F238E27FC236}">
                <a16:creationId xmlns:a16="http://schemas.microsoft.com/office/drawing/2014/main" id="{27FE5B64-4693-4B49-9E6D-E49FA4FDA2B9}"/>
              </a:ext>
            </a:extLst>
          </p:cNvPr>
          <p:cNvSpPr>
            <a:spLocks xmlns:a="http://schemas.openxmlformats.org/drawingml/2006/main" noGrp="1"/>
          </p:cNvSpPr>
          <p:nvPr/>
        </p:nvSpPr>
        <p:spPr>
          <a:xfrm xmlns:a="http://schemas.openxmlformats.org/drawingml/2006/main">
            <a:off x="457200" y="536137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5555"/>
                </a:solidFill>
                <a:latin typeface="Calibri"/>
                <a:ea typeface="Calibri"/>
                <a:cs typeface="Calibri"/>
              </a:defRPr>
            </a:pPr>
            <a:r>
              <a:t>Fuga de datos: la codificación objetivo solo se ajusta con entrenamiento</a:t>
            </a:r>
            <a:endParaRPr/>
          </a:p>
        </p:txBody>
      </p:sp>
      <p:sp>
        <p:nvSpPr>
          <p:cNvPr id="11" name="TextBox 10">
            <a:extLst xmlns:a="http://schemas.openxmlformats.org/drawingml/2006/main">
              <a:ext uri="{FF2B5EF4-FFF2-40B4-BE49-F238E27FC236}">
                <a16:creationId xmlns:a16="http://schemas.microsoft.com/office/drawing/2014/main" id="{FD68563D-827C-4A49-ACC5-E079319B5E61}"/>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10</a:t>
            </a:r>
            <a:endParaRPr/>
          </a:p>
        </p:txBody>
      </p:sp>
    </p:spTree>
    <p:extLst>
      <p:ext uri="{BB962C8B-B14F-4D97-AF65-F5344CB8AC3E}">
        <p14:creationId xmlns:p14="http://schemas.microsoft.com/office/powerpoint/2010/main" val="2079502947"/>
      </p:ext>
    </p:extLst>
  </p:cSld>
</p:sld>
</file>

<file path=ppt/slides/slide11.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69CF6A73-D5BF-4176-B7B3-36DF2566F2A3}"/>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C1F65D12-80C3-4E49-AEA4-A26120991411}"/>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Ingeniería y selección de características</a:t>
            </a:r>
            <a:endParaRPr/>
          </a:p>
        </p:txBody>
      </p:sp>
      <p:sp>
        <p:nvSpPr>
          <p:cNvPr id="4" name="TextBox 3">
            <a:extLst xmlns:a="http://schemas.openxmlformats.org/drawingml/2006/main">
              <a:ext uri="{FF2B5EF4-FFF2-40B4-BE49-F238E27FC236}">
                <a16:creationId xmlns:a16="http://schemas.microsoft.com/office/drawing/2014/main" id="{CC247A9C-CE96-47F4-9CAD-293104481943}"/>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5 tipos de ingeniería de características:</a:t>
            </a:r>
            <a:endParaRPr/>
          </a:p>
        </p:txBody>
      </p:sp>
      <p:sp>
        <p:nvSpPr>
          <p:cNvPr id="5" name="Rectangle 4">
            <a:extLst xmlns:a="http://schemas.openxmlformats.org/drawingml/2006/main">
              <a:ext uri="{FF2B5EF4-FFF2-40B4-BE49-F238E27FC236}">
                <a16:creationId xmlns:a16="http://schemas.microsoft.com/office/drawing/2014/main" id="{B0DFC931-00F0-4653-9763-025DAEE2A6CC}"/>
              </a:ext>
            </a:extLst>
          </p:cNvPr>
          <p:cNvSpPr>
            <a:spLocks xmlns:a="http://schemas.openxmlformats.org/drawingml/2006/main" noGrp="1"/>
          </p:cNvSpPr>
          <p:nvPr/>
        </p:nvSpPr>
        <p:spPr>
          <a:xfrm xmlns:a="http://schemas.openxmlformats.org/drawingml/2006/main">
            <a:off x="457200" y="128016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04D8C9A-015B-4D12-9B13-6C11A9C3C07E}"/>
              </a:ext>
            </a:extLst>
          </p:cNvPr>
          <p:cNvSpPr>
            <a:spLocks xmlns:a="http://schemas.openxmlformats.org/drawingml/2006/main" noGrp="1"/>
          </p:cNvSpPr>
          <p:nvPr/>
        </p:nvSpPr>
        <p:spPr>
          <a:xfrm xmlns:a="http://schemas.openxmlformats.org/drawingml/2006/main">
            <a:off x="640080" y="126187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D9FF"/>
                </a:solidFill>
                <a:latin typeface="Calibri"/>
                <a:ea typeface="Calibri"/>
                <a:cs typeface="Calibri"/>
              </a:defRPr>
            </a:pPr>
            <a:r>
              <a:t>Texto</a:t>
            </a:r>
            <a:endParaRPr/>
          </a:p>
        </p:txBody>
      </p:sp>
      <p:sp>
        <p:nvSpPr>
          <p:cNvPr id="7" name="TextBox 6">
            <a:extLst xmlns:a="http://schemas.openxmlformats.org/drawingml/2006/main">
              <a:ext uri="{FF2B5EF4-FFF2-40B4-BE49-F238E27FC236}">
                <a16:creationId xmlns:a16="http://schemas.microsoft.com/office/drawing/2014/main" id="{567E6E52-50A0-4761-8F65-B210CDD82271}"/>
              </a:ext>
            </a:extLst>
          </p:cNvPr>
          <p:cNvSpPr>
            <a:spLocks xmlns:a="http://schemas.openxmlformats.org/drawingml/2006/main" noGrp="1"/>
          </p:cNvSpPr>
          <p:nvPr/>
        </p:nvSpPr>
        <p:spPr>
          <a:xfrm xmlns:a="http://schemas.openxmlformats.org/drawingml/2006/main">
            <a:off x="2926080" y="12618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len(name), has_brand</a:t>
            </a:r>
            <a:endParaRPr/>
          </a:p>
        </p:txBody>
      </p:sp>
      <p:sp>
        <p:nvSpPr>
          <p:cNvPr id="8" name="Rectangle 7">
            <a:extLst xmlns:a="http://schemas.openxmlformats.org/drawingml/2006/main">
              <a:ext uri="{FF2B5EF4-FFF2-40B4-BE49-F238E27FC236}">
                <a16:creationId xmlns:a16="http://schemas.microsoft.com/office/drawing/2014/main" id="{D6152F93-F2F9-4AC7-B3BE-1FE8A5216954}"/>
              </a:ext>
            </a:extLst>
          </p:cNvPr>
          <p:cNvSpPr>
            <a:spLocks xmlns:a="http://schemas.openxmlformats.org/drawingml/2006/main" noGrp="1"/>
          </p:cNvSpPr>
          <p:nvPr/>
        </p:nvSpPr>
        <p:spPr>
          <a:xfrm xmlns:a="http://schemas.openxmlformats.org/drawingml/2006/main">
            <a:off x="457200" y="1737360"/>
            <a:ext cx="73152" cy="32004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DC53B62-50DB-415C-B315-53023AFC37A5}"/>
              </a:ext>
            </a:extLst>
          </p:cNvPr>
          <p:cNvSpPr>
            <a:spLocks xmlns:a="http://schemas.openxmlformats.org/drawingml/2006/main" noGrp="1"/>
          </p:cNvSpPr>
          <p:nvPr/>
        </p:nvSpPr>
        <p:spPr>
          <a:xfrm xmlns:a="http://schemas.openxmlformats.org/drawingml/2006/main">
            <a:off x="640080" y="171907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FF88"/>
                </a:solidFill>
                <a:latin typeface="Calibri"/>
                <a:ea typeface="Calibri"/>
                <a:cs typeface="Calibri"/>
              </a:defRPr>
            </a:pPr>
            <a:r>
              <a:t>Categorías</a:t>
            </a:r>
            <a:endParaRPr/>
          </a:p>
        </p:txBody>
      </p:sp>
      <p:sp>
        <p:nvSpPr>
          <p:cNvPr id="10" name="TextBox 9">
            <a:extLst xmlns:a="http://schemas.openxmlformats.org/drawingml/2006/main">
              <a:ext uri="{FF2B5EF4-FFF2-40B4-BE49-F238E27FC236}">
                <a16:creationId xmlns:a16="http://schemas.microsoft.com/office/drawing/2014/main" id="{9FCC3657-60E8-4C2F-AFA2-FF71EA9AF6FD}"/>
              </a:ext>
            </a:extLst>
          </p:cNvPr>
          <p:cNvSpPr>
            <a:spLocks xmlns:a="http://schemas.openxmlformats.org/drawingml/2006/main" noGrp="1"/>
          </p:cNvSpPr>
          <p:nvPr/>
        </p:nvSpPr>
        <p:spPr>
          <a:xfrm xmlns:a="http://schemas.openxmlformats.org/drawingml/2006/main">
            <a:off x="2926080" y="17190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cat1/cat2 a partir de category_name</a:t>
            </a:r>
            <a:endParaRPr/>
          </a:p>
        </p:txBody>
      </p:sp>
      <p:sp>
        <p:nvSpPr>
          <p:cNvPr id="11" name="Rectangle 10">
            <a:extLst xmlns:a="http://schemas.openxmlformats.org/drawingml/2006/main">
              <a:ext uri="{FF2B5EF4-FFF2-40B4-BE49-F238E27FC236}">
                <a16:creationId xmlns:a16="http://schemas.microsoft.com/office/drawing/2014/main" id="{3A19D306-EB28-43C5-8797-F12A92B5C3F6}"/>
              </a:ext>
            </a:extLst>
          </p:cNvPr>
          <p:cNvSpPr>
            <a:spLocks xmlns:a="http://schemas.openxmlformats.org/drawingml/2006/main" noGrp="1"/>
          </p:cNvSpPr>
          <p:nvPr/>
        </p:nvSpPr>
        <p:spPr>
          <a:xfrm xmlns:a="http://schemas.openxmlformats.org/drawingml/2006/main">
            <a:off x="457200" y="2194560"/>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F28A328-F9AB-4B81-AF26-EE72EE6A8E36}"/>
              </a:ext>
            </a:extLst>
          </p:cNvPr>
          <p:cNvSpPr>
            <a:spLocks xmlns:a="http://schemas.openxmlformats.org/drawingml/2006/main" noGrp="1"/>
          </p:cNvSpPr>
          <p:nvPr/>
        </p:nvSpPr>
        <p:spPr>
          <a:xfrm xmlns:a="http://schemas.openxmlformats.org/drawingml/2006/main">
            <a:off x="640080" y="217627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A000"/>
                </a:solidFill>
                <a:latin typeface="Calibri"/>
                <a:ea typeface="Calibri"/>
                <a:cs typeface="Calibri"/>
              </a:defRPr>
            </a:pPr>
            <a:r>
              <a:t>Interacciones</a:t>
            </a:r>
            <a:endParaRPr/>
          </a:p>
        </p:txBody>
      </p:sp>
      <p:sp>
        <p:nvSpPr>
          <p:cNvPr id="13" name="TextBox 12">
            <a:extLst xmlns:a="http://schemas.openxmlformats.org/drawingml/2006/main">
              <a:ext uri="{FF2B5EF4-FFF2-40B4-BE49-F238E27FC236}">
                <a16:creationId xmlns:a16="http://schemas.microsoft.com/office/drawing/2014/main" id="{FE396B0A-29D5-4C87-81BC-E9BCB56E0870}"/>
              </a:ext>
            </a:extLst>
          </p:cNvPr>
          <p:cNvSpPr>
            <a:spLocks xmlns:a="http://schemas.openxmlformats.org/drawingml/2006/main" noGrp="1"/>
          </p:cNvSpPr>
          <p:nvPr/>
        </p:nvSpPr>
        <p:spPr>
          <a:xfrm xmlns:a="http://schemas.openxmlformats.org/drawingml/2006/main">
            <a:off x="2926080" y="21762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price_per_sqft = price/area</a:t>
            </a:r>
            <a:endParaRPr/>
          </a:p>
        </p:txBody>
      </p:sp>
      <p:sp>
        <p:nvSpPr>
          <p:cNvPr id="14" name="Rectangle 13">
            <a:extLst xmlns:a="http://schemas.openxmlformats.org/drawingml/2006/main">
              <a:ext uri="{FF2B5EF4-FFF2-40B4-BE49-F238E27FC236}">
                <a16:creationId xmlns:a16="http://schemas.microsoft.com/office/drawing/2014/main" id="{DE1445AF-90CC-4BCD-82F8-60DEC79167A1}"/>
              </a:ext>
            </a:extLst>
          </p:cNvPr>
          <p:cNvSpPr>
            <a:spLocks xmlns:a="http://schemas.openxmlformats.org/drawingml/2006/main" noGrp="1"/>
          </p:cNvSpPr>
          <p:nvPr/>
        </p:nvSpPr>
        <p:spPr>
          <a:xfrm xmlns:a="http://schemas.openxmlformats.org/drawingml/2006/main">
            <a:off x="457200" y="2651760"/>
            <a:ext cx="73152" cy="32004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19F084EE-28B7-42DA-953F-0BA58DC967F5}"/>
              </a:ext>
            </a:extLst>
          </p:cNvPr>
          <p:cNvSpPr>
            <a:spLocks xmlns:a="http://schemas.openxmlformats.org/drawingml/2006/main" noGrp="1"/>
          </p:cNvSpPr>
          <p:nvPr/>
        </p:nvSpPr>
        <p:spPr>
          <a:xfrm xmlns:a="http://schemas.openxmlformats.org/drawingml/2006/main">
            <a:off x="640080" y="263347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BB88FF"/>
                </a:solidFill>
                <a:latin typeface="Calibri"/>
                <a:ea typeface="Calibri"/>
                <a:cs typeface="Calibri"/>
              </a:defRPr>
            </a:pPr>
            <a:r>
              <a:t>Temporales</a:t>
            </a:r>
            <a:endParaRPr/>
          </a:p>
        </p:txBody>
      </p:sp>
      <p:sp>
        <p:nvSpPr>
          <p:cNvPr id="16" name="TextBox 15">
            <a:extLst xmlns:a="http://schemas.openxmlformats.org/drawingml/2006/main">
              <a:ext uri="{FF2B5EF4-FFF2-40B4-BE49-F238E27FC236}">
                <a16:creationId xmlns:a16="http://schemas.microsoft.com/office/drawing/2014/main" id="{717031C9-4E49-4B04-B62C-E2793977CAF7}"/>
              </a:ext>
            </a:extLst>
          </p:cNvPr>
          <p:cNvSpPr>
            <a:spLocks xmlns:a="http://schemas.openxmlformats.org/drawingml/2006/main" noGrp="1"/>
          </p:cNvSpPr>
          <p:nvPr/>
        </p:nvSpPr>
        <p:spPr>
          <a:xfrm xmlns:a="http://schemas.openxmlformats.org/drawingml/2006/main">
            <a:off x="2926080" y="26334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lag, rolling, sin/cos</a:t>
            </a:r>
            <a:endParaRPr/>
          </a:p>
        </p:txBody>
      </p:sp>
      <p:sp>
        <p:nvSpPr>
          <p:cNvPr id="17" name="Rectangle 16">
            <a:extLst xmlns:a="http://schemas.openxmlformats.org/drawingml/2006/main">
              <a:ext uri="{FF2B5EF4-FFF2-40B4-BE49-F238E27FC236}">
                <a16:creationId xmlns:a16="http://schemas.microsoft.com/office/drawing/2014/main" id="{F9EDA95F-F011-4E97-BAE2-FDD915DF5085}"/>
              </a:ext>
            </a:extLst>
          </p:cNvPr>
          <p:cNvSpPr>
            <a:spLocks xmlns:a="http://schemas.openxmlformats.org/drawingml/2006/main" noGrp="1"/>
          </p:cNvSpPr>
          <p:nvPr/>
        </p:nvSpPr>
        <p:spPr>
          <a:xfrm xmlns:a="http://schemas.openxmlformats.org/drawingml/2006/main">
            <a:off x="457200" y="3108960"/>
            <a:ext cx="73152" cy="32004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E855FDC-A0DF-4A24-87BE-91B86EE782F8}"/>
              </a:ext>
            </a:extLst>
          </p:cNvPr>
          <p:cNvSpPr>
            <a:spLocks xmlns:a="http://schemas.openxmlformats.org/drawingml/2006/main" noGrp="1"/>
          </p:cNvSpPr>
          <p:nvPr/>
        </p:nvSpPr>
        <p:spPr>
          <a:xfrm xmlns:a="http://schemas.openxmlformats.org/drawingml/2006/main">
            <a:off x="640080" y="309067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5555"/>
                </a:solidFill>
                <a:latin typeface="Calibri"/>
                <a:ea typeface="Calibri"/>
                <a:cs typeface="Calibri"/>
              </a:defRPr>
            </a:pPr>
            <a:r>
              <a:t>Geográficas</a:t>
            </a:r>
            <a:endParaRPr/>
          </a:p>
        </p:txBody>
      </p:sp>
      <p:sp>
        <p:nvSpPr>
          <p:cNvPr id="19" name="TextBox 18">
            <a:extLst xmlns:a="http://schemas.openxmlformats.org/drawingml/2006/main">
              <a:ext uri="{FF2B5EF4-FFF2-40B4-BE49-F238E27FC236}">
                <a16:creationId xmlns:a16="http://schemas.microsoft.com/office/drawing/2014/main" id="{783C010D-FC4A-4C5B-A8EC-95F1B476A77A}"/>
              </a:ext>
            </a:extLst>
          </p:cNvPr>
          <p:cNvSpPr>
            <a:spLocks xmlns:a="http://schemas.openxmlformats.org/drawingml/2006/main" noGrp="1"/>
          </p:cNvSpPr>
          <p:nvPr/>
        </p:nvSpPr>
        <p:spPr>
          <a:xfrm xmlns:a="http://schemas.openxmlformats.org/drawingml/2006/main">
            <a:off x="2926080" y="30906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haversine, KMeans lat/lon</a:t>
            </a:r>
            <a:endParaRPr/>
          </a:p>
        </p:txBody>
      </p:sp>
      <p:sp>
        <p:nvSpPr>
          <p:cNvPr id="20" name="TextBox 19">
            <a:extLst xmlns:a="http://schemas.openxmlformats.org/drawingml/2006/main">
              <a:ext uri="{FF2B5EF4-FFF2-40B4-BE49-F238E27FC236}">
                <a16:creationId xmlns:a16="http://schemas.microsoft.com/office/drawing/2014/main" id="{EEC1F8D2-0B29-416A-BC7E-B8D98D483DC6}"/>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Selección de características:</a:t>
            </a:r>
            <a:endParaRPr/>
          </a:p>
        </p:txBody>
      </p:sp>
      <p:sp>
        <p:nvSpPr>
          <p:cNvPr id="21" name="Rectangle 20">
            <a:extLst xmlns:a="http://schemas.openxmlformats.org/drawingml/2006/main">
              <a:ext uri="{FF2B5EF4-FFF2-40B4-BE49-F238E27FC236}">
                <a16:creationId xmlns:a16="http://schemas.microsoft.com/office/drawing/2014/main" id="{0E4CF80C-57DF-4200-9632-B21F261E7D2A}"/>
              </a:ext>
            </a:extLst>
          </p:cNvPr>
          <p:cNvSpPr>
            <a:spLocks xmlns:a="http://schemas.openxmlformats.org/drawingml/2006/main" noGrp="1"/>
          </p:cNvSpPr>
          <p:nvPr/>
        </p:nvSpPr>
        <p:spPr>
          <a:xfrm xmlns:a="http://schemas.openxmlformats.org/drawingml/2006/main">
            <a:off x="6217920" y="128016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391745C3-FE37-467B-B984-E1BCDD934C0F}"/>
              </a:ext>
            </a:extLst>
          </p:cNvPr>
          <p:cNvSpPr>
            <a:spLocks xmlns:a="http://schemas.openxmlformats.org/drawingml/2006/main" noGrp="1"/>
          </p:cNvSpPr>
          <p:nvPr/>
        </p:nvSpPr>
        <p:spPr>
          <a:xfrm xmlns:a="http://schemas.openxmlformats.org/drawingml/2006/main">
            <a:off x="6400800" y="1261872"/>
            <a:ext cx="164592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D9FF"/>
                </a:solidFill>
                <a:latin typeface="Calibri"/>
                <a:ea typeface="Calibri"/>
                <a:cs typeface="Calibri"/>
              </a:defRPr>
            </a:pPr>
            <a:r>
              <a:t>VIF</a:t>
            </a:r>
            <a:endParaRPr/>
          </a:p>
        </p:txBody>
      </p:sp>
      <p:sp>
        <p:nvSpPr>
          <p:cNvPr id="23" name="TextBox 22">
            <a:extLst xmlns:a="http://schemas.openxmlformats.org/drawingml/2006/main">
              <a:ext uri="{FF2B5EF4-FFF2-40B4-BE49-F238E27FC236}">
                <a16:creationId xmlns:a16="http://schemas.microsoft.com/office/drawing/2014/main" id="{AD993AC7-617E-419D-926C-5210A9AE42CA}"/>
              </a:ext>
            </a:extLst>
          </p:cNvPr>
          <p:cNvSpPr>
            <a:spLocks xmlns:a="http://schemas.openxmlformats.org/drawingml/2006/main" noGrp="1"/>
          </p:cNvSpPr>
          <p:nvPr/>
        </p:nvSpPr>
        <p:spPr>
          <a:xfrm xmlns:a="http://schemas.openxmlformats.org/drawingml/2006/main">
            <a:off x="8046720" y="1261872"/>
            <a:ext cx="38404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VIF &gt; 10 → eliminar</a:t>
            </a:r>
            <a:endParaRPr/>
          </a:p>
        </p:txBody>
      </p:sp>
      <p:sp>
        <p:nvSpPr>
          <p:cNvPr id="24" name="Rectangle 23">
            <a:extLst xmlns:a="http://schemas.openxmlformats.org/drawingml/2006/main">
              <a:ext uri="{FF2B5EF4-FFF2-40B4-BE49-F238E27FC236}">
                <a16:creationId xmlns:a16="http://schemas.microsoft.com/office/drawing/2014/main" id="{B7465271-46AB-4816-98CD-1413172EF0A1}"/>
              </a:ext>
            </a:extLst>
          </p:cNvPr>
          <p:cNvSpPr>
            <a:spLocks xmlns:a="http://schemas.openxmlformats.org/drawingml/2006/main" noGrp="1"/>
          </p:cNvSpPr>
          <p:nvPr/>
        </p:nvSpPr>
        <p:spPr>
          <a:xfrm xmlns:a="http://schemas.openxmlformats.org/drawingml/2006/main">
            <a:off x="6217920" y="1737360"/>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B581633-FC0B-4AA4-821C-466F9686E342}"/>
              </a:ext>
            </a:extLst>
          </p:cNvPr>
          <p:cNvSpPr>
            <a:spLocks xmlns:a="http://schemas.openxmlformats.org/drawingml/2006/main" noGrp="1"/>
          </p:cNvSpPr>
          <p:nvPr/>
        </p:nvSpPr>
        <p:spPr>
          <a:xfrm xmlns:a="http://schemas.openxmlformats.org/drawingml/2006/main">
            <a:off x="6400800" y="1719072"/>
            <a:ext cx="164592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A000"/>
                </a:solidFill>
                <a:latin typeface="Calibri"/>
                <a:ea typeface="Calibri"/>
                <a:cs typeface="Calibri"/>
              </a:defRPr>
            </a:pPr>
            <a:r>
              <a:t>RFE</a:t>
            </a:r>
            <a:endParaRPr/>
          </a:p>
        </p:txBody>
      </p:sp>
      <p:sp>
        <p:nvSpPr>
          <p:cNvPr id="26" name="TextBox 25">
            <a:extLst xmlns:a="http://schemas.openxmlformats.org/drawingml/2006/main">
              <a:ext uri="{FF2B5EF4-FFF2-40B4-BE49-F238E27FC236}">
                <a16:creationId xmlns:a16="http://schemas.microsoft.com/office/drawing/2014/main" id="{3A42E6D9-9EA2-4E7C-8894-EEB22728D499}"/>
              </a:ext>
            </a:extLst>
          </p:cNvPr>
          <p:cNvSpPr>
            <a:spLocks xmlns:a="http://schemas.openxmlformats.org/drawingml/2006/main" noGrp="1"/>
          </p:cNvSpPr>
          <p:nvPr/>
        </p:nvSpPr>
        <p:spPr>
          <a:xfrm xmlns:a="http://schemas.openxmlformats.org/drawingml/2006/main">
            <a:off x="8046720" y="1719072"/>
            <a:ext cx="38404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Recursiva (top-k)</a:t>
            </a:r>
            <a:endParaRPr/>
          </a:p>
        </p:txBody>
      </p:sp>
      <p:sp>
        <p:nvSpPr>
          <p:cNvPr id="27" name="Rectangle 26">
            <a:extLst xmlns:a="http://schemas.openxmlformats.org/drawingml/2006/main">
              <a:ext uri="{FF2B5EF4-FFF2-40B4-BE49-F238E27FC236}">
                <a16:creationId xmlns:a16="http://schemas.microsoft.com/office/drawing/2014/main" id="{D4135F3D-928C-46E4-921B-1265BADE3377}"/>
              </a:ext>
            </a:extLst>
          </p:cNvPr>
          <p:cNvSpPr>
            <a:spLocks xmlns:a="http://schemas.openxmlformats.org/drawingml/2006/main" noGrp="1"/>
          </p:cNvSpPr>
          <p:nvPr/>
        </p:nvSpPr>
        <p:spPr>
          <a:xfrm xmlns:a="http://schemas.openxmlformats.org/drawingml/2006/main">
            <a:off x="6217920" y="2194560"/>
            <a:ext cx="73152" cy="32004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F5B01611-3C65-42CE-8B11-B58EEADCCD78}"/>
              </a:ext>
            </a:extLst>
          </p:cNvPr>
          <p:cNvSpPr>
            <a:spLocks xmlns:a="http://schemas.openxmlformats.org/drawingml/2006/main" noGrp="1"/>
          </p:cNvSpPr>
          <p:nvPr/>
        </p:nvSpPr>
        <p:spPr>
          <a:xfrm xmlns:a="http://schemas.openxmlformats.org/drawingml/2006/main">
            <a:off x="6400800" y="2176272"/>
            <a:ext cx="164592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BB88FF"/>
                </a:solidFill>
                <a:latin typeface="Calibri"/>
                <a:ea typeface="Calibri"/>
                <a:cs typeface="Calibri"/>
              </a:defRPr>
            </a:pPr>
            <a:r>
              <a:t>SHAP</a:t>
            </a:r>
            <a:endParaRPr/>
          </a:p>
        </p:txBody>
      </p:sp>
      <p:sp>
        <p:nvSpPr>
          <p:cNvPr id="29" name="TextBox 28">
            <a:extLst xmlns:a="http://schemas.openxmlformats.org/drawingml/2006/main">
              <a:ext uri="{FF2B5EF4-FFF2-40B4-BE49-F238E27FC236}">
                <a16:creationId xmlns:a16="http://schemas.microsoft.com/office/drawing/2014/main" id="{0181C678-8EE7-40B9-BD2C-1A3C9EB67051}"/>
              </a:ext>
            </a:extLst>
          </p:cNvPr>
          <p:cNvSpPr>
            <a:spLocks xmlns:a="http://schemas.openxmlformats.org/drawingml/2006/main" noGrp="1"/>
          </p:cNvSpPr>
          <p:nvPr/>
        </p:nvSpPr>
        <p:spPr>
          <a:xfrm xmlns:a="http://schemas.openxmlformats.org/drawingml/2006/main">
            <a:off x="8046720" y="2176272"/>
            <a:ext cx="38404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Valores de Shapley</a:t>
            </a:r>
            <a:endParaRPr/>
          </a:p>
        </p:txBody>
      </p:sp>
      <p:sp>
        <p:nvSpPr>
          <p:cNvPr id="30" name="Rectangle 29">
            <a:extLst xmlns:a="http://schemas.openxmlformats.org/drawingml/2006/main">
              <a:ext uri="{FF2B5EF4-FFF2-40B4-BE49-F238E27FC236}">
                <a16:creationId xmlns:a16="http://schemas.microsoft.com/office/drawing/2014/main" id="{2447CE61-6DB0-46FC-8166-F18BDC87EBE0}"/>
              </a:ext>
            </a:extLst>
          </p:cNvPr>
          <p:cNvSpPr>
            <a:spLocks xmlns:a="http://schemas.openxmlformats.org/drawingml/2006/main" noGrp="1"/>
          </p:cNvSpPr>
          <p:nvPr/>
        </p:nvSpPr>
        <p:spPr>
          <a:xfrm xmlns:a="http://schemas.openxmlformats.org/drawingml/2006/main">
            <a:off x="6217920" y="2651760"/>
            <a:ext cx="73152" cy="32004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8D585089-4048-4FB7-B685-882DC60E642B}"/>
              </a:ext>
            </a:extLst>
          </p:cNvPr>
          <p:cNvSpPr>
            <a:spLocks xmlns:a="http://schemas.openxmlformats.org/drawingml/2006/main" noGrp="1"/>
          </p:cNvSpPr>
          <p:nvPr/>
        </p:nvSpPr>
        <p:spPr>
          <a:xfrm xmlns:a="http://schemas.openxmlformats.org/drawingml/2006/main">
            <a:off x="6400800" y="2633472"/>
            <a:ext cx="164592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FF88"/>
                </a:solidFill>
                <a:latin typeface="Calibri"/>
                <a:ea typeface="Calibri"/>
                <a:cs typeface="Calibri"/>
              </a:defRPr>
            </a:pPr>
            <a:r>
              <a:t>SelectKBest</a:t>
            </a:r>
            <a:endParaRPr/>
          </a:p>
        </p:txBody>
      </p:sp>
      <p:sp>
        <p:nvSpPr>
          <p:cNvPr id="32" name="TextBox 31">
            <a:extLst xmlns:a="http://schemas.openxmlformats.org/drawingml/2006/main">
              <a:ext uri="{FF2B5EF4-FFF2-40B4-BE49-F238E27FC236}">
                <a16:creationId xmlns:a16="http://schemas.microsoft.com/office/drawing/2014/main" id="{465D65FC-CDBB-4D48-9EE9-D9AD313837C2}"/>
              </a:ext>
            </a:extLst>
          </p:cNvPr>
          <p:cNvSpPr>
            <a:spLocks xmlns:a="http://schemas.openxmlformats.org/drawingml/2006/main" noGrp="1"/>
          </p:cNvSpPr>
          <p:nvPr/>
        </p:nvSpPr>
        <p:spPr>
          <a:xfrm xmlns:a="http://schemas.openxmlformats.org/drawingml/2006/main">
            <a:off x="8046720" y="2633472"/>
            <a:ext cx="38404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Estadística</a:t>
            </a:r>
            <a:endParaRPr/>
          </a:p>
        </p:txBody>
      </p:sp>
      <p:sp>
        <p:nvSpPr>
          <p:cNvPr id="33" name="Rectangle 32">
            <a:extLst xmlns:a="http://schemas.openxmlformats.org/drawingml/2006/main">
              <a:ext uri="{FF2B5EF4-FFF2-40B4-BE49-F238E27FC236}">
                <a16:creationId xmlns:a16="http://schemas.microsoft.com/office/drawing/2014/main" id="{5387DCA5-E24B-4DAE-B588-CF6B4FEE7B3F}"/>
              </a:ext>
            </a:extLst>
          </p:cNvPr>
          <p:cNvSpPr>
            <a:spLocks xmlns:a="http://schemas.openxmlformats.org/drawingml/2006/main" noGrp="1"/>
          </p:cNvSpPr>
          <p:nvPr/>
        </p:nvSpPr>
        <p:spPr>
          <a:xfrm xmlns:a="http://schemas.openxmlformats.org/drawingml/2006/main">
            <a:off x="457200" y="3657600"/>
            <a:ext cx="11247120" cy="22860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8B3DD460-9C9D-4A97-9E4A-2FB23A6CE8E4}"/>
              </a:ext>
            </a:extLst>
          </p:cNvPr>
          <p:cNvSpPr>
            <a:spLocks xmlns:a="http://schemas.openxmlformats.org/drawingml/2006/main" noGrp="1"/>
          </p:cNvSpPr>
          <p:nvPr/>
        </p:nvSpPr>
        <p:spPr>
          <a:xfrm xmlns:a="http://schemas.openxmlformats.org/drawingml/2006/main">
            <a:off x="530352" y="3694176"/>
            <a:ext cx="11100816" cy="22128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200">
                <a:solidFill>
                  <a:srgbClr val="80FF80"/>
                </a:solidFill>
                <a:latin typeface="Consolas"/>
                <a:ea typeface="Consolas"/>
                <a:cs typeface="Consolas"/>
              </a:defRPr>
            </a:pPr>
            <a:r>
              <a:t># Ingeniería con expresiones de Polars (sin bucles for)</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 = df.with_columns([</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pl.col('name').str.lengths().alias('name_len'),</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pl.col('category_name').str.split('/').list.get(0).alias('cat_1'),</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pl.when(pl.col('brand_name').is_not_null()).then(1).otherwise(0).alias('has_brand'),</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    (pl.col('price') / pl.col('shipping')).alias('price_per_ship'),</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a:t>
            </a:r>
            <a:endParaRPr/>
          </a:p>
        </p:txBody>
      </p:sp>
      <p:sp>
        <p:nvSpPr>
          <p:cNvPr id="35" name="TextBox 34">
            <a:extLst xmlns:a="http://schemas.openxmlformats.org/drawingml/2006/main">
              <a:ext uri="{FF2B5EF4-FFF2-40B4-BE49-F238E27FC236}">
                <a16:creationId xmlns:a16="http://schemas.microsoft.com/office/drawing/2014/main" id="{221AC747-78B1-49DE-894C-B2FF6E88FBC0}"/>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11</a:t>
            </a:r>
            <a:endParaRPr/>
          </a:p>
        </p:txBody>
      </p:sp>
    </p:spTree>
    <p:extLst>
      <p:ext uri="{BB962C8B-B14F-4D97-AF65-F5344CB8AC3E}">
        <p14:creationId xmlns:p14="http://schemas.microsoft.com/office/powerpoint/2010/main" val="1780145562"/>
      </p:ext>
    </p:extLst>
  </p:cSld>
</p:sld>
</file>

<file path=ppt/slides/slide12.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71CAAF01-56CF-4723-9F82-20FCC603F29F}"/>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145F3AD1-8E29-4FA7-A559-F4B4715BC194}"/>
              </a:ext>
            </a:extLst>
          </p:cNvPr>
          <p:cNvSpPr>
            <a:spLocks xmlns:a="http://schemas.openxmlformats.org/drawingml/2006/main" noGrp="1"/>
          </p:cNvSpPr>
          <p:nvPr/>
        </p:nvSpPr>
        <p:spPr>
          <a:xfrm xmlns:a="http://schemas.openxmlformats.org/drawingml/2006/main">
            <a:off x="457200" y="365760"/>
            <a:ext cx="10973160" cy="4880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Modelos de regresión</a:t>
            </a:r>
            <a:endParaRPr/>
          </a:p>
        </p:txBody>
      </p:sp>
      <p:sp>
        <p:nvSpPr>
          <p:cNvPr id="4" name="TextBox 3">
            <a:extLst xmlns:a="http://schemas.openxmlformats.org/drawingml/2006/main">
              <a:ext uri="{FF2B5EF4-FFF2-40B4-BE49-F238E27FC236}">
                <a16:creationId xmlns:a16="http://schemas.microsoft.com/office/drawing/2014/main" id="{A3A62773-A05F-4BD9-91F3-16104323FC58}"/>
              </a:ext>
            </a:extLst>
          </p:cNvPr>
          <p:cNvSpPr>
            <a:spLocks xmlns:a="http://schemas.openxmlformats.org/drawingml/2006/main" noGrp="1"/>
          </p:cNvSpPr>
          <p:nvPr/>
        </p:nvSpPr>
        <p:spPr>
          <a:xfrm xmlns:a="http://schemas.openxmlformats.org/drawingml/2006/main">
            <a:off x="457200" y="914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00FF88"/>
                </a:solidFill>
                <a:latin typeface="Calibri"/>
                <a:ea typeface="Calibri"/>
                <a:cs typeface="Calibri"/>
              </a:defRPr>
            </a:pPr>
            <a:r>
              <a:t>Nivel 3 (5 modelos):</a:t>
            </a:r>
            <a:endParaRPr/>
          </a:p>
        </p:txBody>
      </p:sp>
      <p:sp>
        <p:nvSpPr>
          <p:cNvPr id="5" name="Rectangle 4">
            <a:extLst xmlns:a="http://schemas.openxmlformats.org/drawingml/2006/main">
              <a:ext uri="{FF2B5EF4-FFF2-40B4-BE49-F238E27FC236}">
                <a16:creationId xmlns:a16="http://schemas.microsoft.com/office/drawing/2014/main" id="{A59B41DE-4B44-477B-8C0F-586FE2C10A34}"/>
              </a:ext>
            </a:extLst>
          </p:cNvPr>
          <p:cNvSpPr>
            <a:spLocks xmlns:a="http://schemas.openxmlformats.org/drawingml/2006/main" noGrp="1"/>
          </p:cNvSpPr>
          <p:nvPr/>
        </p:nvSpPr>
        <p:spPr>
          <a:xfrm xmlns:a="http://schemas.openxmlformats.org/drawingml/2006/main">
            <a:off x="457200" y="1280160"/>
            <a:ext cx="2103120" cy="365760"/>
          </a:xfrm>
          <a:prstGeom xmlns:a="http://schemas.openxmlformats.org/drawingml/2006/main" prst="rect">
            <a:avLst/>
          </a:prstGeom>
          <a:solidFill xmlns:a="http://schemas.openxmlformats.org/drawingml/2006/main">
            <a:srgbClr val="1A3A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2C3C985-2B1D-43B7-8F69-F288F5E5C56E}"/>
              </a:ext>
            </a:extLst>
          </p:cNvPr>
          <p:cNvSpPr>
            <a:spLocks xmlns:a="http://schemas.openxmlformats.org/drawingml/2006/main" noGrp="1"/>
          </p:cNvSpPr>
          <p:nvPr/>
        </p:nvSpPr>
        <p:spPr>
          <a:xfrm xmlns:a="http://schemas.openxmlformats.org/drawingml/2006/main">
            <a:off x="457200" y="1298448"/>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00FF88"/>
                </a:solidFill>
                <a:latin typeface="Calibri"/>
                <a:ea typeface="Calibri"/>
                <a:cs typeface="Calibri"/>
              </a:defRPr>
            </a:pPr>
            <a:r>
              <a:t>Lineal</a:t>
            </a:r>
            <a:endParaRPr/>
          </a:p>
        </p:txBody>
      </p:sp>
      <p:sp>
        <p:nvSpPr>
          <p:cNvPr id="7" name="Rectangle 6">
            <a:extLst xmlns:a="http://schemas.openxmlformats.org/drawingml/2006/main">
              <a:ext uri="{FF2B5EF4-FFF2-40B4-BE49-F238E27FC236}">
                <a16:creationId xmlns:a16="http://schemas.microsoft.com/office/drawing/2014/main" id="{9CF79756-D42A-4CA8-A912-EFBCA1E78A41}"/>
              </a:ext>
            </a:extLst>
          </p:cNvPr>
          <p:cNvSpPr>
            <a:spLocks xmlns:a="http://schemas.openxmlformats.org/drawingml/2006/main" noGrp="1"/>
          </p:cNvSpPr>
          <p:nvPr/>
        </p:nvSpPr>
        <p:spPr>
          <a:xfrm xmlns:a="http://schemas.openxmlformats.org/drawingml/2006/main">
            <a:off x="2743200" y="1280160"/>
            <a:ext cx="2103120" cy="365760"/>
          </a:xfrm>
          <a:prstGeom xmlns:a="http://schemas.openxmlformats.org/drawingml/2006/main" prst="rect">
            <a:avLst/>
          </a:prstGeom>
          <a:solidFill xmlns:a="http://schemas.openxmlformats.org/drawingml/2006/main">
            <a:srgbClr val="1A3A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BCB4FAE4-1CA8-48B7-81EC-7710C7A547C6}"/>
              </a:ext>
            </a:extLst>
          </p:cNvPr>
          <p:cNvSpPr>
            <a:spLocks xmlns:a="http://schemas.openxmlformats.org/drawingml/2006/main" noGrp="1"/>
          </p:cNvSpPr>
          <p:nvPr/>
        </p:nvSpPr>
        <p:spPr>
          <a:xfrm xmlns:a="http://schemas.openxmlformats.org/drawingml/2006/main">
            <a:off x="2743200" y="1298448"/>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00FF88"/>
                </a:solidFill>
                <a:latin typeface="Calibri"/>
                <a:ea typeface="Calibri"/>
                <a:cs typeface="Calibri"/>
              </a:defRPr>
            </a:pPr>
            <a:r>
              <a:t>Ridge</a:t>
            </a:r>
            <a:endParaRPr/>
          </a:p>
        </p:txBody>
      </p:sp>
      <p:sp>
        <p:nvSpPr>
          <p:cNvPr id="9" name="Rectangle 8">
            <a:extLst xmlns:a="http://schemas.openxmlformats.org/drawingml/2006/main">
              <a:ext uri="{FF2B5EF4-FFF2-40B4-BE49-F238E27FC236}">
                <a16:creationId xmlns:a16="http://schemas.microsoft.com/office/drawing/2014/main" id="{37CB45E2-4405-44CE-A4B2-DF105426E251}"/>
              </a:ext>
            </a:extLst>
          </p:cNvPr>
          <p:cNvSpPr>
            <a:spLocks xmlns:a="http://schemas.openxmlformats.org/drawingml/2006/main" noGrp="1"/>
          </p:cNvSpPr>
          <p:nvPr/>
        </p:nvSpPr>
        <p:spPr>
          <a:xfrm xmlns:a="http://schemas.openxmlformats.org/drawingml/2006/main">
            <a:off x="5029200" y="1280160"/>
            <a:ext cx="2103120" cy="365760"/>
          </a:xfrm>
          <a:prstGeom xmlns:a="http://schemas.openxmlformats.org/drawingml/2006/main" prst="rect">
            <a:avLst/>
          </a:prstGeom>
          <a:solidFill xmlns:a="http://schemas.openxmlformats.org/drawingml/2006/main">
            <a:srgbClr val="1A3A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45CD8FEC-9D18-4F7F-BF7C-09FF9A92F7DB}"/>
              </a:ext>
            </a:extLst>
          </p:cNvPr>
          <p:cNvSpPr>
            <a:spLocks xmlns:a="http://schemas.openxmlformats.org/drawingml/2006/main" noGrp="1"/>
          </p:cNvSpPr>
          <p:nvPr/>
        </p:nvSpPr>
        <p:spPr>
          <a:xfrm xmlns:a="http://schemas.openxmlformats.org/drawingml/2006/main">
            <a:off x="5029200" y="1298448"/>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00FF88"/>
                </a:solidFill>
                <a:latin typeface="Calibri"/>
                <a:ea typeface="Calibri"/>
                <a:cs typeface="Calibri"/>
              </a:defRPr>
            </a:pPr>
            <a:r>
              <a:t>Lasso</a:t>
            </a:r>
            <a:endParaRPr/>
          </a:p>
        </p:txBody>
      </p:sp>
      <p:sp>
        <p:nvSpPr>
          <p:cNvPr id="11" name="Rectangle 10">
            <a:extLst xmlns:a="http://schemas.openxmlformats.org/drawingml/2006/main">
              <a:ext uri="{FF2B5EF4-FFF2-40B4-BE49-F238E27FC236}">
                <a16:creationId xmlns:a16="http://schemas.microsoft.com/office/drawing/2014/main" id="{ED39D85F-66A3-4BEB-838B-DCB6178E30F6}"/>
              </a:ext>
            </a:extLst>
          </p:cNvPr>
          <p:cNvSpPr>
            <a:spLocks xmlns:a="http://schemas.openxmlformats.org/drawingml/2006/main" noGrp="1"/>
          </p:cNvSpPr>
          <p:nvPr/>
        </p:nvSpPr>
        <p:spPr>
          <a:xfrm xmlns:a="http://schemas.openxmlformats.org/drawingml/2006/main">
            <a:off x="7315200" y="1280160"/>
            <a:ext cx="2103120" cy="365760"/>
          </a:xfrm>
          <a:prstGeom xmlns:a="http://schemas.openxmlformats.org/drawingml/2006/main" prst="rect">
            <a:avLst/>
          </a:prstGeom>
          <a:solidFill xmlns:a="http://schemas.openxmlformats.org/drawingml/2006/main">
            <a:srgbClr val="1A3A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A84F392-FB6C-4F53-9A23-893F1C989A78}"/>
              </a:ext>
            </a:extLst>
          </p:cNvPr>
          <p:cNvSpPr>
            <a:spLocks xmlns:a="http://schemas.openxmlformats.org/drawingml/2006/main" noGrp="1"/>
          </p:cNvSpPr>
          <p:nvPr/>
        </p:nvSpPr>
        <p:spPr>
          <a:xfrm xmlns:a="http://schemas.openxmlformats.org/drawingml/2006/main">
            <a:off x="7315200" y="1298448"/>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00FF88"/>
                </a:solidFill>
                <a:latin typeface="Calibri"/>
                <a:ea typeface="Calibri"/>
                <a:cs typeface="Calibri"/>
              </a:defRPr>
            </a:pPr>
            <a:r>
              <a:t>Random Forest</a:t>
            </a:r>
            <a:endParaRPr/>
          </a:p>
        </p:txBody>
      </p:sp>
      <p:sp>
        <p:nvSpPr>
          <p:cNvPr id="13" name="Rectangle 12">
            <a:extLst xmlns:a="http://schemas.openxmlformats.org/drawingml/2006/main">
              <a:ext uri="{FF2B5EF4-FFF2-40B4-BE49-F238E27FC236}">
                <a16:creationId xmlns:a16="http://schemas.microsoft.com/office/drawing/2014/main" id="{BE499D04-C4C2-41D5-ABC0-3540AC55E153}"/>
              </a:ext>
            </a:extLst>
          </p:cNvPr>
          <p:cNvSpPr>
            <a:spLocks xmlns:a="http://schemas.openxmlformats.org/drawingml/2006/main" noGrp="1"/>
          </p:cNvSpPr>
          <p:nvPr/>
        </p:nvSpPr>
        <p:spPr>
          <a:xfrm xmlns:a="http://schemas.openxmlformats.org/drawingml/2006/main">
            <a:off x="9601200" y="1280160"/>
            <a:ext cx="2103120" cy="365760"/>
          </a:xfrm>
          <a:prstGeom xmlns:a="http://schemas.openxmlformats.org/drawingml/2006/main" prst="rect">
            <a:avLst/>
          </a:prstGeom>
          <a:solidFill xmlns:a="http://schemas.openxmlformats.org/drawingml/2006/main">
            <a:srgbClr val="1A3A2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72068CBE-1369-4847-8BA2-F1728073AD98}"/>
              </a:ext>
            </a:extLst>
          </p:cNvPr>
          <p:cNvSpPr>
            <a:spLocks xmlns:a="http://schemas.openxmlformats.org/drawingml/2006/main" noGrp="1"/>
          </p:cNvSpPr>
          <p:nvPr/>
        </p:nvSpPr>
        <p:spPr>
          <a:xfrm xmlns:a="http://schemas.openxmlformats.org/drawingml/2006/main">
            <a:off x="9601200" y="1298448"/>
            <a:ext cx="210312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00FF88"/>
                </a:solidFill>
                <a:latin typeface="Calibri"/>
                <a:ea typeface="Calibri"/>
                <a:cs typeface="Calibri"/>
              </a:defRPr>
            </a:pPr>
            <a:r>
              <a:t>Gradient Boosting</a:t>
            </a:r>
            <a:endParaRPr/>
          </a:p>
        </p:txBody>
      </p:sp>
      <p:sp>
        <p:nvSpPr>
          <p:cNvPr id="15" name="TextBox 14">
            <a:extLst xmlns:a="http://schemas.openxmlformats.org/drawingml/2006/main">
              <a:ext uri="{FF2B5EF4-FFF2-40B4-BE49-F238E27FC236}">
                <a16:creationId xmlns:a16="http://schemas.microsoft.com/office/drawing/2014/main" id="{1291D2ED-9116-436B-95B6-8E83C1A113F0}"/>
              </a:ext>
            </a:extLst>
          </p:cNvPr>
          <p:cNvSpPr>
            <a:spLocks xmlns:a="http://schemas.openxmlformats.org/drawingml/2006/main" noGrp="1"/>
          </p:cNvSpPr>
          <p:nvPr/>
        </p:nvSpPr>
        <p:spPr>
          <a:xfrm xmlns:a="http://schemas.openxmlformats.org/drawingml/2006/main">
            <a:off x="457200" y="1920240"/>
            <a:ext cx="10973160" cy="3203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Nivel 4 (3):</a:t>
            </a:r>
            <a:endParaRPr/>
          </a:p>
        </p:txBody>
      </p:sp>
      <p:sp>
        <p:nvSpPr>
          <p:cNvPr id="16" name="Rectangle 15">
            <a:extLst xmlns:a="http://schemas.openxmlformats.org/drawingml/2006/main">
              <a:ext uri="{FF2B5EF4-FFF2-40B4-BE49-F238E27FC236}">
                <a16:creationId xmlns:a16="http://schemas.microsoft.com/office/drawing/2014/main" id="{4EA50284-AACC-45A9-B789-B30406A9C6FD}"/>
              </a:ext>
            </a:extLst>
          </p:cNvPr>
          <p:cNvSpPr>
            <a:spLocks xmlns:a="http://schemas.openxmlformats.org/drawingml/2006/main" noGrp="1"/>
          </p:cNvSpPr>
          <p:nvPr/>
        </p:nvSpPr>
        <p:spPr>
          <a:xfrm xmlns:a="http://schemas.openxmlformats.org/drawingml/2006/main">
            <a:off x="457200" y="2286000"/>
            <a:ext cx="3657600" cy="365760"/>
          </a:xfrm>
          <a:prstGeom xmlns:a="http://schemas.openxmlformats.org/drawingml/2006/main" prst="rect">
            <a:avLst/>
          </a:prstGeom>
          <a:solidFill xmlns:a="http://schemas.openxmlformats.org/drawingml/2006/main">
            <a:srgbClr val="3A2A0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4162C93-1A69-4413-B7FD-B05B07153F09}"/>
              </a:ext>
            </a:extLst>
          </p:cNvPr>
          <p:cNvSpPr>
            <a:spLocks xmlns:a="http://schemas.openxmlformats.org/drawingml/2006/main" noGrp="1"/>
          </p:cNvSpPr>
          <p:nvPr/>
        </p:nvSpPr>
        <p:spPr>
          <a:xfrm xmlns:a="http://schemas.openxmlformats.org/drawingml/2006/main">
            <a:off x="457200" y="2304288"/>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A000"/>
                </a:solidFill>
                <a:latin typeface="Calibri"/>
                <a:ea typeface="Calibri"/>
                <a:cs typeface="Calibri"/>
              </a:defRPr>
            </a:pPr>
            <a:r>
              <a:t>ElasticNet</a:t>
            </a:r>
            <a:endParaRPr/>
          </a:p>
        </p:txBody>
      </p:sp>
      <p:sp>
        <p:nvSpPr>
          <p:cNvPr id="18" name="Rectangle 17">
            <a:extLst xmlns:a="http://schemas.openxmlformats.org/drawingml/2006/main">
              <a:ext uri="{FF2B5EF4-FFF2-40B4-BE49-F238E27FC236}">
                <a16:creationId xmlns:a16="http://schemas.microsoft.com/office/drawing/2014/main" id="{F20E726E-1064-4CFF-A3A3-DCF24EF6242F}"/>
              </a:ext>
            </a:extLst>
          </p:cNvPr>
          <p:cNvSpPr>
            <a:spLocks xmlns:a="http://schemas.openxmlformats.org/drawingml/2006/main" noGrp="1"/>
          </p:cNvSpPr>
          <p:nvPr/>
        </p:nvSpPr>
        <p:spPr>
          <a:xfrm xmlns:a="http://schemas.openxmlformats.org/drawingml/2006/main">
            <a:off x="4297680" y="2286000"/>
            <a:ext cx="3657600" cy="365760"/>
          </a:xfrm>
          <a:prstGeom xmlns:a="http://schemas.openxmlformats.org/drawingml/2006/main" prst="rect">
            <a:avLst/>
          </a:prstGeom>
          <a:solidFill xmlns:a="http://schemas.openxmlformats.org/drawingml/2006/main">
            <a:srgbClr val="3A2A0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6205CF56-F8BF-4320-8ED5-E574195C18F7}"/>
              </a:ext>
            </a:extLst>
          </p:cNvPr>
          <p:cNvSpPr>
            <a:spLocks xmlns:a="http://schemas.openxmlformats.org/drawingml/2006/main" noGrp="1"/>
          </p:cNvSpPr>
          <p:nvPr/>
        </p:nvSpPr>
        <p:spPr>
          <a:xfrm xmlns:a="http://schemas.openxmlformats.org/drawingml/2006/main">
            <a:off x="4297680" y="2304288"/>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A000"/>
                </a:solidFill>
                <a:latin typeface="Calibri"/>
                <a:ea typeface="Calibri"/>
                <a:cs typeface="Calibri"/>
              </a:defRPr>
            </a:pPr>
            <a:r>
              <a:t>SVR</a:t>
            </a:r>
            <a:endParaRPr/>
          </a:p>
        </p:txBody>
      </p:sp>
      <p:sp>
        <p:nvSpPr>
          <p:cNvPr id="20" name="Rectangle 19">
            <a:extLst xmlns:a="http://schemas.openxmlformats.org/drawingml/2006/main">
              <a:ext uri="{FF2B5EF4-FFF2-40B4-BE49-F238E27FC236}">
                <a16:creationId xmlns:a16="http://schemas.microsoft.com/office/drawing/2014/main" id="{3C822F78-9E02-4584-A8AF-1C5E0C53EA72}"/>
              </a:ext>
            </a:extLst>
          </p:cNvPr>
          <p:cNvSpPr>
            <a:spLocks xmlns:a="http://schemas.openxmlformats.org/drawingml/2006/main" noGrp="1"/>
          </p:cNvSpPr>
          <p:nvPr/>
        </p:nvSpPr>
        <p:spPr>
          <a:xfrm xmlns:a="http://schemas.openxmlformats.org/drawingml/2006/main">
            <a:off x="8138160" y="2286000"/>
            <a:ext cx="3657600" cy="365760"/>
          </a:xfrm>
          <a:prstGeom xmlns:a="http://schemas.openxmlformats.org/drawingml/2006/main" prst="rect">
            <a:avLst/>
          </a:prstGeom>
          <a:solidFill xmlns:a="http://schemas.openxmlformats.org/drawingml/2006/main">
            <a:srgbClr val="3A2A0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D16220F-540A-4818-8668-9E0B49EAB29B}"/>
              </a:ext>
            </a:extLst>
          </p:cNvPr>
          <p:cNvSpPr>
            <a:spLocks xmlns:a="http://schemas.openxmlformats.org/drawingml/2006/main" noGrp="1"/>
          </p:cNvSpPr>
          <p:nvPr/>
        </p:nvSpPr>
        <p:spPr>
          <a:xfrm xmlns:a="http://schemas.openxmlformats.org/drawingml/2006/main">
            <a:off x="8138160" y="2304288"/>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A000"/>
                </a:solidFill>
                <a:latin typeface="Calibri"/>
                <a:ea typeface="Calibri"/>
                <a:cs typeface="Calibri"/>
              </a:defRPr>
            </a:pPr>
            <a:r>
              <a:t>XGBoost/LightGBM/CatBoost</a:t>
            </a:r>
            <a:endParaRPr/>
          </a:p>
        </p:txBody>
      </p:sp>
      <p:sp>
        <p:nvSpPr>
          <p:cNvPr id="22" name="TextBox 21">
            <a:extLst xmlns:a="http://schemas.openxmlformats.org/drawingml/2006/main">
              <a:ext uri="{FF2B5EF4-FFF2-40B4-BE49-F238E27FC236}">
                <a16:creationId xmlns:a16="http://schemas.microsoft.com/office/drawing/2014/main" id="{AA3EFAB6-6E1D-4E8B-83A4-5A24DCA8DB17}"/>
              </a:ext>
            </a:extLst>
          </p:cNvPr>
          <p:cNvSpPr>
            <a:spLocks xmlns:a="http://schemas.openxmlformats.org/drawingml/2006/main" noGrp="1"/>
          </p:cNvSpPr>
          <p:nvPr/>
        </p:nvSpPr>
        <p:spPr>
          <a:xfrm xmlns:a="http://schemas.openxmlformats.org/drawingml/2006/main">
            <a:off x="457200" y="2926080"/>
            <a:ext cx="10973160" cy="3203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5555"/>
                </a:solidFill>
                <a:latin typeface="Calibri"/>
                <a:ea typeface="Calibri"/>
                <a:cs typeface="Calibri"/>
              </a:defRPr>
            </a:pPr>
            <a:r>
              <a:t>Nivel 5 (6):</a:t>
            </a:r>
            <a:endParaRPr/>
          </a:p>
        </p:txBody>
      </p:sp>
      <p:sp>
        <p:nvSpPr>
          <p:cNvPr id="23" name="Rectangle 22">
            <a:extLst xmlns:a="http://schemas.openxmlformats.org/drawingml/2006/main">
              <a:ext uri="{FF2B5EF4-FFF2-40B4-BE49-F238E27FC236}">
                <a16:creationId xmlns:a16="http://schemas.microsoft.com/office/drawing/2014/main" id="{5439DCF1-B4EF-4C61-B8EA-5E0EF638711A}"/>
              </a:ext>
            </a:extLst>
          </p:cNvPr>
          <p:cNvSpPr>
            <a:spLocks xmlns:a="http://schemas.openxmlformats.org/drawingml/2006/main" noGrp="1"/>
          </p:cNvSpPr>
          <p:nvPr/>
        </p:nvSpPr>
        <p:spPr>
          <a:xfrm xmlns:a="http://schemas.openxmlformats.org/drawingml/2006/main">
            <a:off x="457200" y="3291840"/>
            <a:ext cx="3657600" cy="365760"/>
          </a:xfrm>
          <a:prstGeom xmlns:a="http://schemas.openxmlformats.org/drawingml/2006/main" prst="rect">
            <a:avLst/>
          </a:prstGeom>
          <a:solidFill xmlns:a="http://schemas.openxmlformats.org/drawingml/2006/main">
            <a:srgbClr val="3A1A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FB61FF4D-A86C-4460-93FC-43A48B3391D1}"/>
              </a:ext>
            </a:extLst>
          </p:cNvPr>
          <p:cNvSpPr>
            <a:spLocks xmlns:a="http://schemas.openxmlformats.org/drawingml/2006/main" noGrp="1"/>
          </p:cNvSpPr>
          <p:nvPr/>
        </p:nvSpPr>
        <p:spPr>
          <a:xfrm xmlns:a="http://schemas.openxmlformats.org/drawingml/2006/main">
            <a:off x="457200" y="3310127"/>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5555"/>
                </a:solidFill>
                <a:latin typeface="Calibri"/>
                <a:ea typeface="Calibri"/>
                <a:cs typeface="Calibri"/>
              </a:defRPr>
            </a:pPr>
            <a:r>
              <a:t>Regresión cuantílica</a:t>
            </a:r>
            <a:endParaRPr/>
          </a:p>
        </p:txBody>
      </p:sp>
      <p:sp>
        <p:nvSpPr>
          <p:cNvPr id="25" name="Rectangle 24">
            <a:extLst xmlns:a="http://schemas.openxmlformats.org/drawingml/2006/main">
              <a:ext uri="{FF2B5EF4-FFF2-40B4-BE49-F238E27FC236}">
                <a16:creationId xmlns:a16="http://schemas.microsoft.com/office/drawing/2014/main" id="{B2BFB7B5-4884-4A12-B25E-1DB5EB759079}"/>
              </a:ext>
            </a:extLst>
          </p:cNvPr>
          <p:cNvSpPr>
            <a:spLocks xmlns:a="http://schemas.openxmlformats.org/drawingml/2006/main" noGrp="1"/>
          </p:cNvSpPr>
          <p:nvPr/>
        </p:nvSpPr>
        <p:spPr>
          <a:xfrm xmlns:a="http://schemas.openxmlformats.org/drawingml/2006/main">
            <a:off x="4297680" y="3291840"/>
            <a:ext cx="3657600" cy="365760"/>
          </a:xfrm>
          <a:prstGeom xmlns:a="http://schemas.openxmlformats.org/drawingml/2006/main" prst="rect">
            <a:avLst/>
          </a:prstGeom>
          <a:solidFill xmlns:a="http://schemas.openxmlformats.org/drawingml/2006/main">
            <a:srgbClr val="3A1A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D99A7943-DE99-48A1-9CDA-2F0B8A955917}"/>
              </a:ext>
            </a:extLst>
          </p:cNvPr>
          <p:cNvSpPr>
            <a:spLocks xmlns:a="http://schemas.openxmlformats.org/drawingml/2006/main" noGrp="1"/>
          </p:cNvSpPr>
          <p:nvPr/>
        </p:nvSpPr>
        <p:spPr>
          <a:xfrm xmlns:a="http://schemas.openxmlformats.org/drawingml/2006/main">
            <a:off x="4297680" y="3310127"/>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5555"/>
                </a:solidFill>
                <a:latin typeface="Calibri"/>
                <a:ea typeface="Calibri"/>
                <a:cs typeface="Calibri"/>
              </a:defRPr>
            </a:pPr>
            <a:r>
              <a:t>RANSAC</a:t>
            </a:r>
            <a:endParaRPr/>
          </a:p>
        </p:txBody>
      </p:sp>
      <p:sp>
        <p:nvSpPr>
          <p:cNvPr id="27" name="Rectangle 26">
            <a:extLst xmlns:a="http://schemas.openxmlformats.org/drawingml/2006/main">
              <a:ext uri="{FF2B5EF4-FFF2-40B4-BE49-F238E27FC236}">
                <a16:creationId xmlns:a16="http://schemas.microsoft.com/office/drawing/2014/main" id="{92D367E5-CBCA-402D-8CDE-0A3D970FF807}"/>
              </a:ext>
            </a:extLst>
          </p:cNvPr>
          <p:cNvSpPr>
            <a:spLocks xmlns:a="http://schemas.openxmlformats.org/drawingml/2006/main" noGrp="1"/>
          </p:cNvSpPr>
          <p:nvPr/>
        </p:nvSpPr>
        <p:spPr>
          <a:xfrm xmlns:a="http://schemas.openxmlformats.org/drawingml/2006/main">
            <a:off x="8138160" y="3291840"/>
            <a:ext cx="3657600" cy="365760"/>
          </a:xfrm>
          <a:prstGeom xmlns:a="http://schemas.openxmlformats.org/drawingml/2006/main" prst="rect">
            <a:avLst/>
          </a:prstGeom>
          <a:solidFill xmlns:a="http://schemas.openxmlformats.org/drawingml/2006/main">
            <a:srgbClr val="3A1A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33C0EB6C-7B04-458B-A7DD-FE90B1A677C1}"/>
              </a:ext>
            </a:extLst>
          </p:cNvPr>
          <p:cNvSpPr>
            <a:spLocks xmlns:a="http://schemas.openxmlformats.org/drawingml/2006/main" noGrp="1"/>
          </p:cNvSpPr>
          <p:nvPr/>
        </p:nvSpPr>
        <p:spPr>
          <a:xfrm xmlns:a="http://schemas.openxmlformats.org/drawingml/2006/main">
            <a:off x="8138160" y="3310127"/>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5555"/>
                </a:solidFill>
                <a:latin typeface="Calibri"/>
                <a:ea typeface="Calibri"/>
                <a:cs typeface="Calibri"/>
              </a:defRPr>
            </a:pPr>
            <a:r>
              <a:t>PyTorch NN</a:t>
            </a:r>
            <a:endParaRPr/>
          </a:p>
        </p:txBody>
      </p:sp>
      <p:sp>
        <p:nvSpPr>
          <p:cNvPr id="29" name="Rectangle 28">
            <a:extLst xmlns:a="http://schemas.openxmlformats.org/drawingml/2006/main">
              <a:ext uri="{FF2B5EF4-FFF2-40B4-BE49-F238E27FC236}">
                <a16:creationId xmlns:a16="http://schemas.microsoft.com/office/drawing/2014/main" id="{89347737-FCB4-4AC2-BF43-9AAC0CF2ADFF}"/>
              </a:ext>
            </a:extLst>
          </p:cNvPr>
          <p:cNvSpPr>
            <a:spLocks xmlns:a="http://schemas.openxmlformats.org/drawingml/2006/main" noGrp="1"/>
          </p:cNvSpPr>
          <p:nvPr/>
        </p:nvSpPr>
        <p:spPr>
          <a:xfrm xmlns:a="http://schemas.openxmlformats.org/drawingml/2006/main">
            <a:off x="457200" y="3749039"/>
            <a:ext cx="3657600" cy="365760"/>
          </a:xfrm>
          <a:prstGeom xmlns:a="http://schemas.openxmlformats.org/drawingml/2006/main" prst="rect">
            <a:avLst/>
          </a:prstGeom>
          <a:solidFill xmlns:a="http://schemas.openxmlformats.org/drawingml/2006/main">
            <a:srgbClr val="3A1A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65584277-C1C5-454A-84A9-B81DD28DE4BA}"/>
              </a:ext>
            </a:extLst>
          </p:cNvPr>
          <p:cNvSpPr>
            <a:spLocks xmlns:a="http://schemas.openxmlformats.org/drawingml/2006/main" noGrp="1"/>
          </p:cNvSpPr>
          <p:nvPr/>
        </p:nvSpPr>
        <p:spPr>
          <a:xfrm xmlns:a="http://schemas.openxmlformats.org/drawingml/2006/main">
            <a:off x="457200" y="3767327"/>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5555"/>
                </a:solidFill>
                <a:latin typeface="Calibri"/>
                <a:ea typeface="Calibri"/>
                <a:cs typeface="Calibri"/>
              </a:defRPr>
            </a:pPr>
            <a:r>
              <a:t>Stacking</a:t>
            </a:r>
            <a:endParaRPr/>
          </a:p>
        </p:txBody>
      </p:sp>
      <p:sp>
        <p:nvSpPr>
          <p:cNvPr id="31" name="Rectangle 30">
            <a:extLst xmlns:a="http://schemas.openxmlformats.org/drawingml/2006/main">
              <a:ext uri="{FF2B5EF4-FFF2-40B4-BE49-F238E27FC236}">
                <a16:creationId xmlns:a16="http://schemas.microsoft.com/office/drawing/2014/main" id="{009F99ED-8973-410D-A37F-228895DFABD7}"/>
              </a:ext>
            </a:extLst>
          </p:cNvPr>
          <p:cNvSpPr>
            <a:spLocks xmlns:a="http://schemas.openxmlformats.org/drawingml/2006/main" noGrp="1"/>
          </p:cNvSpPr>
          <p:nvPr/>
        </p:nvSpPr>
        <p:spPr>
          <a:xfrm xmlns:a="http://schemas.openxmlformats.org/drawingml/2006/main">
            <a:off x="4297680" y="3749039"/>
            <a:ext cx="3657600" cy="365760"/>
          </a:xfrm>
          <a:prstGeom xmlns:a="http://schemas.openxmlformats.org/drawingml/2006/main" prst="rect">
            <a:avLst/>
          </a:prstGeom>
          <a:solidFill xmlns:a="http://schemas.openxmlformats.org/drawingml/2006/main">
            <a:srgbClr val="3A1A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3342A2BD-9B12-4C61-BEF3-8BC1A946D804}"/>
              </a:ext>
            </a:extLst>
          </p:cNvPr>
          <p:cNvSpPr>
            <a:spLocks xmlns:a="http://schemas.openxmlformats.org/drawingml/2006/main" noGrp="1"/>
          </p:cNvSpPr>
          <p:nvPr/>
        </p:nvSpPr>
        <p:spPr>
          <a:xfrm xmlns:a="http://schemas.openxmlformats.org/drawingml/2006/main">
            <a:off x="4297680" y="3767327"/>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5555"/>
                </a:solidFill>
                <a:latin typeface="Calibri"/>
                <a:ea typeface="Calibri"/>
                <a:cs typeface="Calibri"/>
              </a:defRPr>
            </a:pPr>
            <a:r>
              <a:t>CatBoost</a:t>
            </a:r>
            <a:endParaRPr/>
          </a:p>
        </p:txBody>
      </p:sp>
      <p:sp>
        <p:nvSpPr>
          <p:cNvPr id="33" name="Rectangle 32">
            <a:extLst xmlns:a="http://schemas.openxmlformats.org/drawingml/2006/main">
              <a:ext uri="{FF2B5EF4-FFF2-40B4-BE49-F238E27FC236}">
                <a16:creationId xmlns:a16="http://schemas.microsoft.com/office/drawing/2014/main" id="{3337BBD2-7CCF-4F56-A1D4-52EB448A0BFA}"/>
              </a:ext>
            </a:extLst>
          </p:cNvPr>
          <p:cNvSpPr>
            <a:spLocks xmlns:a="http://schemas.openxmlformats.org/drawingml/2006/main" noGrp="1"/>
          </p:cNvSpPr>
          <p:nvPr/>
        </p:nvSpPr>
        <p:spPr>
          <a:xfrm xmlns:a="http://schemas.openxmlformats.org/drawingml/2006/main">
            <a:off x="8138160" y="3749039"/>
            <a:ext cx="3657600" cy="365760"/>
          </a:xfrm>
          <a:prstGeom xmlns:a="http://schemas.openxmlformats.org/drawingml/2006/main" prst="rect">
            <a:avLst/>
          </a:prstGeom>
          <a:solidFill xmlns:a="http://schemas.openxmlformats.org/drawingml/2006/main">
            <a:srgbClr val="3A1A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AE3466CB-4E1A-49F2-8076-910016750701}"/>
              </a:ext>
            </a:extLst>
          </p:cNvPr>
          <p:cNvSpPr>
            <a:spLocks xmlns:a="http://schemas.openxmlformats.org/drawingml/2006/main" noGrp="1"/>
          </p:cNvSpPr>
          <p:nvPr/>
        </p:nvSpPr>
        <p:spPr>
          <a:xfrm xmlns:a="http://schemas.openxmlformats.org/drawingml/2006/main">
            <a:off x="8138160" y="3767327"/>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100" b="0">
                <a:solidFill>
                  <a:srgbClr val="FF5555"/>
                </a:solidFill>
                <a:latin typeface="Calibri"/>
                <a:ea typeface="Calibri"/>
                <a:cs typeface="Calibri"/>
              </a:defRPr>
            </a:pPr>
            <a:r>
              <a:t>LightGBM</a:t>
            </a:r>
            <a:endParaRPr/>
          </a:p>
        </p:txBody>
      </p:sp>
      <p:sp>
        <p:nvSpPr>
          <p:cNvPr id="35" name="TextBox 34">
            <a:extLst xmlns:a="http://schemas.openxmlformats.org/drawingml/2006/main">
              <a:ext uri="{FF2B5EF4-FFF2-40B4-BE49-F238E27FC236}">
                <a16:creationId xmlns:a16="http://schemas.microsoft.com/office/drawing/2014/main" id="{83E645A9-DC62-4D2C-8F6A-833D0D36657E}"/>
              </a:ext>
            </a:extLst>
          </p:cNvPr>
          <p:cNvSpPr>
            <a:spLocks xmlns:a="http://schemas.openxmlformats.org/drawingml/2006/main" noGrp="1"/>
          </p:cNvSpPr>
          <p:nvPr/>
        </p:nvSpPr>
        <p:spPr>
          <a:xfrm xmlns:a="http://schemas.openxmlformats.org/drawingml/2006/main">
            <a:off x="457200" y="429768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FFFF"/>
                </a:solidFill>
                <a:latin typeface="Calibri"/>
                <a:ea typeface="Calibri"/>
                <a:cs typeface="Calibri"/>
              </a:defRPr>
            </a:pPr>
            <a:r>
              <a:t>5 supuestos de Gauss-Markov (OLS):</a:t>
            </a:r>
            <a:endParaRPr/>
          </a:p>
        </p:txBody>
      </p:sp>
      <p:sp>
        <p:nvSpPr>
          <p:cNvPr id="36" name="TextBox 35">
            <a:extLst xmlns:a="http://schemas.openxmlformats.org/drawingml/2006/main">
              <a:ext uri="{FF2B5EF4-FFF2-40B4-BE49-F238E27FC236}">
                <a16:creationId xmlns:a16="http://schemas.microsoft.com/office/drawing/2014/main" id="{F5C68127-6244-44A1-800D-62D888BE4C02}"/>
              </a:ext>
            </a:extLst>
          </p:cNvPr>
          <p:cNvSpPr>
            <a:spLocks xmlns:a="http://schemas.openxmlformats.org/drawingml/2006/main" noGrp="1"/>
          </p:cNvSpPr>
          <p:nvPr/>
        </p:nvSpPr>
        <p:spPr>
          <a:xfrm xmlns:a="http://schemas.openxmlformats.org/drawingml/2006/main">
            <a:off x="457200" y="4663440"/>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1. Linealidad de la relación</a:t>
            </a:r>
            <a:endParaRPr/>
          </a:p>
        </p:txBody>
      </p:sp>
      <p:sp>
        <p:nvSpPr>
          <p:cNvPr id="37" name="TextBox 36">
            <a:extLst xmlns:a="http://schemas.openxmlformats.org/drawingml/2006/main">
              <a:ext uri="{FF2B5EF4-FFF2-40B4-BE49-F238E27FC236}">
                <a16:creationId xmlns:a16="http://schemas.microsoft.com/office/drawing/2014/main" id="{0F3B27F8-9BAD-4F9D-A012-7789BDA3E0E3}"/>
              </a:ext>
            </a:extLst>
          </p:cNvPr>
          <p:cNvSpPr>
            <a:spLocks xmlns:a="http://schemas.openxmlformats.org/drawingml/2006/main" noGrp="1"/>
          </p:cNvSpPr>
          <p:nvPr/>
        </p:nvSpPr>
        <p:spPr>
          <a:xfrm xmlns:a="http://schemas.openxmlformats.org/drawingml/2006/main">
            <a:off x="457200" y="4937759"/>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2. Independencia de los residuos</a:t>
            </a:r>
            <a:endParaRPr/>
          </a:p>
        </p:txBody>
      </p:sp>
      <p:sp>
        <p:nvSpPr>
          <p:cNvPr id="38" name="TextBox 37">
            <a:extLst xmlns:a="http://schemas.openxmlformats.org/drawingml/2006/main">
              <a:ext uri="{FF2B5EF4-FFF2-40B4-BE49-F238E27FC236}">
                <a16:creationId xmlns:a16="http://schemas.microsoft.com/office/drawing/2014/main" id="{89A09BE2-E9AE-4A9F-9CFB-439B97FE6C3D}"/>
              </a:ext>
            </a:extLst>
          </p:cNvPr>
          <p:cNvSpPr>
            <a:spLocks xmlns:a="http://schemas.openxmlformats.org/drawingml/2006/main" noGrp="1"/>
          </p:cNvSpPr>
          <p:nvPr/>
        </p:nvSpPr>
        <p:spPr>
          <a:xfrm xmlns:a="http://schemas.openxmlformats.org/drawingml/2006/main">
            <a:off x="457200" y="5212079"/>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3. Homocedasticidad</a:t>
            </a:r>
            <a:endParaRPr/>
          </a:p>
        </p:txBody>
      </p:sp>
      <p:sp>
        <p:nvSpPr>
          <p:cNvPr id="39" name="TextBox 38">
            <a:extLst xmlns:a="http://schemas.openxmlformats.org/drawingml/2006/main">
              <a:ext uri="{FF2B5EF4-FFF2-40B4-BE49-F238E27FC236}">
                <a16:creationId xmlns:a16="http://schemas.microsoft.com/office/drawing/2014/main" id="{1D08D0F9-9572-4703-A4D5-5716C1416041}"/>
              </a:ext>
            </a:extLst>
          </p:cNvPr>
          <p:cNvSpPr>
            <a:spLocks xmlns:a="http://schemas.openxmlformats.org/drawingml/2006/main" noGrp="1"/>
          </p:cNvSpPr>
          <p:nvPr/>
        </p:nvSpPr>
        <p:spPr>
          <a:xfrm xmlns:a="http://schemas.openxmlformats.org/drawingml/2006/main">
            <a:off x="457200" y="5486400"/>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4. Normalidad de los residuos</a:t>
            </a:r>
            <a:endParaRPr/>
          </a:p>
        </p:txBody>
      </p:sp>
      <p:sp>
        <p:nvSpPr>
          <p:cNvPr id="40" name="TextBox 39">
            <a:extLst xmlns:a="http://schemas.openxmlformats.org/drawingml/2006/main">
              <a:ext uri="{FF2B5EF4-FFF2-40B4-BE49-F238E27FC236}">
                <a16:creationId xmlns:a16="http://schemas.microsoft.com/office/drawing/2014/main" id="{8F2167A4-D2FD-478E-B56A-C03CEE188353}"/>
              </a:ext>
            </a:extLst>
          </p:cNvPr>
          <p:cNvSpPr>
            <a:spLocks xmlns:a="http://schemas.openxmlformats.org/drawingml/2006/main" noGrp="1"/>
          </p:cNvSpPr>
          <p:nvPr/>
        </p:nvSpPr>
        <p:spPr>
          <a:xfrm xmlns:a="http://schemas.openxmlformats.org/drawingml/2006/main">
            <a:off x="457200" y="5760720"/>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5. Ausencia de multicolinealidad</a:t>
            </a:r>
            <a:endParaRPr/>
          </a:p>
        </p:txBody>
      </p:sp>
      <p:sp>
        <p:nvSpPr>
          <p:cNvPr id="41" name="TextBox 40">
            <a:extLst xmlns:a="http://schemas.openxmlformats.org/drawingml/2006/main">
              <a:ext uri="{FF2B5EF4-FFF2-40B4-BE49-F238E27FC236}">
                <a16:creationId xmlns:a16="http://schemas.microsoft.com/office/drawing/2014/main" id="{F10C3522-2206-451A-8F8D-AEB5AECA7183}"/>
              </a:ext>
            </a:extLst>
          </p:cNvPr>
          <p:cNvSpPr>
            <a:spLocks xmlns:a="http://schemas.openxmlformats.org/drawingml/2006/main" noGrp="1"/>
          </p:cNvSpPr>
          <p:nvPr/>
        </p:nvSpPr>
        <p:spPr>
          <a:xfrm xmlns:a="http://schemas.openxmlformats.org/drawingml/2006/main">
            <a:off x="6217920" y="429768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FFFF"/>
                </a:solidFill>
                <a:latin typeface="Calibri"/>
                <a:ea typeface="Calibri"/>
                <a:cs typeface="Calibri"/>
              </a:defRPr>
            </a:pPr>
            <a:r>
              <a:t>Stacking (nivel 5):</a:t>
            </a:r>
            <a:endParaRPr/>
          </a:p>
        </p:txBody>
      </p:sp>
      <p:sp>
        <p:nvSpPr>
          <p:cNvPr id="42" name="Rectangle 41">
            <a:extLst xmlns:a="http://schemas.openxmlformats.org/drawingml/2006/main">
              <a:ext uri="{FF2B5EF4-FFF2-40B4-BE49-F238E27FC236}">
                <a16:creationId xmlns:a16="http://schemas.microsoft.com/office/drawing/2014/main" id="{C704800C-3361-4897-88C9-1D3FFC269E93}"/>
              </a:ext>
            </a:extLst>
          </p:cNvPr>
          <p:cNvSpPr>
            <a:spLocks xmlns:a="http://schemas.openxmlformats.org/drawingml/2006/main" noGrp="1"/>
          </p:cNvSpPr>
          <p:nvPr/>
        </p:nvSpPr>
        <p:spPr>
          <a:xfrm xmlns:a="http://schemas.openxmlformats.org/drawingml/2006/main">
            <a:off x="6217920" y="4663440"/>
            <a:ext cx="5486400" cy="16459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B1A4CF11-DEBB-49E0-9CE3-3FE7E2D606F6}"/>
              </a:ext>
            </a:extLst>
          </p:cNvPr>
          <p:cNvSpPr>
            <a:spLocks xmlns:a="http://schemas.openxmlformats.org/drawingml/2006/main" noGrp="1"/>
          </p:cNvSpPr>
          <p:nvPr/>
        </p:nvSpPr>
        <p:spPr>
          <a:xfrm xmlns:a="http://schemas.openxmlformats.org/drawingml/2006/main">
            <a:off x="6291072" y="4700016"/>
            <a:ext cx="5340096" cy="15727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from sklearn.ensemble import StackingRegressor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stack = StackingRegressor(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estimators=[('xgb',xgb),('lgb',lgb),</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('rf',rf),('gbm',gbm)],</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final_estimator=Ridge())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stack.fit(X_train, y_train)</a:t>
            </a:r>
            <a:endParaRPr/>
          </a:p>
        </p:txBody>
      </p:sp>
      <p:sp>
        <p:nvSpPr>
          <p:cNvPr id="44" name="TextBox 43">
            <a:extLst xmlns:a="http://schemas.openxmlformats.org/drawingml/2006/main">
              <a:ext uri="{FF2B5EF4-FFF2-40B4-BE49-F238E27FC236}">
                <a16:creationId xmlns:a16="http://schemas.microsoft.com/office/drawing/2014/main" id="{0549ED97-164A-4B3D-82C0-0D91B1FCD2F8}"/>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12</a:t>
            </a:r>
            <a:endParaRPr/>
          </a:p>
        </p:txBody>
      </p:sp>
    </p:spTree>
    <p:extLst>
      <p:ext uri="{BB962C8B-B14F-4D97-AF65-F5344CB8AC3E}">
        <p14:creationId xmlns:p14="http://schemas.microsoft.com/office/powerpoint/2010/main" val="1563808921"/>
      </p:ext>
    </p:extLst>
  </p:cSld>
</p:sld>
</file>

<file path=ppt/slides/slide13.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DCC5532-D428-4CFA-8C17-60A072B4E8A5}"/>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C1880B2-F5AB-4C78-BA2E-7D721173807F}"/>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Métricas de calidad de la regresión</a:t>
            </a:r>
            <a:endParaRPr/>
          </a:p>
        </p:txBody>
      </p:sp>
      <p:graphicFrame>
        <p:nvGraphicFramePr>
          <p:cNvPr id="23" name="Table 3"/>
          <p:cNvGraphicFramePr/>
          <p:nvPr/>
        </p:nvGraphicFramePr>
        <p:xfrm>
          <a:off xmlns:a="http://schemas.openxmlformats.org/drawingml/2006/main" x="457200" y="914400"/>
          <a:ext xmlns:a="http://schemas.openxmlformats.org/drawingml/2006/main" cx="11247120" cy="2048256"/>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1371600"/>
                <a:gridCol w="3657600"/>
                <a:gridCol w="1371600"/>
                <a:gridCol w="4846320"/>
              </a:tblGrid>
              <a:tr h="292608">
                <a:tc>
                  <a:txBody>
                    <a:bodyPr/>
                    <a:lstStyle/>
                    <a:p>
                      <a:pPr>
                        <a:buNone/>
                      </a:pPr>
                      <a:r>
                        <a:rPr sz="1200" b="1">
                          <a:solidFill>
                            <a:srgbClr val="00D9FF"/>
                          </a:solidFill>
                          <a:latin typeface="Calibri"/>
                          <a:ea typeface="Calibri"/>
                          <a:cs typeface="Calibri"/>
                        </a:rPr>
                        <a:t>Métrica</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Fórmula</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Atípicos</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Interpretación</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MSE</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mean((y - y_hat)^2)</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Alta</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Penaliza errores grandes</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RMSE</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sqrt(MSE)</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Alta</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En unidades del objetivo</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MAE</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mean(|y - y_hat|)</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Baja</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Robusta; basada en mediana</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R^2</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1 - SS_res/SS_tot</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Media</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Proporción de varianza explicada</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MAPE</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mean(|y-y_hat|/|y|)</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Media</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Error relativo (%)</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RMSLE</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sqrt(mean((log(y+1)-log(yh+1))^2))</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Baja</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Para datos sesgados</a:t>
                      </a:r>
                      <a:endParaRPr/>
                    </a:p>
                  </a:txBody>
                  <a:tcPr marL="91440" marR="91440" marT="45720" marB="45720">
                    <a:solidFill>
                      <a:srgbClr val="2A2A44"/>
                    </a:solidFill>
                  </a:tcPr>
                </a:tc>
              </a:tr>
            </a:tbl>
          </a:graphicData>
        </a:graphic>
      </p:graphicFrame>
      <p:sp>
        <p:nvSpPr>
          <p:cNvPr id="5" name="TextBox 4">
            <a:extLst xmlns:a="http://schemas.openxmlformats.org/drawingml/2006/main">
              <a:ext uri="{FF2B5EF4-FFF2-40B4-BE49-F238E27FC236}">
                <a16:creationId xmlns:a16="http://schemas.microsoft.com/office/drawing/2014/main" id="{E5F5F555-5E37-4865-9C6E-44C9C0C2F63A}"/>
              </a:ext>
            </a:extLst>
          </p:cNvPr>
          <p:cNvSpPr>
            <a:spLocks xmlns:a="http://schemas.openxmlformats.org/drawingml/2006/main" noGrp="1"/>
          </p:cNvSpPr>
          <p:nvPr/>
        </p:nvSpPr>
        <p:spPr>
          <a:xfrm xmlns:a="http://schemas.openxmlformats.org/drawingml/2006/main">
            <a:off x="457200" y="3200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6 tipos de validación cruzada:</a:t>
            </a:r>
            <a:endParaRPr/>
          </a:p>
        </p:txBody>
      </p:sp>
      <p:sp>
        <p:nvSpPr>
          <p:cNvPr id="6" name="Rectangle 5">
            <a:extLst xmlns:a="http://schemas.openxmlformats.org/drawingml/2006/main">
              <a:ext uri="{FF2B5EF4-FFF2-40B4-BE49-F238E27FC236}">
                <a16:creationId xmlns:a16="http://schemas.microsoft.com/office/drawing/2014/main" id="{C17EA152-C93F-4C73-A9E8-DC51542175FE}"/>
              </a:ext>
            </a:extLst>
          </p:cNvPr>
          <p:cNvSpPr>
            <a:spLocks xmlns:a="http://schemas.openxmlformats.org/drawingml/2006/main" noGrp="1"/>
          </p:cNvSpPr>
          <p:nvPr/>
        </p:nvSpPr>
        <p:spPr>
          <a:xfrm xmlns:a="http://schemas.openxmlformats.org/drawingml/2006/main">
            <a:off x="457200" y="3566160"/>
            <a:ext cx="365760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545AD948-7186-4BD5-B575-7322898574E4}"/>
              </a:ext>
            </a:extLst>
          </p:cNvPr>
          <p:cNvSpPr>
            <a:spLocks xmlns:a="http://schemas.openxmlformats.org/drawingml/2006/main" noGrp="1"/>
          </p:cNvSpPr>
          <p:nvPr/>
        </p:nvSpPr>
        <p:spPr>
          <a:xfrm xmlns:a="http://schemas.openxmlformats.org/drawingml/2006/main">
            <a:off x="457200" y="3584448"/>
            <a:ext cx="3657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K-Fold</a:t>
            </a:r>
            <a:endParaRPr/>
          </a:p>
        </p:txBody>
      </p:sp>
      <p:sp>
        <p:nvSpPr>
          <p:cNvPr id="8" name="Rectangle 7">
            <a:extLst xmlns:a="http://schemas.openxmlformats.org/drawingml/2006/main">
              <a:ext uri="{FF2B5EF4-FFF2-40B4-BE49-F238E27FC236}">
                <a16:creationId xmlns:a16="http://schemas.microsoft.com/office/drawing/2014/main" id="{86BA54A7-ED7D-47AE-BF9F-8D92607ACDAA}"/>
              </a:ext>
            </a:extLst>
          </p:cNvPr>
          <p:cNvSpPr>
            <a:spLocks xmlns:a="http://schemas.openxmlformats.org/drawingml/2006/main" noGrp="1"/>
          </p:cNvSpPr>
          <p:nvPr/>
        </p:nvSpPr>
        <p:spPr>
          <a:xfrm xmlns:a="http://schemas.openxmlformats.org/drawingml/2006/main">
            <a:off x="4297680" y="3566160"/>
            <a:ext cx="365760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453BEFC-BE87-4F61-B0D5-7A8E95BED5D9}"/>
              </a:ext>
            </a:extLst>
          </p:cNvPr>
          <p:cNvSpPr>
            <a:spLocks xmlns:a="http://schemas.openxmlformats.org/drawingml/2006/main" noGrp="1"/>
          </p:cNvSpPr>
          <p:nvPr/>
        </p:nvSpPr>
        <p:spPr>
          <a:xfrm xmlns:a="http://schemas.openxmlformats.org/drawingml/2006/main">
            <a:off x="4297680" y="3584448"/>
            <a:ext cx="3657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Stratified K-Fold</a:t>
            </a:r>
            <a:endParaRPr/>
          </a:p>
        </p:txBody>
      </p:sp>
      <p:sp>
        <p:nvSpPr>
          <p:cNvPr id="10" name="Rectangle 9">
            <a:extLst xmlns:a="http://schemas.openxmlformats.org/drawingml/2006/main">
              <a:ext uri="{FF2B5EF4-FFF2-40B4-BE49-F238E27FC236}">
                <a16:creationId xmlns:a16="http://schemas.microsoft.com/office/drawing/2014/main" id="{F552439D-357C-42B1-9020-E8DE40588F64}"/>
              </a:ext>
            </a:extLst>
          </p:cNvPr>
          <p:cNvSpPr>
            <a:spLocks xmlns:a="http://schemas.openxmlformats.org/drawingml/2006/main" noGrp="1"/>
          </p:cNvSpPr>
          <p:nvPr/>
        </p:nvSpPr>
        <p:spPr>
          <a:xfrm xmlns:a="http://schemas.openxmlformats.org/drawingml/2006/main">
            <a:off x="8138160" y="3566160"/>
            <a:ext cx="365760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C3E35F7D-702D-46B8-A17B-81DBA09A231C}"/>
              </a:ext>
            </a:extLst>
          </p:cNvPr>
          <p:cNvSpPr>
            <a:spLocks xmlns:a="http://schemas.openxmlformats.org/drawingml/2006/main" noGrp="1"/>
          </p:cNvSpPr>
          <p:nvPr/>
        </p:nvSpPr>
        <p:spPr>
          <a:xfrm xmlns:a="http://schemas.openxmlformats.org/drawingml/2006/main">
            <a:off x="8138160" y="3584448"/>
            <a:ext cx="3657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TimeSeriesSplit</a:t>
            </a:r>
            <a:endParaRPr/>
          </a:p>
        </p:txBody>
      </p:sp>
      <p:sp>
        <p:nvSpPr>
          <p:cNvPr id="12" name="Rectangle 11">
            <a:extLst xmlns:a="http://schemas.openxmlformats.org/drawingml/2006/main">
              <a:ext uri="{FF2B5EF4-FFF2-40B4-BE49-F238E27FC236}">
                <a16:creationId xmlns:a16="http://schemas.microsoft.com/office/drawing/2014/main" id="{4AB81111-D3BE-4620-BAB4-DEA259C9A6E4}"/>
              </a:ext>
            </a:extLst>
          </p:cNvPr>
          <p:cNvSpPr>
            <a:spLocks xmlns:a="http://schemas.openxmlformats.org/drawingml/2006/main" noGrp="1"/>
          </p:cNvSpPr>
          <p:nvPr/>
        </p:nvSpPr>
        <p:spPr>
          <a:xfrm xmlns:a="http://schemas.openxmlformats.org/drawingml/2006/main">
            <a:off x="457200" y="3977639"/>
            <a:ext cx="365760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89A9DF0-BE1A-414E-8B48-68D4DCDB4C46}"/>
              </a:ext>
            </a:extLst>
          </p:cNvPr>
          <p:cNvSpPr>
            <a:spLocks xmlns:a="http://schemas.openxmlformats.org/drawingml/2006/main" noGrp="1"/>
          </p:cNvSpPr>
          <p:nvPr/>
        </p:nvSpPr>
        <p:spPr>
          <a:xfrm xmlns:a="http://schemas.openxmlformats.org/drawingml/2006/main">
            <a:off x="457200" y="3995927"/>
            <a:ext cx="3657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Group K-Fold</a:t>
            </a:r>
            <a:endParaRPr/>
          </a:p>
        </p:txBody>
      </p:sp>
      <p:sp>
        <p:nvSpPr>
          <p:cNvPr id="14" name="Rectangle 13">
            <a:extLst xmlns:a="http://schemas.openxmlformats.org/drawingml/2006/main">
              <a:ext uri="{FF2B5EF4-FFF2-40B4-BE49-F238E27FC236}">
                <a16:creationId xmlns:a16="http://schemas.microsoft.com/office/drawing/2014/main" id="{3C611D94-5AB1-40F1-8395-3EA96AFB284A}"/>
              </a:ext>
            </a:extLst>
          </p:cNvPr>
          <p:cNvSpPr>
            <a:spLocks xmlns:a="http://schemas.openxmlformats.org/drawingml/2006/main" noGrp="1"/>
          </p:cNvSpPr>
          <p:nvPr/>
        </p:nvSpPr>
        <p:spPr>
          <a:xfrm xmlns:a="http://schemas.openxmlformats.org/drawingml/2006/main">
            <a:off x="4297680" y="3977639"/>
            <a:ext cx="365760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807E46F-DBCB-4334-89B0-6D0C9AABEF3E}"/>
              </a:ext>
            </a:extLst>
          </p:cNvPr>
          <p:cNvSpPr>
            <a:spLocks xmlns:a="http://schemas.openxmlformats.org/drawingml/2006/main" noGrp="1"/>
          </p:cNvSpPr>
          <p:nvPr/>
        </p:nvSpPr>
        <p:spPr>
          <a:xfrm xmlns:a="http://schemas.openxmlformats.org/drawingml/2006/main">
            <a:off x="4297680" y="3995927"/>
            <a:ext cx="3657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Repeated K-Fold</a:t>
            </a:r>
            <a:endParaRPr/>
          </a:p>
        </p:txBody>
      </p:sp>
      <p:sp>
        <p:nvSpPr>
          <p:cNvPr id="16" name="Rectangle 15">
            <a:extLst xmlns:a="http://schemas.openxmlformats.org/drawingml/2006/main">
              <a:ext uri="{FF2B5EF4-FFF2-40B4-BE49-F238E27FC236}">
                <a16:creationId xmlns:a16="http://schemas.microsoft.com/office/drawing/2014/main" id="{91A9637D-BC92-4099-8AC3-D25058F90745}"/>
              </a:ext>
            </a:extLst>
          </p:cNvPr>
          <p:cNvSpPr>
            <a:spLocks xmlns:a="http://schemas.openxmlformats.org/drawingml/2006/main" noGrp="1"/>
          </p:cNvSpPr>
          <p:nvPr/>
        </p:nvSpPr>
        <p:spPr>
          <a:xfrm xmlns:a="http://schemas.openxmlformats.org/drawingml/2006/main">
            <a:off x="8138160" y="3977639"/>
            <a:ext cx="3657600" cy="347472"/>
          </a:xfrm>
          <a:prstGeom xmlns:a="http://schemas.openxmlformats.org/drawingml/2006/main" prst="rect">
            <a:avLst/>
          </a:prstGeom>
          <a:solidFill xmlns:a="http://schemas.openxmlformats.org/drawingml/2006/main">
            <a:srgbClr val="22223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2810FE6-9012-4CA6-AA84-5899EE4D85AA}"/>
              </a:ext>
            </a:extLst>
          </p:cNvPr>
          <p:cNvSpPr>
            <a:spLocks xmlns:a="http://schemas.openxmlformats.org/drawingml/2006/main" noGrp="1"/>
          </p:cNvSpPr>
          <p:nvPr/>
        </p:nvSpPr>
        <p:spPr>
          <a:xfrm xmlns:a="http://schemas.openxmlformats.org/drawingml/2006/main">
            <a:off x="8138160" y="3995927"/>
            <a:ext cx="3657600" cy="30175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200" b="0">
                <a:solidFill>
                  <a:srgbClr val="00D9FF"/>
                </a:solidFill>
                <a:latin typeface="Calibri"/>
                <a:ea typeface="Calibri"/>
                <a:cs typeface="Calibri"/>
              </a:defRPr>
            </a:pPr>
            <a:r>
              <a:t>Shuffle Split</a:t>
            </a:r>
            <a:endParaRPr/>
          </a:p>
        </p:txBody>
      </p:sp>
      <p:sp>
        <p:nvSpPr>
          <p:cNvPr id="18" name="TextBox 17">
            <a:extLst xmlns:a="http://schemas.openxmlformats.org/drawingml/2006/main">
              <a:ext uri="{FF2B5EF4-FFF2-40B4-BE49-F238E27FC236}">
                <a16:creationId xmlns:a16="http://schemas.microsoft.com/office/drawing/2014/main" id="{D7B0C8C0-7B7D-4441-9EED-A40938B00B97}"/>
              </a:ext>
            </a:extLst>
          </p:cNvPr>
          <p:cNvSpPr>
            <a:spLocks xmlns:a="http://schemas.openxmlformats.org/drawingml/2006/main" noGrp="1"/>
          </p:cNvSpPr>
          <p:nvPr/>
        </p:nvSpPr>
        <p:spPr>
          <a:xfrm xmlns:a="http://schemas.openxmlformats.org/drawingml/2006/main">
            <a:off x="457200" y="4572000"/>
            <a:ext cx="10976399" cy="28991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A000"/>
                </a:solidFill>
                <a:latin typeface="Calibri"/>
                <a:ea typeface="Calibri"/>
                <a:cs typeface="Calibri"/>
              </a:defRPr>
            </a:pPr>
            <a:r>
              <a:t>Pruebas estadísticas: Shapiro-Wilk, Breusch-Pagan y Durbin-Watson</a:t>
            </a:r>
            <a:endParaRPr/>
          </a:p>
        </p:txBody>
      </p:sp>
      <p:sp>
        <p:nvSpPr>
          <p:cNvPr id="19" name="TextBox 18">
            <a:extLst xmlns:a="http://schemas.openxmlformats.org/drawingml/2006/main">
              <a:ext uri="{FF2B5EF4-FFF2-40B4-BE49-F238E27FC236}">
                <a16:creationId xmlns:a16="http://schemas.microsoft.com/office/drawing/2014/main" id="{6FC50C03-EDAC-4CE5-8AB5-232C1224F63A}"/>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13</a:t>
            </a:r>
            <a:endParaRPr/>
          </a:p>
        </p:txBody>
      </p:sp>
    </p:spTree>
    <p:extLst>
      <p:ext uri="{BB962C8B-B14F-4D97-AF65-F5344CB8AC3E}">
        <p14:creationId xmlns:p14="http://schemas.microsoft.com/office/powerpoint/2010/main" val="1869510319"/>
      </p:ext>
    </p:extLst>
  </p:cSld>
</p:sld>
</file>

<file path=ppt/slides/slide14.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F6250AF-E4FD-457A-9817-7902881EF345}"/>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685E796E-B43C-4F45-8E8D-76D1DB6323E1}"/>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Comparación de modelos: ¿cuál elegir?</a:t>
            </a:r>
            <a:endParaRPr/>
          </a:p>
        </p:txBody>
      </p:sp>
      <p:graphicFrame>
        <p:nvGraphicFramePr>
          <p:cNvPr id="9" name="Table 3"/>
          <p:cNvGraphicFramePr/>
          <p:nvPr/>
        </p:nvGraphicFramePr>
        <p:xfrm>
          <a:off xmlns:a="http://schemas.openxmlformats.org/drawingml/2006/main" x="457200" y="914400"/>
          <a:ext xmlns:a="http://schemas.openxmlformats.org/drawingml/2006/main" cx="11247120" cy="2926080"/>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2286000"/>
                <a:gridCol w="1828800"/>
                <a:gridCol w="1645920"/>
                <a:gridCol w="1371600"/>
                <a:gridCol w="4114800"/>
              </a:tblGrid>
              <a:tr h="292608">
                <a:tc>
                  <a:txBody>
                    <a:bodyPr/>
                    <a:lstStyle/>
                    <a:p>
                      <a:pPr>
                        <a:buNone/>
                      </a:pPr>
                      <a:r>
                        <a:rPr sz="1100" b="1">
                          <a:solidFill>
                            <a:srgbClr val="00D9FF"/>
                          </a:solidFill>
                          <a:latin typeface="Calibri"/>
                          <a:ea typeface="Calibri"/>
                          <a:cs typeface="Calibri"/>
                        </a:rPr>
                        <a:t>Modelo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Linealidad</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Velocidad</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Interpretabilidad</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Cuándo usarlo</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Linear/Ridge/Lasso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Lineal</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Muy rápido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Alta</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Línea base; selección</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ElasticNet</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Lineal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Rápido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Alta</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Equilibrio L1+L2</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SVR</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 lineal</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Lento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Media</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Datos pequeños; no lineal</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Random Forest</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 lineal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Media</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Media</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Robustez; datos tabulares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XGBoost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 lineal</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Rápido (GPU)</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SHAP</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Kaggle; precisión</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LightGBM</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 lineal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Muy rápido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SHAP</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Datos grandes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CatBoost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 lineal</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Rápido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SHAP</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Variables categóricas</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PyTorch NN</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 lineal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Media (GPU)</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Baja</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Relaciones complejas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Stacking</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Ensamble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Lento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Baja</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Máxima precisión</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772130FE-A85C-412A-9BAF-3A0ED1D997F4}"/>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14</a:t>
            </a:r>
            <a:endParaRPr/>
          </a:p>
        </p:txBody>
      </p:sp>
    </p:spTree>
    <p:extLst>
      <p:ext uri="{BB962C8B-B14F-4D97-AF65-F5344CB8AC3E}">
        <p14:creationId xmlns:p14="http://schemas.microsoft.com/office/powerpoint/2010/main" val="1816241595"/>
      </p:ext>
    </p:extLst>
  </p:cSld>
</p:sld>
</file>

<file path=ppt/slides/slide15.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2829582-2763-4061-80A6-8D7CC8279434}"/>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9AE7CD01-DF94-4705-89A8-F8D20F42BF3E}"/>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Sesgo-varianza y curvas de aprendizaje</a:t>
            </a:r>
            <a:endParaRPr/>
          </a:p>
        </p:txBody>
      </p:sp>
      <p:sp>
        <p:nvSpPr>
          <p:cNvPr id="4" name="Rectangle 3">
            <a:extLst xmlns:a="http://schemas.openxmlformats.org/drawingml/2006/main">
              <a:ext uri="{FF2B5EF4-FFF2-40B4-BE49-F238E27FC236}">
                <a16:creationId xmlns:a16="http://schemas.microsoft.com/office/drawing/2014/main" id="{3B54252B-5DAE-41AB-A1B9-0235548C4AB1}"/>
              </a:ext>
            </a:extLst>
          </p:cNvPr>
          <p:cNvSpPr>
            <a:spLocks xmlns:a="http://schemas.openxmlformats.org/drawingml/2006/main" noGrp="1"/>
          </p:cNvSpPr>
          <p:nvPr/>
        </p:nvSpPr>
        <p:spPr>
          <a:xfrm xmlns:a="http://schemas.openxmlformats.org/drawingml/2006/main">
            <a:off x="457200" y="1005840"/>
            <a:ext cx="73152" cy="41148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31F1C50-6A93-4F57-B329-6C44655AEB53}"/>
              </a:ext>
            </a:extLst>
          </p:cNvPr>
          <p:cNvSpPr>
            <a:spLocks xmlns:a="http://schemas.openxmlformats.org/drawingml/2006/main" noGrp="1"/>
          </p:cNvSpPr>
          <p:nvPr/>
        </p:nvSpPr>
        <p:spPr>
          <a:xfrm xmlns:a="http://schemas.openxmlformats.org/drawingml/2006/main">
            <a:off x="640080" y="987552"/>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A000"/>
                </a:solidFill>
                <a:latin typeface="Calibri"/>
                <a:ea typeface="Calibri"/>
                <a:cs typeface="Calibri"/>
              </a:defRPr>
            </a:pPr>
            <a:r>
              <a:t>Sesgo alto (subajuste)</a:t>
            </a:r>
            <a:endParaRPr/>
          </a:p>
        </p:txBody>
      </p:sp>
      <p:sp>
        <p:nvSpPr>
          <p:cNvPr id="6" name="TextBox 5">
            <a:extLst xmlns:a="http://schemas.openxmlformats.org/drawingml/2006/main">
              <a:ext uri="{FF2B5EF4-FFF2-40B4-BE49-F238E27FC236}">
                <a16:creationId xmlns:a16="http://schemas.microsoft.com/office/drawing/2014/main" id="{66F19DCC-B6BC-4707-BC5C-3C9FE92B61B6}"/>
              </a:ext>
            </a:extLst>
          </p:cNvPr>
          <p:cNvSpPr>
            <a:spLocks xmlns:a="http://schemas.openxmlformats.org/drawingml/2006/main" noGrp="1"/>
          </p:cNvSpPr>
          <p:nvPr/>
        </p:nvSpPr>
        <p:spPr>
          <a:xfrm xmlns:a="http://schemas.openxmlformats.org/drawingml/2006/main">
            <a:off x="5212080" y="987552"/>
            <a:ext cx="6400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Error de entrenamiento ↑; error de prueba ↑</a:t>
            </a:r>
            <a:endParaRPr/>
          </a:p>
        </p:txBody>
      </p:sp>
      <p:sp>
        <p:nvSpPr>
          <p:cNvPr id="7" name="Rectangle 6">
            <a:extLst xmlns:a="http://schemas.openxmlformats.org/drawingml/2006/main">
              <a:ext uri="{FF2B5EF4-FFF2-40B4-BE49-F238E27FC236}">
                <a16:creationId xmlns:a16="http://schemas.microsoft.com/office/drawing/2014/main" id="{0BEA5CBC-64A0-4B11-891B-8C4C14D6A7D9}"/>
              </a:ext>
            </a:extLst>
          </p:cNvPr>
          <p:cNvSpPr>
            <a:spLocks xmlns:a="http://schemas.openxmlformats.org/drawingml/2006/main" noGrp="1"/>
          </p:cNvSpPr>
          <p:nvPr/>
        </p:nvSpPr>
        <p:spPr>
          <a:xfrm xmlns:a="http://schemas.openxmlformats.org/drawingml/2006/main">
            <a:off x="457200" y="1554480"/>
            <a:ext cx="73152" cy="41148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E2747A9-F021-477C-A8A0-5B7B9A6B7E8F}"/>
              </a:ext>
            </a:extLst>
          </p:cNvPr>
          <p:cNvSpPr>
            <a:spLocks xmlns:a="http://schemas.openxmlformats.org/drawingml/2006/main" noGrp="1"/>
          </p:cNvSpPr>
          <p:nvPr/>
        </p:nvSpPr>
        <p:spPr>
          <a:xfrm xmlns:a="http://schemas.openxmlformats.org/drawingml/2006/main">
            <a:off x="640080" y="1536192"/>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5555"/>
                </a:solidFill>
                <a:latin typeface="Calibri"/>
                <a:ea typeface="Calibri"/>
                <a:cs typeface="Calibri"/>
              </a:defRPr>
            </a:pPr>
            <a:r>
              <a:t>Varianza alta (sobreajuste)</a:t>
            </a:r>
            <a:endParaRPr/>
          </a:p>
        </p:txBody>
      </p:sp>
      <p:sp>
        <p:nvSpPr>
          <p:cNvPr id="9" name="TextBox 8">
            <a:extLst xmlns:a="http://schemas.openxmlformats.org/drawingml/2006/main">
              <a:ext uri="{FF2B5EF4-FFF2-40B4-BE49-F238E27FC236}">
                <a16:creationId xmlns:a16="http://schemas.microsoft.com/office/drawing/2014/main" id="{EF776921-4428-4F5F-B1A9-594082DE3DCE}"/>
              </a:ext>
            </a:extLst>
          </p:cNvPr>
          <p:cNvSpPr>
            <a:spLocks xmlns:a="http://schemas.openxmlformats.org/drawingml/2006/main" noGrp="1"/>
          </p:cNvSpPr>
          <p:nvPr/>
        </p:nvSpPr>
        <p:spPr>
          <a:xfrm xmlns:a="http://schemas.openxmlformats.org/drawingml/2006/main">
            <a:off x="5212080" y="1536192"/>
            <a:ext cx="6400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Error de entrenamiento ↓; error de prueba ↑</a:t>
            </a:r>
            <a:endParaRPr/>
          </a:p>
        </p:txBody>
      </p:sp>
      <p:sp>
        <p:nvSpPr>
          <p:cNvPr id="10" name="Rectangle 9">
            <a:extLst xmlns:a="http://schemas.openxmlformats.org/drawingml/2006/main">
              <a:ext uri="{FF2B5EF4-FFF2-40B4-BE49-F238E27FC236}">
                <a16:creationId xmlns:a16="http://schemas.microsoft.com/office/drawing/2014/main" id="{71662FBD-FB41-4EDF-9AE4-5CF5F699AB05}"/>
              </a:ext>
            </a:extLst>
          </p:cNvPr>
          <p:cNvSpPr>
            <a:spLocks xmlns:a="http://schemas.openxmlformats.org/drawingml/2006/main" noGrp="1"/>
          </p:cNvSpPr>
          <p:nvPr/>
        </p:nvSpPr>
        <p:spPr>
          <a:xfrm xmlns:a="http://schemas.openxmlformats.org/drawingml/2006/main">
            <a:off x="457200" y="2103120"/>
            <a:ext cx="73152" cy="41148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A3C960F-6CD8-43B3-AD84-428D359496B7}"/>
              </a:ext>
            </a:extLst>
          </p:cNvPr>
          <p:cNvSpPr>
            <a:spLocks xmlns:a="http://schemas.openxmlformats.org/drawingml/2006/main" noGrp="1"/>
          </p:cNvSpPr>
          <p:nvPr/>
        </p:nvSpPr>
        <p:spPr>
          <a:xfrm xmlns:a="http://schemas.openxmlformats.org/drawingml/2006/main">
            <a:off x="640080" y="2084831"/>
            <a:ext cx="4572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FF88"/>
                </a:solidFill>
                <a:latin typeface="Calibri"/>
                <a:ea typeface="Calibri"/>
                <a:cs typeface="Calibri"/>
              </a:defRPr>
            </a:pPr>
            <a:r>
              <a:t>Equilibrio óptimo</a:t>
            </a:r>
            <a:endParaRPr/>
          </a:p>
        </p:txBody>
      </p:sp>
      <p:sp>
        <p:nvSpPr>
          <p:cNvPr id="12" name="TextBox 11">
            <a:extLst xmlns:a="http://schemas.openxmlformats.org/drawingml/2006/main">
              <a:ext uri="{FF2B5EF4-FFF2-40B4-BE49-F238E27FC236}">
                <a16:creationId xmlns:a16="http://schemas.microsoft.com/office/drawing/2014/main" id="{54FE3522-820C-4375-B11D-797208D21A65}"/>
              </a:ext>
            </a:extLst>
          </p:cNvPr>
          <p:cNvSpPr>
            <a:spLocks xmlns:a="http://schemas.openxmlformats.org/drawingml/2006/main" noGrp="1"/>
          </p:cNvSpPr>
          <p:nvPr/>
        </p:nvSpPr>
        <p:spPr>
          <a:xfrm xmlns:a="http://schemas.openxmlformats.org/drawingml/2006/main">
            <a:off x="5212080" y="2084831"/>
            <a:ext cx="6400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Entrenamiento ≈ prueba; ambos errores bajos</a:t>
            </a:r>
            <a:endParaRPr/>
          </a:p>
        </p:txBody>
      </p:sp>
      <p:sp>
        <p:nvSpPr>
          <p:cNvPr id="13" name="TextBox 12">
            <a:extLst xmlns:a="http://schemas.openxmlformats.org/drawingml/2006/main">
              <a:ext uri="{FF2B5EF4-FFF2-40B4-BE49-F238E27FC236}">
                <a16:creationId xmlns:a16="http://schemas.microsoft.com/office/drawing/2014/main" id="{04CB32A0-CCFB-4843-BC24-8684A8D819DC}"/>
              </a:ext>
            </a:extLst>
          </p:cNvPr>
          <p:cNvSpPr>
            <a:spLocks xmlns:a="http://schemas.openxmlformats.org/drawingml/2006/main" noGrp="1"/>
          </p:cNvSpPr>
          <p:nvPr/>
        </p:nvSpPr>
        <p:spPr>
          <a:xfrm xmlns:a="http://schemas.openxmlformats.org/drawingml/2006/main">
            <a:off x="457200" y="292608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Curvas de aprendizaje (nivel 4):</a:t>
            </a:r>
            <a:endParaRPr/>
          </a:p>
        </p:txBody>
      </p:sp>
      <p:sp>
        <p:nvSpPr>
          <p:cNvPr id="14" name="Rectangle 13">
            <a:extLst xmlns:a="http://schemas.openxmlformats.org/drawingml/2006/main">
              <a:ext uri="{FF2B5EF4-FFF2-40B4-BE49-F238E27FC236}">
                <a16:creationId xmlns:a16="http://schemas.microsoft.com/office/drawing/2014/main" id="{942DDCE9-C6E8-4ABD-AFA5-FCD9CDFC7658}"/>
              </a:ext>
            </a:extLst>
          </p:cNvPr>
          <p:cNvSpPr>
            <a:spLocks xmlns:a="http://schemas.openxmlformats.org/drawingml/2006/main" noGrp="1"/>
          </p:cNvSpPr>
          <p:nvPr/>
        </p:nvSpPr>
        <p:spPr>
          <a:xfrm xmlns:a="http://schemas.openxmlformats.org/drawingml/2006/main">
            <a:off x="457200" y="3291840"/>
            <a:ext cx="11247120" cy="25603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1F37619-BC0C-4C47-AF6B-ABB8C929C930}"/>
              </a:ext>
            </a:extLst>
          </p:cNvPr>
          <p:cNvSpPr>
            <a:spLocks xmlns:a="http://schemas.openxmlformats.org/drawingml/2006/main" noGrp="1"/>
          </p:cNvSpPr>
          <p:nvPr/>
        </p:nvSpPr>
        <p:spPr>
          <a:xfrm xmlns:a="http://schemas.openxmlformats.org/drawingml/2006/main">
            <a:off x="530352" y="3328416"/>
            <a:ext cx="11100816" cy="24871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from sklearn.model_selection import learning_curve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train_sizes, train_scores, val_scores = learning_curve(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estimator=model, X=X_train, y=y_train,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train_sizes=np.linspace(0.1, 1.0, 10), cv=5, scoring='r2')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plt.plot(train_sizes, train_scores.mean(axis=1), label='Train')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plt.plot(train_sizes, val_scores.mean(axis=1), label='Validation')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plt.xlabel('Training samples'); plt.ylabel('R2')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plt.legend()</a:t>
            </a:r>
            <a:endParaRPr/>
          </a:p>
        </p:txBody>
      </p:sp>
      <p:sp>
        <p:nvSpPr>
          <p:cNvPr id="16" name="TextBox 15">
            <a:extLst xmlns:a="http://schemas.openxmlformats.org/drawingml/2006/main">
              <a:ext uri="{FF2B5EF4-FFF2-40B4-BE49-F238E27FC236}">
                <a16:creationId xmlns:a16="http://schemas.microsoft.com/office/drawing/2014/main" id="{452EC5F3-2AF5-4729-B3F6-107FB702FB13}"/>
              </a:ext>
            </a:extLst>
          </p:cNvPr>
          <p:cNvSpPr>
            <a:spLocks xmlns:a="http://schemas.openxmlformats.org/drawingml/2006/main" noGrp="1"/>
          </p:cNvSpPr>
          <p:nvPr/>
        </p:nvSpPr>
        <p:spPr>
          <a:xfrm xmlns:a="http://schemas.openxmlformats.org/drawingml/2006/main">
            <a:off x="457200" y="59436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B0B0C0"/>
                </a:solidFill>
                <a:latin typeface="Calibri"/>
                <a:ea typeface="Calibri"/>
                <a:cs typeface="Calibri"/>
              </a:defRPr>
            </a:pPr>
            <a:r>
              <a:t>Si la brecha crece, hay varianza alta. Si ambos errores son altos, hay sesgo alto.</a:t>
            </a:r>
            <a:endParaRPr/>
          </a:p>
        </p:txBody>
      </p:sp>
      <p:sp>
        <p:nvSpPr>
          <p:cNvPr id="17" name="TextBox 16">
            <a:extLst xmlns:a="http://schemas.openxmlformats.org/drawingml/2006/main">
              <a:ext uri="{FF2B5EF4-FFF2-40B4-BE49-F238E27FC236}">
                <a16:creationId xmlns:a16="http://schemas.microsoft.com/office/drawing/2014/main" id="{FA10FAA9-8BF7-45F7-98D3-936C92085435}"/>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15</a:t>
            </a:r>
            <a:endParaRPr/>
          </a:p>
        </p:txBody>
      </p:sp>
    </p:spTree>
    <p:extLst>
      <p:ext uri="{BB962C8B-B14F-4D97-AF65-F5344CB8AC3E}">
        <p14:creationId xmlns:p14="http://schemas.microsoft.com/office/powerpoint/2010/main" val="1506663605"/>
      </p:ext>
    </p:extLst>
  </p:cSld>
</p:sld>
</file>

<file path=ppt/slides/slide16.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2FF691F-A7E3-4406-8A2D-2B31924FD7EA}"/>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24CDF5AE-3913-4730-91AE-C6962DBF6EE6}"/>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Optimización de hiperparámetros: Optuna</a:t>
            </a:r>
            <a:endParaRPr/>
          </a:p>
        </p:txBody>
      </p:sp>
      <p:graphicFrame>
        <p:nvGraphicFramePr>
          <p:cNvPr id="12" name="Table 3"/>
          <p:cNvGraphicFramePr/>
          <p:nvPr/>
        </p:nvGraphicFramePr>
        <p:xfrm>
          <a:off xmlns:a="http://schemas.openxmlformats.org/drawingml/2006/main" x="457200" y="914400"/>
          <a:ext xmlns:a="http://schemas.openxmlformats.org/drawingml/2006/main" cx="11247120" cy="1755648"/>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2286000"/>
                <a:gridCol w="3200400"/>
                <a:gridCol w="1645920"/>
                <a:gridCol w="4114800"/>
              </a:tblGrid>
              <a:tr h="292608">
                <a:tc>
                  <a:txBody>
                    <a:bodyPr/>
                    <a:lstStyle/>
                    <a:p>
                      <a:pPr>
                        <a:buNone/>
                      </a:pPr>
                      <a:r>
                        <a:rPr sz="1200" b="1">
                          <a:solidFill>
                            <a:srgbClr val="00D9FF"/>
                          </a:solidFill>
                          <a:latin typeface="Calibri"/>
                          <a:ea typeface="Calibri"/>
                          <a:cs typeface="Calibri"/>
                        </a:rPr>
                        <a:t>Método</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Estrategia</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Pruebas</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Eficiencia</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Grid Search</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Búsqueda exhaustiva</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O(n^k)</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Baja</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Random Search</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Combinaciones aleatorias</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Definido</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Media</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Bayesian (TPE)</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Adaptativa según historial</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50–500+</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Alta</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CMA-ES</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Estrategia evolutiva</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100+</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Alta</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Hyperband</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Parada temprana</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Adaptativo</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Alta</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051635AB-4E85-4A44-AAD5-0EE8BEC420BE}"/>
              </a:ext>
            </a:extLst>
          </p:cNvPr>
          <p:cNvSpPr>
            <a:spLocks xmlns:a="http://schemas.openxmlformats.org/drawingml/2006/main" noGrp="1"/>
          </p:cNvSpPr>
          <p:nvPr/>
        </p:nvSpPr>
        <p:spPr>
          <a:xfrm xmlns:a="http://schemas.openxmlformats.org/drawingml/2006/main">
            <a:off x="457200" y="3200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00D9FF"/>
                </a:solidFill>
                <a:latin typeface="Calibri"/>
                <a:ea typeface="Calibri"/>
                <a:cs typeface="Calibri"/>
              </a:defRPr>
            </a:pPr>
            <a:r>
              <a:t>Optuna: TPE + MedianPruner (niveles 4–5)</a:t>
            </a:r>
            <a:endParaRPr/>
          </a:p>
        </p:txBody>
      </p:sp>
      <p:sp>
        <p:nvSpPr>
          <p:cNvPr id="6" name="Rectangle 5">
            <a:extLst xmlns:a="http://schemas.openxmlformats.org/drawingml/2006/main">
              <a:ext uri="{FF2B5EF4-FFF2-40B4-BE49-F238E27FC236}">
                <a16:creationId xmlns:a16="http://schemas.microsoft.com/office/drawing/2014/main" id="{DD811359-3DAA-497F-8E6E-A47687B9A23E}"/>
              </a:ext>
            </a:extLst>
          </p:cNvPr>
          <p:cNvSpPr>
            <a:spLocks xmlns:a="http://schemas.openxmlformats.org/drawingml/2006/main" noGrp="1"/>
          </p:cNvSpPr>
          <p:nvPr/>
        </p:nvSpPr>
        <p:spPr>
          <a:xfrm xmlns:a="http://schemas.openxmlformats.org/drawingml/2006/main">
            <a:off x="457200" y="3566160"/>
            <a:ext cx="11247120" cy="3105228"/>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2A3F4CB1-5F74-40D9-93A1-4987D155316D}"/>
              </a:ext>
            </a:extLst>
          </p:cNvPr>
          <p:cNvSpPr>
            <a:spLocks xmlns:a="http://schemas.openxmlformats.org/drawingml/2006/main" noGrp="1"/>
          </p:cNvSpPr>
          <p:nvPr/>
        </p:nvSpPr>
        <p:spPr>
          <a:xfrm xmlns:a="http://schemas.openxmlformats.org/drawingml/2006/main">
            <a:off x="530352" y="3602735"/>
            <a:ext cx="11100816" cy="26700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import optuna</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def objective(trial):</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params = {</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'n_estimators': trial.suggest_int('n_estimators', 100, 1000),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'max_depth': trial.suggest_int('max_depth', 3, 12),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'learning_rate': trial.suggest_float('lr', 1e-3, 1e-1, log=True),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model = XGBRegressor(**params)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model.fit(X_train, y_train)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return mean_squared_error(y_test, model.predict(X_test))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study = optuna.create_study(direction='minimize',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sampler=optuna.samplers.TPESampler(),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pruner=optuna.pruners.MedianPruner())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study.optimize(objective, n_trials=200)</a:t>
            </a:r>
            <a:endParaRPr/>
          </a:p>
        </p:txBody>
      </p:sp>
      <p:sp>
        <p:nvSpPr>
          <p:cNvPr id="8" name="TextBox 7">
            <a:extLst xmlns:a="http://schemas.openxmlformats.org/drawingml/2006/main">
              <a:ext uri="{FF2B5EF4-FFF2-40B4-BE49-F238E27FC236}">
                <a16:creationId xmlns:a16="http://schemas.microsoft.com/office/drawing/2014/main" id="{B8276C06-B25D-4860-9C33-A3A807CE1184}"/>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16</a:t>
            </a:r>
            <a:endParaRPr/>
          </a:p>
        </p:txBody>
      </p:sp>
    </p:spTree>
    <p:extLst>
      <p:ext uri="{BB962C8B-B14F-4D97-AF65-F5344CB8AC3E}">
        <p14:creationId xmlns:p14="http://schemas.microsoft.com/office/powerpoint/2010/main" val="973559126"/>
      </p:ext>
    </p:extLst>
  </p:cSld>
</p:sld>
</file>

<file path=ppt/slides/slide17.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B40CD37-083A-4934-9ED7-0BDDF321F83A}"/>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AAD4E68-0840-474D-88D3-2DB3B169F28A}"/>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Explicabilidad: SHAP, LIME y PDP</a:t>
            </a:r>
            <a:endParaRPr/>
          </a:p>
        </p:txBody>
      </p:sp>
      <p:sp>
        <p:nvSpPr>
          <p:cNvPr id="4" name="TextBox 3">
            <a:extLst xmlns:a="http://schemas.openxmlformats.org/drawingml/2006/main">
              <a:ext uri="{FF2B5EF4-FFF2-40B4-BE49-F238E27FC236}">
                <a16:creationId xmlns:a16="http://schemas.microsoft.com/office/drawing/2014/main" id="{36A1FC53-0946-48AC-B7A9-C81682DDAE5E}"/>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SHAP (valores de Shapley):</a:t>
            </a:r>
            <a:endParaRPr/>
          </a:p>
        </p:txBody>
      </p:sp>
      <p:sp>
        <p:nvSpPr>
          <p:cNvPr id="5" name="TextBox 4">
            <a:extLst xmlns:a="http://schemas.openxmlformats.org/drawingml/2006/main">
              <a:ext uri="{FF2B5EF4-FFF2-40B4-BE49-F238E27FC236}">
                <a16:creationId xmlns:a16="http://schemas.microsoft.com/office/drawing/2014/main" id="{CFE65FB6-C8FE-48AF-BFCF-9621BB149F31}"/>
              </a:ext>
            </a:extLst>
          </p:cNvPr>
          <p:cNvSpPr>
            <a:spLocks xmlns:a="http://schemas.openxmlformats.org/drawingml/2006/main" noGrp="1"/>
          </p:cNvSpPr>
          <p:nvPr/>
        </p:nvSpPr>
        <p:spPr>
          <a:xfrm xmlns:a="http://schemas.openxmlformats.org/drawingml/2006/main">
            <a:off x="457200" y="1280160"/>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TreeSHAP: rápido para árboles (O(n))</a:t>
            </a:r>
            <a:endParaRPr/>
          </a:p>
        </p:txBody>
      </p:sp>
      <p:sp>
        <p:nvSpPr>
          <p:cNvPr id="6" name="TextBox 5">
            <a:extLst xmlns:a="http://schemas.openxmlformats.org/drawingml/2006/main">
              <a:ext uri="{FF2B5EF4-FFF2-40B4-BE49-F238E27FC236}">
                <a16:creationId xmlns:a16="http://schemas.microsoft.com/office/drawing/2014/main" id="{8B354A0D-7CC6-451E-B9FC-73F6FD6CB933}"/>
              </a:ext>
            </a:extLst>
          </p:cNvPr>
          <p:cNvSpPr>
            <a:spLocks xmlns:a="http://schemas.openxmlformats.org/drawingml/2006/main" noGrp="1"/>
          </p:cNvSpPr>
          <p:nvPr/>
        </p:nvSpPr>
        <p:spPr>
          <a:xfrm xmlns:a="http://schemas.openxmlformats.org/drawingml/2006/main">
            <a:off x="457200" y="1572768"/>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KernelSHAP: universal, pero lento</a:t>
            </a:r>
            <a:endParaRPr/>
          </a:p>
        </p:txBody>
      </p:sp>
      <p:sp>
        <p:nvSpPr>
          <p:cNvPr id="7" name="TextBox 6">
            <a:extLst xmlns:a="http://schemas.openxmlformats.org/drawingml/2006/main">
              <a:ext uri="{FF2B5EF4-FFF2-40B4-BE49-F238E27FC236}">
                <a16:creationId xmlns:a16="http://schemas.microsoft.com/office/drawing/2014/main" id="{054D430D-6D2A-4F49-9994-6297D77C8B5A}"/>
              </a:ext>
            </a:extLst>
          </p:cNvPr>
          <p:cNvSpPr>
            <a:spLocks xmlns:a="http://schemas.openxmlformats.org/drawingml/2006/main" noGrp="1"/>
          </p:cNvSpPr>
          <p:nvPr/>
        </p:nvSpPr>
        <p:spPr>
          <a:xfrm xmlns:a="http://schemas.openxmlformats.org/drawingml/2006/main">
            <a:off x="457200" y="1865376"/>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summary_plot: importancia y dirección</a:t>
            </a:r>
            <a:endParaRPr/>
          </a:p>
        </p:txBody>
      </p:sp>
      <p:sp>
        <p:nvSpPr>
          <p:cNvPr id="8" name="TextBox 7">
            <a:extLst xmlns:a="http://schemas.openxmlformats.org/drawingml/2006/main">
              <a:ext uri="{FF2B5EF4-FFF2-40B4-BE49-F238E27FC236}">
                <a16:creationId xmlns:a16="http://schemas.microsoft.com/office/drawing/2014/main" id="{D9CCB173-3EDA-448E-895E-C93DE2332559}"/>
              </a:ext>
            </a:extLst>
          </p:cNvPr>
          <p:cNvSpPr>
            <a:spLocks xmlns:a="http://schemas.openxmlformats.org/drawingml/2006/main" noGrp="1"/>
          </p:cNvSpPr>
          <p:nvPr/>
        </p:nvSpPr>
        <p:spPr>
          <a:xfrm xmlns:a="http://schemas.openxmlformats.org/drawingml/2006/main">
            <a:off x="457200" y="2157984"/>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dependence_plot: dependencia del valor</a:t>
            </a:r>
            <a:endParaRPr/>
          </a:p>
        </p:txBody>
      </p:sp>
      <p:sp>
        <p:nvSpPr>
          <p:cNvPr id="9" name="TextBox 8">
            <a:extLst xmlns:a="http://schemas.openxmlformats.org/drawingml/2006/main">
              <a:ext uri="{FF2B5EF4-FFF2-40B4-BE49-F238E27FC236}">
                <a16:creationId xmlns:a16="http://schemas.microsoft.com/office/drawing/2014/main" id="{7D518901-FC22-4243-A0D9-B3A60D849BF2}"/>
              </a:ext>
            </a:extLst>
          </p:cNvPr>
          <p:cNvSpPr>
            <a:spLocks xmlns:a="http://schemas.openxmlformats.org/drawingml/2006/main" noGrp="1"/>
          </p:cNvSpPr>
          <p:nvPr/>
        </p:nvSpPr>
        <p:spPr>
          <a:xfrm xmlns:a="http://schemas.openxmlformats.org/drawingml/2006/main">
            <a:off x="457200" y="2450591"/>
            <a:ext cx="54864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00D9FF"/>
                </a:solidFill>
                <a:latin typeface="Calibri"/>
                <a:ea typeface="Calibri"/>
                <a:cs typeface="Calibri"/>
              </a:defRPr>
            </a:pPr>
            <a:r>
              <a:t>- force_plot: explicación de una predicción</a:t>
            </a:r>
            <a:endParaRPr/>
          </a:p>
        </p:txBody>
      </p:sp>
      <p:sp>
        <p:nvSpPr>
          <p:cNvPr id="10" name="TextBox 9">
            <a:extLst xmlns:a="http://schemas.openxmlformats.org/drawingml/2006/main">
              <a:ext uri="{FF2B5EF4-FFF2-40B4-BE49-F238E27FC236}">
                <a16:creationId xmlns:a16="http://schemas.microsoft.com/office/drawing/2014/main" id="{FC2748CC-AF83-4667-8D55-EE591ECE79B1}"/>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Código:</a:t>
            </a:r>
            <a:endParaRPr/>
          </a:p>
        </p:txBody>
      </p:sp>
      <p:sp>
        <p:nvSpPr>
          <p:cNvPr id="11" name="Rectangle 10">
            <a:extLst xmlns:a="http://schemas.openxmlformats.org/drawingml/2006/main">
              <a:ext uri="{FF2B5EF4-FFF2-40B4-BE49-F238E27FC236}">
                <a16:creationId xmlns:a16="http://schemas.microsoft.com/office/drawing/2014/main" id="{7BEF714E-AA59-4725-9916-B9A5D5B4CB14}"/>
              </a:ext>
            </a:extLst>
          </p:cNvPr>
          <p:cNvSpPr>
            <a:spLocks xmlns:a="http://schemas.openxmlformats.org/drawingml/2006/main" noGrp="1"/>
          </p:cNvSpPr>
          <p:nvPr/>
        </p:nvSpPr>
        <p:spPr>
          <a:xfrm xmlns:a="http://schemas.openxmlformats.org/drawingml/2006/main">
            <a:off x="6217920" y="1280160"/>
            <a:ext cx="5486400" cy="32004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F653724-227C-47C5-A356-7C8EEA5EFB67}"/>
              </a:ext>
            </a:extLst>
          </p:cNvPr>
          <p:cNvSpPr>
            <a:spLocks xmlns:a="http://schemas.openxmlformats.org/drawingml/2006/main" noGrp="1"/>
          </p:cNvSpPr>
          <p:nvPr/>
        </p:nvSpPr>
        <p:spPr>
          <a:xfrm xmlns:a="http://schemas.openxmlformats.org/drawingml/2006/main">
            <a:off x="6291072" y="1316736"/>
            <a:ext cx="5340096" cy="31272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import shap</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explainer = shap.TreeExplainer(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xgb_model)</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shap_values = explainer(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X_test[:5000])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shap.summary_plot(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shap_values, X_test[:5000])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shap.dependence_plot(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'OverallQual',</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shap_values.values,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X_test[:5000])</a:t>
            </a:r>
            <a:endParaRPr/>
          </a:p>
        </p:txBody>
      </p:sp>
      <p:sp>
        <p:nvSpPr>
          <p:cNvPr id="13" name="TextBox 12">
            <a:extLst xmlns:a="http://schemas.openxmlformats.org/drawingml/2006/main">
              <a:ext uri="{FF2B5EF4-FFF2-40B4-BE49-F238E27FC236}">
                <a16:creationId xmlns:a16="http://schemas.microsoft.com/office/drawing/2014/main" id="{B021DB83-1592-4281-B01E-727EF32B7E69}"/>
              </a:ext>
            </a:extLst>
          </p:cNvPr>
          <p:cNvSpPr>
            <a:spLocks xmlns:a="http://schemas.openxmlformats.org/drawingml/2006/main" noGrp="1"/>
          </p:cNvSpPr>
          <p:nvPr/>
        </p:nvSpPr>
        <p:spPr>
          <a:xfrm xmlns:a="http://schemas.openxmlformats.org/drawingml/2006/main">
            <a:off x="457200" y="384048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Opcional (nivel 5):</a:t>
            </a:r>
            <a:endParaRPr/>
          </a:p>
        </p:txBody>
      </p:sp>
      <p:sp>
        <p:nvSpPr>
          <p:cNvPr id="14" name="Rectangle 13">
            <a:extLst xmlns:a="http://schemas.openxmlformats.org/drawingml/2006/main">
              <a:ext uri="{FF2B5EF4-FFF2-40B4-BE49-F238E27FC236}">
                <a16:creationId xmlns:a16="http://schemas.microsoft.com/office/drawing/2014/main" id="{FE517E78-CDFF-4769-A1CA-C800D7CF6371}"/>
              </a:ext>
            </a:extLst>
          </p:cNvPr>
          <p:cNvSpPr>
            <a:spLocks xmlns:a="http://schemas.openxmlformats.org/drawingml/2006/main" noGrp="1"/>
          </p:cNvSpPr>
          <p:nvPr/>
        </p:nvSpPr>
        <p:spPr>
          <a:xfrm xmlns:a="http://schemas.openxmlformats.org/drawingml/2006/main">
            <a:off x="457200" y="420624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4A0429F-6C8A-4A09-AAAD-20399F2E7267}"/>
              </a:ext>
            </a:extLst>
          </p:cNvPr>
          <p:cNvSpPr>
            <a:spLocks xmlns:a="http://schemas.openxmlformats.org/drawingml/2006/main" noGrp="1"/>
          </p:cNvSpPr>
          <p:nvPr/>
        </p:nvSpPr>
        <p:spPr>
          <a:xfrm xmlns:a="http://schemas.openxmlformats.org/drawingml/2006/main">
            <a:off x="640080" y="4187952"/>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D9FF"/>
                </a:solidFill>
                <a:latin typeface="Calibri"/>
                <a:ea typeface="Calibri"/>
                <a:cs typeface="Calibri"/>
              </a:defRPr>
            </a:pPr>
            <a:r>
              <a:t>LIME</a:t>
            </a:r>
            <a:endParaRPr/>
          </a:p>
        </p:txBody>
      </p:sp>
      <p:sp>
        <p:nvSpPr>
          <p:cNvPr id="16" name="TextBox 15">
            <a:extLst xmlns:a="http://schemas.openxmlformats.org/drawingml/2006/main">
              <a:ext uri="{FF2B5EF4-FFF2-40B4-BE49-F238E27FC236}">
                <a16:creationId xmlns:a16="http://schemas.microsoft.com/office/drawing/2014/main" id="{AF695A3E-6FD2-48F1-A0FA-241F16F1CC61}"/>
              </a:ext>
            </a:extLst>
          </p:cNvPr>
          <p:cNvSpPr>
            <a:spLocks xmlns:a="http://schemas.openxmlformats.org/drawingml/2006/main" noGrp="1"/>
          </p:cNvSpPr>
          <p:nvPr/>
        </p:nvSpPr>
        <p:spPr>
          <a:xfrm xmlns:a="http://schemas.openxmlformats.org/drawingml/2006/main">
            <a:off x="2926080" y="4187952"/>
            <a:ext cx="8686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Aproximación local</a:t>
            </a:r>
            <a:endParaRPr/>
          </a:p>
        </p:txBody>
      </p:sp>
      <p:sp>
        <p:nvSpPr>
          <p:cNvPr id="17" name="Rectangle 16">
            <a:extLst xmlns:a="http://schemas.openxmlformats.org/drawingml/2006/main">
              <a:ext uri="{FF2B5EF4-FFF2-40B4-BE49-F238E27FC236}">
                <a16:creationId xmlns:a16="http://schemas.microsoft.com/office/drawing/2014/main" id="{7F8108D4-F26A-4B01-9957-A174519D69E3}"/>
              </a:ext>
            </a:extLst>
          </p:cNvPr>
          <p:cNvSpPr>
            <a:spLocks xmlns:a="http://schemas.openxmlformats.org/drawingml/2006/main" noGrp="1"/>
          </p:cNvSpPr>
          <p:nvPr/>
        </p:nvSpPr>
        <p:spPr>
          <a:xfrm xmlns:a="http://schemas.openxmlformats.org/drawingml/2006/main">
            <a:off x="457200" y="4617720"/>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FE9C2E5E-2D26-4276-BBC3-D8B43496E7F2}"/>
              </a:ext>
            </a:extLst>
          </p:cNvPr>
          <p:cNvSpPr>
            <a:spLocks xmlns:a="http://schemas.openxmlformats.org/drawingml/2006/main" noGrp="1"/>
          </p:cNvSpPr>
          <p:nvPr/>
        </p:nvSpPr>
        <p:spPr>
          <a:xfrm xmlns:a="http://schemas.openxmlformats.org/drawingml/2006/main">
            <a:off x="640080" y="459943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A000"/>
                </a:solidFill>
                <a:latin typeface="Calibri"/>
                <a:ea typeface="Calibri"/>
                <a:cs typeface="Calibri"/>
              </a:defRPr>
            </a:pPr>
            <a:r>
              <a:t>Importancia por permutación</a:t>
            </a:r>
            <a:endParaRPr/>
          </a:p>
        </p:txBody>
      </p:sp>
      <p:sp>
        <p:nvSpPr>
          <p:cNvPr id="19" name="TextBox 18">
            <a:extLst xmlns:a="http://schemas.openxmlformats.org/drawingml/2006/main">
              <a:ext uri="{FF2B5EF4-FFF2-40B4-BE49-F238E27FC236}">
                <a16:creationId xmlns:a16="http://schemas.microsoft.com/office/drawing/2014/main" id="{4FE648AB-0259-401A-89D6-761FB80C15BA}"/>
              </a:ext>
            </a:extLst>
          </p:cNvPr>
          <p:cNvSpPr>
            <a:spLocks xmlns:a="http://schemas.openxmlformats.org/drawingml/2006/main" noGrp="1"/>
          </p:cNvSpPr>
          <p:nvPr/>
        </p:nvSpPr>
        <p:spPr>
          <a:xfrm xmlns:a="http://schemas.openxmlformats.org/drawingml/2006/main">
            <a:off x="2926080" y="4599432"/>
            <a:ext cx="8686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Permutación → degradación de la métrica</a:t>
            </a:r>
            <a:endParaRPr/>
          </a:p>
        </p:txBody>
      </p:sp>
      <p:sp>
        <p:nvSpPr>
          <p:cNvPr id="20" name="Rectangle 19">
            <a:extLst xmlns:a="http://schemas.openxmlformats.org/drawingml/2006/main">
              <a:ext uri="{FF2B5EF4-FFF2-40B4-BE49-F238E27FC236}">
                <a16:creationId xmlns:a16="http://schemas.microsoft.com/office/drawing/2014/main" id="{1FCEB504-A773-4C00-ABF0-06B2944D4FB0}"/>
              </a:ext>
            </a:extLst>
          </p:cNvPr>
          <p:cNvSpPr>
            <a:spLocks xmlns:a="http://schemas.openxmlformats.org/drawingml/2006/main" noGrp="1"/>
          </p:cNvSpPr>
          <p:nvPr/>
        </p:nvSpPr>
        <p:spPr>
          <a:xfrm xmlns:a="http://schemas.openxmlformats.org/drawingml/2006/main">
            <a:off x="457200" y="5029200"/>
            <a:ext cx="73152" cy="32004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0A0E6BB-11A3-4520-8AA5-25F95BF6BF9C}"/>
              </a:ext>
            </a:extLst>
          </p:cNvPr>
          <p:cNvSpPr>
            <a:spLocks xmlns:a="http://schemas.openxmlformats.org/drawingml/2006/main" noGrp="1"/>
          </p:cNvSpPr>
          <p:nvPr/>
        </p:nvSpPr>
        <p:spPr>
          <a:xfrm xmlns:a="http://schemas.openxmlformats.org/drawingml/2006/main">
            <a:off x="640080" y="5010912"/>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BB88FF"/>
                </a:solidFill>
                <a:latin typeface="Calibri"/>
                <a:ea typeface="Calibri"/>
                <a:cs typeface="Calibri"/>
              </a:defRPr>
            </a:pPr>
            <a:r>
              <a:t>PDP / ICE</a:t>
            </a:r>
            <a:endParaRPr/>
          </a:p>
        </p:txBody>
      </p:sp>
      <p:sp>
        <p:nvSpPr>
          <p:cNvPr id="22" name="TextBox 21">
            <a:extLst xmlns:a="http://schemas.openxmlformats.org/drawingml/2006/main">
              <a:ext uri="{FF2B5EF4-FFF2-40B4-BE49-F238E27FC236}">
                <a16:creationId xmlns:a16="http://schemas.microsoft.com/office/drawing/2014/main" id="{C1C8B42D-71C2-4E08-9489-E4E9172E292B}"/>
              </a:ext>
            </a:extLst>
          </p:cNvPr>
          <p:cNvSpPr>
            <a:spLocks xmlns:a="http://schemas.openxmlformats.org/drawingml/2006/main" noGrp="1"/>
          </p:cNvSpPr>
          <p:nvPr/>
        </p:nvSpPr>
        <p:spPr>
          <a:xfrm xmlns:a="http://schemas.openxmlformats.org/drawingml/2006/main">
            <a:off x="2926080" y="5010912"/>
            <a:ext cx="8686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Dependencia parcial / curvas individuales</a:t>
            </a:r>
            <a:endParaRPr/>
          </a:p>
        </p:txBody>
      </p:sp>
      <p:sp>
        <p:nvSpPr>
          <p:cNvPr id="23" name="TextBox 22">
            <a:extLst xmlns:a="http://schemas.openxmlformats.org/drawingml/2006/main">
              <a:ext uri="{FF2B5EF4-FFF2-40B4-BE49-F238E27FC236}">
                <a16:creationId xmlns:a16="http://schemas.microsoft.com/office/drawing/2014/main" id="{BC538FDA-8076-48EE-89AD-B3F580055609}"/>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17</a:t>
            </a:r>
            <a:endParaRPr/>
          </a:p>
        </p:txBody>
      </p:sp>
    </p:spTree>
    <p:extLst>
      <p:ext uri="{BB962C8B-B14F-4D97-AF65-F5344CB8AC3E}">
        <p14:creationId xmlns:p14="http://schemas.microsoft.com/office/powerpoint/2010/main" val="9433366"/>
      </p:ext>
    </p:extLst>
  </p:cSld>
</p:sld>
</file>

<file path=ppt/slides/slide18.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AFCF2200-746E-4A32-988D-9A3AB0B8AA52}"/>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34675633-33AA-410C-9E7F-DFD78229C292}"/>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Predicción conformal (90 % de cobertura)</a:t>
            </a:r>
            <a:endParaRPr/>
          </a:p>
        </p:txBody>
      </p:sp>
      <p:sp>
        <p:nvSpPr>
          <p:cNvPr id="4" name="TextBox 3">
            <a:extLst xmlns:a="http://schemas.openxmlformats.org/drawingml/2006/main">
              <a:ext uri="{FF2B5EF4-FFF2-40B4-BE49-F238E27FC236}">
                <a16:creationId xmlns:a16="http://schemas.microsoft.com/office/drawing/2014/main" id="{56630BF9-9266-415D-AE86-625EE0517E1D}"/>
              </a:ext>
            </a:extLst>
          </p:cNvPr>
          <p:cNvSpPr>
            <a:spLocks xmlns:a="http://schemas.openxmlformats.org/drawingml/2006/main" noGrp="1"/>
          </p:cNvSpPr>
          <p:nvPr/>
        </p:nvSpPr>
        <p:spPr>
          <a:xfrm xmlns:a="http://schemas.openxmlformats.org/drawingml/2006/main">
            <a:off x="457200" y="914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Intervalos de predicción con garantía teórica de cobertura</a:t>
            </a:r>
            <a:endParaRPr/>
          </a:p>
        </p:txBody>
      </p:sp>
      <p:sp>
        <p:nvSpPr>
          <p:cNvPr id="5" name="Rectangle 4">
            <a:extLst xmlns:a="http://schemas.openxmlformats.org/drawingml/2006/main">
              <a:ext uri="{FF2B5EF4-FFF2-40B4-BE49-F238E27FC236}">
                <a16:creationId xmlns:a16="http://schemas.microsoft.com/office/drawing/2014/main" id="{5E986B47-6E8C-4584-A8B5-C2ECC22849DB}"/>
              </a:ext>
            </a:extLst>
          </p:cNvPr>
          <p:cNvSpPr>
            <a:spLocks xmlns:a="http://schemas.openxmlformats.org/drawingml/2006/main" noGrp="1"/>
          </p:cNvSpPr>
          <p:nvPr/>
        </p:nvSpPr>
        <p:spPr>
          <a:xfrm xmlns:a="http://schemas.openxmlformats.org/drawingml/2006/main">
            <a:off x="457200" y="137160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F317147-74A1-4CEB-B30C-FEF1BCF3B976}"/>
              </a:ext>
            </a:extLst>
          </p:cNvPr>
          <p:cNvSpPr>
            <a:spLocks xmlns:a="http://schemas.openxmlformats.org/drawingml/2006/main" noGrp="1"/>
          </p:cNvSpPr>
          <p:nvPr/>
        </p:nvSpPr>
        <p:spPr>
          <a:xfrm xmlns:a="http://schemas.openxmlformats.org/drawingml/2006/main">
            <a:off x="640080" y="1353312"/>
            <a:ext cx="1828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D9FF"/>
                </a:solidFill>
                <a:latin typeface="Calibri"/>
                <a:ea typeface="Calibri"/>
                <a:cs typeface="Calibri"/>
              </a:defRPr>
            </a:pPr>
            <a:r>
              <a:t>1. División</a:t>
            </a:r>
            <a:endParaRPr/>
          </a:p>
        </p:txBody>
      </p:sp>
      <p:sp>
        <p:nvSpPr>
          <p:cNvPr id="7" name="TextBox 6">
            <a:extLst xmlns:a="http://schemas.openxmlformats.org/drawingml/2006/main">
              <a:ext uri="{FF2B5EF4-FFF2-40B4-BE49-F238E27FC236}">
                <a16:creationId xmlns:a16="http://schemas.microsoft.com/office/drawing/2014/main" id="{BB7BBA0F-3D93-4488-8722-693009F4F911}"/>
              </a:ext>
            </a:extLst>
          </p:cNvPr>
          <p:cNvSpPr>
            <a:spLocks xmlns:a="http://schemas.openxmlformats.org/drawingml/2006/main" noGrp="1"/>
          </p:cNvSpPr>
          <p:nvPr/>
        </p:nvSpPr>
        <p:spPr>
          <a:xfrm xmlns:a="http://schemas.openxmlformats.org/drawingml/2006/main">
            <a:off x="2468880" y="1353312"/>
            <a:ext cx="9144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entrenamiento + conjunto de calibración</a:t>
            </a:r>
            <a:endParaRPr/>
          </a:p>
        </p:txBody>
      </p:sp>
      <p:sp>
        <p:nvSpPr>
          <p:cNvPr id="8" name="Rectangle 7">
            <a:extLst xmlns:a="http://schemas.openxmlformats.org/drawingml/2006/main">
              <a:ext uri="{FF2B5EF4-FFF2-40B4-BE49-F238E27FC236}">
                <a16:creationId xmlns:a16="http://schemas.microsoft.com/office/drawing/2014/main" id="{2AB33FB5-2733-4A5B-82F9-57880EBD42A6}"/>
              </a:ext>
            </a:extLst>
          </p:cNvPr>
          <p:cNvSpPr>
            <a:spLocks xmlns:a="http://schemas.openxmlformats.org/drawingml/2006/main" noGrp="1"/>
          </p:cNvSpPr>
          <p:nvPr/>
        </p:nvSpPr>
        <p:spPr>
          <a:xfrm xmlns:a="http://schemas.openxmlformats.org/drawingml/2006/main">
            <a:off x="457200" y="1828800"/>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10F84EC-FC51-451E-958F-6FA237550256}"/>
              </a:ext>
            </a:extLst>
          </p:cNvPr>
          <p:cNvSpPr>
            <a:spLocks xmlns:a="http://schemas.openxmlformats.org/drawingml/2006/main" noGrp="1"/>
          </p:cNvSpPr>
          <p:nvPr/>
        </p:nvSpPr>
        <p:spPr>
          <a:xfrm xmlns:a="http://schemas.openxmlformats.org/drawingml/2006/main">
            <a:off x="640080" y="1810512"/>
            <a:ext cx="1828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FF88"/>
                </a:solidFill>
                <a:latin typeface="Calibri"/>
                <a:ea typeface="Calibri"/>
                <a:cs typeface="Calibri"/>
              </a:defRPr>
            </a:pPr>
            <a:r>
              <a:t>2. Ajuste</a:t>
            </a:r>
            <a:endParaRPr/>
          </a:p>
        </p:txBody>
      </p:sp>
      <p:sp>
        <p:nvSpPr>
          <p:cNvPr id="10" name="TextBox 9">
            <a:extLst xmlns:a="http://schemas.openxmlformats.org/drawingml/2006/main">
              <a:ext uri="{FF2B5EF4-FFF2-40B4-BE49-F238E27FC236}">
                <a16:creationId xmlns:a16="http://schemas.microsoft.com/office/drawing/2014/main" id="{EE8715D3-DE4D-430B-A60A-D53756CF41BD}"/>
              </a:ext>
            </a:extLst>
          </p:cNvPr>
          <p:cNvSpPr>
            <a:spLocks xmlns:a="http://schemas.openxmlformats.org/drawingml/2006/main" noGrp="1"/>
          </p:cNvSpPr>
          <p:nvPr/>
        </p:nvSpPr>
        <p:spPr>
          <a:xfrm xmlns:a="http://schemas.openxmlformats.org/drawingml/2006/main">
            <a:off x="2468880" y="1810512"/>
            <a:ext cx="9144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Entrenar el modelo con el conjunto de entrenamiento</a:t>
            </a:r>
            <a:endParaRPr/>
          </a:p>
        </p:txBody>
      </p:sp>
      <p:sp>
        <p:nvSpPr>
          <p:cNvPr id="11" name="Rectangle 10">
            <a:extLst xmlns:a="http://schemas.openxmlformats.org/drawingml/2006/main">
              <a:ext uri="{FF2B5EF4-FFF2-40B4-BE49-F238E27FC236}">
                <a16:creationId xmlns:a16="http://schemas.microsoft.com/office/drawing/2014/main" id="{AA44FB27-1A27-49BD-83B9-1CCEAEB85E5A}"/>
              </a:ext>
            </a:extLst>
          </p:cNvPr>
          <p:cNvSpPr>
            <a:spLocks xmlns:a="http://schemas.openxmlformats.org/drawingml/2006/main" noGrp="1"/>
          </p:cNvSpPr>
          <p:nvPr/>
        </p:nvSpPr>
        <p:spPr>
          <a:xfrm xmlns:a="http://schemas.openxmlformats.org/drawingml/2006/main">
            <a:off x="457200" y="228600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1C15693-F9C5-4318-A970-84EE358FA5E3}"/>
              </a:ext>
            </a:extLst>
          </p:cNvPr>
          <p:cNvSpPr>
            <a:spLocks xmlns:a="http://schemas.openxmlformats.org/drawingml/2006/main" noGrp="1"/>
          </p:cNvSpPr>
          <p:nvPr/>
        </p:nvSpPr>
        <p:spPr>
          <a:xfrm xmlns:a="http://schemas.openxmlformats.org/drawingml/2006/main">
            <a:off x="640080" y="2267712"/>
            <a:ext cx="1828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A000"/>
                </a:solidFill>
                <a:latin typeface="Calibri"/>
                <a:ea typeface="Calibri"/>
                <a:cs typeface="Calibri"/>
              </a:defRPr>
            </a:pPr>
            <a:r>
              <a:t>3. Residuos</a:t>
            </a:r>
            <a:endParaRPr/>
          </a:p>
        </p:txBody>
      </p:sp>
      <p:sp>
        <p:nvSpPr>
          <p:cNvPr id="13" name="TextBox 12">
            <a:extLst xmlns:a="http://schemas.openxmlformats.org/drawingml/2006/main">
              <a:ext uri="{FF2B5EF4-FFF2-40B4-BE49-F238E27FC236}">
                <a16:creationId xmlns:a16="http://schemas.microsoft.com/office/drawing/2014/main" id="{1AB609E6-B964-444C-BABE-438D94626EBD}"/>
              </a:ext>
            </a:extLst>
          </p:cNvPr>
          <p:cNvSpPr>
            <a:spLocks xmlns:a="http://schemas.openxmlformats.org/drawingml/2006/main" noGrp="1"/>
          </p:cNvSpPr>
          <p:nvPr/>
        </p:nvSpPr>
        <p:spPr>
          <a:xfrm xmlns:a="http://schemas.openxmlformats.org/drawingml/2006/main">
            <a:off x="2468880" y="2267712"/>
            <a:ext cx="9144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Residuos |y - y_hat| en calibración</a:t>
            </a:r>
            <a:endParaRPr/>
          </a:p>
        </p:txBody>
      </p:sp>
      <p:sp>
        <p:nvSpPr>
          <p:cNvPr id="14" name="Rectangle 13">
            <a:extLst xmlns:a="http://schemas.openxmlformats.org/drawingml/2006/main">
              <a:ext uri="{FF2B5EF4-FFF2-40B4-BE49-F238E27FC236}">
                <a16:creationId xmlns:a16="http://schemas.microsoft.com/office/drawing/2014/main" id="{3623F56D-2DE1-4ABF-AF96-C7F639BF14FF}"/>
              </a:ext>
            </a:extLst>
          </p:cNvPr>
          <p:cNvSpPr>
            <a:spLocks xmlns:a="http://schemas.openxmlformats.org/drawingml/2006/main" noGrp="1"/>
          </p:cNvSpPr>
          <p:nvPr/>
        </p:nvSpPr>
        <p:spPr>
          <a:xfrm xmlns:a="http://schemas.openxmlformats.org/drawingml/2006/main">
            <a:off x="457200" y="2743200"/>
            <a:ext cx="73152" cy="36576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8C8FF64-10B6-47C9-89CA-D57828482DB4}"/>
              </a:ext>
            </a:extLst>
          </p:cNvPr>
          <p:cNvSpPr>
            <a:spLocks xmlns:a="http://schemas.openxmlformats.org/drawingml/2006/main" noGrp="1"/>
          </p:cNvSpPr>
          <p:nvPr/>
        </p:nvSpPr>
        <p:spPr>
          <a:xfrm xmlns:a="http://schemas.openxmlformats.org/drawingml/2006/main">
            <a:off x="640080" y="2724911"/>
            <a:ext cx="1828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BB88FF"/>
                </a:solidFill>
                <a:latin typeface="Calibri"/>
                <a:ea typeface="Calibri"/>
                <a:cs typeface="Calibri"/>
              </a:defRPr>
            </a:pPr>
            <a:r>
              <a:t>4. Cuantil</a:t>
            </a:r>
            <a:endParaRPr/>
          </a:p>
        </p:txBody>
      </p:sp>
      <p:sp>
        <p:nvSpPr>
          <p:cNvPr id="16" name="TextBox 15">
            <a:extLst xmlns:a="http://schemas.openxmlformats.org/drawingml/2006/main">
              <a:ext uri="{FF2B5EF4-FFF2-40B4-BE49-F238E27FC236}">
                <a16:creationId xmlns:a16="http://schemas.microsoft.com/office/drawing/2014/main" id="{ACA7FEB7-6F56-4FAE-877F-C94A461248C5}"/>
              </a:ext>
            </a:extLst>
          </p:cNvPr>
          <p:cNvSpPr>
            <a:spLocks xmlns:a="http://schemas.openxmlformats.org/drawingml/2006/main" noGrp="1"/>
          </p:cNvSpPr>
          <p:nvPr/>
        </p:nvSpPr>
        <p:spPr>
          <a:xfrm xmlns:a="http://schemas.openxmlformats.org/drawingml/2006/main">
            <a:off x="2468880" y="2724911"/>
            <a:ext cx="9144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Cuantil alfa (alfa = 0,1 para 90 %)</a:t>
            </a:r>
            <a:endParaRPr/>
          </a:p>
        </p:txBody>
      </p:sp>
      <p:sp>
        <p:nvSpPr>
          <p:cNvPr id="17" name="Rectangle 16">
            <a:extLst xmlns:a="http://schemas.openxmlformats.org/drawingml/2006/main">
              <a:ext uri="{FF2B5EF4-FFF2-40B4-BE49-F238E27FC236}">
                <a16:creationId xmlns:a16="http://schemas.microsoft.com/office/drawing/2014/main" id="{9BACEF96-AA9C-47B6-8CD6-3642C45C2667}"/>
              </a:ext>
            </a:extLst>
          </p:cNvPr>
          <p:cNvSpPr>
            <a:spLocks xmlns:a="http://schemas.openxmlformats.org/drawingml/2006/main" noGrp="1"/>
          </p:cNvSpPr>
          <p:nvPr/>
        </p:nvSpPr>
        <p:spPr>
          <a:xfrm xmlns:a="http://schemas.openxmlformats.org/drawingml/2006/main">
            <a:off x="457200" y="3200400"/>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9C396D48-FEA6-478D-853F-B22B4FC6E666}"/>
              </a:ext>
            </a:extLst>
          </p:cNvPr>
          <p:cNvSpPr>
            <a:spLocks xmlns:a="http://schemas.openxmlformats.org/drawingml/2006/main" noGrp="1"/>
          </p:cNvSpPr>
          <p:nvPr/>
        </p:nvSpPr>
        <p:spPr>
          <a:xfrm xmlns:a="http://schemas.openxmlformats.org/drawingml/2006/main">
            <a:off x="640080" y="3182112"/>
            <a:ext cx="1828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5555"/>
                </a:solidFill>
                <a:latin typeface="Calibri"/>
                <a:ea typeface="Calibri"/>
                <a:cs typeface="Calibri"/>
              </a:defRPr>
            </a:pPr>
            <a:r>
              <a:t>5. Intervalo</a:t>
            </a:r>
            <a:endParaRPr/>
          </a:p>
        </p:txBody>
      </p:sp>
      <p:sp>
        <p:nvSpPr>
          <p:cNvPr id="19" name="TextBox 18">
            <a:extLst xmlns:a="http://schemas.openxmlformats.org/drawingml/2006/main">
              <a:ext uri="{FF2B5EF4-FFF2-40B4-BE49-F238E27FC236}">
                <a16:creationId xmlns:a16="http://schemas.microsoft.com/office/drawing/2014/main" id="{A766DD92-DE61-4523-95DD-7B9F77D5C814}"/>
              </a:ext>
            </a:extLst>
          </p:cNvPr>
          <p:cNvSpPr>
            <a:spLocks xmlns:a="http://schemas.openxmlformats.org/drawingml/2006/main" noGrp="1"/>
          </p:cNvSpPr>
          <p:nvPr/>
        </p:nvSpPr>
        <p:spPr>
          <a:xfrm xmlns:a="http://schemas.openxmlformats.org/drawingml/2006/main">
            <a:off x="2468880" y="3182112"/>
            <a:ext cx="91440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y_hat ± q para nuevas predicciones</a:t>
            </a:r>
            <a:endParaRPr/>
          </a:p>
        </p:txBody>
      </p:sp>
      <p:sp>
        <p:nvSpPr>
          <p:cNvPr id="20" name="Rectangle 19">
            <a:extLst xmlns:a="http://schemas.openxmlformats.org/drawingml/2006/main">
              <a:ext uri="{FF2B5EF4-FFF2-40B4-BE49-F238E27FC236}">
                <a16:creationId xmlns:a16="http://schemas.microsoft.com/office/drawing/2014/main" id="{CB668A93-43FC-4A9D-BEEC-9FC8974DCCA7}"/>
              </a:ext>
            </a:extLst>
          </p:cNvPr>
          <p:cNvSpPr>
            <a:spLocks xmlns:a="http://schemas.openxmlformats.org/drawingml/2006/main" noGrp="1"/>
          </p:cNvSpPr>
          <p:nvPr/>
        </p:nvSpPr>
        <p:spPr>
          <a:xfrm xmlns:a="http://schemas.openxmlformats.org/drawingml/2006/main">
            <a:off x="457200" y="3931920"/>
            <a:ext cx="11247120" cy="22860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1A351-2348-450E-AAE7-C4E626064537}"/>
              </a:ext>
            </a:extLst>
          </p:cNvPr>
          <p:cNvSpPr>
            <a:spLocks xmlns:a="http://schemas.openxmlformats.org/drawingml/2006/main" noGrp="1"/>
          </p:cNvSpPr>
          <p:nvPr/>
        </p:nvSpPr>
        <p:spPr>
          <a:xfrm xmlns:a="http://schemas.openxmlformats.org/drawingml/2006/main">
            <a:off x="530352" y="3968496"/>
            <a:ext cx="11100816" cy="22128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200">
                <a:solidFill>
                  <a:srgbClr val="E0E0FF"/>
                </a:solidFill>
                <a:latin typeface="Consolas"/>
                <a:ea typeface="Consolas"/>
                <a:cs typeface="Consolas"/>
              </a:defRPr>
            </a:pPr>
            <a:r>
              <a:t>cal_pred = model.predict(X_calib)</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residuals = np.abs(y_calib - cal_pred)</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q = np.quantile(residuals, 0.9)  # 90% coverage</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lower = y_pred - q</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upper = y_pred + q</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coverage = np.mean((y_test &gt;= lower) &amp; (y_test &lt;= upper))</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print(f'Coverage: {coverage:.3f}')</a:t>
            </a:r>
            <a:endParaRPr/>
          </a:p>
        </p:txBody>
      </p:sp>
      <p:sp>
        <p:nvSpPr>
          <p:cNvPr id="22" name="TextBox 21">
            <a:extLst xmlns:a="http://schemas.openxmlformats.org/drawingml/2006/main">
              <a:ext uri="{FF2B5EF4-FFF2-40B4-BE49-F238E27FC236}">
                <a16:creationId xmlns:a16="http://schemas.microsoft.com/office/drawing/2014/main" id="{555E6536-3E6A-4B8F-9EC5-078DA7A0F64C}"/>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18</a:t>
            </a:r>
            <a:endParaRPr/>
          </a:p>
        </p:txBody>
      </p:sp>
    </p:spTree>
    <p:extLst>
      <p:ext uri="{BB962C8B-B14F-4D97-AF65-F5344CB8AC3E}">
        <p14:creationId xmlns:p14="http://schemas.microsoft.com/office/powerpoint/2010/main" val="1869832875"/>
      </p:ext>
    </p:extLst>
  </p:cSld>
</p:sld>
</file>

<file path=ppt/slides/slide19.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76AED06-4B46-44F2-B060-E331D907B1C5}"/>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88862A7F-6315-4117-9B4D-E8DF30019F0A}"/>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Inferencia causal (DoWhy)</a:t>
            </a:r>
            <a:endParaRPr/>
          </a:p>
        </p:txBody>
      </p:sp>
      <p:sp>
        <p:nvSpPr>
          <p:cNvPr id="4" name="TextBox 3">
            <a:extLst xmlns:a="http://schemas.openxmlformats.org/drawingml/2006/main">
              <a:ext uri="{FF2B5EF4-FFF2-40B4-BE49-F238E27FC236}">
                <a16:creationId xmlns:a16="http://schemas.microsoft.com/office/drawing/2014/main" id="{9BAED4FF-5553-44D2-BC94-7A0CFB432320}"/>
              </a:ext>
            </a:extLst>
          </p:cNvPr>
          <p:cNvSpPr>
            <a:spLocks xmlns:a="http://schemas.openxmlformats.org/drawingml/2006/main" noGrp="1"/>
          </p:cNvSpPr>
          <p:nvPr/>
        </p:nvSpPr>
        <p:spPr>
          <a:xfrm xmlns:a="http://schemas.openxmlformats.org/drawingml/2006/main">
            <a:off x="457200" y="914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Correlación ≠ causalidad. La inferencia causal estima el efecto de una intervención.</a:t>
            </a:r>
            <a:endParaRPr/>
          </a:p>
        </p:txBody>
      </p:sp>
      <p:sp>
        <p:nvSpPr>
          <p:cNvPr id="5" name="TextBox 4">
            <a:extLst xmlns:a="http://schemas.openxmlformats.org/drawingml/2006/main">
              <a:ext uri="{FF2B5EF4-FFF2-40B4-BE49-F238E27FC236}">
                <a16:creationId xmlns:a16="http://schemas.microsoft.com/office/drawing/2014/main" id="{2B87837C-893D-4B0F-9B44-12DB1D724FC2}"/>
              </a:ext>
            </a:extLst>
          </p:cNvPr>
          <p:cNvSpPr>
            <a:spLocks xmlns:a="http://schemas.openxmlformats.org/drawingml/2006/main" noGrp="1"/>
          </p:cNvSpPr>
          <p:nvPr/>
        </p:nvSpPr>
        <p:spPr>
          <a:xfrm xmlns:a="http://schemas.openxmlformats.org/drawingml/2006/main">
            <a:off x="457200" y="13716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Conceptos clave:</a:t>
            </a:r>
            <a:endParaRPr/>
          </a:p>
        </p:txBody>
      </p:sp>
      <p:sp>
        <p:nvSpPr>
          <p:cNvPr id="6" name="Rectangle 5">
            <a:extLst xmlns:a="http://schemas.openxmlformats.org/drawingml/2006/main">
              <a:ext uri="{FF2B5EF4-FFF2-40B4-BE49-F238E27FC236}">
                <a16:creationId xmlns:a16="http://schemas.microsoft.com/office/drawing/2014/main" id="{B3591377-5F90-4EFF-A6D8-0E202002AF74}"/>
              </a:ext>
            </a:extLst>
          </p:cNvPr>
          <p:cNvSpPr>
            <a:spLocks xmlns:a="http://schemas.openxmlformats.org/drawingml/2006/main" noGrp="1"/>
          </p:cNvSpPr>
          <p:nvPr/>
        </p:nvSpPr>
        <p:spPr>
          <a:xfrm xmlns:a="http://schemas.openxmlformats.org/drawingml/2006/main">
            <a:off x="457200" y="173736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B99B28C-6ADC-43F0-BACB-58A9088A9314}"/>
              </a:ext>
            </a:extLst>
          </p:cNvPr>
          <p:cNvSpPr>
            <a:spLocks xmlns:a="http://schemas.openxmlformats.org/drawingml/2006/main" noGrp="1"/>
          </p:cNvSpPr>
          <p:nvPr/>
        </p:nvSpPr>
        <p:spPr>
          <a:xfrm xmlns:a="http://schemas.openxmlformats.org/drawingml/2006/main">
            <a:off x="640080" y="1719072"/>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D9FF"/>
                </a:solidFill>
                <a:latin typeface="Calibri"/>
                <a:ea typeface="Calibri"/>
                <a:cs typeface="Calibri"/>
              </a:defRPr>
            </a:pPr>
            <a:r>
              <a:t>ATE</a:t>
            </a:r>
            <a:endParaRPr/>
          </a:p>
        </p:txBody>
      </p:sp>
      <p:sp>
        <p:nvSpPr>
          <p:cNvPr id="8" name="TextBox 7">
            <a:extLst xmlns:a="http://schemas.openxmlformats.org/drawingml/2006/main">
              <a:ext uri="{FF2B5EF4-FFF2-40B4-BE49-F238E27FC236}">
                <a16:creationId xmlns:a16="http://schemas.microsoft.com/office/drawing/2014/main" id="{B6C51B58-EE08-442C-B894-329D209B4FB6}"/>
              </a:ext>
            </a:extLst>
          </p:cNvPr>
          <p:cNvSpPr>
            <a:spLocks xmlns:a="http://schemas.openxmlformats.org/drawingml/2006/main" noGrp="1"/>
          </p:cNvSpPr>
          <p:nvPr/>
        </p:nvSpPr>
        <p:spPr>
          <a:xfrm xmlns:a="http://schemas.openxmlformats.org/drawingml/2006/main">
            <a:off x="2926080" y="17190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Efecto promedio del tratamiento</a:t>
            </a:r>
            <a:endParaRPr/>
          </a:p>
        </p:txBody>
      </p:sp>
      <p:sp>
        <p:nvSpPr>
          <p:cNvPr id="9" name="Rectangle 8">
            <a:extLst xmlns:a="http://schemas.openxmlformats.org/drawingml/2006/main">
              <a:ext uri="{FF2B5EF4-FFF2-40B4-BE49-F238E27FC236}">
                <a16:creationId xmlns:a16="http://schemas.microsoft.com/office/drawing/2014/main" id="{CC606686-6CC9-4080-9072-C055F350EF3E}"/>
              </a:ext>
            </a:extLst>
          </p:cNvPr>
          <p:cNvSpPr>
            <a:spLocks xmlns:a="http://schemas.openxmlformats.org/drawingml/2006/main" noGrp="1"/>
          </p:cNvSpPr>
          <p:nvPr/>
        </p:nvSpPr>
        <p:spPr>
          <a:xfrm xmlns:a="http://schemas.openxmlformats.org/drawingml/2006/main">
            <a:off x="457200" y="2194560"/>
            <a:ext cx="73152" cy="32004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0EE9F85-41F5-45C6-A74F-AA299EA7EE7E}"/>
              </a:ext>
            </a:extLst>
          </p:cNvPr>
          <p:cNvSpPr>
            <a:spLocks xmlns:a="http://schemas.openxmlformats.org/drawingml/2006/main" noGrp="1"/>
          </p:cNvSpPr>
          <p:nvPr/>
        </p:nvSpPr>
        <p:spPr>
          <a:xfrm xmlns:a="http://schemas.openxmlformats.org/drawingml/2006/main">
            <a:off x="640080" y="2176272"/>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FF88"/>
                </a:solidFill>
                <a:latin typeface="Calibri"/>
                <a:ea typeface="Calibri"/>
                <a:cs typeface="Calibri"/>
              </a:defRPr>
            </a:pPr>
            <a:r>
              <a:t>DAG</a:t>
            </a:r>
            <a:endParaRPr/>
          </a:p>
        </p:txBody>
      </p:sp>
      <p:sp>
        <p:nvSpPr>
          <p:cNvPr id="11" name="TextBox 10">
            <a:extLst xmlns:a="http://schemas.openxmlformats.org/drawingml/2006/main">
              <a:ext uri="{FF2B5EF4-FFF2-40B4-BE49-F238E27FC236}">
                <a16:creationId xmlns:a16="http://schemas.microsoft.com/office/drawing/2014/main" id="{C652A9FA-3A3D-4771-B568-CDE8C0BA8D70}"/>
              </a:ext>
            </a:extLst>
          </p:cNvPr>
          <p:cNvSpPr>
            <a:spLocks xmlns:a="http://schemas.openxmlformats.org/drawingml/2006/main" noGrp="1"/>
          </p:cNvSpPr>
          <p:nvPr/>
        </p:nvSpPr>
        <p:spPr>
          <a:xfrm xmlns:a="http://schemas.openxmlformats.org/drawingml/2006/main">
            <a:off x="2926080" y="21762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Grafo acíclico dirigido</a:t>
            </a:r>
            <a:endParaRPr/>
          </a:p>
        </p:txBody>
      </p:sp>
      <p:sp>
        <p:nvSpPr>
          <p:cNvPr id="12" name="Rectangle 11">
            <a:extLst xmlns:a="http://schemas.openxmlformats.org/drawingml/2006/main">
              <a:ext uri="{FF2B5EF4-FFF2-40B4-BE49-F238E27FC236}">
                <a16:creationId xmlns:a16="http://schemas.microsoft.com/office/drawing/2014/main" id="{1E4CDA43-AB8F-4077-82AB-721F9B7A18CC}"/>
              </a:ext>
            </a:extLst>
          </p:cNvPr>
          <p:cNvSpPr>
            <a:spLocks xmlns:a="http://schemas.openxmlformats.org/drawingml/2006/main" noGrp="1"/>
          </p:cNvSpPr>
          <p:nvPr/>
        </p:nvSpPr>
        <p:spPr>
          <a:xfrm xmlns:a="http://schemas.openxmlformats.org/drawingml/2006/main">
            <a:off x="457200" y="2651760"/>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F4CD963-3D54-4E24-9AF6-894A821406D8}"/>
              </a:ext>
            </a:extLst>
          </p:cNvPr>
          <p:cNvSpPr>
            <a:spLocks xmlns:a="http://schemas.openxmlformats.org/drawingml/2006/main" noGrp="1"/>
          </p:cNvSpPr>
          <p:nvPr/>
        </p:nvSpPr>
        <p:spPr>
          <a:xfrm xmlns:a="http://schemas.openxmlformats.org/drawingml/2006/main">
            <a:off x="640080" y="263347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A000"/>
                </a:solidFill>
                <a:latin typeface="Calibri"/>
                <a:ea typeface="Calibri"/>
                <a:cs typeface="Calibri"/>
              </a:defRPr>
            </a:pPr>
            <a:r>
              <a:t>Puntaje de propensión</a:t>
            </a:r>
            <a:endParaRPr/>
          </a:p>
        </p:txBody>
      </p:sp>
      <p:sp>
        <p:nvSpPr>
          <p:cNvPr id="14" name="TextBox 13">
            <a:extLst xmlns:a="http://schemas.openxmlformats.org/drawingml/2006/main">
              <a:ext uri="{FF2B5EF4-FFF2-40B4-BE49-F238E27FC236}">
                <a16:creationId xmlns:a16="http://schemas.microsoft.com/office/drawing/2014/main" id="{E2431885-C8BA-4E4A-99FD-5B169BE41E43}"/>
              </a:ext>
            </a:extLst>
          </p:cNvPr>
          <p:cNvSpPr>
            <a:spLocks xmlns:a="http://schemas.openxmlformats.org/drawingml/2006/main" noGrp="1"/>
          </p:cNvSpPr>
          <p:nvPr/>
        </p:nvSpPr>
        <p:spPr>
          <a:xfrm xmlns:a="http://schemas.openxmlformats.org/drawingml/2006/main">
            <a:off x="2926080" y="26334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Probabilidad de tratamiento</a:t>
            </a:r>
            <a:endParaRPr/>
          </a:p>
        </p:txBody>
      </p:sp>
      <p:sp>
        <p:nvSpPr>
          <p:cNvPr id="15" name="Rectangle 14">
            <a:extLst xmlns:a="http://schemas.openxmlformats.org/drawingml/2006/main">
              <a:ext uri="{FF2B5EF4-FFF2-40B4-BE49-F238E27FC236}">
                <a16:creationId xmlns:a16="http://schemas.microsoft.com/office/drawing/2014/main" id="{B61C7CD4-D06B-4710-843F-2AA2F7EFCAB6}"/>
              </a:ext>
            </a:extLst>
          </p:cNvPr>
          <p:cNvSpPr>
            <a:spLocks xmlns:a="http://schemas.openxmlformats.org/drawingml/2006/main" noGrp="1"/>
          </p:cNvSpPr>
          <p:nvPr/>
        </p:nvSpPr>
        <p:spPr>
          <a:xfrm xmlns:a="http://schemas.openxmlformats.org/drawingml/2006/main">
            <a:off x="457200" y="3108960"/>
            <a:ext cx="73152" cy="32004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68AF7A97-5338-4EE6-B112-DFDF40C606D2}"/>
              </a:ext>
            </a:extLst>
          </p:cNvPr>
          <p:cNvSpPr>
            <a:spLocks xmlns:a="http://schemas.openxmlformats.org/drawingml/2006/main" noGrp="1"/>
          </p:cNvSpPr>
          <p:nvPr/>
        </p:nvSpPr>
        <p:spPr>
          <a:xfrm xmlns:a="http://schemas.openxmlformats.org/drawingml/2006/main">
            <a:off x="640080" y="3090672"/>
            <a:ext cx="22860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5555"/>
                </a:solidFill>
                <a:latin typeface="Calibri"/>
                <a:ea typeface="Calibri"/>
                <a:cs typeface="Calibri"/>
              </a:defRPr>
            </a:pPr>
            <a:r>
              <a:t>Refutación</a:t>
            </a:r>
            <a:endParaRPr/>
          </a:p>
        </p:txBody>
      </p:sp>
      <p:sp>
        <p:nvSpPr>
          <p:cNvPr id="17" name="TextBox 16">
            <a:extLst xmlns:a="http://schemas.openxmlformats.org/drawingml/2006/main">
              <a:ext uri="{FF2B5EF4-FFF2-40B4-BE49-F238E27FC236}">
                <a16:creationId xmlns:a16="http://schemas.microsoft.com/office/drawing/2014/main" id="{6429E1BE-5EDD-4E03-830D-40C476A23361}"/>
              </a:ext>
            </a:extLst>
          </p:cNvPr>
          <p:cNvSpPr>
            <a:spLocks xmlns:a="http://schemas.openxmlformats.org/drawingml/2006/main" noGrp="1"/>
          </p:cNvSpPr>
          <p:nvPr/>
        </p:nvSpPr>
        <p:spPr>
          <a:xfrm xmlns:a="http://schemas.openxmlformats.org/drawingml/2006/main">
            <a:off x="2926080" y="30906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Prueba de robustez</a:t>
            </a:r>
            <a:endParaRPr/>
          </a:p>
        </p:txBody>
      </p:sp>
      <p:sp>
        <p:nvSpPr>
          <p:cNvPr id="18" name="TextBox 17">
            <a:extLst xmlns:a="http://schemas.openxmlformats.org/drawingml/2006/main">
              <a:ext uri="{FF2B5EF4-FFF2-40B4-BE49-F238E27FC236}">
                <a16:creationId xmlns:a16="http://schemas.microsoft.com/office/drawing/2014/main" id="{862750BE-17B4-44C5-9E8C-2FCC7ECA43FD}"/>
              </a:ext>
            </a:extLst>
          </p:cNvPr>
          <p:cNvSpPr>
            <a:spLocks xmlns:a="http://schemas.openxmlformats.org/drawingml/2006/main" noGrp="1"/>
          </p:cNvSpPr>
          <p:nvPr/>
        </p:nvSpPr>
        <p:spPr>
          <a:xfrm xmlns:a="http://schemas.openxmlformats.org/drawingml/2006/main">
            <a:off x="6217920" y="13716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Ejemplo (Mercari):</a:t>
            </a:r>
            <a:endParaRPr/>
          </a:p>
        </p:txBody>
      </p:sp>
      <p:sp>
        <p:nvSpPr>
          <p:cNvPr id="19" name="TextBox 18">
            <a:extLst xmlns:a="http://schemas.openxmlformats.org/drawingml/2006/main">
              <a:ext uri="{FF2B5EF4-FFF2-40B4-BE49-F238E27FC236}">
                <a16:creationId xmlns:a16="http://schemas.microsoft.com/office/drawing/2014/main" id="{20334C95-77C1-4695-89F0-E27B6C2EA828}"/>
              </a:ext>
            </a:extLst>
          </p:cNvPr>
          <p:cNvSpPr>
            <a:spLocks xmlns:a="http://schemas.openxmlformats.org/drawingml/2006/main" noGrp="1"/>
          </p:cNvSpPr>
          <p:nvPr/>
        </p:nvSpPr>
        <p:spPr>
          <a:xfrm xmlns:a="http://schemas.openxmlformats.org/drawingml/2006/main">
            <a:off x="6217920" y="1737360"/>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A000"/>
                </a:solidFill>
                <a:latin typeface="Calibri"/>
                <a:ea typeface="Calibri"/>
                <a:cs typeface="Calibri"/>
              </a:defRPr>
            </a:pPr>
            <a:r>
              <a:t>Hipótesis: la presencia de marca → precio más alto</a:t>
            </a:r>
            <a:endParaRPr/>
          </a:p>
        </p:txBody>
      </p:sp>
      <p:sp>
        <p:nvSpPr>
          <p:cNvPr id="20" name="Rectangle 19">
            <a:extLst xmlns:a="http://schemas.openxmlformats.org/drawingml/2006/main">
              <a:ext uri="{FF2B5EF4-FFF2-40B4-BE49-F238E27FC236}">
                <a16:creationId xmlns:a16="http://schemas.microsoft.com/office/drawing/2014/main" id="{DF240781-F3BF-4145-B425-FC3F2DFAD288}"/>
              </a:ext>
            </a:extLst>
          </p:cNvPr>
          <p:cNvSpPr>
            <a:spLocks xmlns:a="http://schemas.openxmlformats.org/drawingml/2006/main" noGrp="1"/>
          </p:cNvSpPr>
          <p:nvPr/>
        </p:nvSpPr>
        <p:spPr>
          <a:xfrm xmlns:a="http://schemas.openxmlformats.org/drawingml/2006/main">
            <a:off x="6217920" y="2103120"/>
            <a:ext cx="5486400" cy="32004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FD80B86-4A37-4E57-9B45-0B986E184570}"/>
              </a:ext>
            </a:extLst>
          </p:cNvPr>
          <p:cNvSpPr>
            <a:spLocks xmlns:a="http://schemas.openxmlformats.org/drawingml/2006/main" noGrp="1"/>
          </p:cNvSpPr>
          <p:nvPr/>
        </p:nvSpPr>
        <p:spPr>
          <a:xfrm xmlns:a="http://schemas.openxmlformats.org/drawingml/2006/main">
            <a:off x="6291072" y="2139696"/>
            <a:ext cx="5340096" cy="31272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000">
                <a:solidFill>
                  <a:srgbClr val="E0E0FF"/>
                </a:solidFill>
                <a:latin typeface="Consolas"/>
                <a:ea typeface="Consolas"/>
                <a:cs typeface="Consolas"/>
              </a:defRPr>
            </a:pPr>
            <a:r>
              <a:t>from dowhy import CausalModel</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model = CausalModel(</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data=df_pd,</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treatment='has_brand',</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outcome='price',</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common_causes=['category',</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'item_condition'])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identified = model.identify_effect()</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estimate = model.estimate_effect(</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identified,</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method_name='backdoor</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.propensity_score_matching')</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print(f'ATE: {estimate.value}')</a:t>
            </a:r>
            <a:endParaRPr/>
          </a:p>
        </p:txBody>
      </p:sp>
      <p:sp>
        <p:nvSpPr>
          <p:cNvPr id="22" name="TextBox 21">
            <a:extLst xmlns:a="http://schemas.openxmlformats.org/drawingml/2006/main">
              <a:ext uri="{FF2B5EF4-FFF2-40B4-BE49-F238E27FC236}">
                <a16:creationId xmlns:a16="http://schemas.microsoft.com/office/drawing/2014/main" id="{4916F4E6-F302-4887-99F8-0201BBBEDA10}"/>
              </a:ext>
            </a:extLst>
          </p:cNvPr>
          <p:cNvSpPr>
            <a:spLocks xmlns:a="http://schemas.openxmlformats.org/drawingml/2006/main" noGrp="1"/>
          </p:cNvSpPr>
          <p:nvPr/>
        </p:nvSpPr>
        <p:spPr>
          <a:xfrm xmlns:a="http://schemas.openxmlformats.org/drawingml/2006/main">
            <a:off x="457200" y="36576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Pruebas de refutación:</a:t>
            </a:r>
            <a:endParaRPr/>
          </a:p>
        </p:txBody>
      </p:sp>
      <p:sp>
        <p:nvSpPr>
          <p:cNvPr id="23" name="TextBox 22">
            <a:extLst xmlns:a="http://schemas.openxmlformats.org/drawingml/2006/main">
              <a:ext uri="{FF2B5EF4-FFF2-40B4-BE49-F238E27FC236}">
                <a16:creationId xmlns:a16="http://schemas.microsoft.com/office/drawing/2014/main" id="{0E80D95E-B476-4929-BBE9-0646EE22B2E9}"/>
              </a:ext>
            </a:extLst>
          </p:cNvPr>
          <p:cNvSpPr>
            <a:spLocks xmlns:a="http://schemas.openxmlformats.org/drawingml/2006/main" noGrp="1"/>
          </p:cNvSpPr>
          <p:nvPr/>
        </p:nvSpPr>
        <p:spPr>
          <a:xfrm xmlns:a="http://schemas.openxmlformats.org/drawingml/2006/main">
            <a:off x="457200" y="4023360"/>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 Tratamiento placebo</a:t>
            </a:r>
            <a:endParaRPr/>
          </a:p>
        </p:txBody>
      </p:sp>
      <p:sp>
        <p:nvSpPr>
          <p:cNvPr id="24" name="TextBox 23">
            <a:extLst xmlns:a="http://schemas.openxmlformats.org/drawingml/2006/main">
              <a:ext uri="{FF2B5EF4-FFF2-40B4-BE49-F238E27FC236}">
                <a16:creationId xmlns:a16="http://schemas.microsoft.com/office/drawing/2014/main" id="{1ACE58C7-12D4-4912-A228-FEFD3699C936}"/>
              </a:ext>
            </a:extLst>
          </p:cNvPr>
          <p:cNvSpPr>
            <a:spLocks xmlns:a="http://schemas.openxmlformats.org/drawingml/2006/main" noGrp="1"/>
          </p:cNvSpPr>
          <p:nvPr/>
        </p:nvSpPr>
        <p:spPr>
          <a:xfrm xmlns:a="http://schemas.openxmlformats.org/drawingml/2006/main">
            <a:off x="457200" y="4315968"/>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 Causa común aleatoria</a:t>
            </a:r>
            <a:endParaRPr/>
          </a:p>
        </p:txBody>
      </p:sp>
      <p:sp>
        <p:nvSpPr>
          <p:cNvPr id="25" name="TextBox 24">
            <a:extLst xmlns:a="http://schemas.openxmlformats.org/drawingml/2006/main">
              <a:ext uri="{FF2B5EF4-FFF2-40B4-BE49-F238E27FC236}">
                <a16:creationId xmlns:a16="http://schemas.microsoft.com/office/drawing/2014/main" id="{B2026956-B06D-41F9-91CB-EFAA49331C9C}"/>
              </a:ext>
            </a:extLst>
          </p:cNvPr>
          <p:cNvSpPr>
            <a:spLocks xmlns:a="http://schemas.openxmlformats.org/drawingml/2006/main" noGrp="1"/>
          </p:cNvSpPr>
          <p:nvPr/>
        </p:nvSpPr>
        <p:spPr>
          <a:xfrm xmlns:a="http://schemas.openxmlformats.org/drawingml/2006/main">
            <a:off x="457200" y="4608576"/>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 Refutación con subconjunto de datos</a:t>
            </a:r>
            <a:endParaRPr/>
          </a:p>
        </p:txBody>
      </p:sp>
      <p:sp>
        <p:nvSpPr>
          <p:cNvPr id="26" name="TextBox 25">
            <a:extLst xmlns:a="http://schemas.openxmlformats.org/drawingml/2006/main">
              <a:ext uri="{FF2B5EF4-FFF2-40B4-BE49-F238E27FC236}">
                <a16:creationId xmlns:a16="http://schemas.microsoft.com/office/drawing/2014/main" id="{FD8F2BB0-B583-4807-B911-6E45EC98B461}"/>
              </a:ext>
            </a:extLst>
          </p:cNvPr>
          <p:cNvSpPr>
            <a:spLocks xmlns:a="http://schemas.openxmlformats.org/drawingml/2006/main" noGrp="1"/>
          </p:cNvSpPr>
          <p:nvPr/>
        </p:nvSpPr>
        <p:spPr>
          <a:xfrm xmlns:a="http://schemas.openxmlformats.org/drawingml/2006/main">
            <a:off x="457200" y="4901184"/>
            <a:ext cx="5486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00D9FF"/>
                </a:solidFill>
                <a:latin typeface="Calibri"/>
                <a:ea typeface="Calibri"/>
                <a:cs typeface="Calibri"/>
              </a:defRPr>
            </a:pPr>
            <a:r>
              <a:t>- Bootstrap</a:t>
            </a:r>
            <a:endParaRPr/>
          </a:p>
        </p:txBody>
      </p:sp>
      <p:sp>
        <p:nvSpPr>
          <p:cNvPr id="27" name="TextBox 26">
            <a:extLst xmlns:a="http://schemas.openxmlformats.org/drawingml/2006/main">
              <a:ext uri="{FF2B5EF4-FFF2-40B4-BE49-F238E27FC236}">
                <a16:creationId xmlns:a16="http://schemas.microsoft.com/office/drawing/2014/main" id="{01DAC53F-BC90-474D-B3A7-0607891E3121}"/>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19</a:t>
            </a:r>
            <a:endParaRPr/>
          </a:p>
        </p:txBody>
      </p:sp>
    </p:spTree>
    <p:extLst>
      <p:ext uri="{BB962C8B-B14F-4D97-AF65-F5344CB8AC3E}">
        <p14:creationId xmlns:p14="http://schemas.microsoft.com/office/powerpoint/2010/main" val="530491104"/>
      </p:ext>
    </p:extLst>
  </p:cSld>
</p:sld>
</file>

<file path=ppt/slides/slide20.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65909E9-B459-4E21-800C-DCE887CFD92D}"/>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27DE764E-C5E9-4DD3-9065-8C8DB14A251D}"/>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Calibración y robustez</a:t>
            </a:r>
            <a:endParaRPr/>
          </a:p>
        </p:txBody>
      </p:sp>
      <p:sp>
        <p:nvSpPr>
          <p:cNvPr id="4" name="TextBox 3">
            <a:extLst xmlns:a="http://schemas.openxmlformats.org/drawingml/2006/main">
              <a:ext uri="{FF2B5EF4-FFF2-40B4-BE49-F238E27FC236}">
                <a16:creationId xmlns:a16="http://schemas.microsoft.com/office/drawing/2014/main" id="{40DF5492-E620-4506-BA7B-866467C4BDCC}"/>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Calibración del modelo:</a:t>
            </a:r>
            <a:endParaRPr/>
          </a:p>
        </p:txBody>
      </p:sp>
      <p:sp>
        <p:nvSpPr>
          <p:cNvPr id="5" name="Rectangle 4">
            <a:extLst xmlns:a="http://schemas.openxmlformats.org/drawingml/2006/main">
              <a:ext uri="{FF2B5EF4-FFF2-40B4-BE49-F238E27FC236}">
                <a16:creationId xmlns:a16="http://schemas.microsoft.com/office/drawing/2014/main" id="{15F67A3B-4AAB-4527-B342-F6D5EE47A015}"/>
              </a:ext>
            </a:extLst>
          </p:cNvPr>
          <p:cNvSpPr>
            <a:spLocks xmlns:a="http://schemas.openxmlformats.org/drawingml/2006/main" noGrp="1"/>
          </p:cNvSpPr>
          <p:nvPr/>
        </p:nvSpPr>
        <p:spPr>
          <a:xfrm xmlns:a="http://schemas.openxmlformats.org/drawingml/2006/main">
            <a:off x="457200" y="128016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12E7FD07-D03D-4278-9CC4-D8C1C77139A7}"/>
              </a:ext>
            </a:extLst>
          </p:cNvPr>
          <p:cNvSpPr>
            <a:spLocks xmlns:a="http://schemas.openxmlformats.org/drawingml/2006/main" noGrp="1"/>
          </p:cNvSpPr>
          <p:nvPr/>
        </p:nvSpPr>
        <p:spPr>
          <a:xfrm xmlns:a="http://schemas.openxmlformats.org/drawingml/2006/main">
            <a:off x="640080" y="1261872"/>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D9FF"/>
                </a:solidFill>
                <a:latin typeface="Calibri"/>
                <a:ea typeface="Calibri"/>
                <a:cs typeface="Calibri"/>
              </a:defRPr>
            </a:pPr>
            <a:r>
              <a:t>Escalado de Platt</a:t>
            </a:r>
            <a:endParaRPr/>
          </a:p>
        </p:txBody>
      </p:sp>
      <p:sp>
        <p:nvSpPr>
          <p:cNvPr id="7" name="TextBox 6">
            <a:extLst xmlns:a="http://schemas.openxmlformats.org/drawingml/2006/main">
              <a:ext uri="{FF2B5EF4-FFF2-40B4-BE49-F238E27FC236}">
                <a16:creationId xmlns:a16="http://schemas.microsoft.com/office/drawing/2014/main" id="{F0693D13-FAA5-4C52-9685-C98424D2B784}"/>
              </a:ext>
            </a:extLst>
          </p:cNvPr>
          <p:cNvSpPr>
            <a:spLocks xmlns:a="http://schemas.openxmlformats.org/drawingml/2006/main" noGrp="1"/>
          </p:cNvSpPr>
          <p:nvPr/>
        </p:nvSpPr>
        <p:spPr>
          <a:xfrm xmlns:a="http://schemas.openxmlformats.org/drawingml/2006/main">
            <a:off x="2926080" y="12618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Logística superpuesta</a:t>
            </a:r>
            <a:endParaRPr/>
          </a:p>
        </p:txBody>
      </p:sp>
      <p:sp>
        <p:nvSpPr>
          <p:cNvPr id="8" name="Rectangle 7">
            <a:extLst xmlns:a="http://schemas.openxmlformats.org/drawingml/2006/main">
              <a:ext uri="{FF2B5EF4-FFF2-40B4-BE49-F238E27FC236}">
                <a16:creationId xmlns:a16="http://schemas.microsoft.com/office/drawing/2014/main" id="{24775E51-3BCE-4EC1-BA18-788AE28438FE}"/>
              </a:ext>
            </a:extLst>
          </p:cNvPr>
          <p:cNvSpPr>
            <a:spLocks xmlns:a="http://schemas.openxmlformats.org/drawingml/2006/main" noGrp="1"/>
          </p:cNvSpPr>
          <p:nvPr/>
        </p:nvSpPr>
        <p:spPr>
          <a:xfrm xmlns:a="http://schemas.openxmlformats.org/drawingml/2006/main">
            <a:off x="457200" y="1691639"/>
            <a:ext cx="73152" cy="32004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E4391F8-7F7D-45FB-9B87-B68B6231A7EF}"/>
              </a:ext>
            </a:extLst>
          </p:cNvPr>
          <p:cNvSpPr>
            <a:spLocks xmlns:a="http://schemas.openxmlformats.org/drawingml/2006/main" noGrp="1"/>
          </p:cNvSpPr>
          <p:nvPr/>
        </p:nvSpPr>
        <p:spPr>
          <a:xfrm xmlns:a="http://schemas.openxmlformats.org/drawingml/2006/main">
            <a:off x="640080" y="1673351"/>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FF88"/>
                </a:solidFill>
                <a:latin typeface="Calibri"/>
                <a:ea typeface="Calibri"/>
                <a:cs typeface="Calibri"/>
              </a:defRPr>
            </a:pPr>
            <a:r>
              <a:t>Regresión isotónica</a:t>
            </a:r>
            <a:endParaRPr/>
          </a:p>
        </p:txBody>
      </p:sp>
      <p:sp>
        <p:nvSpPr>
          <p:cNvPr id="10" name="TextBox 9">
            <a:extLst xmlns:a="http://schemas.openxmlformats.org/drawingml/2006/main">
              <a:ext uri="{FF2B5EF4-FFF2-40B4-BE49-F238E27FC236}">
                <a16:creationId xmlns:a16="http://schemas.microsoft.com/office/drawing/2014/main" id="{90FDECC6-7967-4BF3-B04D-99CD084F78D7}"/>
              </a:ext>
            </a:extLst>
          </p:cNvPr>
          <p:cNvSpPr>
            <a:spLocks xmlns:a="http://schemas.openxmlformats.org/drawingml/2006/main" noGrp="1"/>
          </p:cNvSpPr>
          <p:nvPr/>
        </p:nvSpPr>
        <p:spPr>
          <a:xfrm xmlns:a="http://schemas.openxmlformats.org/drawingml/2006/main">
            <a:off x="2926080" y="1673351"/>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No paramétrica</a:t>
            </a:r>
            <a:endParaRPr/>
          </a:p>
        </p:txBody>
      </p:sp>
      <p:sp>
        <p:nvSpPr>
          <p:cNvPr id="11" name="Rectangle 10">
            <a:extLst xmlns:a="http://schemas.openxmlformats.org/drawingml/2006/main">
              <a:ext uri="{FF2B5EF4-FFF2-40B4-BE49-F238E27FC236}">
                <a16:creationId xmlns:a16="http://schemas.microsoft.com/office/drawing/2014/main" id="{76A5CBCC-EA76-4CE3-8268-94E3BCDD3E89}"/>
              </a:ext>
            </a:extLst>
          </p:cNvPr>
          <p:cNvSpPr>
            <a:spLocks xmlns:a="http://schemas.openxmlformats.org/drawingml/2006/main" noGrp="1"/>
          </p:cNvSpPr>
          <p:nvPr/>
        </p:nvSpPr>
        <p:spPr>
          <a:xfrm xmlns:a="http://schemas.openxmlformats.org/drawingml/2006/main">
            <a:off x="457200" y="2103120"/>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0F906B3-5CF5-46DC-BECE-EE904AAF8521}"/>
              </a:ext>
            </a:extLst>
          </p:cNvPr>
          <p:cNvSpPr>
            <a:spLocks xmlns:a="http://schemas.openxmlformats.org/drawingml/2006/main" noGrp="1"/>
          </p:cNvSpPr>
          <p:nvPr/>
        </p:nvSpPr>
        <p:spPr>
          <a:xfrm xmlns:a="http://schemas.openxmlformats.org/drawingml/2006/main">
            <a:off x="640080" y="2084831"/>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A000"/>
                </a:solidFill>
                <a:latin typeface="Calibri"/>
                <a:ea typeface="Calibri"/>
                <a:cs typeface="Calibri"/>
              </a:defRPr>
            </a:pPr>
            <a:r>
              <a:t>Temperatura</a:t>
            </a:r>
            <a:endParaRPr/>
          </a:p>
        </p:txBody>
      </p:sp>
      <p:sp>
        <p:nvSpPr>
          <p:cNvPr id="13" name="TextBox 12">
            <a:extLst xmlns:a="http://schemas.openxmlformats.org/drawingml/2006/main">
              <a:ext uri="{FF2B5EF4-FFF2-40B4-BE49-F238E27FC236}">
                <a16:creationId xmlns:a16="http://schemas.microsoft.com/office/drawing/2014/main" id="{FDA2BFF6-7B31-4FD0-98FB-950DF3D2C15A}"/>
              </a:ext>
            </a:extLst>
          </p:cNvPr>
          <p:cNvSpPr>
            <a:spLocks xmlns:a="http://schemas.openxmlformats.org/drawingml/2006/main" noGrp="1"/>
          </p:cNvSpPr>
          <p:nvPr/>
        </p:nvSpPr>
        <p:spPr>
          <a:xfrm xmlns:a="http://schemas.openxmlformats.org/drawingml/2006/main">
            <a:off x="2926080" y="2084831"/>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El parámetro T suaviza</a:t>
            </a:r>
            <a:endParaRPr/>
          </a:p>
        </p:txBody>
      </p:sp>
      <p:sp>
        <p:nvSpPr>
          <p:cNvPr id="14" name="Rectangle 13">
            <a:extLst xmlns:a="http://schemas.openxmlformats.org/drawingml/2006/main">
              <a:ext uri="{FF2B5EF4-FFF2-40B4-BE49-F238E27FC236}">
                <a16:creationId xmlns:a16="http://schemas.microsoft.com/office/drawing/2014/main" id="{602C9AD0-8031-4A6F-9699-5A55CF5C58CD}"/>
              </a:ext>
            </a:extLst>
          </p:cNvPr>
          <p:cNvSpPr>
            <a:spLocks xmlns:a="http://schemas.openxmlformats.org/drawingml/2006/main" noGrp="1"/>
          </p:cNvSpPr>
          <p:nvPr/>
        </p:nvSpPr>
        <p:spPr>
          <a:xfrm xmlns:a="http://schemas.openxmlformats.org/drawingml/2006/main">
            <a:off x="457200" y="2743200"/>
            <a:ext cx="5486400" cy="16459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46FA5EF7-C30C-44DF-93AC-35D3DE392F50}"/>
              </a:ext>
            </a:extLst>
          </p:cNvPr>
          <p:cNvSpPr>
            <a:spLocks xmlns:a="http://schemas.openxmlformats.org/drawingml/2006/main" noGrp="1"/>
          </p:cNvSpPr>
          <p:nvPr/>
        </p:nvSpPr>
        <p:spPr>
          <a:xfrm xmlns:a="http://schemas.openxmlformats.org/drawingml/2006/main">
            <a:off x="530352" y="2779776"/>
            <a:ext cx="5340096" cy="15727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from sklearn.isotonic import IsotonicRegression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iso = IsotonicRegression(out_of_bounds='clip')</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iso.fit(y_pred_calib, y_calib)</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y_calibrated = iso.predict(y_pred_test)</a:t>
            </a:r>
            <a:endParaRPr/>
          </a:p>
        </p:txBody>
      </p:sp>
      <p:sp>
        <p:nvSpPr>
          <p:cNvPr id="16" name="TextBox 15">
            <a:extLst xmlns:a="http://schemas.openxmlformats.org/drawingml/2006/main">
              <a:ext uri="{FF2B5EF4-FFF2-40B4-BE49-F238E27FC236}">
                <a16:creationId xmlns:a16="http://schemas.microsoft.com/office/drawing/2014/main" id="{360C9CB2-4863-4633-8329-20C1C6EDDE9C}"/>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Análisis de robustez:</a:t>
            </a:r>
            <a:endParaRPr/>
          </a:p>
        </p:txBody>
      </p:sp>
      <p:sp>
        <p:nvSpPr>
          <p:cNvPr id="17" name="Rectangle 16">
            <a:extLst xmlns:a="http://schemas.openxmlformats.org/drawingml/2006/main">
              <a:ext uri="{FF2B5EF4-FFF2-40B4-BE49-F238E27FC236}">
                <a16:creationId xmlns:a16="http://schemas.microsoft.com/office/drawing/2014/main" id="{9446A3D2-8549-4778-8809-0CCB497BBAC1}"/>
              </a:ext>
            </a:extLst>
          </p:cNvPr>
          <p:cNvSpPr>
            <a:spLocks xmlns:a="http://schemas.openxmlformats.org/drawingml/2006/main" noGrp="1"/>
          </p:cNvSpPr>
          <p:nvPr/>
        </p:nvSpPr>
        <p:spPr>
          <a:xfrm xmlns:a="http://schemas.openxmlformats.org/drawingml/2006/main">
            <a:off x="6217920" y="1280160"/>
            <a:ext cx="73152" cy="32004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02934F84-3C0B-4263-B9A3-BDC774D8D85A}"/>
              </a:ext>
            </a:extLst>
          </p:cNvPr>
          <p:cNvSpPr>
            <a:spLocks xmlns:a="http://schemas.openxmlformats.org/drawingml/2006/main" noGrp="1"/>
          </p:cNvSpPr>
          <p:nvPr/>
        </p:nvSpPr>
        <p:spPr>
          <a:xfrm xmlns:a="http://schemas.openxmlformats.org/drawingml/2006/main">
            <a:off x="6400800" y="1261872"/>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5555"/>
                </a:solidFill>
                <a:latin typeface="Calibri"/>
                <a:ea typeface="Calibri"/>
                <a:cs typeface="Calibri"/>
              </a:defRPr>
            </a:pPr>
            <a:r>
              <a:t>Adversarial</a:t>
            </a:r>
            <a:endParaRPr/>
          </a:p>
        </p:txBody>
      </p:sp>
      <p:sp>
        <p:nvSpPr>
          <p:cNvPr id="19" name="TextBox 18">
            <a:extLst xmlns:a="http://schemas.openxmlformats.org/drawingml/2006/main">
              <a:ext uri="{FF2B5EF4-FFF2-40B4-BE49-F238E27FC236}">
                <a16:creationId xmlns:a16="http://schemas.microsoft.com/office/drawing/2014/main" id="{687BBFC9-70B8-47DB-81A5-3F644EA91164}"/>
              </a:ext>
            </a:extLst>
          </p:cNvPr>
          <p:cNvSpPr>
            <a:spLocks xmlns:a="http://schemas.openxmlformats.org/drawingml/2006/main" noGrp="1"/>
          </p:cNvSpPr>
          <p:nvPr/>
        </p:nvSpPr>
        <p:spPr>
          <a:xfrm xmlns:a="http://schemas.openxmlformats.org/drawingml/2006/main">
            <a:off x="8229600" y="1261872"/>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Ruido en las 3 principales (7 niveles)</a:t>
            </a:r>
            <a:endParaRPr/>
          </a:p>
        </p:txBody>
      </p:sp>
      <p:sp>
        <p:nvSpPr>
          <p:cNvPr id="20" name="Rectangle 19">
            <a:extLst xmlns:a="http://schemas.openxmlformats.org/drawingml/2006/main">
              <a:ext uri="{FF2B5EF4-FFF2-40B4-BE49-F238E27FC236}">
                <a16:creationId xmlns:a16="http://schemas.microsoft.com/office/drawing/2014/main" id="{CEFB3409-738E-4B1C-92D8-0E2556B0EFBA}"/>
              </a:ext>
            </a:extLst>
          </p:cNvPr>
          <p:cNvSpPr>
            <a:spLocks xmlns:a="http://schemas.openxmlformats.org/drawingml/2006/main" noGrp="1"/>
          </p:cNvSpPr>
          <p:nvPr/>
        </p:nvSpPr>
        <p:spPr>
          <a:xfrm xmlns:a="http://schemas.openxmlformats.org/drawingml/2006/main">
            <a:off x="6217920" y="1691639"/>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D7C4015-D7DD-4F69-B089-B9186A182E3F}"/>
              </a:ext>
            </a:extLst>
          </p:cNvPr>
          <p:cNvSpPr>
            <a:spLocks xmlns:a="http://schemas.openxmlformats.org/drawingml/2006/main" noGrp="1"/>
          </p:cNvSpPr>
          <p:nvPr/>
        </p:nvSpPr>
        <p:spPr>
          <a:xfrm xmlns:a="http://schemas.openxmlformats.org/drawingml/2006/main">
            <a:off x="6400800" y="1673351"/>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A000"/>
                </a:solidFill>
                <a:latin typeface="Calibri"/>
                <a:ea typeface="Calibri"/>
                <a:cs typeface="Calibri"/>
              </a:defRPr>
            </a:pPr>
            <a:r>
              <a:t>Datos faltantes</a:t>
            </a:r>
            <a:endParaRPr/>
          </a:p>
        </p:txBody>
      </p:sp>
      <p:sp>
        <p:nvSpPr>
          <p:cNvPr id="22" name="TextBox 21">
            <a:extLst xmlns:a="http://schemas.openxmlformats.org/drawingml/2006/main">
              <a:ext uri="{FF2B5EF4-FFF2-40B4-BE49-F238E27FC236}">
                <a16:creationId xmlns:a16="http://schemas.microsoft.com/office/drawing/2014/main" id="{EDDD8A7B-A2C4-49B4-9C80-560A4AA2F370}"/>
              </a:ext>
            </a:extLst>
          </p:cNvPr>
          <p:cNvSpPr>
            <a:spLocks xmlns:a="http://schemas.openxmlformats.org/drawingml/2006/main" noGrp="1"/>
          </p:cNvSpPr>
          <p:nvPr/>
        </p:nvSpPr>
        <p:spPr>
          <a:xfrm xmlns:a="http://schemas.openxmlformats.org/drawingml/2006/main">
            <a:off x="8229600" y="1673351"/>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Eliminación (6 niveles)</a:t>
            </a:r>
            <a:endParaRPr/>
          </a:p>
        </p:txBody>
      </p:sp>
      <p:sp>
        <p:nvSpPr>
          <p:cNvPr id="23" name="Rectangle 22">
            <a:extLst xmlns:a="http://schemas.openxmlformats.org/drawingml/2006/main">
              <a:ext uri="{FF2B5EF4-FFF2-40B4-BE49-F238E27FC236}">
                <a16:creationId xmlns:a16="http://schemas.microsoft.com/office/drawing/2014/main" id="{C4605579-F531-48A8-969C-6CDADA576283}"/>
              </a:ext>
            </a:extLst>
          </p:cNvPr>
          <p:cNvSpPr>
            <a:spLocks xmlns:a="http://schemas.openxmlformats.org/drawingml/2006/main" noGrp="1"/>
          </p:cNvSpPr>
          <p:nvPr/>
        </p:nvSpPr>
        <p:spPr>
          <a:xfrm xmlns:a="http://schemas.openxmlformats.org/drawingml/2006/main">
            <a:off x="6217920" y="2103120"/>
            <a:ext cx="73152" cy="32004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C04347D8-C973-44AB-8E55-54A3C7152B70}"/>
              </a:ext>
            </a:extLst>
          </p:cNvPr>
          <p:cNvSpPr>
            <a:spLocks xmlns:a="http://schemas.openxmlformats.org/drawingml/2006/main" noGrp="1"/>
          </p:cNvSpPr>
          <p:nvPr/>
        </p:nvSpPr>
        <p:spPr>
          <a:xfrm xmlns:a="http://schemas.openxmlformats.org/drawingml/2006/main">
            <a:off x="6400800" y="2084831"/>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BB88FF"/>
                </a:solidFill>
                <a:latin typeface="Calibri"/>
                <a:ea typeface="Calibri"/>
                <a:cs typeface="Calibri"/>
              </a:defRPr>
            </a:pPr>
            <a:r>
              <a:t>OOD</a:t>
            </a:r>
            <a:endParaRPr/>
          </a:p>
        </p:txBody>
      </p:sp>
      <p:sp>
        <p:nvSpPr>
          <p:cNvPr id="25" name="TextBox 24">
            <a:extLst xmlns:a="http://schemas.openxmlformats.org/drawingml/2006/main">
              <a:ext uri="{FF2B5EF4-FFF2-40B4-BE49-F238E27FC236}">
                <a16:creationId xmlns:a16="http://schemas.microsoft.com/office/drawing/2014/main" id="{1D9656C9-0644-4441-BDCE-E36131BF7DFA}"/>
              </a:ext>
            </a:extLst>
          </p:cNvPr>
          <p:cNvSpPr>
            <a:spLocks xmlns:a="http://schemas.openxmlformats.org/drawingml/2006/main" noGrp="1"/>
          </p:cNvSpPr>
          <p:nvPr/>
        </p:nvSpPr>
        <p:spPr>
          <a:xfrm xmlns:a="http://schemas.openxmlformats.org/drawingml/2006/main">
            <a:off x="8229600" y="2084831"/>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Fuera de distribución</a:t>
            </a:r>
            <a:endParaRPr/>
          </a:p>
        </p:txBody>
      </p:sp>
      <p:sp>
        <p:nvSpPr>
          <p:cNvPr id="26" name="Rectangle 25">
            <a:extLst xmlns:a="http://schemas.openxmlformats.org/drawingml/2006/main">
              <a:ext uri="{FF2B5EF4-FFF2-40B4-BE49-F238E27FC236}">
                <a16:creationId xmlns:a16="http://schemas.microsoft.com/office/drawing/2014/main" id="{C7BBD994-407D-429B-A028-CD39826414AE}"/>
              </a:ext>
            </a:extLst>
          </p:cNvPr>
          <p:cNvSpPr>
            <a:spLocks xmlns:a="http://schemas.openxmlformats.org/drawingml/2006/main" noGrp="1"/>
          </p:cNvSpPr>
          <p:nvPr/>
        </p:nvSpPr>
        <p:spPr>
          <a:xfrm xmlns:a="http://schemas.openxmlformats.org/drawingml/2006/main">
            <a:off x="6217920" y="251460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95CAF713-DE1B-4503-9B9A-2508454E7A61}"/>
              </a:ext>
            </a:extLst>
          </p:cNvPr>
          <p:cNvSpPr>
            <a:spLocks xmlns:a="http://schemas.openxmlformats.org/drawingml/2006/main" noGrp="1"/>
          </p:cNvSpPr>
          <p:nvPr/>
        </p:nvSpPr>
        <p:spPr>
          <a:xfrm xmlns:a="http://schemas.openxmlformats.org/drawingml/2006/main">
            <a:off x="6400800" y="2496312"/>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D9FF"/>
                </a:solidFill>
                <a:latin typeface="Calibri"/>
                <a:ea typeface="Calibri"/>
                <a:cs typeface="Calibri"/>
              </a:defRPr>
            </a:pPr>
            <a:r>
              <a:t>Estabilidad</a:t>
            </a:r>
            <a:endParaRPr/>
          </a:p>
        </p:txBody>
      </p:sp>
      <p:sp>
        <p:nvSpPr>
          <p:cNvPr id="28" name="TextBox 27">
            <a:extLst xmlns:a="http://schemas.openxmlformats.org/drawingml/2006/main">
              <a:ext uri="{FF2B5EF4-FFF2-40B4-BE49-F238E27FC236}">
                <a16:creationId xmlns:a16="http://schemas.microsoft.com/office/drawing/2014/main" id="{4C37D0C1-61EE-41EC-AF10-4EBEA0FE03B1}"/>
              </a:ext>
            </a:extLst>
          </p:cNvPr>
          <p:cNvSpPr>
            <a:spLocks xmlns:a="http://schemas.openxmlformats.org/drawingml/2006/main" noGrp="1"/>
          </p:cNvSpPr>
          <p:nvPr/>
        </p:nvSpPr>
        <p:spPr>
          <a:xfrm xmlns:a="http://schemas.openxmlformats.org/drawingml/2006/main">
            <a:off x="8229600" y="2496312"/>
            <a:ext cx="36576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Cambio de semilla → dispersión</a:t>
            </a:r>
            <a:endParaRPr/>
          </a:p>
        </p:txBody>
      </p:sp>
      <p:sp>
        <p:nvSpPr>
          <p:cNvPr id="29" name="Rectangle 28">
            <a:extLst xmlns:a="http://schemas.openxmlformats.org/drawingml/2006/main">
              <a:ext uri="{FF2B5EF4-FFF2-40B4-BE49-F238E27FC236}">
                <a16:creationId xmlns:a16="http://schemas.microsoft.com/office/drawing/2014/main" id="{FACFE193-6882-4B5C-8AD7-B79322FD7C1F}"/>
              </a:ext>
            </a:extLst>
          </p:cNvPr>
          <p:cNvSpPr>
            <a:spLocks xmlns:a="http://schemas.openxmlformats.org/drawingml/2006/main" noGrp="1"/>
          </p:cNvSpPr>
          <p:nvPr/>
        </p:nvSpPr>
        <p:spPr>
          <a:xfrm xmlns:a="http://schemas.openxmlformats.org/drawingml/2006/main">
            <a:off x="6217920" y="2743200"/>
            <a:ext cx="5486400" cy="16459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48A882DB-E57B-4E24-8E06-5DA5461B4981}"/>
              </a:ext>
            </a:extLst>
          </p:cNvPr>
          <p:cNvSpPr>
            <a:spLocks xmlns:a="http://schemas.openxmlformats.org/drawingml/2006/main" noGrp="1"/>
          </p:cNvSpPr>
          <p:nvPr/>
        </p:nvSpPr>
        <p:spPr>
          <a:xfrm xmlns:a="http://schemas.openxmlformats.org/drawingml/2006/main">
            <a:off x="6291072" y="2779776"/>
            <a:ext cx="5340096" cy="15727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for noise_level in [0, 0.01, 0.05, 0.1, 0.2, 0.5, 1.0]: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X_noisy = X_test.copy()</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X_noisy[top_3] += np.random.normal(</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0, noise_level, X_noisy[top_3].shape)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rmse = evaluate(model, X_noisy, y_test)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print(f'Noise {noise_level}: {rmse:.4f}')</a:t>
            </a:r>
            <a:endParaRPr/>
          </a:p>
        </p:txBody>
      </p:sp>
      <p:sp>
        <p:nvSpPr>
          <p:cNvPr id="31" name="TextBox 30">
            <a:extLst xmlns:a="http://schemas.openxmlformats.org/drawingml/2006/main">
              <a:ext uri="{FF2B5EF4-FFF2-40B4-BE49-F238E27FC236}">
                <a16:creationId xmlns:a16="http://schemas.microsoft.com/office/drawing/2014/main" id="{FAC81C91-52A3-43CB-8658-1EC10CED8F6D}"/>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20</a:t>
            </a:r>
            <a:endParaRPr/>
          </a:p>
        </p:txBody>
      </p:sp>
    </p:spTree>
    <p:extLst>
      <p:ext uri="{BB962C8B-B14F-4D97-AF65-F5344CB8AC3E}">
        <p14:creationId xmlns:p14="http://schemas.microsoft.com/office/powerpoint/2010/main" val="1301766010"/>
      </p:ext>
    </p:extLst>
  </p:cSld>
</p:sld>
</file>

<file path=ppt/slides/slide21.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9DD9BE3-F4FA-48BA-95E3-D3C92F3DCDCD}"/>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D156C692-5294-4562-A230-B5F1A6176C5A}"/>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GPU + comparativa Polars vs. pandas</a:t>
            </a:r>
            <a:endParaRPr/>
          </a:p>
        </p:txBody>
      </p:sp>
      <p:sp>
        <p:nvSpPr>
          <p:cNvPr id="4" name="TextBox 3">
            <a:extLst xmlns:a="http://schemas.openxmlformats.org/drawingml/2006/main">
              <a:ext uri="{FF2B5EF4-FFF2-40B4-BE49-F238E27FC236}">
                <a16:creationId xmlns:a16="http://schemas.microsoft.com/office/drawing/2014/main" id="{951C89E9-36B8-4A47-BD12-5BC05AF1E3A0}"/>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6 tecnologías de GPU:</a:t>
            </a:r>
            <a:endParaRPr/>
          </a:p>
        </p:txBody>
      </p:sp>
      <p:sp>
        <p:nvSpPr>
          <p:cNvPr id="5" name="Rectangle 4">
            <a:extLst xmlns:a="http://schemas.openxmlformats.org/drawingml/2006/main">
              <a:ext uri="{FF2B5EF4-FFF2-40B4-BE49-F238E27FC236}">
                <a16:creationId xmlns:a16="http://schemas.microsoft.com/office/drawing/2014/main" id="{F38ED8D3-9A74-464D-8DE6-AEB63FDA5149}"/>
              </a:ext>
            </a:extLst>
          </p:cNvPr>
          <p:cNvSpPr>
            <a:spLocks xmlns:a="http://schemas.openxmlformats.org/drawingml/2006/main" noGrp="1"/>
          </p:cNvSpPr>
          <p:nvPr/>
        </p:nvSpPr>
        <p:spPr>
          <a:xfrm xmlns:a="http://schemas.openxmlformats.org/drawingml/2006/main">
            <a:off x="457200" y="128016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616253A5-10DC-40B2-9869-ED448216DA50}"/>
              </a:ext>
            </a:extLst>
          </p:cNvPr>
          <p:cNvSpPr>
            <a:spLocks xmlns:a="http://schemas.openxmlformats.org/drawingml/2006/main" noGrp="1"/>
          </p:cNvSpPr>
          <p:nvPr/>
        </p:nvSpPr>
        <p:spPr>
          <a:xfrm xmlns:a="http://schemas.openxmlformats.org/drawingml/2006/main">
            <a:off x="640080" y="1261872"/>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D9FF"/>
                </a:solidFill>
                <a:latin typeface="Calibri"/>
                <a:ea typeface="Calibri"/>
                <a:cs typeface="Calibri"/>
              </a:defRPr>
            </a:pPr>
            <a:r>
              <a:t>CuPy</a:t>
            </a:r>
            <a:endParaRPr/>
          </a:p>
        </p:txBody>
      </p:sp>
      <p:sp>
        <p:nvSpPr>
          <p:cNvPr id="7" name="TextBox 6">
            <a:extLst xmlns:a="http://schemas.openxmlformats.org/drawingml/2006/main">
              <a:ext uri="{FF2B5EF4-FFF2-40B4-BE49-F238E27FC236}">
                <a16:creationId xmlns:a16="http://schemas.microsoft.com/office/drawing/2014/main" id="{9B5A77F4-99E8-4A77-B6A2-6E3691F800C2}"/>
              </a:ext>
            </a:extLst>
          </p:cNvPr>
          <p:cNvSpPr>
            <a:spLocks xmlns:a="http://schemas.openxmlformats.org/drawingml/2006/main" noGrp="1"/>
          </p:cNvSpPr>
          <p:nvPr/>
        </p:nvSpPr>
        <p:spPr>
          <a:xfrm xmlns:a="http://schemas.openxmlformats.org/drawingml/2006/main">
            <a:off x="2560320" y="1261872"/>
            <a:ext cx="3383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Matrices en GPU (sustituto de NumPy)</a:t>
            </a:r>
            <a:endParaRPr/>
          </a:p>
        </p:txBody>
      </p:sp>
      <p:sp>
        <p:nvSpPr>
          <p:cNvPr id="8" name="Rectangle 7">
            <a:extLst xmlns:a="http://schemas.openxmlformats.org/drawingml/2006/main">
              <a:ext uri="{FF2B5EF4-FFF2-40B4-BE49-F238E27FC236}">
                <a16:creationId xmlns:a16="http://schemas.microsoft.com/office/drawing/2014/main" id="{9D0C8A50-AA19-4E20-886F-DE8E8CDF7A59}"/>
              </a:ext>
            </a:extLst>
          </p:cNvPr>
          <p:cNvSpPr>
            <a:spLocks xmlns:a="http://schemas.openxmlformats.org/drawingml/2006/main" noGrp="1"/>
          </p:cNvSpPr>
          <p:nvPr/>
        </p:nvSpPr>
        <p:spPr>
          <a:xfrm xmlns:a="http://schemas.openxmlformats.org/drawingml/2006/main">
            <a:off x="457200" y="1691639"/>
            <a:ext cx="73152" cy="32004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F449AD4-336C-4B61-AF2E-0451BA95CD43}"/>
              </a:ext>
            </a:extLst>
          </p:cNvPr>
          <p:cNvSpPr>
            <a:spLocks xmlns:a="http://schemas.openxmlformats.org/drawingml/2006/main" noGrp="1"/>
          </p:cNvSpPr>
          <p:nvPr/>
        </p:nvSpPr>
        <p:spPr>
          <a:xfrm xmlns:a="http://schemas.openxmlformats.org/drawingml/2006/main">
            <a:off x="640080" y="1673351"/>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FF88"/>
                </a:solidFill>
                <a:latin typeface="Calibri"/>
                <a:ea typeface="Calibri"/>
                <a:cs typeface="Calibri"/>
              </a:defRPr>
            </a:pPr>
            <a:r>
              <a:t>cuML (RAPIDS)</a:t>
            </a:r>
            <a:endParaRPr/>
          </a:p>
        </p:txBody>
      </p:sp>
      <p:sp>
        <p:nvSpPr>
          <p:cNvPr id="10" name="TextBox 9">
            <a:extLst xmlns:a="http://schemas.openxmlformats.org/drawingml/2006/main">
              <a:ext uri="{FF2B5EF4-FFF2-40B4-BE49-F238E27FC236}">
                <a16:creationId xmlns:a16="http://schemas.microsoft.com/office/drawing/2014/main" id="{B9058318-DDDE-439B-B54F-E8150A1EFF8F}"/>
              </a:ext>
            </a:extLst>
          </p:cNvPr>
          <p:cNvSpPr>
            <a:spLocks xmlns:a="http://schemas.openxmlformats.org/drawingml/2006/main" noGrp="1"/>
          </p:cNvSpPr>
          <p:nvPr/>
        </p:nvSpPr>
        <p:spPr>
          <a:xfrm xmlns:a="http://schemas.openxmlformats.org/drawingml/2006/main">
            <a:off x="2560320" y="1673351"/>
            <a:ext cx="3383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Ridge/RF en GPU</a:t>
            </a:r>
            <a:endParaRPr/>
          </a:p>
        </p:txBody>
      </p:sp>
      <p:sp>
        <p:nvSpPr>
          <p:cNvPr id="11" name="Rectangle 10">
            <a:extLst xmlns:a="http://schemas.openxmlformats.org/drawingml/2006/main">
              <a:ext uri="{FF2B5EF4-FFF2-40B4-BE49-F238E27FC236}">
                <a16:creationId xmlns:a16="http://schemas.microsoft.com/office/drawing/2014/main" id="{EEC4D433-2D6C-438D-A1A2-F42455F69019}"/>
              </a:ext>
            </a:extLst>
          </p:cNvPr>
          <p:cNvSpPr>
            <a:spLocks xmlns:a="http://schemas.openxmlformats.org/drawingml/2006/main" noGrp="1"/>
          </p:cNvSpPr>
          <p:nvPr/>
        </p:nvSpPr>
        <p:spPr>
          <a:xfrm xmlns:a="http://schemas.openxmlformats.org/drawingml/2006/main">
            <a:off x="457200" y="2103120"/>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AFA529A-8F21-4F4B-86E2-D660853766BE}"/>
              </a:ext>
            </a:extLst>
          </p:cNvPr>
          <p:cNvSpPr>
            <a:spLocks xmlns:a="http://schemas.openxmlformats.org/drawingml/2006/main" noGrp="1"/>
          </p:cNvSpPr>
          <p:nvPr/>
        </p:nvSpPr>
        <p:spPr>
          <a:xfrm xmlns:a="http://schemas.openxmlformats.org/drawingml/2006/main">
            <a:off x="640080" y="2084831"/>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A000"/>
                </a:solidFill>
                <a:latin typeface="Calibri"/>
                <a:ea typeface="Calibri"/>
                <a:cs typeface="Calibri"/>
              </a:defRPr>
            </a:pPr>
            <a:r>
              <a:t>XGBoost GPU</a:t>
            </a:r>
            <a:endParaRPr/>
          </a:p>
        </p:txBody>
      </p:sp>
      <p:sp>
        <p:nvSpPr>
          <p:cNvPr id="13" name="TextBox 12">
            <a:extLst xmlns:a="http://schemas.openxmlformats.org/drawingml/2006/main">
              <a:ext uri="{FF2B5EF4-FFF2-40B4-BE49-F238E27FC236}">
                <a16:creationId xmlns:a16="http://schemas.microsoft.com/office/drawing/2014/main" id="{D7331F8E-ABB2-4911-A3D5-23E43DF76E2D}"/>
              </a:ext>
            </a:extLst>
          </p:cNvPr>
          <p:cNvSpPr>
            <a:spLocks xmlns:a="http://schemas.openxmlformats.org/drawingml/2006/main" noGrp="1"/>
          </p:cNvSpPr>
          <p:nvPr/>
        </p:nvSpPr>
        <p:spPr>
          <a:xfrm xmlns:a="http://schemas.openxmlformats.org/drawingml/2006/main">
            <a:off x="2560320" y="2084831"/>
            <a:ext cx="3383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tree_method='hist', device='cuda'</a:t>
            </a:r>
            <a:endParaRPr/>
          </a:p>
        </p:txBody>
      </p:sp>
      <p:sp>
        <p:nvSpPr>
          <p:cNvPr id="14" name="Rectangle 13">
            <a:extLst xmlns:a="http://schemas.openxmlformats.org/drawingml/2006/main">
              <a:ext uri="{FF2B5EF4-FFF2-40B4-BE49-F238E27FC236}">
                <a16:creationId xmlns:a16="http://schemas.microsoft.com/office/drawing/2014/main" id="{30643697-E382-4807-BEC4-38ED2600AECC}"/>
              </a:ext>
            </a:extLst>
          </p:cNvPr>
          <p:cNvSpPr>
            <a:spLocks xmlns:a="http://schemas.openxmlformats.org/drawingml/2006/main" noGrp="1"/>
          </p:cNvSpPr>
          <p:nvPr/>
        </p:nvSpPr>
        <p:spPr>
          <a:xfrm xmlns:a="http://schemas.openxmlformats.org/drawingml/2006/main">
            <a:off x="457200" y="2514600"/>
            <a:ext cx="73152" cy="32004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A89171F-9673-4D95-9DA6-C0676CFA3F02}"/>
              </a:ext>
            </a:extLst>
          </p:cNvPr>
          <p:cNvSpPr>
            <a:spLocks xmlns:a="http://schemas.openxmlformats.org/drawingml/2006/main" noGrp="1"/>
          </p:cNvSpPr>
          <p:nvPr/>
        </p:nvSpPr>
        <p:spPr>
          <a:xfrm xmlns:a="http://schemas.openxmlformats.org/drawingml/2006/main">
            <a:off x="640080" y="2496312"/>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BB88FF"/>
                </a:solidFill>
                <a:latin typeface="Calibri"/>
                <a:ea typeface="Calibri"/>
                <a:cs typeface="Calibri"/>
              </a:defRPr>
            </a:pPr>
            <a:r>
              <a:t>LightGBM GPU</a:t>
            </a:r>
            <a:endParaRPr/>
          </a:p>
        </p:txBody>
      </p:sp>
      <p:sp>
        <p:nvSpPr>
          <p:cNvPr id="16" name="TextBox 15">
            <a:extLst xmlns:a="http://schemas.openxmlformats.org/drawingml/2006/main">
              <a:ext uri="{FF2B5EF4-FFF2-40B4-BE49-F238E27FC236}">
                <a16:creationId xmlns:a16="http://schemas.microsoft.com/office/drawing/2014/main" id="{B2F08A73-897B-406F-A083-F8F4142416E1}"/>
              </a:ext>
            </a:extLst>
          </p:cNvPr>
          <p:cNvSpPr>
            <a:spLocks xmlns:a="http://schemas.openxmlformats.org/drawingml/2006/main" noGrp="1"/>
          </p:cNvSpPr>
          <p:nvPr/>
        </p:nvSpPr>
        <p:spPr>
          <a:xfrm xmlns:a="http://schemas.openxmlformats.org/drawingml/2006/main">
            <a:off x="2560320" y="2496312"/>
            <a:ext cx="3383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device='gpu'</a:t>
            </a:r>
            <a:endParaRPr/>
          </a:p>
        </p:txBody>
      </p:sp>
      <p:sp>
        <p:nvSpPr>
          <p:cNvPr id="17" name="Rectangle 16">
            <a:extLst xmlns:a="http://schemas.openxmlformats.org/drawingml/2006/main">
              <a:ext uri="{FF2B5EF4-FFF2-40B4-BE49-F238E27FC236}">
                <a16:creationId xmlns:a16="http://schemas.microsoft.com/office/drawing/2014/main" id="{294C509E-A6B7-4DD9-AFE0-48C30F6125F4}"/>
              </a:ext>
            </a:extLst>
          </p:cNvPr>
          <p:cNvSpPr>
            <a:spLocks xmlns:a="http://schemas.openxmlformats.org/drawingml/2006/main" noGrp="1"/>
          </p:cNvSpPr>
          <p:nvPr/>
        </p:nvSpPr>
        <p:spPr>
          <a:xfrm xmlns:a="http://schemas.openxmlformats.org/drawingml/2006/main">
            <a:off x="457200" y="2926080"/>
            <a:ext cx="73152" cy="32004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D9DDFBB-8000-42C0-8742-177F20F55C99}"/>
              </a:ext>
            </a:extLst>
          </p:cNvPr>
          <p:cNvSpPr>
            <a:spLocks xmlns:a="http://schemas.openxmlformats.org/drawingml/2006/main" noGrp="1"/>
          </p:cNvSpPr>
          <p:nvPr/>
        </p:nvSpPr>
        <p:spPr>
          <a:xfrm xmlns:a="http://schemas.openxmlformats.org/drawingml/2006/main">
            <a:off x="640080" y="2907792"/>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5555"/>
                </a:solidFill>
                <a:latin typeface="Calibri"/>
                <a:ea typeface="Calibri"/>
                <a:cs typeface="Calibri"/>
              </a:defRPr>
            </a:pPr>
            <a:r>
              <a:t>PyTorch CUDA</a:t>
            </a:r>
            <a:endParaRPr/>
          </a:p>
        </p:txBody>
      </p:sp>
      <p:sp>
        <p:nvSpPr>
          <p:cNvPr id="19" name="TextBox 18">
            <a:extLst xmlns:a="http://schemas.openxmlformats.org/drawingml/2006/main">
              <a:ext uri="{FF2B5EF4-FFF2-40B4-BE49-F238E27FC236}">
                <a16:creationId xmlns:a16="http://schemas.microsoft.com/office/drawing/2014/main" id="{6625CB19-502E-4BD7-A5CF-3CD46F347DB9}"/>
              </a:ext>
            </a:extLst>
          </p:cNvPr>
          <p:cNvSpPr>
            <a:spLocks xmlns:a="http://schemas.openxmlformats.org/drawingml/2006/main" noGrp="1"/>
          </p:cNvSpPr>
          <p:nvPr/>
        </p:nvSpPr>
        <p:spPr>
          <a:xfrm xmlns:a="http://schemas.openxmlformats.org/drawingml/2006/main">
            <a:off x="2560320" y="2907792"/>
            <a:ext cx="3383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TabularNN .to('cuda')</a:t>
            </a:r>
            <a:endParaRPr/>
          </a:p>
        </p:txBody>
      </p:sp>
      <p:sp>
        <p:nvSpPr>
          <p:cNvPr id="20" name="Rectangle 19">
            <a:extLst xmlns:a="http://schemas.openxmlformats.org/drawingml/2006/main">
              <a:ext uri="{FF2B5EF4-FFF2-40B4-BE49-F238E27FC236}">
                <a16:creationId xmlns:a16="http://schemas.microsoft.com/office/drawing/2014/main" id="{1FCF545B-C81E-4706-9E26-5B9906413BB9}"/>
              </a:ext>
            </a:extLst>
          </p:cNvPr>
          <p:cNvSpPr>
            <a:spLocks xmlns:a="http://schemas.openxmlformats.org/drawingml/2006/main" noGrp="1"/>
          </p:cNvSpPr>
          <p:nvPr/>
        </p:nvSpPr>
        <p:spPr>
          <a:xfrm xmlns:a="http://schemas.openxmlformats.org/drawingml/2006/main">
            <a:off x="457200" y="333756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A0283D4-8E0A-4CDF-AD62-30077FCF0F94}"/>
              </a:ext>
            </a:extLst>
          </p:cNvPr>
          <p:cNvSpPr>
            <a:spLocks xmlns:a="http://schemas.openxmlformats.org/drawingml/2006/main" noGrp="1"/>
          </p:cNvSpPr>
          <p:nvPr/>
        </p:nvSpPr>
        <p:spPr>
          <a:xfrm xmlns:a="http://schemas.openxmlformats.org/drawingml/2006/main">
            <a:off x="640080" y="3319272"/>
            <a:ext cx="1828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D9FF"/>
                </a:solidFill>
                <a:latin typeface="Calibri"/>
                <a:ea typeface="Calibri"/>
                <a:cs typeface="Calibri"/>
              </a:defRPr>
            </a:pPr>
            <a:r>
              <a:t>Polars GPU</a:t>
            </a:r>
            <a:endParaRPr/>
          </a:p>
        </p:txBody>
      </p:sp>
      <p:sp>
        <p:nvSpPr>
          <p:cNvPr id="22" name="TextBox 21">
            <a:extLst xmlns:a="http://schemas.openxmlformats.org/drawingml/2006/main">
              <a:ext uri="{FF2B5EF4-FFF2-40B4-BE49-F238E27FC236}">
                <a16:creationId xmlns:a16="http://schemas.microsoft.com/office/drawing/2014/main" id="{2A19BF6D-E721-4434-81EB-681EEDEB6C20}"/>
              </a:ext>
            </a:extLst>
          </p:cNvPr>
          <p:cNvSpPr>
            <a:spLocks xmlns:a="http://schemas.openxmlformats.org/drawingml/2006/main" noGrp="1"/>
          </p:cNvSpPr>
          <p:nvPr/>
        </p:nvSpPr>
        <p:spPr>
          <a:xfrm xmlns:a="http://schemas.openxmlformats.org/drawingml/2006/main">
            <a:off x="2560320" y="3319272"/>
            <a:ext cx="338328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FFFFFF"/>
                </a:solidFill>
                <a:latin typeface="Calibri"/>
                <a:ea typeface="Calibri"/>
                <a:cs typeface="Calibri"/>
              </a:defRPr>
            </a:pPr>
            <a:r>
              <a:t>DataFrame en GPU (experimental)</a:t>
            </a:r>
            <a:endParaRPr/>
          </a:p>
        </p:txBody>
      </p:sp>
      <p:sp>
        <p:nvSpPr>
          <p:cNvPr id="23" name="TextBox 22">
            <a:extLst xmlns:a="http://schemas.openxmlformats.org/drawingml/2006/main">
              <a:ext uri="{FF2B5EF4-FFF2-40B4-BE49-F238E27FC236}">
                <a16:creationId xmlns:a16="http://schemas.microsoft.com/office/drawing/2014/main" id="{13539946-895D-4B38-B20F-A7B6444B5277}"/>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Comparativa (1,4 M de filas):</a:t>
            </a:r>
            <a:endParaRPr/>
          </a:p>
        </p:txBody>
      </p:sp>
      <p:graphicFrame>
        <p:nvGraphicFramePr>
          <p:cNvPr id="55" name="Table 23"/>
          <p:cNvGraphicFramePr/>
          <p:nvPr/>
        </p:nvGraphicFramePr>
        <p:xfrm>
          <a:off xmlns:a="http://schemas.openxmlformats.org/drawingml/2006/main" x="6217920" y="1280160"/>
          <a:ext xmlns:a="http://schemas.openxmlformats.org/drawingml/2006/main" cx="5486400" cy="1755648"/>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1371600"/>
                <a:gridCol w="1371600"/>
                <a:gridCol w="1371600"/>
                <a:gridCol w="1371600"/>
              </a:tblGrid>
              <a:tr h="292608">
                <a:tc>
                  <a:txBody>
                    <a:bodyPr/>
                    <a:lstStyle/>
                    <a:p>
                      <a:pPr>
                        <a:buNone/>
                      </a:pPr>
                      <a:r>
                        <a:rPr sz="1100" b="1">
                          <a:solidFill>
                            <a:srgbClr val="00D9FF"/>
                          </a:solidFill>
                          <a:latin typeface="Calibri"/>
                          <a:ea typeface="Calibri"/>
                          <a:cs typeface="Calibri"/>
                        </a:rPr>
                        <a:t>Operación</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pandas</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Polars</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Aceleración</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read_csv</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12.8s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3.2s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4.0x</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null_count</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0.45s</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0.06s</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7.5x</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groupby+agg</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1.8s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0.15s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12.0x</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filter</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0.9s</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0.18s</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5.0x</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sort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1.2s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0.35s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3.4x</a:t>
                      </a:r>
                      <a:endParaRPr/>
                    </a:p>
                  </a:txBody>
                  <a:tcPr marL="91440" marR="91440" marT="45720" marB="45720">
                    <a:solidFill>
                      <a:srgbClr val="22223A"/>
                    </a:solidFill>
                  </a:tcPr>
                </a:tc>
              </a:tr>
            </a:tbl>
          </a:graphicData>
        </a:graphic>
      </p:graphicFrame>
      <p:sp>
        <p:nvSpPr>
          <p:cNvPr id="25" name="TextBox 24">
            <a:extLst xmlns:a="http://schemas.openxmlformats.org/drawingml/2006/main">
              <a:ext uri="{FF2B5EF4-FFF2-40B4-BE49-F238E27FC236}">
                <a16:creationId xmlns:a16="http://schemas.microsoft.com/office/drawing/2014/main" id="{CE4A2CCA-0194-4F63-860C-6E3679C7C14C}"/>
              </a:ext>
            </a:extLst>
          </p:cNvPr>
          <p:cNvSpPr>
            <a:spLocks xmlns:a="http://schemas.openxmlformats.org/drawingml/2006/main" noGrp="1"/>
          </p:cNvSpPr>
          <p:nvPr/>
        </p:nvSpPr>
        <p:spPr>
          <a:xfrm xmlns:a="http://schemas.openxmlformats.org/drawingml/2006/main">
            <a:off x="457200" y="393192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FF88"/>
                </a:solidFill>
                <a:latin typeface="Calibri"/>
                <a:ea typeface="Calibri"/>
                <a:cs typeface="Calibri"/>
              </a:defRPr>
            </a:pPr>
            <a:r>
              <a:t>Ventajas principales de Polars:</a:t>
            </a:r>
            <a:endParaRPr/>
          </a:p>
        </p:txBody>
      </p:sp>
      <p:sp>
        <p:nvSpPr>
          <p:cNvPr id="26" name="TextBox 25">
            <a:extLst xmlns:a="http://schemas.openxmlformats.org/drawingml/2006/main">
              <a:ext uri="{FF2B5EF4-FFF2-40B4-BE49-F238E27FC236}">
                <a16:creationId xmlns:a16="http://schemas.microsoft.com/office/drawing/2014/main" id="{A43CBFEB-2881-488A-B334-91B0F23513C2}"/>
              </a:ext>
            </a:extLst>
          </p:cNvPr>
          <p:cNvSpPr>
            <a:spLocks xmlns:a="http://schemas.openxmlformats.org/drawingml/2006/main" noGrp="1"/>
          </p:cNvSpPr>
          <p:nvPr/>
        </p:nvSpPr>
        <p:spPr>
          <a:xfrm xmlns:a="http://schemas.openxmlformats.org/drawingml/2006/main">
            <a:off x="457200" y="4297680"/>
            <a:ext cx="109728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Paralelismo entre núcleos (Rust + Arrow)</a:t>
            </a:r>
            <a:endParaRPr/>
          </a:p>
        </p:txBody>
      </p:sp>
      <p:sp>
        <p:nvSpPr>
          <p:cNvPr id="27" name="TextBox 26">
            <a:extLst xmlns:a="http://schemas.openxmlformats.org/drawingml/2006/main">
              <a:ext uri="{FF2B5EF4-FFF2-40B4-BE49-F238E27FC236}">
                <a16:creationId xmlns:a16="http://schemas.microsoft.com/office/drawing/2014/main" id="{81568DDB-2E7D-4F4B-9609-4ECA61D5DC58}"/>
              </a:ext>
            </a:extLst>
          </p:cNvPr>
          <p:cNvSpPr>
            <a:spLocks xmlns:a="http://schemas.openxmlformats.org/drawingml/2006/main" noGrp="1"/>
          </p:cNvSpPr>
          <p:nvPr/>
        </p:nvSpPr>
        <p:spPr>
          <a:xfrm xmlns:a="http://schemas.openxmlformats.org/drawingml/2006/main">
            <a:off x="457200" y="4590288"/>
            <a:ext cx="109728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API Lazy: optimización del plan de consulta</a:t>
            </a:r>
            <a:endParaRPr/>
          </a:p>
        </p:txBody>
      </p:sp>
      <p:sp>
        <p:nvSpPr>
          <p:cNvPr id="28" name="TextBox 27">
            <a:extLst xmlns:a="http://schemas.openxmlformats.org/drawingml/2006/main">
              <a:ext uri="{FF2B5EF4-FFF2-40B4-BE49-F238E27FC236}">
                <a16:creationId xmlns:a16="http://schemas.microsoft.com/office/drawing/2014/main" id="{5CB54DD6-0FEE-41BF-A1D7-D6AC2BE09B69}"/>
              </a:ext>
            </a:extLst>
          </p:cNvPr>
          <p:cNvSpPr>
            <a:spLocks xmlns:a="http://schemas.openxmlformats.org/drawingml/2006/main" noGrp="1"/>
          </p:cNvSpPr>
          <p:nvPr/>
        </p:nvSpPr>
        <p:spPr>
          <a:xfrm xmlns:a="http://schemas.openxmlformats.org/drawingml/2006/main">
            <a:off x="457200" y="4882896"/>
            <a:ext cx="109728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Streaming: datos mayores que la RAM</a:t>
            </a:r>
            <a:endParaRPr/>
          </a:p>
        </p:txBody>
      </p:sp>
      <p:sp>
        <p:nvSpPr>
          <p:cNvPr id="29" name="TextBox 28">
            <a:extLst xmlns:a="http://schemas.openxmlformats.org/drawingml/2006/main">
              <a:ext uri="{FF2B5EF4-FFF2-40B4-BE49-F238E27FC236}">
                <a16:creationId xmlns:a16="http://schemas.microsoft.com/office/drawing/2014/main" id="{42601753-E784-4AD8-BAA5-F3CA97CB6189}"/>
              </a:ext>
            </a:extLst>
          </p:cNvPr>
          <p:cNvSpPr>
            <a:spLocks xmlns:a="http://schemas.openxmlformats.org/drawingml/2006/main" noGrp="1"/>
          </p:cNvSpPr>
          <p:nvPr/>
        </p:nvSpPr>
        <p:spPr>
          <a:xfrm xmlns:a="http://schemas.openxmlformats.org/drawingml/2006/main">
            <a:off x="457200" y="5175504"/>
            <a:ext cx="109728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Menor uso de memoria (sin índices)</a:t>
            </a:r>
            <a:endParaRPr/>
          </a:p>
        </p:txBody>
      </p:sp>
      <p:sp>
        <p:nvSpPr>
          <p:cNvPr id="30" name="TextBox 29">
            <a:extLst xmlns:a="http://schemas.openxmlformats.org/drawingml/2006/main">
              <a:ext uri="{FF2B5EF4-FFF2-40B4-BE49-F238E27FC236}">
                <a16:creationId xmlns:a16="http://schemas.microsoft.com/office/drawing/2014/main" id="{BC5C8A04-E1DC-4A34-8C70-087708B6D734}"/>
              </a:ext>
            </a:extLst>
          </p:cNvPr>
          <p:cNvSpPr>
            <a:spLocks xmlns:a="http://schemas.openxmlformats.org/drawingml/2006/main" noGrp="1"/>
          </p:cNvSpPr>
          <p:nvPr/>
        </p:nvSpPr>
        <p:spPr>
          <a:xfrm xmlns:a="http://schemas.openxmlformats.org/drawingml/2006/main">
            <a:off x="457200" y="5468112"/>
            <a:ext cx="10972800" cy="289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 API de expresiones sin bucles for</a:t>
            </a:r>
            <a:endParaRPr/>
          </a:p>
        </p:txBody>
      </p:sp>
      <p:sp>
        <p:nvSpPr>
          <p:cNvPr id="31" name="TextBox 30">
            <a:extLst xmlns:a="http://schemas.openxmlformats.org/drawingml/2006/main">
              <a:ext uri="{FF2B5EF4-FFF2-40B4-BE49-F238E27FC236}">
                <a16:creationId xmlns:a16="http://schemas.microsoft.com/office/drawing/2014/main" id="{99D04432-B1F0-4DCE-93D0-C6086F7129B5}"/>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21</a:t>
            </a:r>
            <a:endParaRPr/>
          </a:p>
        </p:txBody>
      </p:sp>
    </p:spTree>
    <p:extLst>
      <p:ext uri="{BB962C8B-B14F-4D97-AF65-F5344CB8AC3E}">
        <p14:creationId xmlns:p14="http://schemas.microsoft.com/office/powerpoint/2010/main" val="687405557"/>
      </p:ext>
    </p:extLst>
  </p:cSld>
</p:sld>
</file>

<file path=ppt/slides/slide22.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F6D11BE-710B-415C-B9E5-99A79E55B94E}"/>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0D5FAD9-6779-43AA-A5E4-E63708CABB3A}"/>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Pipeline y ColumnTransformer</a:t>
            </a:r>
            <a:endParaRPr/>
          </a:p>
        </p:txBody>
      </p:sp>
      <p:sp>
        <p:nvSpPr>
          <p:cNvPr id="4" name="TextBox 3">
            <a:extLst xmlns:a="http://schemas.openxmlformats.org/drawingml/2006/main">
              <a:ext uri="{FF2B5EF4-FFF2-40B4-BE49-F238E27FC236}">
                <a16:creationId xmlns:a16="http://schemas.microsoft.com/office/drawing/2014/main" id="{AA37FE97-BA84-4629-BCCC-76E6F7FF7791}"/>
              </a:ext>
            </a:extLst>
          </p:cNvPr>
          <p:cNvSpPr>
            <a:spLocks xmlns:a="http://schemas.openxmlformats.org/drawingml/2006/main" noGrp="1"/>
          </p:cNvSpPr>
          <p:nvPr/>
        </p:nvSpPr>
        <p:spPr>
          <a:xfrm xmlns:a="http://schemas.openxmlformats.org/drawingml/2006/main">
            <a:off x="457200" y="914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Todas las etapas de preprocesamiento en un objeto; guardado con joblib</a:t>
            </a:r>
            <a:endParaRPr/>
          </a:p>
        </p:txBody>
      </p:sp>
      <p:sp>
        <p:nvSpPr>
          <p:cNvPr id="5" name="Rectangle 4">
            <a:extLst xmlns:a="http://schemas.openxmlformats.org/drawingml/2006/main">
              <a:ext uri="{FF2B5EF4-FFF2-40B4-BE49-F238E27FC236}">
                <a16:creationId xmlns:a16="http://schemas.microsoft.com/office/drawing/2014/main" id="{BDC62301-D1BD-4B8B-B40F-A375B2FB93CF}"/>
              </a:ext>
            </a:extLst>
          </p:cNvPr>
          <p:cNvSpPr>
            <a:spLocks xmlns:a="http://schemas.openxmlformats.org/drawingml/2006/main" noGrp="1"/>
          </p:cNvSpPr>
          <p:nvPr/>
        </p:nvSpPr>
        <p:spPr>
          <a:xfrm xmlns:a="http://schemas.openxmlformats.org/drawingml/2006/main">
            <a:off x="457200" y="1371600"/>
            <a:ext cx="11247120" cy="43891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87042F2-8358-4500-96F5-FA781FBEFA31}"/>
              </a:ext>
            </a:extLst>
          </p:cNvPr>
          <p:cNvSpPr>
            <a:spLocks xmlns:a="http://schemas.openxmlformats.org/drawingml/2006/main" noGrp="1"/>
          </p:cNvSpPr>
          <p:nvPr/>
        </p:nvSpPr>
        <p:spPr>
          <a:xfrm xmlns:a="http://schemas.openxmlformats.org/drawingml/2006/main">
            <a:off x="530352" y="1408176"/>
            <a:ext cx="11100816" cy="43159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from sklearn.pipeline import Pipeline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from sklearn.compose import ColumnTransformer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from sklearn.preprocessing import StandardScaler, OneHotEncoder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numeric_features = ['price', 'shipping', 'name_len']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categorical_features = ['item_condition_id', 'brand_clean']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preprocessor = ColumnTransformer(transformers=[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('num', Pipeline([('imputer', SimpleImputer(strategy='median')),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('scaler', StandardScaler())]), numeric_features),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('cat', Pipeline([('imputer', SimpleImputer(fill_value='missing')),</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('encoder', OneHotEncoder(handle_unknown='ignore'))]), categorical_features),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pipeline = Pipeline([('preprocessor', preprocessor), ('model', XGBRegressor())])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pipeline.fit(X_train, y_train)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import joblib; joblib.dump(pipeline, 'model.pkl')</a:t>
            </a:r>
            <a:endParaRPr/>
          </a:p>
        </p:txBody>
      </p:sp>
      <p:sp>
        <p:nvSpPr>
          <p:cNvPr id="7" name="TextBox 6">
            <a:extLst xmlns:a="http://schemas.openxmlformats.org/drawingml/2006/main">
              <a:ext uri="{FF2B5EF4-FFF2-40B4-BE49-F238E27FC236}">
                <a16:creationId xmlns:a16="http://schemas.microsoft.com/office/drawing/2014/main" id="{11E9A644-CED9-4368-8849-C4496EF446EA}"/>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22</a:t>
            </a:r>
            <a:endParaRPr/>
          </a:p>
        </p:txBody>
      </p:sp>
    </p:spTree>
    <p:extLst>
      <p:ext uri="{BB962C8B-B14F-4D97-AF65-F5344CB8AC3E}">
        <p14:creationId xmlns:p14="http://schemas.microsoft.com/office/powerpoint/2010/main" val="593931659"/>
      </p:ext>
    </p:extLst>
  </p:cSld>
</p:sld>
</file>

<file path=ppt/slides/slide23.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C7FBBFC-08BB-4ED5-897B-CFB3F8FA5F76}"/>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CA385AFA-A428-4A32-9BAB-9BF69DF9609A}"/>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3: básico (7 puntos), variantes 1–5</a:t>
            </a:r>
            <a:endParaRPr/>
          </a:p>
        </p:txBody>
      </p:sp>
      <p:graphicFrame>
        <p:nvGraphicFramePr>
          <p:cNvPr id="13" name="Table 3"/>
          <p:cNvGraphicFramePr/>
          <p:nvPr/>
        </p:nvGraphicFramePr>
        <p:xfrm>
          <a:off xmlns:a="http://schemas.openxmlformats.org/drawingml/2006/main" x="457200" y="914400"/>
          <a:ext xmlns:a="http://schemas.openxmlformats.org/drawingml/2006/main" cx="11247120" cy="1755648"/>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548640"/>
                <a:gridCol w="2743200"/>
                <a:gridCol w="1097280"/>
                <a:gridCol w="1828800"/>
                <a:gridCol w="5029200"/>
              </a:tblGrid>
              <a:tr h="292608">
                <a:tc>
                  <a:txBody>
                    <a:bodyPr/>
                    <a:lstStyle/>
                    <a:p>
                      <a:pPr>
                        <a:buNone/>
                      </a:pPr>
                      <a:r>
                        <a:rPr sz="1200" b="1">
                          <a:solidFill>
                            <a:srgbClr val="00D9FF"/>
                          </a:solidFill>
                          <a:latin typeface="Calibri"/>
                          <a:ea typeface="Calibri"/>
                          <a:cs typeface="Calibri"/>
                        </a:rPr>
                        <a:t>N.º</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Conjunto</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Tamaño</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Objetivo</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Tarea adicional</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3.1</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Wine Reviews</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130 mil</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points</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Diccionario color → variable de color</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3.2</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Diamonds</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54 mil</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price</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quality_tier desde cut+clarity</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3.3</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Auto MPG</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398</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mpg</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manufacturer desde car_name</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3.4</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California Housing</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20 mil</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MedHouseVal</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income_tier desde MedInc</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3.5</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Insurance Cost</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1,3 mil</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charges</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risk = smoker + age</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7210D45A-C700-4AEA-8DD7-F3F511C57B8D}"/>
              </a:ext>
            </a:extLst>
          </p:cNvPr>
          <p:cNvSpPr>
            <a:spLocks xmlns:a="http://schemas.openxmlformats.org/drawingml/2006/main" noGrp="1"/>
          </p:cNvSpPr>
          <p:nvPr/>
        </p:nvSpPr>
        <p:spPr>
          <a:xfrm xmlns:a="http://schemas.openxmlformats.org/drawingml/2006/main">
            <a:off x="457200" y="3200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FF88"/>
                </a:solidFill>
                <a:latin typeface="Calibri"/>
                <a:ea typeface="Calibri"/>
                <a:cs typeface="Calibri"/>
              </a:defRPr>
            </a:pPr>
            <a:r>
              <a:t>Requisitos: 5 modelos | One-Hot | 4 métricas | correlación &gt;0,95 | transformación logarítmica</a:t>
            </a:r>
            <a:endParaRPr/>
          </a:p>
        </p:txBody>
      </p:sp>
      <p:sp>
        <p:nvSpPr>
          <p:cNvPr id="6" name="TextBox 5">
            <a:extLst xmlns:a="http://schemas.openxmlformats.org/drawingml/2006/main">
              <a:ext uri="{FF2B5EF4-FFF2-40B4-BE49-F238E27FC236}">
                <a16:creationId xmlns:a16="http://schemas.microsoft.com/office/drawing/2014/main" id="{262600BF-A5B0-421C-B2A5-61ABE4993C70}"/>
              </a:ext>
            </a:extLst>
          </p:cNvPr>
          <p:cNvSpPr>
            <a:spLocks xmlns:a="http://schemas.openxmlformats.org/drawingml/2006/main" noGrp="1"/>
          </p:cNvSpPr>
          <p:nvPr/>
        </p:nvSpPr>
        <p:spPr>
          <a:xfrm xmlns:a="http://schemas.openxmlformats.org/drawingml/2006/main">
            <a:off x="457200" y="36576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B0B0C0"/>
                </a:solidFill>
                <a:latin typeface="Calibri"/>
                <a:ea typeface="Calibri"/>
                <a:cs typeface="Calibri"/>
              </a:defRPr>
            </a:pPr>
            <a:r>
              <a:t>Criterios: EDA (1,5) + modelos (2) + métricas (1,5) + ingeniería (1) + visualización (1) = 7</a:t>
            </a:r>
            <a:endParaRPr/>
          </a:p>
        </p:txBody>
      </p:sp>
      <p:sp>
        <p:nvSpPr>
          <p:cNvPr id="7" name="Rectangle 6">
            <a:extLst xmlns:a="http://schemas.openxmlformats.org/drawingml/2006/main">
              <a:ext uri="{FF2B5EF4-FFF2-40B4-BE49-F238E27FC236}">
                <a16:creationId xmlns:a16="http://schemas.microsoft.com/office/drawing/2014/main" id="{ABB3F651-5A34-4FF9-8A33-A27137C251DA}"/>
              </a:ext>
            </a:extLst>
          </p:cNvPr>
          <p:cNvSpPr>
            <a:spLocks xmlns:a="http://schemas.openxmlformats.org/drawingml/2006/main" noGrp="1"/>
          </p:cNvSpPr>
          <p:nvPr/>
        </p:nvSpPr>
        <p:spPr>
          <a:xfrm xmlns:a="http://schemas.openxmlformats.org/drawingml/2006/main">
            <a:off x="457200" y="4206240"/>
            <a:ext cx="11247120" cy="201168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12AB436-DA21-42EC-8E74-35B5D2647B04}"/>
              </a:ext>
            </a:extLst>
          </p:cNvPr>
          <p:cNvSpPr>
            <a:spLocks xmlns:a="http://schemas.openxmlformats.org/drawingml/2006/main" noGrp="1"/>
          </p:cNvSpPr>
          <p:nvPr/>
        </p:nvSpPr>
        <p:spPr>
          <a:xfrm xmlns:a="http://schemas.openxmlformats.org/drawingml/2006/main">
            <a:off x="530352" y="4242816"/>
            <a:ext cx="11100816" cy="193852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200">
                <a:solidFill>
                  <a:srgbClr val="80FF80"/>
                </a:solidFill>
                <a:latin typeface="Consolas"/>
                <a:ea typeface="Consolas"/>
                <a:cs typeface="Consolas"/>
              </a:defRPr>
            </a:pPr>
            <a:r>
              <a:t># Ejemplo: diccionario de colores de vino en Polars</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color_map = {'Chardonnay': 'white', 'Pinot Noir': 'red', 'Cabernet Sauvignon': 'red', ...}</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 = df.with_columns(pl.col('variety').replace(color_map).alias('color'))</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df = df.filter(pl.col('color').is_not_null())</a:t>
            </a:r>
            <a:endParaRPr/>
          </a:p>
          <a:p xmlns:a="http://schemas.openxmlformats.org/drawingml/2006/main">
            <a:pPr>
              <a:spcBef>
                <a:spcPts val="0"/>
              </a:spcBef>
              <a:spcAft>
                <a:spcPts val="100"/>
              </a:spcAft>
              <a:buNone/>
              <a:defRPr sz="1200">
                <a:solidFill>
                  <a:srgbClr val="80FF80"/>
                </a:solidFill>
                <a:latin typeface="Consolas"/>
                <a:ea typeface="Consolas"/>
                <a:cs typeface="Consolas"/>
              </a:defRPr>
            </a:pPr>
            <a:r>
              <a:t># Provincia con mejores puntuaciones</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best = df.group_by('province').agg(pl.col('points').mean()).sort('points', descending=True).head(1)</a:t>
            </a:r>
            <a:endParaRPr/>
          </a:p>
        </p:txBody>
      </p:sp>
      <p:sp>
        <p:nvSpPr>
          <p:cNvPr id="9" name="TextBox 8">
            <a:extLst xmlns:a="http://schemas.openxmlformats.org/drawingml/2006/main">
              <a:ext uri="{FF2B5EF4-FFF2-40B4-BE49-F238E27FC236}">
                <a16:creationId xmlns:a16="http://schemas.microsoft.com/office/drawing/2014/main" id="{5985D3FB-D562-447F-941F-3BF5A33507A5}"/>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23</a:t>
            </a:r>
            <a:endParaRPr/>
          </a:p>
        </p:txBody>
      </p:sp>
    </p:spTree>
    <p:extLst>
      <p:ext uri="{BB962C8B-B14F-4D97-AF65-F5344CB8AC3E}">
        <p14:creationId xmlns:p14="http://schemas.microsoft.com/office/powerpoint/2010/main" val="790797129"/>
      </p:ext>
    </p:extLst>
  </p:cSld>
</p:sld>
</file>

<file path=ppt/slides/slide24.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1EA4C2B-FCC6-4A05-9F0C-438CB931DD81}"/>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0C4490DB-4350-4E1A-8317-CF86F7661B3F}"/>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3: básico (7 puntos), variantes 6–10</a:t>
            </a:r>
            <a:endParaRPr/>
          </a:p>
        </p:txBody>
      </p:sp>
      <p:graphicFrame>
        <p:nvGraphicFramePr>
          <p:cNvPr id="15" name="Table 3"/>
          <p:cNvGraphicFramePr/>
          <p:nvPr/>
        </p:nvGraphicFramePr>
        <p:xfrm>
          <a:off xmlns:a="http://schemas.openxmlformats.org/drawingml/2006/main" x="457200" y="914400"/>
          <a:ext xmlns:a="http://schemas.openxmlformats.org/drawingml/2006/main" cx="11247120" cy="1755648"/>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548640"/>
                <a:gridCol w="2743200"/>
                <a:gridCol w="1097280"/>
                <a:gridCol w="1828800"/>
                <a:gridCol w="5029200"/>
              </a:tblGrid>
              <a:tr h="292608">
                <a:tc>
                  <a:txBody>
                    <a:bodyPr/>
                    <a:lstStyle/>
                    <a:p>
                      <a:pPr>
                        <a:buNone/>
                      </a:pPr>
                      <a:r>
                        <a:rPr sz="1200" b="1">
                          <a:solidFill>
                            <a:srgbClr val="00D9FF"/>
                          </a:solidFill>
                          <a:latin typeface="Calibri"/>
                          <a:ea typeface="Calibri"/>
                          <a:cs typeface="Calibri"/>
                        </a:rPr>
                        <a:t>N.º</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Conjunto</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Tamaño</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Objetivo</a:t>
                      </a:r>
                      <a:endParaRPr/>
                    </a:p>
                  </a:txBody>
                  <a:tcPr marL="91440" marR="91440" marT="45720" marB="45720">
                    <a:solidFill>
                      <a:srgbClr val="22223A"/>
                    </a:solidFill>
                  </a:tcPr>
                </a:tc>
                <a:tc>
                  <a:txBody>
                    <a:bodyPr/>
                    <a:lstStyle/>
                    <a:p>
                      <a:pPr>
                        <a:buNone/>
                      </a:pPr>
                      <a:r>
                        <a:rPr sz="1200" b="1">
                          <a:solidFill>
                            <a:srgbClr val="00D9FF"/>
                          </a:solidFill>
                          <a:latin typeface="Calibri"/>
                          <a:ea typeface="Calibri"/>
                          <a:cs typeface="Calibri"/>
                        </a:rPr>
                        <a:t>Tarea adicional</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3.6</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Fish Market</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159</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Weight</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size_class desde Length</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3.7</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Real Estate</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414</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Y_house_price</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dist_class desde MRT</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3.8</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Abalone</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4,2 mil</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Rings</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age_class desde Rings</a:t>
                      </a:r>
                      <a:endParaRPr/>
                    </a:p>
                  </a:txBody>
                  <a:tcPr marL="91440" marR="91440" marT="45720" marB="45720">
                    <a:solidFill>
                      <a:srgbClr val="22223A"/>
                    </a:solidFill>
                  </a:tcPr>
                </a:tc>
              </a:tr>
              <a:tr h="292608">
                <a:tc>
                  <a:txBody>
                    <a:bodyPr/>
                    <a:lstStyle/>
                    <a:p>
                      <a:pPr>
                        <a:buNone/>
                      </a:pPr>
                      <a:r>
                        <a:rPr sz="1200">
                          <a:solidFill>
                            <a:srgbClr val="FFFFFF"/>
                          </a:solidFill>
                          <a:latin typeface="Calibri"/>
                          <a:ea typeface="Calibri"/>
                          <a:cs typeface="Calibri"/>
                        </a:rPr>
                        <a:t>3.9</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Bike Sharing Day</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17 mil</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cnt</a:t>
                      </a:r>
                      <a:endParaRPr/>
                    </a:p>
                  </a:txBody>
                  <a:tcPr marL="91440" marR="91440" marT="45720" marB="45720">
                    <a:solidFill>
                      <a:srgbClr val="2A2A44"/>
                    </a:solidFill>
                  </a:tcPr>
                </a:tc>
                <a:tc>
                  <a:txBody>
                    <a:bodyPr/>
                    <a:lstStyle/>
                    <a:p>
                      <a:pPr>
                        <a:buNone/>
                      </a:pPr>
                      <a:r>
                        <a:rPr sz="1200">
                          <a:solidFill>
                            <a:srgbClr val="FFFFFF"/>
                          </a:solidFill>
                          <a:latin typeface="Calibri"/>
                          <a:ea typeface="Calibri"/>
                          <a:cs typeface="Calibri"/>
                        </a:rPr>
                        <a:t>season_name</a:t>
                      </a:r>
                      <a:endParaRPr/>
                    </a:p>
                  </a:txBody>
                  <a:tcPr marL="91440" marR="91440" marT="45720" marB="45720">
                    <a:solidFill>
                      <a:srgbClr val="2A2A44"/>
                    </a:solidFill>
                  </a:tcPr>
                </a:tc>
              </a:tr>
              <a:tr h="292608">
                <a:tc>
                  <a:txBody>
                    <a:bodyPr/>
                    <a:lstStyle/>
                    <a:p>
                      <a:pPr>
                        <a:buNone/>
                      </a:pPr>
                      <a:r>
                        <a:rPr sz="1200">
                          <a:solidFill>
                            <a:srgbClr val="FFFFFF"/>
                          </a:solidFill>
                          <a:latin typeface="Calibri"/>
                          <a:ea typeface="Calibri"/>
                          <a:cs typeface="Calibri"/>
                        </a:rPr>
                        <a:t>3.10</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Student Performance</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649</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G3</a:t>
                      </a:r>
                      <a:endParaRPr/>
                    </a:p>
                  </a:txBody>
                  <a:tcPr marL="91440" marR="91440" marT="45720" marB="45720">
                    <a:solidFill>
                      <a:srgbClr val="22223A"/>
                    </a:solidFill>
                  </a:tcPr>
                </a:tc>
                <a:tc>
                  <a:txBody>
                    <a:bodyPr/>
                    <a:lstStyle/>
                    <a:p>
                      <a:pPr>
                        <a:buNone/>
                      </a:pPr>
                      <a:r>
                        <a:rPr sz="1200">
                          <a:solidFill>
                            <a:srgbClr val="FFFFFF"/>
                          </a:solidFill>
                          <a:latin typeface="Calibri"/>
                          <a:ea typeface="Calibri"/>
                          <a:cs typeface="Calibri"/>
                        </a:rPr>
                        <a:t>performance desde G3</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DFE04E37-31B5-4A56-B2EF-3986C7CA9E53}"/>
              </a:ext>
            </a:extLst>
          </p:cNvPr>
          <p:cNvSpPr>
            <a:spLocks xmlns:a="http://schemas.openxmlformats.org/drawingml/2006/main" noGrp="1"/>
          </p:cNvSpPr>
          <p:nvPr/>
        </p:nvSpPr>
        <p:spPr>
          <a:xfrm xmlns:a="http://schemas.openxmlformats.org/drawingml/2006/main">
            <a:off x="457200" y="3200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B0B0C0"/>
                </a:solidFill>
                <a:latin typeface="Calibri"/>
                <a:ea typeface="Calibri"/>
                <a:cs typeface="Calibri"/>
              </a:defRPr>
            </a:pPr>
            <a:r>
              <a:t>Esquema general: carga → esquema → faltantes → EDA → codificación → 5 modelos → métricas</a:t>
            </a:r>
            <a:endParaRPr/>
          </a:p>
        </p:txBody>
      </p:sp>
      <p:sp>
        <p:nvSpPr>
          <p:cNvPr id="6" name="TextBox 5">
            <a:extLst xmlns:a="http://schemas.openxmlformats.org/drawingml/2006/main">
              <a:ext uri="{FF2B5EF4-FFF2-40B4-BE49-F238E27FC236}">
                <a16:creationId xmlns:a16="http://schemas.microsoft.com/office/drawing/2014/main" id="{2BFE19C6-32EE-4836-A842-88A4A5AF9D21}"/>
              </a:ext>
            </a:extLst>
          </p:cNvPr>
          <p:cNvSpPr>
            <a:spLocks xmlns:a="http://schemas.openxmlformats.org/drawingml/2006/main" noGrp="1"/>
          </p:cNvSpPr>
          <p:nvPr/>
        </p:nvSpPr>
        <p:spPr>
          <a:xfrm xmlns:a="http://schemas.openxmlformats.org/drawingml/2006/main">
            <a:off x="457200" y="384048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5555"/>
                </a:solidFill>
                <a:latin typeface="Calibri"/>
                <a:ea typeface="Calibri"/>
                <a:cs typeface="Calibri"/>
              </a:defRPr>
            </a:pPr>
            <a:r>
              <a:t>Errores típicos del nivel 3:</a:t>
            </a:r>
            <a:endParaRPr/>
          </a:p>
        </p:txBody>
      </p:sp>
      <p:sp>
        <p:nvSpPr>
          <p:cNvPr id="7" name="TextBox 6">
            <a:extLst xmlns:a="http://schemas.openxmlformats.org/drawingml/2006/main">
              <a:ext uri="{FF2B5EF4-FFF2-40B4-BE49-F238E27FC236}">
                <a16:creationId xmlns:a16="http://schemas.microsoft.com/office/drawing/2014/main" id="{64A3D13A-9D39-48DC-9F4F-9B1BA48BB43B}"/>
              </a:ext>
            </a:extLst>
          </p:cNvPr>
          <p:cNvSpPr>
            <a:spLocks xmlns:a="http://schemas.openxmlformats.org/drawingml/2006/main" noGrp="1"/>
          </p:cNvSpPr>
          <p:nvPr/>
        </p:nvSpPr>
        <p:spPr>
          <a:xfrm xmlns:a="http://schemas.openxmlformats.org/drawingml/2006/main">
            <a:off x="457200" y="4206240"/>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5555"/>
                </a:solidFill>
                <a:latin typeface="Calibri"/>
                <a:ea typeface="Calibri"/>
                <a:cs typeface="Calibri"/>
              </a:defRPr>
            </a:pPr>
            <a:r>
              <a:t>- Eliminar faltantes en vez de codificarlos como 'missing'</a:t>
            </a:r>
            <a:endParaRPr/>
          </a:p>
        </p:txBody>
      </p:sp>
      <p:sp>
        <p:nvSpPr>
          <p:cNvPr id="8" name="TextBox 7">
            <a:extLst xmlns:a="http://schemas.openxmlformats.org/drawingml/2006/main">
              <a:ext uri="{FF2B5EF4-FFF2-40B4-BE49-F238E27FC236}">
                <a16:creationId xmlns:a16="http://schemas.microsoft.com/office/drawing/2014/main" id="{E71A9543-C660-4F5F-827A-B596D658C980}"/>
              </a:ext>
            </a:extLst>
          </p:cNvPr>
          <p:cNvSpPr>
            <a:spLocks xmlns:a="http://schemas.openxmlformats.org/drawingml/2006/main" noGrp="1"/>
          </p:cNvSpPr>
          <p:nvPr/>
        </p:nvSpPr>
        <p:spPr>
          <a:xfrm xmlns:a="http://schemas.openxmlformats.org/drawingml/2006/main">
            <a:off x="457200" y="4526279"/>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5555"/>
                </a:solidFill>
                <a:latin typeface="Calibri"/>
                <a:ea typeface="Calibri"/>
                <a:cs typeface="Calibri"/>
              </a:defRPr>
            </a:pPr>
            <a:r>
              <a:t>- No aplicar logaritmo a una variable objetivo sesgada</a:t>
            </a:r>
            <a:endParaRPr/>
          </a:p>
        </p:txBody>
      </p:sp>
      <p:sp>
        <p:nvSpPr>
          <p:cNvPr id="9" name="TextBox 8">
            <a:extLst xmlns:a="http://schemas.openxmlformats.org/drawingml/2006/main">
              <a:ext uri="{FF2B5EF4-FFF2-40B4-BE49-F238E27FC236}">
                <a16:creationId xmlns:a16="http://schemas.microsoft.com/office/drawing/2014/main" id="{429C4742-821D-40C9-9E3A-9B5DF1C24E72}"/>
              </a:ext>
            </a:extLst>
          </p:cNvPr>
          <p:cNvSpPr>
            <a:spLocks xmlns:a="http://schemas.openxmlformats.org/drawingml/2006/main" noGrp="1"/>
          </p:cNvSpPr>
          <p:nvPr/>
        </p:nvSpPr>
        <p:spPr>
          <a:xfrm xmlns:a="http://schemas.openxmlformats.org/drawingml/2006/main">
            <a:off x="457200" y="4846320"/>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5555"/>
                </a:solidFill>
                <a:latin typeface="Calibri"/>
                <a:ea typeface="Calibri"/>
                <a:cs typeface="Calibri"/>
              </a:defRPr>
            </a:pPr>
            <a:r>
              <a:t>- Olvidar eliminar características correlacionadas (&gt;0,95)</a:t>
            </a:r>
            <a:endParaRPr/>
          </a:p>
        </p:txBody>
      </p:sp>
      <p:sp>
        <p:nvSpPr>
          <p:cNvPr id="10" name="TextBox 9">
            <a:extLst xmlns:a="http://schemas.openxmlformats.org/drawingml/2006/main">
              <a:ext uri="{FF2B5EF4-FFF2-40B4-BE49-F238E27FC236}">
                <a16:creationId xmlns:a16="http://schemas.microsoft.com/office/drawing/2014/main" id="{6B06D038-8215-420F-BB8B-48E50880DD79}"/>
              </a:ext>
            </a:extLst>
          </p:cNvPr>
          <p:cNvSpPr>
            <a:spLocks xmlns:a="http://schemas.openxmlformats.org/drawingml/2006/main" noGrp="1"/>
          </p:cNvSpPr>
          <p:nvPr/>
        </p:nvSpPr>
        <p:spPr>
          <a:xfrm xmlns:a="http://schemas.openxmlformats.org/drawingml/2006/main">
            <a:off x="457200" y="5166359"/>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5555"/>
                </a:solidFill>
                <a:latin typeface="Calibri"/>
                <a:ea typeface="Calibri"/>
                <a:cs typeface="Calibri"/>
              </a:defRPr>
            </a:pPr>
            <a:r>
              <a:t>- No comparar los modelos en una tabla resumen</a:t>
            </a:r>
            <a:endParaRPr/>
          </a:p>
        </p:txBody>
      </p:sp>
      <p:sp>
        <p:nvSpPr>
          <p:cNvPr id="11" name="TextBox 10">
            <a:extLst xmlns:a="http://schemas.openxmlformats.org/drawingml/2006/main">
              <a:ext uri="{FF2B5EF4-FFF2-40B4-BE49-F238E27FC236}">
                <a16:creationId xmlns:a16="http://schemas.microsoft.com/office/drawing/2014/main" id="{07C49E14-ACAF-455F-AB2E-C01668D2FC18}"/>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24</a:t>
            </a:r>
            <a:endParaRPr/>
          </a:p>
        </p:txBody>
      </p:sp>
    </p:spTree>
    <p:extLst>
      <p:ext uri="{BB962C8B-B14F-4D97-AF65-F5344CB8AC3E}">
        <p14:creationId xmlns:p14="http://schemas.microsoft.com/office/powerpoint/2010/main" val="2100046817"/>
      </p:ext>
    </p:extLst>
  </p:cSld>
</p:sld>
</file>

<file path=ppt/slides/slide25.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DCEC41C8-A3E6-4FB5-9DF1-9BBFE6CDA650}"/>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8EDB7823-297E-41E1-B573-9E098531A3B1}"/>
              </a:ext>
            </a:extLst>
          </p:cNvPr>
          <p:cNvSpPr>
            <a:spLocks xmlns:a="http://schemas.openxmlformats.org/drawingml/2006/main" noGrp="1"/>
          </p:cNvSpPr>
          <p:nvPr/>
        </p:nvSpPr>
        <p:spPr>
          <a:xfrm xmlns:a="http://schemas.openxmlformats.org/drawingml/2006/main">
            <a:off x="457200" y="365760"/>
            <a:ext cx="10974959" cy="4880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4: avanzado (9 puntos), variantes 1–5</a:t>
            </a:r>
            <a:endParaRPr/>
          </a:p>
        </p:txBody>
      </p:sp>
      <p:graphicFrame>
        <p:nvGraphicFramePr>
          <p:cNvPr id="18" name="Table 3"/>
          <p:cNvGraphicFramePr/>
          <p:nvPr/>
        </p:nvGraphicFramePr>
        <p:xfrm>
          <a:off xmlns:a="http://schemas.openxmlformats.org/drawingml/2006/main" x="457200" y="914400"/>
          <a:ext xmlns:a="http://schemas.openxmlformats.org/drawingml/2006/main" cx="11247120" cy="1755648"/>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548640"/>
                <a:gridCol w="2743200"/>
                <a:gridCol w="1828800"/>
                <a:gridCol w="1371600"/>
                <a:gridCol w="4754880"/>
              </a:tblGrid>
              <a:tr h="292608">
                <a:tc>
                  <a:txBody>
                    <a:bodyPr/>
                    <a:lstStyle/>
                    <a:p>
                      <a:pPr>
                        <a:buNone/>
                      </a:pPr>
                      <a:r>
                        <a:rPr sz="1100" b="1">
                          <a:solidFill>
                            <a:srgbClr val="00D9FF"/>
                          </a:solidFill>
                          <a:latin typeface="Calibri"/>
                          <a:ea typeface="Calibri"/>
                          <a:cs typeface="Calibri"/>
                        </a:rPr>
                        <a:t>N.º</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Conjunto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Tamaño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Objetivo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Particularidad</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4.1</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House Prices Advanced</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1,4 mil ×79</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SalePrice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43 categ., VIF, Target enc.</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4.2</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NYC Airbnb</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49 mil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price</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Ingeniería geográfica, KMeans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4.3</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Bike Sharing Hourly</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17,4 mil</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cnt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Ing. temporal: sin/cos</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4.4</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Online News Popularity</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39,6 mil ×61</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shares</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TF-IDF, 60 características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4.5</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Facebook Comments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4 M→300 mil ×54</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Target_Comment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Streaming, muestreo</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2111F804-E0E8-4C0F-9742-63B2351A9E35}"/>
              </a:ext>
            </a:extLst>
          </p:cNvPr>
          <p:cNvSpPr>
            <a:spLocks xmlns:a="http://schemas.openxmlformats.org/drawingml/2006/main" noGrp="1"/>
          </p:cNvSpPr>
          <p:nvPr/>
        </p:nvSpPr>
        <p:spPr>
          <a:xfrm xmlns:a="http://schemas.openxmlformats.org/drawingml/2006/main">
            <a:off x="457200" y="3200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A000"/>
                </a:solidFill>
                <a:latin typeface="Calibri"/>
                <a:ea typeface="Calibri"/>
                <a:cs typeface="Calibri"/>
              </a:defRPr>
            </a:pPr>
            <a:r>
              <a:t>Elementos añadidos en el nivel 4:</a:t>
            </a:r>
            <a:endParaRPr/>
          </a:p>
        </p:txBody>
      </p:sp>
      <p:sp>
        <p:nvSpPr>
          <p:cNvPr id="6" name="TextBox 5">
            <a:extLst xmlns:a="http://schemas.openxmlformats.org/drawingml/2006/main">
              <a:ext uri="{FF2B5EF4-FFF2-40B4-BE49-F238E27FC236}">
                <a16:creationId xmlns:a16="http://schemas.microsoft.com/office/drawing/2014/main" id="{69C680E3-3303-4B2C-B6FA-C8A8F26AC4C0}"/>
              </a:ext>
            </a:extLst>
          </p:cNvPr>
          <p:cNvSpPr>
            <a:spLocks xmlns:a="http://schemas.openxmlformats.org/drawingml/2006/main" noGrp="1"/>
          </p:cNvSpPr>
          <p:nvPr/>
        </p:nvSpPr>
        <p:spPr>
          <a:xfrm xmlns:a="http://schemas.openxmlformats.org/drawingml/2006/main">
            <a:off x="457200" y="3566160"/>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API Lazy + .explain(): análisis del plan de consulta</a:t>
            </a:r>
            <a:endParaRPr/>
          </a:p>
        </p:txBody>
      </p:sp>
      <p:sp>
        <p:nvSpPr>
          <p:cNvPr id="7" name="TextBox 6">
            <a:extLst xmlns:a="http://schemas.openxmlformats.org/drawingml/2006/main">
              <a:ext uri="{FF2B5EF4-FFF2-40B4-BE49-F238E27FC236}">
                <a16:creationId xmlns:a16="http://schemas.microsoft.com/office/drawing/2014/main" id="{7E2FAF97-764D-4C8F-9947-0BBDBDBBB2FC}"/>
              </a:ext>
            </a:extLst>
          </p:cNvPr>
          <p:cNvSpPr>
            <a:spLocks xmlns:a="http://schemas.openxmlformats.org/drawingml/2006/main" noGrp="1"/>
          </p:cNvSpPr>
          <p:nvPr/>
        </p:nvSpPr>
        <p:spPr>
          <a:xfrm xmlns:a="http://schemas.openxmlformats.org/drawingml/2006/main">
            <a:off x="457200" y="3858768"/>
            <a:ext cx="10974959" cy="27467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Modelos (+ElasticNet, SVR, XGBoost/LightGBM/CatBoost)</a:t>
            </a:r>
            <a:endParaRPr/>
          </a:p>
        </p:txBody>
      </p:sp>
      <p:sp>
        <p:nvSpPr>
          <p:cNvPr id="8" name="TextBox 7">
            <a:extLst xmlns:a="http://schemas.openxmlformats.org/drawingml/2006/main">
              <a:ext uri="{FF2B5EF4-FFF2-40B4-BE49-F238E27FC236}">
                <a16:creationId xmlns:a16="http://schemas.microsoft.com/office/drawing/2014/main" id="{BFCE2B43-71E3-4D0F-9E4C-4C4DD57E24AC}"/>
              </a:ext>
            </a:extLst>
          </p:cNvPr>
          <p:cNvSpPr>
            <a:spLocks xmlns:a="http://schemas.openxmlformats.org/drawingml/2006/main" noGrp="1"/>
          </p:cNvSpPr>
          <p:nvPr/>
        </p:nvSpPr>
        <p:spPr>
          <a:xfrm xmlns:a="http://schemas.openxmlformats.org/drawingml/2006/main">
            <a:off x="457200" y="4151376"/>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- 3 métodos de codificación (One-Hot, Target, Hash/Frequency)</a:t>
            </a:r>
            <a:endParaRPr/>
          </a:p>
        </p:txBody>
      </p:sp>
      <p:sp>
        <p:nvSpPr>
          <p:cNvPr id="9" name="TextBox 8">
            <a:extLst xmlns:a="http://schemas.openxmlformats.org/drawingml/2006/main">
              <a:ext uri="{FF2B5EF4-FFF2-40B4-BE49-F238E27FC236}">
                <a16:creationId xmlns:a16="http://schemas.microsoft.com/office/drawing/2014/main" id="{96B8FE35-F74F-4683-AC36-1B169AC9430D}"/>
              </a:ext>
            </a:extLst>
          </p:cNvPr>
          <p:cNvSpPr>
            <a:spLocks xmlns:a="http://schemas.openxmlformats.org/drawingml/2006/main" noGrp="1"/>
          </p:cNvSpPr>
          <p:nvPr/>
        </p:nvSpPr>
        <p:spPr>
          <a:xfrm xmlns:a="http://schemas.openxmlformats.org/drawingml/2006/main">
            <a:off x="457200" y="4443983"/>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VIF &gt; 10 → eliminar + RFE/SelectKBest</a:t>
            </a:r>
            <a:endParaRPr/>
          </a:p>
        </p:txBody>
      </p:sp>
      <p:sp>
        <p:nvSpPr>
          <p:cNvPr id="10" name="TextBox 9">
            <a:extLst xmlns:a="http://schemas.openxmlformats.org/drawingml/2006/main">
              <a:ext uri="{FF2B5EF4-FFF2-40B4-BE49-F238E27FC236}">
                <a16:creationId xmlns:a16="http://schemas.microsoft.com/office/drawing/2014/main" id="{A810F469-9761-4634-AE30-5E8FA91EF2B4}"/>
              </a:ext>
            </a:extLst>
          </p:cNvPr>
          <p:cNvSpPr>
            <a:spLocks xmlns:a="http://schemas.openxmlformats.org/drawingml/2006/main" noGrp="1"/>
          </p:cNvSpPr>
          <p:nvPr/>
        </p:nvSpPr>
        <p:spPr>
          <a:xfrm xmlns:a="http://schemas.openxmlformats.org/drawingml/2006/main">
            <a:off x="457200" y="4736592"/>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Más de 50 pruebas de Optuna (TPE) + SHAP summary/dependence</a:t>
            </a:r>
            <a:endParaRPr/>
          </a:p>
        </p:txBody>
      </p:sp>
      <p:sp>
        <p:nvSpPr>
          <p:cNvPr id="11" name="TextBox 10">
            <a:extLst xmlns:a="http://schemas.openxmlformats.org/drawingml/2006/main">
              <a:ext uri="{FF2B5EF4-FFF2-40B4-BE49-F238E27FC236}">
                <a16:creationId xmlns:a16="http://schemas.microsoft.com/office/drawing/2014/main" id="{85420631-2C7E-43B7-82D3-D818C85DCF49}"/>
              </a:ext>
            </a:extLst>
          </p:cNvPr>
          <p:cNvSpPr>
            <a:spLocks xmlns:a="http://schemas.openxmlformats.org/drawingml/2006/main" noGrp="1"/>
          </p:cNvSpPr>
          <p:nvPr/>
        </p:nvSpPr>
        <p:spPr>
          <a:xfrm xmlns:a="http://schemas.openxmlformats.org/drawingml/2006/main">
            <a:off x="457200" y="5029200"/>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Gráfico Q-Q + Shapiro-Wilk + Breusch-Pagan + Durbin-Watson</a:t>
            </a:r>
            <a:endParaRPr/>
          </a:p>
        </p:txBody>
      </p:sp>
      <p:sp>
        <p:nvSpPr>
          <p:cNvPr id="12" name="TextBox 11">
            <a:extLst xmlns:a="http://schemas.openxmlformats.org/drawingml/2006/main">
              <a:ext uri="{FF2B5EF4-FFF2-40B4-BE49-F238E27FC236}">
                <a16:creationId xmlns:a16="http://schemas.microsoft.com/office/drawing/2014/main" id="{FD9ECFD8-1D8A-4E17-840A-49D96F734264}"/>
              </a:ext>
            </a:extLst>
          </p:cNvPr>
          <p:cNvSpPr>
            <a:spLocks xmlns:a="http://schemas.openxmlformats.org/drawingml/2006/main" noGrp="1"/>
          </p:cNvSpPr>
          <p:nvPr/>
        </p:nvSpPr>
        <p:spPr>
          <a:xfrm xmlns:a="http://schemas.openxmlformats.org/drawingml/2006/main">
            <a:off x="457200" y="5321808"/>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TF-IDF para columnas de texto + SQL con DuckDB</a:t>
            </a:r>
            <a:endParaRPr/>
          </a:p>
        </p:txBody>
      </p:sp>
      <p:sp>
        <p:nvSpPr>
          <p:cNvPr id="13" name="TextBox 12">
            <a:extLst xmlns:a="http://schemas.openxmlformats.org/drawingml/2006/main">
              <a:ext uri="{FF2B5EF4-FFF2-40B4-BE49-F238E27FC236}">
                <a16:creationId xmlns:a16="http://schemas.microsoft.com/office/drawing/2014/main" id="{199ABDDA-DE24-45A7-9849-A9A93F6846E6}"/>
              </a:ext>
            </a:extLst>
          </p:cNvPr>
          <p:cNvSpPr>
            <a:spLocks xmlns:a="http://schemas.openxmlformats.org/drawingml/2006/main" noGrp="1"/>
          </p:cNvSpPr>
          <p:nvPr/>
        </p:nvSpPr>
        <p:spPr>
          <a:xfrm xmlns:a="http://schemas.openxmlformats.org/drawingml/2006/main">
            <a:off x="457200" y="5614416"/>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Curvas de aprendizaje + comparativa Polars vs. pandas</a:t>
            </a:r>
            <a:endParaRPr/>
          </a:p>
        </p:txBody>
      </p:sp>
      <p:sp>
        <p:nvSpPr>
          <p:cNvPr id="14" name="TextBox 13">
            <a:extLst xmlns:a="http://schemas.openxmlformats.org/drawingml/2006/main">
              <a:ext uri="{FF2B5EF4-FFF2-40B4-BE49-F238E27FC236}">
                <a16:creationId xmlns:a16="http://schemas.microsoft.com/office/drawing/2014/main" id="{1E5604E2-C0C2-4CC2-89DA-635AB7776A16}"/>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25</a:t>
            </a:r>
            <a:endParaRPr/>
          </a:p>
        </p:txBody>
      </p:sp>
    </p:spTree>
    <p:extLst>
      <p:ext uri="{BB962C8B-B14F-4D97-AF65-F5344CB8AC3E}">
        <p14:creationId xmlns:p14="http://schemas.microsoft.com/office/powerpoint/2010/main" val="1018380765"/>
      </p:ext>
    </p:extLst>
  </p:cSld>
</p:sld>
</file>

<file path=ppt/slides/slide26.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232A45D-E8FB-4716-A137-48EF321709F0}"/>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5D4CCD0F-5D3A-4724-ADB9-FF17742DCF38}"/>
              </a:ext>
            </a:extLst>
          </p:cNvPr>
          <p:cNvSpPr>
            <a:spLocks xmlns:a="http://schemas.openxmlformats.org/drawingml/2006/main" noGrp="1"/>
          </p:cNvSpPr>
          <p:nvPr/>
        </p:nvSpPr>
        <p:spPr>
          <a:xfrm xmlns:a="http://schemas.openxmlformats.org/drawingml/2006/main">
            <a:off x="457200" y="365760"/>
            <a:ext cx="10974959" cy="4880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4: avanzado (9 puntos), variantes 6–10</a:t>
            </a:r>
            <a:endParaRPr/>
          </a:p>
        </p:txBody>
      </p:sp>
      <p:graphicFrame>
        <p:nvGraphicFramePr>
          <p:cNvPr id="15" name="Table 3"/>
          <p:cNvGraphicFramePr/>
          <p:nvPr/>
        </p:nvGraphicFramePr>
        <p:xfrm>
          <a:off xmlns:a="http://schemas.openxmlformats.org/drawingml/2006/main" x="457200" y="914400"/>
          <a:ext xmlns:a="http://schemas.openxmlformats.org/drawingml/2006/main" cx="11247120" cy="1755648"/>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548640"/>
                <a:gridCol w="2743200"/>
                <a:gridCol w="1828800"/>
                <a:gridCol w="1371600"/>
                <a:gridCol w="4754880"/>
              </a:tblGrid>
              <a:tr h="292608">
                <a:tc>
                  <a:txBody>
                    <a:bodyPr/>
                    <a:lstStyle/>
                    <a:p>
                      <a:pPr>
                        <a:buNone/>
                      </a:pPr>
                      <a:r>
                        <a:rPr sz="1100" b="1">
                          <a:solidFill>
                            <a:srgbClr val="00D9FF"/>
                          </a:solidFill>
                          <a:latin typeface="Calibri"/>
                          <a:ea typeface="Calibri"/>
                          <a:cs typeface="Calibri"/>
                        </a:rPr>
                        <a:t>N.º</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Conjunto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Tamaño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Objetivo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Particularidad</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4.6</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Superconductivity</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21,3 mil ×82</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critical_temp</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81 numéricas, RFE top-20</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4.7</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Wine Quality R+W</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6,5 mil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quality</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Combinar 2 conjuntos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4.8</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Energy Efficiency</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768</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Y1</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Polinomios de grado 2</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4.9</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Song Popularity</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58 mil→30 mil ×91</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year</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PCA a 30; 90 características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4.10</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NYC Taxi Fare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55 M→300 mil ×8</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fare_amount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Streaming + Haversine</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6CF70152-CC06-4852-9A46-2BB81E154275}"/>
              </a:ext>
            </a:extLst>
          </p:cNvPr>
          <p:cNvSpPr>
            <a:spLocks xmlns:a="http://schemas.openxmlformats.org/drawingml/2006/main" noGrp="1"/>
          </p:cNvSpPr>
          <p:nvPr/>
        </p:nvSpPr>
        <p:spPr>
          <a:xfrm xmlns:a="http://schemas.openxmlformats.org/drawingml/2006/main">
            <a:off x="457200" y="3200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Código: API Lazy + VIF</a:t>
            </a:r>
            <a:endParaRPr/>
          </a:p>
        </p:txBody>
      </p:sp>
      <p:sp>
        <p:nvSpPr>
          <p:cNvPr id="6" name="Rectangle 5">
            <a:extLst xmlns:a="http://schemas.openxmlformats.org/drawingml/2006/main">
              <a:ext uri="{FF2B5EF4-FFF2-40B4-BE49-F238E27FC236}">
                <a16:creationId xmlns:a16="http://schemas.microsoft.com/office/drawing/2014/main" id="{33E9DA24-503B-418B-B75D-2C19EF6F9A0B}"/>
              </a:ext>
            </a:extLst>
          </p:cNvPr>
          <p:cNvSpPr>
            <a:spLocks xmlns:a="http://schemas.openxmlformats.org/drawingml/2006/main" noGrp="1"/>
          </p:cNvSpPr>
          <p:nvPr/>
        </p:nvSpPr>
        <p:spPr>
          <a:xfrm xmlns:a="http://schemas.openxmlformats.org/drawingml/2006/main">
            <a:off x="457200" y="3566160"/>
            <a:ext cx="5486400" cy="25603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82A41E4-6D3F-400D-933F-A3FC3D315A88}"/>
              </a:ext>
            </a:extLst>
          </p:cNvPr>
          <p:cNvSpPr>
            <a:spLocks xmlns:a="http://schemas.openxmlformats.org/drawingml/2006/main" noGrp="1"/>
          </p:cNvSpPr>
          <p:nvPr/>
        </p:nvSpPr>
        <p:spPr>
          <a:xfrm xmlns:a="http://schemas.openxmlformats.org/drawingml/2006/main">
            <a:off x="530352" y="3602735"/>
            <a:ext cx="5340096" cy="24871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80FF80"/>
                </a:solidFill>
                <a:latin typeface="Consolas"/>
                <a:ea typeface="Consolas"/>
                <a:cs typeface="Consolas"/>
              </a:defRPr>
            </a:pPr>
            <a:r>
              <a:t># API Lazy con optimización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lazy = pl.scan_csv('train.csv')</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.filter(pl.col('SalePrice') &gt; 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.with_columns(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pl.col('GrLivArea').log()</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.alias('log_area'))</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print(lazy.explain())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df = lazy.collect()</a:t>
            </a:r>
            <a:endParaRPr/>
          </a:p>
        </p:txBody>
      </p:sp>
      <p:sp>
        <p:nvSpPr>
          <p:cNvPr id="8" name="TextBox 7">
            <a:extLst xmlns:a="http://schemas.openxmlformats.org/drawingml/2006/main">
              <a:ext uri="{FF2B5EF4-FFF2-40B4-BE49-F238E27FC236}">
                <a16:creationId xmlns:a16="http://schemas.microsoft.com/office/drawing/2014/main" id="{6F738F5B-5175-459C-AE13-D53E51E511AE}"/>
              </a:ext>
            </a:extLst>
          </p:cNvPr>
          <p:cNvSpPr>
            <a:spLocks xmlns:a="http://schemas.openxmlformats.org/drawingml/2006/main" noGrp="1"/>
          </p:cNvSpPr>
          <p:nvPr/>
        </p:nvSpPr>
        <p:spPr>
          <a:xfrm xmlns:a="http://schemas.openxmlformats.org/drawingml/2006/main">
            <a:off x="6217920" y="3200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Código: Optuna + SHAP</a:t>
            </a:r>
            <a:endParaRPr/>
          </a:p>
        </p:txBody>
      </p:sp>
      <p:sp>
        <p:nvSpPr>
          <p:cNvPr id="9" name="Rectangle 8">
            <a:extLst xmlns:a="http://schemas.openxmlformats.org/drawingml/2006/main">
              <a:ext uri="{FF2B5EF4-FFF2-40B4-BE49-F238E27FC236}">
                <a16:creationId xmlns:a16="http://schemas.microsoft.com/office/drawing/2014/main" id="{42324F2D-47E9-426F-A2D6-7B9BD04F2CF7}"/>
              </a:ext>
            </a:extLst>
          </p:cNvPr>
          <p:cNvSpPr>
            <a:spLocks xmlns:a="http://schemas.openxmlformats.org/drawingml/2006/main" noGrp="1"/>
          </p:cNvSpPr>
          <p:nvPr/>
        </p:nvSpPr>
        <p:spPr>
          <a:xfrm xmlns:a="http://schemas.openxmlformats.org/drawingml/2006/main">
            <a:off x="6217920" y="3566160"/>
            <a:ext cx="5486400" cy="256032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426583FC-178E-4A97-9C41-D02DDB2A99E1}"/>
              </a:ext>
            </a:extLst>
          </p:cNvPr>
          <p:cNvSpPr>
            <a:spLocks xmlns:a="http://schemas.openxmlformats.org/drawingml/2006/main" noGrp="1"/>
          </p:cNvSpPr>
          <p:nvPr/>
        </p:nvSpPr>
        <p:spPr>
          <a:xfrm xmlns:a="http://schemas.openxmlformats.org/drawingml/2006/main">
            <a:off x="6291072" y="3602735"/>
            <a:ext cx="5340096" cy="248716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study = optuna.create_study(</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direction='minimize',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sampler=optuna.samplers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.TPESampler())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study.optimize(objective,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n_trials=50)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explainer = shap.TreeExplainer(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xgb_model)</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shap.summary_plot(explainer(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X_test[:5000]))</a:t>
            </a:r>
            <a:endParaRPr/>
          </a:p>
        </p:txBody>
      </p:sp>
      <p:sp>
        <p:nvSpPr>
          <p:cNvPr id="11" name="TextBox 10">
            <a:extLst xmlns:a="http://schemas.openxmlformats.org/drawingml/2006/main">
              <a:ext uri="{FF2B5EF4-FFF2-40B4-BE49-F238E27FC236}">
                <a16:creationId xmlns:a16="http://schemas.microsoft.com/office/drawing/2014/main" id="{FC9E8655-4401-4FE5-82B3-35FBB366C40D}"/>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26</a:t>
            </a:r>
            <a:endParaRPr/>
          </a:p>
        </p:txBody>
      </p:sp>
    </p:spTree>
    <p:extLst>
      <p:ext uri="{BB962C8B-B14F-4D97-AF65-F5344CB8AC3E}">
        <p14:creationId xmlns:p14="http://schemas.microsoft.com/office/powerpoint/2010/main" val="2009316971"/>
      </p:ext>
    </p:extLst>
  </p:cSld>
</p:sld>
</file>

<file path=ppt/slides/slide27.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42EF3543-0596-4A3D-8401-F9922913CE31}"/>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22F69C1E-9E6C-4481-8E7F-C4D35E4EEB54}"/>
              </a:ext>
            </a:extLst>
          </p:cNvPr>
          <p:cNvSpPr>
            <a:spLocks xmlns:a="http://schemas.openxmlformats.org/drawingml/2006/main" noGrp="1"/>
          </p:cNvSpPr>
          <p:nvPr/>
        </p:nvSpPr>
        <p:spPr>
          <a:xfrm xmlns:a="http://schemas.openxmlformats.org/drawingml/2006/main">
            <a:off x="457200" y="365760"/>
            <a:ext cx="10973520" cy="4880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5: excelente (12 puntos), variantes 1–4</a:t>
            </a:r>
            <a:endParaRPr/>
          </a:p>
        </p:txBody>
      </p:sp>
      <p:graphicFrame>
        <p:nvGraphicFramePr>
          <p:cNvPr id="19" name="Table 3"/>
          <p:cNvGraphicFramePr/>
          <p:nvPr/>
        </p:nvGraphicFramePr>
        <p:xfrm>
          <a:off xmlns:a="http://schemas.openxmlformats.org/drawingml/2006/main" x="457200" y="914400"/>
          <a:ext xmlns:a="http://schemas.openxmlformats.org/drawingml/2006/main" cx="11247120" cy="1463040"/>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548640"/>
                <a:gridCol w="2743200"/>
                <a:gridCol w="1828800"/>
                <a:gridCol w="1828800"/>
                <a:gridCol w="4297680"/>
              </a:tblGrid>
              <a:tr h="292608">
                <a:tc>
                  <a:txBody>
                    <a:bodyPr/>
                    <a:lstStyle/>
                    <a:p>
                      <a:pPr>
                        <a:buNone/>
                      </a:pPr>
                      <a:r>
                        <a:rPr sz="1100" b="1">
                          <a:solidFill>
                            <a:srgbClr val="00D9FF"/>
                          </a:solidFill>
                          <a:latin typeface="Calibri"/>
                          <a:ea typeface="Calibri"/>
                          <a:cs typeface="Calibri"/>
                        </a:rPr>
                        <a:t>N.º</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Conjunto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Tamaño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Objetivo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Particularidad</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5.1</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Mercari Price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1,4 M</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price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SBERT, conformal, causal, GPU</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5.2</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Avito Demand</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1,5 M</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deal_probability</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SBERT, DuckDB, calibración</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5.3</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Zillow Home Value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3 M</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logerror</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Streaming obligatorio, Parquet</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5.4</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Sberbank Housing</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30 mil ×291</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price_doc</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VIF+PCA+RFE, SBERT</a:t>
                      </a:r>
                      <a:endParaRPr/>
                    </a:p>
                  </a:txBody>
                  <a:tcPr marL="91440" marR="91440" marT="45720" marB="45720">
                    <a:solidFill>
                      <a:srgbClr val="2A2A44"/>
                    </a:solidFill>
                  </a:tcPr>
                </a:tc>
              </a:tr>
            </a:tbl>
          </a:graphicData>
        </a:graphic>
      </p:graphicFrame>
      <p:sp>
        <p:nvSpPr>
          <p:cNvPr id="5" name="TextBox 4">
            <a:extLst xmlns:a="http://schemas.openxmlformats.org/drawingml/2006/main">
              <a:ext uri="{FF2B5EF4-FFF2-40B4-BE49-F238E27FC236}">
                <a16:creationId xmlns:a16="http://schemas.microsoft.com/office/drawing/2014/main" id="{56E65290-4B5C-430B-85E6-35C779C3CFB7}"/>
              </a:ext>
            </a:extLst>
          </p:cNvPr>
          <p:cNvSpPr>
            <a:spLocks xmlns:a="http://schemas.openxmlformats.org/drawingml/2006/main" noGrp="1"/>
          </p:cNvSpPr>
          <p:nvPr/>
        </p:nvSpPr>
        <p:spPr>
          <a:xfrm xmlns:a="http://schemas.openxmlformats.org/drawingml/2006/main">
            <a:off x="457200" y="2743200"/>
            <a:ext cx="10973160" cy="30515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5555"/>
                </a:solidFill>
                <a:latin typeface="Calibri"/>
                <a:ea typeface="Calibri"/>
                <a:cs typeface="Calibri"/>
              </a:defRPr>
            </a:pPr>
            <a:r>
              <a:t>Elementos añadidos en el nivel 5:</a:t>
            </a:r>
            <a:endParaRPr/>
          </a:p>
        </p:txBody>
      </p:sp>
      <p:sp>
        <p:nvSpPr>
          <p:cNvPr id="6" name="TextBox 5">
            <a:extLst xmlns:a="http://schemas.openxmlformats.org/drawingml/2006/main">
              <a:ext uri="{FF2B5EF4-FFF2-40B4-BE49-F238E27FC236}">
                <a16:creationId xmlns:a16="http://schemas.microsoft.com/office/drawing/2014/main" id="{53DE3846-C6C1-4F98-9A9E-B3E2D691D160}"/>
              </a:ext>
            </a:extLst>
          </p:cNvPr>
          <p:cNvSpPr>
            <a:spLocks xmlns:a="http://schemas.openxmlformats.org/drawingml/2006/main" noGrp="1"/>
          </p:cNvSpPr>
          <p:nvPr/>
        </p:nvSpPr>
        <p:spPr>
          <a:xfrm xmlns:a="http://schemas.openxmlformats.org/drawingml/2006/main">
            <a:off x="457200" y="3108960"/>
            <a:ext cx="10974599" cy="27467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Modelos (+Quantile, RANSAC, red PyTorch, Stacking, CatBoost, LightGBM)</a:t>
            </a:r>
            <a:endParaRPr/>
          </a:p>
        </p:txBody>
      </p:sp>
      <p:sp>
        <p:nvSpPr>
          <p:cNvPr id="7" name="TextBox 6">
            <a:extLst xmlns:a="http://schemas.openxmlformats.org/drawingml/2006/main">
              <a:ext uri="{FF2B5EF4-FFF2-40B4-BE49-F238E27FC236}">
                <a16:creationId xmlns:a16="http://schemas.microsoft.com/office/drawing/2014/main" id="{41CDBBFA-7520-44CF-8657-EE6F79945759}"/>
              </a:ext>
            </a:extLst>
          </p:cNvPr>
          <p:cNvSpPr>
            <a:spLocks xmlns:a="http://schemas.openxmlformats.org/drawingml/2006/main" noGrp="1"/>
          </p:cNvSpPr>
          <p:nvPr/>
        </p:nvSpPr>
        <p:spPr>
          <a:xfrm xmlns:a="http://schemas.openxmlformats.org/drawingml/2006/main">
            <a:off x="457200" y="3401568"/>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Embeddings SBERT → PCA 32 (alternativa: TF-IDF)</a:t>
            </a:r>
            <a:endParaRPr/>
          </a:p>
        </p:txBody>
      </p:sp>
      <p:sp>
        <p:nvSpPr>
          <p:cNvPr id="8" name="TextBox 7">
            <a:extLst xmlns:a="http://schemas.openxmlformats.org/drawingml/2006/main">
              <a:ext uri="{FF2B5EF4-FFF2-40B4-BE49-F238E27FC236}">
                <a16:creationId xmlns:a16="http://schemas.microsoft.com/office/drawing/2014/main" id="{83D5B449-CA7C-4389-8DB8-2FE52A140FEE}"/>
              </a:ext>
            </a:extLst>
          </p:cNvPr>
          <p:cNvSpPr>
            <a:spLocks xmlns:a="http://schemas.openxmlformats.org/drawingml/2006/main" noGrp="1"/>
          </p:cNvSpPr>
          <p:nvPr/>
        </p:nvSpPr>
        <p:spPr>
          <a:xfrm xmlns:a="http://schemas.openxmlformats.org/drawingml/2006/main">
            <a:off x="457200" y="3694176"/>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Codificación CatBoost / embeddings de entidades</a:t>
            </a:r>
            <a:endParaRPr/>
          </a:p>
        </p:txBody>
      </p:sp>
      <p:sp>
        <p:nvSpPr>
          <p:cNvPr id="9" name="TextBox 8">
            <a:extLst xmlns:a="http://schemas.openxmlformats.org/drawingml/2006/main">
              <a:ext uri="{FF2B5EF4-FFF2-40B4-BE49-F238E27FC236}">
                <a16:creationId xmlns:a16="http://schemas.microsoft.com/office/drawing/2014/main" id="{7C0EE2F7-D066-4809-95EE-565200BCA0CC}"/>
              </a:ext>
            </a:extLst>
          </p:cNvPr>
          <p:cNvSpPr>
            <a:spLocks xmlns:a="http://schemas.openxmlformats.org/drawingml/2006/main" noGrp="1"/>
          </p:cNvSpPr>
          <p:nvPr/>
        </p:nvSpPr>
        <p:spPr>
          <a:xfrm xmlns:a="http://schemas.openxmlformats.org/drawingml/2006/main">
            <a:off x="457200" y="3986783"/>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Más de 200 pruebas de Optuna con poda e importancia de parámetros</a:t>
            </a:r>
            <a:endParaRPr/>
          </a:p>
        </p:txBody>
      </p:sp>
      <p:sp>
        <p:nvSpPr>
          <p:cNvPr id="10" name="TextBox 9">
            <a:extLst xmlns:a="http://schemas.openxmlformats.org/drawingml/2006/main">
              <a:ext uri="{FF2B5EF4-FFF2-40B4-BE49-F238E27FC236}">
                <a16:creationId xmlns:a16="http://schemas.microsoft.com/office/drawing/2014/main" id="{E93EC83B-A5F8-4D15-AB42-A5018DD1340A}"/>
              </a:ext>
            </a:extLst>
          </p:cNvPr>
          <p:cNvSpPr>
            <a:spLocks xmlns:a="http://schemas.openxmlformats.org/drawingml/2006/main" noGrp="1"/>
          </p:cNvSpPr>
          <p:nvPr/>
        </p:nvSpPr>
        <p:spPr>
          <a:xfrm xmlns:a="http://schemas.openxmlformats.org/drawingml/2006/main">
            <a:off x="457200" y="4279392"/>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SHAP + Permutation + PDP/ICE para las 5 principales</a:t>
            </a:r>
            <a:endParaRPr/>
          </a:p>
        </p:txBody>
      </p:sp>
      <p:sp>
        <p:nvSpPr>
          <p:cNvPr id="11" name="TextBox 10">
            <a:extLst xmlns:a="http://schemas.openxmlformats.org/drawingml/2006/main">
              <a:ext uri="{FF2B5EF4-FFF2-40B4-BE49-F238E27FC236}">
                <a16:creationId xmlns:a16="http://schemas.microsoft.com/office/drawing/2014/main" id="{475E0908-D752-41CD-BCD5-BE20CE7DA601}"/>
              </a:ext>
            </a:extLst>
          </p:cNvPr>
          <p:cNvSpPr>
            <a:spLocks xmlns:a="http://schemas.openxmlformats.org/drawingml/2006/main" noGrp="1"/>
          </p:cNvSpPr>
          <p:nvPr/>
        </p:nvSpPr>
        <p:spPr>
          <a:xfrm xmlns:a="http://schemas.openxmlformats.org/drawingml/2006/main">
            <a:off x="457200" y="4572000"/>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Predicción conformal (90 % de cobertura)</a:t>
            </a:r>
            <a:endParaRPr/>
          </a:p>
        </p:txBody>
      </p:sp>
      <p:sp>
        <p:nvSpPr>
          <p:cNvPr id="12" name="TextBox 11">
            <a:extLst xmlns:a="http://schemas.openxmlformats.org/drawingml/2006/main">
              <a:ext uri="{FF2B5EF4-FFF2-40B4-BE49-F238E27FC236}">
                <a16:creationId xmlns:a16="http://schemas.microsoft.com/office/drawing/2014/main" id="{630E10CD-B8B5-406D-A5A4-C926320265BA}"/>
              </a:ext>
            </a:extLst>
          </p:cNvPr>
          <p:cNvSpPr>
            <a:spLocks xmlns:a="http://schemas.openxmlformats.org/drawingml/2006/main" noGrp="1"/>
          </p:cNvSpPr>
          <p:nvPr/>
        </p:nvSpPr>
        <p:spPr>
          <a:xfrm xmlns:a="http://schemas.openxmlformats.org/drawingml/2006/main">
            <a:off x="457200" y="4864607"/>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Inferencia causal (DoWhy, ATE, refutación)</a:t>
            </a:r>
            <a:endParaRPr/>
          </a:p>
        </p:txBody>
      </p:sp>
      <p:sp>
        <p:nvSpPr>
          <p:cNvPr id="13" name="TextBox 12">
            <a:extLst xmlns:a="http://schemas.openxmlformats.org/drawingml/2006/main">
              <a:ext uri="{FF2B5EF4-FFF2-40B4-BE49-F238E27FC236}">
                <a16:creationId xmlns:a16="http://schemas.microsoft.com/office/drawing/2014/main" id="{36918070-DE7A-4A39-A326-8D7E16D1F081}"/>
              </a:ext>
            </a:extLst>
          </p:cNvPr>
          <p:cNvSpPr>
            <a:spLocks xmlns:a="http://schemas.openxmlformats.org/drawingml/2006/main" noGrp="1"/>
          </p:cNvSpPr>
          <p:nvPr/>
        </p:nvSpPr>
        <p:spPr>
          <a:xfrm xmlns:a="http://schemas.openxmlformats.org/drawingml/2006/main">
            <a:off x="457200" y="5157216"/>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Calibración (isotónica/temperatura) + robustez (7+6 niveles)</a:t>
            </a:r>
            <a:endParaRPr/>
          </a:p>
        </p:txBody>
      </p:sp>
      <p:sp>
        <p:nvSpPr>
          <p:cNvPr id="14" name="TextBox 13">
            <a:extLst xmlns:a="http://schemas.openxmlformats.org/drawingml/2006/main">
              <a:ext uri="{FF2B5EF4-FFF2-40B4-BE49-F238E27FC236}">
                <a16:creationId xmlns:a16="http://schemas.microsoft.com/office/drawing/2014/main" id="{B0ED0AC6-27A5-42B0-8F25-F4E618797ECE}"/>
              </a:ext>
            </a:extLst>
          </p:cNvPr>
          <p:cNvSpPr>
            <a:spLocks xmlns:a="http://schemas.openxmlformats.org/drawingml/2006/main" noGrp="1"/>
          </p:cNvSpPr>
          <p:nvPr/>
        </p:nvSpPr>
        <p:spPr>
          <a:xfrm xmlns:a="http://schemas.openxmlformats.org/drawingml/2006/main">
            <a:off x="457200" y="5449823"/>
            <a:ext cx="109728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 Pipeline + ColumnTransformer + GPU + Streaming + Parquet + DuckDB (3 consultas SQL)</a:t>
            </a:r>
            <a:endParaRPr/>
          </a:p>
        </p:txBody>
      </p:sp>
      <p:sp>
        <p:nvSpPr>
          <p:cNvPr id="15" name="TextBox 14">
            <a:extLst xmlns:a="http://schemas.openxmlformats.org/drawingml/2006/main">
              <a:ext uri="{FF2B5EF4-FFF2-40B4-BE49-F238E27FC236}">
                <a16:creationId xmlns:a16="http://schemas.microsoft.com/office/drawing/2014/main" id="{46EEE85C-DFF9-474A-8CA5-399787BE5809}"/>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27</a:t>
            </a:r>
            <a:endParaRPr/>
          </a:p>
        </p:txBody>
      </p:sp>
    </p:spTree>
    <p:extLst>
      <p:ext uri="{BB962C8B-B14F-4D97-AF65-F5344CB8AC3E}">
        <p14:creationId xmlns:p14="http://schemas.microsoft.com/office/powerpoint/2010/main" val="1388577842"/>
      </p:ext>
    </p:extLst>
  </p:cSld>
</p:sld>
</file>

<file path=ppt/slides/slide28.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4F93B55-537B-447E-B211-42EFD1D8BA42}"/>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9F35979E-7413-4D6E-9E3D-79D4E54E3660}"/>
              </a:ext>
            </a:extLst>
          </p:cNvPr>
          <p:cNvSpPr>
            <a:spLocks xmlns:a="http://schemas.openxmlformats.org/drawingml/2006/main" noGrp="1"/>
          </p:cNvSpPr>
          <p:nvPr/>
        </p:nvSpPr>
        <p:spPr>
          <a:xfrm xmlns:a="http://schemas.openxmlformats.org/drawingml/2006/main">
            <a:off x="457200" y="365760"/>
            <a:ext cx="10973520" cy="4880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5: excelente (12 puntos), variantes 5–7</a:t>
            </a:r>
            <a:endParaRPr/>
          </a:p>
        </p:txBody>
      </p:sp>
      <p:graphicFrame>
        <p:nvGraphicFramePr>
          <p:cNvPr id="15" name="Table 3"/>
          <p:cNvGraphicFramePr/>
          <p:nvPr/>
        </p:nvGraphicFramePr>
        <p:xfrm>
          <a:off xmlns:a="http://schemas.openxmlformats.org/drawingml/2006/main" x="457200" y="914400"/>
          <a:ext xmlns:a="http://schemas.openxmlformats.org/drawingml/2006/main" cx="11247120" cy="1170432"/>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548640"/>
                <a:gridCol w="2743200"/>
                <a:gridCol w="1828800"/>
                <a:gridCol w="1828800"/>
                <a:gridCol w="4297680"/>
              </a:tblGrid>
              <a:tr h="292608">
                <a:tc>
                  <a:txBody>
                    <a:bodyPr/>
                    <a:lstStyle/>
                    <a:p>
                      <a:pPr>
                        <a:buNone/>
                      </a:pPr>
                      <a:r>
                        <a:rPr sz="1100" b="1">
                          <a:solidFill>
                            <a:srgbClr val="00D9FF"/>
                          </a:solidFill>
                          <a:latin typeface="Calibri"/>
                          <a:ea typeface="Calibri"/>
                          <a:cs typeface="Calibri"/>
                        </a:rPr>
                        <a:t>N.º</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Conjunto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Tamaño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Objetivo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Particularidad</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5.5</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Rossmann Sales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 M</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Sales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Lag/rolling, XGBoost con GPU</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5.6</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Home Credit</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307 mil ×122</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TARGET</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SBERT occupation, causal</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5.7</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Elo Merchant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2,9 M</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target</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Agregación, join con DuckDB</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234D1AE9-3506-4A25-B5ED-2BBB65ADA592}"/>
              </a:ext>
            </a:extLst>
          </p:cNvPr>
          <p:cNvSpPr>
            <a:spLocks xmlns:a="http://schemas.openxmlformats.org/drawingml/2006/main" noGrp="1"/>
          </p:cNvSpPr>
          <p:nvPr/>
        </p:nvSpPr>
        <p:spPr>
          <a:xfrm xmlns:a="http://schemas.openxmlformats.org/drawingml/2006/main">
            <a:off x="457200" y="27432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5555"/>
                </a:solidFill>
                <a:latin typeface="Calibri"/>
                <a:ea typeface="Calibri"/>
                <a:cs typeface="Calibri"/>
              </a:defRPr>
            </a:pPr>
            <a:r>
              <a:t>Código: Streaming + predicción conformal</a:t>
            </a:r>
            <a:endParaRPr/>
          </a:p>
        </p:txBody>
      </p:sp>
      <p:sp>
        <p:nvSpPr>
          <p:cNvPr id="6" name="Rectangle 5">
            <a:extLst xmlns:a="http://schemas.openxmlformats.org/drawingml/2006/main">
              <a:ext uri="{FF2B5EF4-FFF2-40B4-BE49-F238E27FC236}">
                <a16:creationId xmlns:a16="http://schemas.microsoft.com/office/drawing/2014/main" id="{9D419537-8A69-4D86-807F-47EF32ECB29E}"/>
              </a:ext>
            </a:extLst>
          </p:cNvPr>
          <p:cNvSpPr>
            <a:spLocks xmlns:a="http://schemas.openxmlformats.org/drawingml/2006/main" noGrp="1"/>
          </p:cNvSpPr>
          <p:nvPr/>
        </p:nvSpPr>
        <p:spPr>
          <a:xfrm xmlns:a="http://schemas.openxmlformats.org/drawingml/2006/main">
            <a:off x="457200" y="3108960"/>
            <a:ext cx="5486400" cy="27432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2C069FB-FBD3-4421-ABAF-3BE9C2E29745}"/>
              </a:ext>
            </a:extLst>
          </p:cNvPr>
          <p:cNvSpPr>
            <a:spLocks xmlns:a="http://schemas.openxmlformats.org/drawingml/2006/main" noGrp="1"/>
          </p:cNvSpPr>
          <p:nvPr/>
        </p:nvSpPr>
        <p:spPr>
          <a:xfrm xmlns:a="http://schemas.openxmlformats.org/drawingml/2006/main">
            <a:off x="530352" y="3145536"/>
            <a:ext cx="5340096" cy="26700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80FF80"/>
                </a:solidFill>
                <a:latin typeface="Consolas"/>
                <a:ea typeface="Consolas"/>
                <a:cs typeface="Consolas"/>
              </a:defRPr>
            </a:pPr>
            <a:r>
              <a:t># Streaming para 3 M de filas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df = (</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pl.scan_parquet('data/*.parquet')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.with_columns(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pl.col('price').log()</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.alias('log_price'))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.filter(pl.col('price') &gt; 0)</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.collect(streaming=True)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a:t>
            </a:r>
            <a:endParaRPr/>
          </a:p>
        </p:txBody>
      </p:sp>
      <p:sp>
        <p:nvSpPr>
          <p:cNvPr id="8" name="TextBox 7">
            <a:extLst xmlns:a="http://schemas.openxmlformats.org/drawingml/2006/main">
              <a:ext uri="{FF2B5EF4-FFF2-40B4-BE49-F238E27FC236}">
                <a16:creationId xmlns:a16="http://schemas.microsoft.com/office/drawing/2014/main" id="{92AAD706-E6E3-4D6A-8E19-1EA3CF6F297F}"/>
              </a:ext>
            </a:extLst>
          </p:cNvPr>
          <p:cNvSpPr>
            <a:spLocks xmlns:a="http://schemas.openxmlformats.org/drawingml/2006/main" noGrp="1"/>
          </p:cNvSpPr>
          <p:nvPr/>
        </p:nvSpPr>
        <p:spPr>
          <a:xfrm xmlns:a="http://schemas.openxmlformats.org/drawingml/2006/main">
            <a:off x="6217920" y="27432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5555"/>
                </a:solidFill>
                <a:latin typeface="Calibri"/>
                <a:ea typeface="Calibri"/>
                <a:cs typeface="Calibri"/>
              </a:defRPr>
            </a:pPr>
            <a:r>
              <a:t>Código: inferencia causal + calibración</a:t>
            </a:r>
            <a:endParaRPr/>
          </a:p>
        </p:txBody>
      </p:sp>
      <p:sp>
        <p:nvSpPr>
          <p:cNvPr id="9" name="Rectangle 8">
            <a:extLst xmlns:a="http://schemas.openxmlformats.org/drawingml/2006/main">
              <a:ext uri="{FF2B5EF4-FFF2-40B4-BE49-F238E27FC236}">
                <a16:creationId xmlns:a16="http://schemas.microsoft.com/office/drawing/2014/main" id="{36AFB3EF-29D3-4970-A8D0-54EF44767BB3}"/>
              </a:ext>
            </a:extLst>
          </p:cNvPr>
          <p:cNvSpPr>
            <a:spLocks xmlns:a="http://schemas.openxmlformats.org/drawingml/2006/main" noGrp="1"/>
          </p:cNvSpPr>
          <p:nvPr/>
        </p:nvSpPr>
        <p:spPr>
          <a:xfrm xmlns:a="http://schemas.openxmlformats.org/drawingml/2006/main">
            <a:off x="6217920" y="3108960"/>
            <a:ext cx="5486400" cy="27432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CEA4AD79-B789-4716-B999-A2FC545A88BC}"/>
              </a:ext>
            </a:extLst>
          </p:cNvPr>
          <p:cNvSpPr>
            <a:spLocks xmlns:a="http://schemas.openxmlformats.org/drawingml/2006/main" noGrp="1"/>
          </p:cNvSpPr>
          <p:nvPr/>
        </p:nvSpPr>
        <p:spPr>
          <a:xfrm xmlns:a="http://schemas.openxmlformats.org/drawingml/2006/main">
            <a:off x="6291072" y="3145536"/>
            <a:ext cx="5340096" cy="26700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000">
                <a:solidFill>
                  <a:srgbClr val="80FF80"/>
                </a:solidFill>
                <a:latin typeface="Consolas"/>
                <a:ea typeface="Consolas"/>
                <a:cs typeface="Consolas"/>
              </a:defRPr>
            </a:pPr>
            <a:r>
              <a:t># Conformal Prediction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residuals = np.abs(y_calib - y_pred_calib)</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q = np.quantile(residuals, 0.9)</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lower, upper = y_pred - q, y_pred + q</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coverage = np.mean(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(y_test &gt;= lower) &amp; (y_test &lt;= upper))</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endParaRPr/>
          </a:p>
          <a:p xmlns:a="http://schemas.openxmlformats.org/drawingml/2006/main">
            <a:pPr>
              <a:spcBef>
                <a:spcPts val="0"/>
              </a:spcBef>
              <a:spcAft>
                <a:spcPts val="100"/>
              </a:spcAft>
              <a:buNone/>
              <a:defRPr sz="1000">
                <a:solidFill>
                  <a:srgbClr val="80FF80"/>
                </a:solidFill>
                <a:latin typeface="Consolas"/>
                <a:ea typeface="Consolas"/>
                <a:cs typeface="Consolas"/>
              </a:defRPr>
            </a:pPr>
            <a:r>
              <a:t># Calibration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from sklearn.isotonic import</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IsotonicRegression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iso = IsotonicRegression()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iso.fit(y_pred_calib, y_calib)</a:t>
            </a:r>
            <a:endParaRPr/>
          </a:p>
        </p:txBody>
      </p:sp>
      <p:sp>
        <p:nvSpPr>
          <p:cNvPr id="11" name="TextBox 10">
            <a:extLst xmlns:a="http://schemas.openxmlformats.org/drawingml/2006/main">
              <a:ext uri="{FF2B5EF4-FFF2-40B4-BE49-F238E27FC236}">
                <a16:creationId xmlns:a16="http://schemas.microsoft.com/office/drawing/2014/main" id="{1F5DB988-BC00-440E-B2A7-B7426210B78C}"/>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28</a:t>
            </a:r>
            <a:endParaRPr/>
          </a:p>
        </p:txBody>
      </p:sp>
    </p:spTree>
    <p:extLst>
      <p:ext uri="{BB962C8B-B14F-4D97-AF65-F5344CB8AC3E}">
        <p14:creationId xmlns:p14="http://schemas.microsoft.com/office/powerpoint/2010/main" val="1318801622"/>
      </p:ext>
    </p:extLst>
  </p:cSld>
</p:sld>
</file>

<file path=ppt/slides/slide29.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9FFA0B79-05BA-40F6-8546-103B38F57B07}"/>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BAC8EDBA-D047-4154-AA5F-373534A61CE6}"/>
              </a:ext>
            </a:extLst>
          </p:cNvPr>
          <p:cNvSpPr>
            <a:spLocks xmlns:a="http://schemas.openxmlformats.org/drawingml/2006/main" noGrp="1"/>
          </p:cNvSpPr>
          <p:nvPr/>
        </p:nvSpPr>
        <p:spPr>
          <a:xfrm xmlns:a="http://schemas.openxmlformats.org/drawingml/2006/main">
            <a:off x="457200" y="365760"/>
            <a:ext cx="10973520" cy="48803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5: excelente (12 puntos), variantes 8–10</a:t>
            </a:r>
            <a:endParaRPr/>
          </a:p>
        </p:txBody>
      </p:sp>
      <p:graphicFrame>
        <p:nvGraphicFramePr>
          <p:cNvPr id="15" name="Table 3"/>
          <p:cNvGraphicFramePr/>
          <p:nvPr/>
        </p:nvGraphicFramePr>
        <p:xfrm>
          <a:off xmlns:a="http://schemas.openxmlformats.org/drawingml/2006/main" x="457200" y="914400"/>
          <a:ext xmlns:a="http://schemas.openxmlformats.org/drawingml/2006/main" cx="11247120" cy="1170432"/>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548640"/>
                <a:gridCol w="2743200"/>
                <a:gridCol w="1828800"/>
                <a:gridCol w="1828800"/>
                <a:gridCol w="4297680"/>
              </a:tblGrid>
              <a:tr h="292608">
                <a:tc>
                  <a:txBody>
                    <a:bodyPr/>
                    <a:lstStyle/>
                    <a:p>
                      <a:pPr>
                        <a:buNone/>
                      </a:pPr>
                      <a:r>
                        <a:rPr sz="1100" b="1">
                          <a:solidFill>
                            <a:srgbClr val="00D9FF"/>
                          </a:solidFill>
                          <a:latin typeface="Calibri"/>
                          <a:ea typeface="Calibri"/>
                          <a:cs typeface="Calibri"/>
                        </a:rPr>
                        <a:t>N.º</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Conjunto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Tamaño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Objetivo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Particularidad</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5.8</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Ashrae Energy</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2 M+</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meter_reading</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Ing. temporal, SBERT, robustez</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5.9</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Restaurant Revenue</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137→1 mil+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revenue</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Características externas, polinomios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5.10</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Google Store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1,7 M→500 mil</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transactionRevenue</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Análisis JSON, SBERT</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A37C4A43-9549-4AE5-A03E-861208B6F563}"/>
              </a:ext>
            </a:extLst>
          </p:cNvPr>
          <p:cNvSpPr>
            <a:spLocks xmlns:a="http://schemas.openxmlformats.org/drawingml/2006/main" noGrp="1"/>
          </p:cNvSpPr>
          <p:nvPr/>
        </p:nvSpPr>
        <p:spPr>
          <a:xfrm xmlns:a="http://schemas.openxmlformats.org/drawingml/2006/main">
            <a:off x="457200" y="27432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5555"/>
                </a:solidFill>
                <a:latin typeface="Calibri"/>
                <a:ea typeface="Calibri"/>
                <a:cs typeface="Calibri"/>
              </a:defRPr>
            </a:pPr>
            <a:r>
              <a:t>Código: red neuronal PyTorch + Stacking</a:t>
            </a:r>
            <a:endParaRPr/>
          </a:p>
        </p:txBody>
      </p:sp>
      <p:sp>
        <p:nvSpPr>
          <p:cNvPr id="6" name="Rectangle 5">
            <a:extLst xmlns:a="http://schemas.openxmlformats.org/drawingml/2006/main">
              <a:ext uri="{FF2B5EF4-FFF2-40B4-BE49-F238E27FC236}">
                <a16:creationId xmlns:a16="http://schemas.microsoft.com/office/drawing/2014/main" id="{E0E7CC56-69AC-43A5-AED2-E6257BC0273D}"/>
              </a:ext>
            </a:extLst>
          </p:cNvPr>
          <p:cNvSpPr>
            <a:spLocks xmlns:a="http://schemas.openxmlformats.org/drawingml/2006/main" noGrp="1"/>
          </p:cNvSpPr>
          <p:nvPr/>
        </p:nvSpPr>
        <p:spPr>
          <a:xfrm xmlns:a="http://schemas.openxmlformats.org/drawingml/2006/main">
            <a:off x="457200" y="3108960"/>
            <a:ext cx="5486400" cy="27432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5AA0E4CC-7281-4DD7-820C-A7C2A7AD8F00}"/>
              </a:ext>
            </a:extLst>
          </p:cNvPr>
          <p:cNvSpPr>
            <a:spLocks xmlns:a="http://schemas.openxmlformats.org/drawingml/2006/main" noGrp="1"/>
          </p:cNvSpPr>
          <p:nvPr/>
        </p:nvSpPr>
        <p:spPr>
          <a:xfrm xmlns:a="http://schemas.openxmlformats.org/drawingml/2006/main">
            <a:off x="530352" y="3145536"/>
            <a:ext cx="5340096" cy="26700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import torch</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class TabularNN(nn.Module):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def __init__(self, dim):</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super().__init__()</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self.net = nn.Sequential(</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nn.Linear(dim, 256),</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nn.BatchNorm1d(256),</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nn.ReLU(), nn.Dropout(0.3),</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nn.Linear(256, 128), nn.ReLU(),</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nn.Linear(128, 1))</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def forward(self, x):</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return self.net(x)</a:t>
            </a:r>
            <a:endParaRPr/>
          </a:p>
        </p:txBody>
      </p:sp>
      <p:sp>
        <p:nvSpPr>
          <p:cNvPr id="8" name="TextBox 7">
            <a:extLst xmlns:a="http://schemas.openxmlformats.org/drawingml/2006/main">
              <a:ext uri="{FF2B5EF4-FFF2-40B4-BE49-F238E27FC236}">
                <a16:creationId xmlns:a16="http://schemas.microsoft.com/office/drawing/2014/main" id="{35C71170-608F-4918-935E-9E00F127F2B1}"/>
              </a:ext>
            </a:extLst>
          </p:cNvPr>
          <p:cNvSpPr>
            <a:spLocks xmlns:a="http://schemas.openxmlformats.org/drawingml/2006/main" noGrp="1"/>
          </p:cNvSpPr>
          <p:nvPr/>
        </p:nvSpPr>
        <p:spPr>
          <a:xfrm xmlns:a="http://schemas.openxmlformats.org/drawingml/2006/main">
            <a:off x="6217920" y="27432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5555"/>
                </a:solidFill>
                <a:latin typeface="Calibri"/>
                <a:ea typeface="Calibri"/>
                <a:cs typeface="Calibri"/>
              </a:defRPr>
            </a:pPr>
            <a:r>
              <a:t>Código: XGBoost con GPU + robustez</a:t>
            </a:r>
            <a:endParaRPr/>
          </a:p>
        </p:txBody>
      </p:sp>
      <p:sp>
        <p:nvSpPr>
          <p:cNvPr id="9" name="Rectangle 8">
            <a:extLst xmlns:a="http://schemas.openxmlformats.org/drawingml/2006/main">
              <a:ext uri="{FF2B5EF4-FFF2-40B4-BE49-F238E27FC236}">
                <a16:creationId xmlns:a16="http://schemas.microsoft.com/office/drawing/2014/main" id="{840EDBC7-ABEF-4323-A322-943856C360E0}"/>
              </a:ext>
            </a:extLst>
          </p:cNvPr>
          <p:cNvSpPr>
            <a:spLocks xmlns:a="http://schemas.openxmlformats.org/drawingml/2006/main" noGrp="1"/>
          </p:cNvSpPr>
          <p:nvPr/>
        </p:nvSpPr>
        <p:spPr>
          <a:xfrm xmlns:a="http://schemas.openxmlformats.org/drawingml/2006/main">
            <a:off x="6217920" y="3108960"/>
            <a:ext cx="5486400" cy="27432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907B648E-174A-4E6F-ABB6-F090ADA1E314}"/>
              </a:ext>
            </a:extLst>
          </p:cNvPr>
          <p:cNvSpPr>
            <a:spLocks xmlns:a="http://schemas.openxmlformats.org/drawingml/2006/main" noGrp="1"/>
          </p:cNvSpPr>
          <p:nvPr/>
        </p:nvSpPr>
        <p:spPr>
          <a:xfrm xmlns:a="http://schemas.openxmlformats.org/drawingml/2006/main">
            <a:off x="6291072" y="3145536"/>
            <a:ext cx="5340096" cy="26700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000">
                <a:solidFill>
                  <a:srgbClr val="80FF80"/>
                </a:solidFill>
                <a:latin typeface="Consolas"/>
                <a:ea typeface="Consolas"/>
                <a:cs typeface="Consolas"/>
              </a:defRPr>
            </a:pPr>
            <a:r>
              <a:t># GPU XGBoost</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xgb_gpu = XGBRegressor(</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tree_method='hist',</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device='cuda')</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xgb_gpu.fit(X_train, y_train)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endParaRPr/>
          </a:p>
          <a:p xmlns:a="http://schemas.openxmlformats.org/drawingml/2006/main">
            <a:pPr>
              <a:spcBef>
                <a:spcPts val="0"/>
              </a:spcBef>
              <a:spcAft>
                <a:spcPts val="100"/>
              </a:spcAft>
              <a:buNone/>
              <a:defRPr sz="1000">
                <a:solidFill>
                  <a:srgbClr val="80FF80"/>
                </a:solidFill>
                <a:latin typeface="Consolas"/>
                <a:ea typeface="Consolas"/>
                <a:cs typeface="Consolas"/>
              </a:defRPr>
            </a:pPr>
            <a:r>
              <a:t># Robustness: adversarial</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for nl in [0, 0.01, 0.05, 0.1,</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0.2, 0.5, 1.0]:</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X_n = X_test.copy()</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X_n[top3] += np.random.normal(</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0, nl, X_n[top3].shape)</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print(f'RMSE: {eval(X_n)}')</a:t>
            </a:r>
            <a:endParaRPr/>
          </a:p>
        </p:txBody>
      </p:sp>
      <p:sp>
        <p:nvSpPr>
          <p:cNvPr id="11" name="TextBox 10">
            <a:extLst xmlns:a="http://schemas.openxmlformats.org/drawingml/2006/main">
              <a:ext uri="{FF2B5EF4-FFF2-40B4-BE49-F238E27FC236}">
                <a16:creationId xmlns:a16="http://schemas.microsoft.com/office/drawing/2014/main" id="{8AE2D6D6-2C5E-4E6A-B853-E20C60E088F7}"/>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29</a:t>
            </a:r>
            <a:endParaRPr/>
          </a:p>
        </p:txBody>
      </p:sp>
    </p:spTree>
    <p:extLst>
      <p:ext uri="{BB962C8B-B14F-4D97-AF65-F5344CB8AC3E}">
        <p14:creationId xmlns:p14="http://schemas.microsoft.com/office/powerpoint/2010/main" val="1780662508"/>
      </p:ext>
    </p:extLst>
  </p:cSld>
</p:sld>
</file>

<file path=ppt/slides/slide30.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D7E118-7A36-43B0-ADD9-E53042867E27}"/>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C98B1EB6-9D0B-40AD-B604-90D413215C59}"/>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Nivel 5: SBERT + DuckDB</a:t>
            </a:r>
            <a:endParaRPr/>
          </a:p>
        </p:txBody>
      </p:sp>
      <p:sp>
        <p:nvSpPr>
          <p:cNvPr id="4" name="TextBox 3">
            <a:extLst xmlns:a="http://schemas.openxmlformats.org/drawingml/2006/main">
              <a:ext uri="{FF2B5EF4-FFF2-40B4-BE49-F238E27FC236}">
                <a16:creationId xmlns:a16="http://schemas.microsoft.com/office/drawing/2014/main" id="{3128CD15-436C-4F45-A756-292D14826B5C}"/>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Embeddings SBERT → PCA 32</a:t>
            </a:r>
            <a:endParaRPr/>
          </a:p>
        </p:txBody>
      </p:sp>
      <p:sp>
        <p:nvSpPr>
          <p:cNvPr id="5" name="Rectangle 4">
            <a:extLst xmlns:a="http://schemas.openxmlformats.org/drawingml/2006/main">
              <a:ext uri="{FF2B5EF4-FFF2-40B4-BE49-F238E27FC236}">
                <a16:creationId xmlns:a16="http://schemas.microsoft.com/office/drawing/2014/main" id="{FC0789BA-B527-4FEA-9FA3-E36FF9C24626}"/>
              </a:ext>
            </a:extLst>
          </p:cNvPr>
          <p:cNvSpPr>
            <a:spLocks xmlns:a="http://schemas.openxmlformats.org/drawingml/2006/main" noGrp="1"/>
          </p:cNvSpPr>
          <p:nvPr/>
        </p:nvSpPr>
        <p:spPr>
          <a:xfrm xmlns:a="http://schemas.openxmlformats.org/drawingml/2006/main">
            <a:off x="384048" y="1280160"/>
            <a:ext cx="5486400" cy="3834882"/>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6C0DBBC-F95B-4146-8D59-E8FD1A5A1CF2}"/>
              </a:ext>
            </a:extLst>
          </p:cNvPr>
          <p:cNvSpPr>
            <a:spLocks xmlns:a="http://schemas.openxmlformats.org/drawingml/2006/main" noGrp="1"/>
          </p:cNvSpPr>
          <p:nvPr/>
        </p:nvSpPr>
        <p:spPr>
          <a:xfrm xmlns:a="http://schemas.openxmlformats.org/drawingml/2006/main">
            <a:off x="530352" y="1316736"/>
            <a:ext cx="5340096" cy="3505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100">
                <a:solidFill>
                  <a:srgbClr val="E0E0FF"/>
                </a:solidFill>
                <a:latin typeface="Consolas"/>
                <a:ea typeface="Consolas"/>
                <a:cs typeface="Consolas"/>
              </a:defRPr>
            </a:pPr>
            <a:r>
              <a:t>from sentence_transformers import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SentenceTransformer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from sklearn.decomposition import PCA</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model = SentenceTransformer(</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'all-MiniLM-L6-v2')</a:t>
            </a:r>
            <a:endParaRPr/>
          </a:p>
          <a:p xmlns:a="http://schemas.openxmlformats.org/drawingml/2006/main">
            <a:pPr>
              <a:spcBef>
                <a:spcPts val="0"/>
              </a:spcBef>
              <a:spcAft>
                <a:spcPts val="100"/>
              </a:spcAft>
              <a:buNone/>
              <a:defRPr sz="1100">
                <a:solidFill>
                  <a:srgbClr val="80FF80"/>
                </a:solidFill>
                <a:latin typeface="Consolas"/>
                <a:ea typeface="Consolas"/>
                <a:cs typeface="Consolas"/>
              </a:defRPr>
            </a:pPr>
            <a:r>
              <a:t># Embeddings para name + description</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emb = model.encode(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df.select('name').to_series()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.to_list())</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100">
                <a:solidFill>
                  <a:srgbClr val="80FF80"/>
                </a:solidFill>
                <a:latin typeface="Consolas"/>
                <a:ea typeface="Consolas"/>
                <a:cs typeface="Consolas"/>
              </a:defRPr>
            </a:pPr>
            <a:r>
              <a:t># PCA → 32 componentes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pca = PCA(n_components=32)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emb32 = pca.fit_transform(emb)</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100">
                <a:solidFill>
                  <a:srgbClr val="80FF80"/>
                </a:solidFill>
                <a:latin typeface="Consolas"/>
                <a:ea typeface="Consolas"/>
                <a:cs typeface="Consolas"/>
              </a:defRPr>
            </a:pPr>
            <a:r>
              <a:t># Añadir al DataFrame</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for i in range(32):</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df = df.with_columns(</a:t>
            </a:r>
            <a:endParaRPr/>
          </a:p>
          <a:p xmlns:a="http://schemas.openxmlformats.org/drawingml/2006/main">
            <a:pPr>
              <a:spcBef>
                <a:spcPts val="0"/>
              </a:spcBef>
              <a:spcAft>
                <a:spcPts val="100"/>
              </a:spcAft>
              <a:buNone/>
              <a:defRPr sz="1100">
                <a:solidFill>
                  <a:srgbClr val="E0E0FF"/>
                </a:solidFill>
                <a:latin typeface="Consolas"/>
                <a:ea typeface="Consolas"/>
                <a:cs typeface="Consolas"/>
              </a:defRPr>
            </a:pPr>
            <a:r>
              <a:t>        pl.Series(f'emb_{i}', emb32[:,i]))</a:t>
            </a:r>
            <a:endParaRPr/>
          </a:p>
        </p:txBody>
      </p:sp>
      <p:sp>
        <p:nvSpPr>
          <p:cNvPr id="7" name="TextBox 6">
            <a:extLst xmlns:a="http://schemas.openxmlformats.org/drawingml/2006/main">
              <a:ext uri="{FF2B5EF4-FFF2-40B4-BE49-F238E27FC236}">
                <a16:creationId xmlns:a16="http://schemas.microsoft.com/office/drawing/2014/main" id="{BE8FFF61-EA91-49AB-B342-8074145F2D66}"/>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A000"/>
                </a:solidFill>
                <a:latin typeface="Calibri"/>
                <a:ea typeface="Calibri"/>
                <a:cs typeface="Calibri"/>
              </a:defRPr>
            </a:pPr>
            <a:r>
              <a:t>DuckDB: 3 consultas SQL</a:t>
            </a:r>
            <a:endParaRPr/>
          </a:p>
        </p:txBody>
      </p:sp>
      <p:sp>
        <p:nvSpPr>
          <p:cNvPr id="8" name="Rectangle 7">
            <a:extLst xmlns:a="http://schemas.openxmlformats.org/drawingml/2006/main">
              <a:ext uri="{FF2B5EF4-FFF2-40B4-BE49-F238E27FC236}">
                <a16:creationId xmlns:a16="http://schemas.microsoft.com/office/drawing/2014/main" id="{8EF84CAF-72E1-4ADB-AFBC-BBBD1950276D}"/>
              </a:ext>
            </a:extLst>
          </p:cNvPr>
          <p:cNvSpPr>
            <a:spLocks xmlns:a="http://schemas.openxmlformats.org/drawingml/2006/main" noGrp="1"/>
          </p:cNvSpPr>
          <p:nvPr/>
        </p:nvSpPr>
        <p:spPr>
          <a:xfrm xmlns:a="http://schemas.openxmlformats.org/drawingml/2006/main">
            <a:off x="6217920" y="1280160"/>
            <a:ext cx="5486400" cy="3834882"/>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C2159B7-1D72-4800-B7DE-617778510D6B}"/>
              </a:ext>
            </a:extLst>
          </p:cNvPr>
          <p:cNvSpPr>
            <a:spLocks xmlns:a="http://schemas.openxmlformats.org/drawingml/2006/main" noGrp="1"/>
          </p:cNvSpPr>
          <p:nvPr/>
        </p:nvSpPr>
        <p:spPr>
          <a:xfrm xmlns:a="http://schemas.openxmlformats.org/drawingml/2006/main">
            <a:off x="6291072" y="1316736"/>
            <a:ext cx="5340096" cy="31272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000">
                <a:solidFill>
                  <a:srgbClr val="E0E0FF"/>
                </a:solidFill>
                <a:latin typeface="Consolas"/>
                <a:ea typeface="Consolas"/>
                <a:cs typeface="Consolas"/>
              </a:defRPr>
            </a:pPr>
            <a:r>
              <a:t>con = duckdb.connect()</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con.register('df', df.to_arrow())</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000">
                <a:solidFill>
                  <a:srgbClr val="80FF80"/>
                </a:solidFill>
                <a:latin typeface="Consolas"/>
                <a:ea typeface="Consolas"/>
                <a:cs typeface="Consolas"/>
              </a:defRPr>
            </a:pPr>
            <a:r>
              <a:t># 1. Agregación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con.execute('''</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SELECT cat_1, AVG(price)</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FROM df GROUP BY cat_1</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ORDER BY AVG(price) DESC''').fetchdf()</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000">
                <a:solidFill>
                  <a:srgbClr val="80FF80"/>
                </a:solidFill>
                <a:latin typeface="Consolas"/>
                <a:ea typeface="Consolas"/>
                <a:cs typeface="Consolas"/>
              </a:defRPr>
            </a:pPr>
            <a:r>
              <a:t># 2. Función de ventana</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con.execute('''</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SELECT *, AVG(price) OVER(</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PARTITION BY cat_1</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ORDER BY price) FROM df''')</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a:r>
            <a:endParaRPr/>
          </a:p>
          <a:p xmlns:a="http://schemas.openxmlformats.org/drawingml/2006/main">
            <a:pPr>
              <a:spcBef>
                <a:spcPts val="0"/>
              </a:spcBef>
              <a:spcAft>
                <a:spcPts val="100"/>
              </a:spcAft>
              <a:buNone/>
              <a:defRPr sz="1000">
                <a:solidFill>
                  <a:srgbClr val="80FF80"/>
                </a:solidFill>
                <a:latin typeface="Consolas"/>
                <a:ea typeface="Consolas"/>
                <a:cs typeface="Consolas"/>
              </a:defRPr>
            </a:pPr>
            <a:r>
              <a:t># 3. Join</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con.execute('''SELECT * FROM df</a:t>
            </a:r>
            <a:endParaRPr/>
          </a:p>
          <a:p xmlns:a="http://schemas.openxmlformats.org/drawingml/2006/main">
            <a:pPr>
              <a:spcBef>
                <a:spcPts val="0"/>
              </a:spcBef>
              <a:spcAft>
                <a:spcPts val="100"/>
              </a:spcAft>
              <a:buNone/>
              <a:defRPr sz="1000">
                <a:solidFill>
                  <a:srgbClr val="E0E0FF"/>
                </a:solidFill>
                <a:latin typeface="Consolas"/>
                <a:ea typeface="Consolas"/>
                <a:cs typeface="Consolas"/>
              </a:defRPr>
            </a:pPr>
            <a:r>
              <a:t>  JOIN brands ON df.brand=brands.id''')</a:t>
            </a:r>
            <a:endParaRPr/>
          </a:p>
        </p:txBody>
      </p:sp>
      <p:sp>
        <p:nvSpPr>
          <p:cNvPr id="10" name="TextBox 9">
            <a:extLst xmlns:a="http://schemas.openxmlformats.org/drawingml/2006/main">
              <a:ext uri="{FF2B5EF4-FFF2-40B4-BE49-F238E27FC236}">
                <a16:creationId xmlns:a16="http://schemas.microsoft.com/office/drawing/2014/main" id="{986CF780-A1DE-49B0-9993-7DD9B9FE4271}"/>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30</a:t>
            </a:r>
            <a:endParaRPr/>
          </a:p>
        </p:txBody>
      </p:sp>
    </p:spTree>
    <p:extLst>
      <p:ext uri="{BB962C8B-B14F-4D97-AF65-F5344CB8AC3E}">
        <p14:creationId xmlns:p14="http://schemas.microsoft.com/office/powerpoint/2010/main" val="810338089"/>
      </p:ext>
    </p:extLst>
  </p:cSld>
</p:sld>
</file>

<file path=ppt/slides/slide31.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6D24E3C-885E-44FF-99AD-5ECEEAE544F7}"/>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6DC8E319-2504-4B48-9BFE-5AB17547274B}"/>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Comparación de niveles: elementos añadidos</a:t>
            </a:r>
            <a:endParaRPr/>
          </a:p>
        </p:txBody>
      </p:sp>
      <p:graphicFrame>
        <p:nvGraphicFramePr>
          <p:cNvPr id="9" name="Table 3"/>
          <p:cNvGraphicFramePr/>
          <p:nvPr/>
        </p:nvGraphicFramePr>
        <p:xfrm>
          <a:off xmlns:a="http://schemas.openxmlformats.org/drawingml/2006/main" x="457200" y="914400"/>
          <a:ext xmlns:a="http://schemas.openxmlformats.org/drawingml/2006/main" cx="11247120" cy="3511296"/>
        </p:xfrm>
        <a:graphic xmlns:a="http://schemas.openxmlformats.org/drawingml/2006/main">
          <a:graphicData uri="http://schemas.openxmlformats.org/drawingml/2006/table">
            <a:tbl>
              <a:tblPr firstRow="1" firstCol="0" lastRow="0" lastCol="0" bandRow="1" bandCol="0">
                <a:tableStyleId>{5C22544A-7EE6-4342-B048-85BDC9FD1C3A}</a:tableStyleId>
              </a:tblPr>
              <a:tblGrid>
                <a:gridCol w="1828800"/>
                <a:gridCol w="2560320"/>
                <a:gridCol w="3200400"/>
                <a:gridCol w="3657600"/>
              </a:tblGrid>
              <a:tr h="292608">
                <a:tc>
                  <a:txBody>
                    <a:bodyPr/>
                    <a:lstStyle/>
                    <a:p>
                      <a:pPr>
                        <a:buNone/>
                      </a:pPr>
                      <a:r>
                        <a:rPr sz="1100" b="1">
                          <a:solidFill>
                            <a:srgbClr val="00D9FF"/>
                          </a:solidFill>
                          <a:latin typeface="Calibri"/>
                          <a:ea typeface="Calibri"/>
                          <a:cs typeface="Calibri"/>
                        </a:rPr>
                        <a:t>Aspecto</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Nivel 3 (7)</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Nivel 4 (9)</a:t>
                      </a:r>
                      <a:endParaRPr/>
                    </a:p>
                  </a:txBody>
                  <a:tcPr marL="91440" marR="91440" marT="45720" marB="45720">
                    <a:solidFill>
                      <a:srgbClr val="22223A"/>
                    </a:solidFill>
                  </a:tcPr>
                </a:tc>
                <a:tc>
                  <a:txBody>
                    <a:bodyPr/>
                    <a:lstStyle/>
                    <a:p>
                      <a:pPr>
                        <a:buNone/>
                      </a:pPr>
                      <a:r>
                        <a:rPr sz="1100" b="1">
                          <a:solidFill>
                            <a:srgbClr val="00D9FF"/>
                          </a:solidFill>
                          <a:latin typeface="Calibri"/>
                          <a:ea typeface="Calibri"/>
                          <a:cs typeface="Calibri"/>
                        </a:rPr>
                        <a:t>Nivel 5 (12)</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Modelos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5</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3</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5</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Codificación</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One-Hot</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+Target, Hash</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+CatBoost, SBERT, Entity</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API Lazy</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Sí + .explain()</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Sí + Streaming + Parquet</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Optimización</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Optuna 50+</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Optuna 200+ + poda</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Interpretación</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SHAP</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SHAP+LIME+PDP+Perm.</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Estadística</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Q-Q+Shapiro+BP+DW</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Radar</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Avanzado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Causal+Conformal+Calib.</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Robustez</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7+6 niveles</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GPU</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XGBoost+CuPy+PyTorch</a:t>
                      </a:r>
                      <a:endParaRPr/>
                    </a:p>
                  </a:txBody>
                  <a:tcPr marL="91440" marR="91440" marT="45720" marB="45720">
                    <a:solidFill>
                      <a:srgbClr val="22223A"/>
                    </a:solidFill>
                  </a:tcPr>
                </a:tc>
              </a:tr>
              <a:tr h="292608">
                <a:tc>
                  <a:txBody>
                    <a:bodyPr/>
                    <a:lstStyle/>
                    <a:p>
                      <a:pPr>
                        <a:buNone/>
                      </a:pPr>
                      <a:r>
                        <a:rPr sz="1100">
                          <a:solidFill>
                            <a:srgbClr val="FFFFFF"/>
                          </a:solidFill>
                          <a:latin typeface="Calibri"/>
                          <a:ea typeface="Calibri"/>
                          <a:cs typeface="Calibri"/>
                        </a:rPr>
                        <a:t>DuckDB</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1 SQL</a:t>
                      </a:r>
                      <a:endParaRPr/>
                    </a:p>
                  </a:txBody>
                  <a:tcPr marL="91440" marR="91440" marT="45720" marB="45720">
                    <a:solidFill>
                      <a:srgbClr val="2A2A44"/>
                    </a:solidFill>
                  </a:tcPr>
                </a:tc>
                <a:tc>
                  <a:txBody>
                    <a:bodyPr/>
                    <a:lstStyle/>
                    <a:p>
                      <a:pPr>
                        <a:buNone/>
                      </a:pPr>
                      <a:r>
                        <a:rPr sz="1100">
                          <a:solidFill>
                            <a:srgbClr val="FFFFFF"/>
                          </a:solidFill>
                          <a:latin typeface="Calibri"/>
                          <a:ea typeface="Calibri"/>
                          <a:cs typeface="Calibri"/>
                        </a:rPr>
                        <a:t>3 SQL (agreg.+ventana+join)</a:t>
                      </a:r>
                      <a:endParaRPr/>
                    </a:p>
                  </a:txBody>
                  <a:tcPr marL="91440" marR="91440" marT="45720" marB="45720">
                    <a:solidFill>
                      <a:srgbClr val="2A2A44"/>
                    </a:solidFill>
                  </a:tcPr>
                </a:tc>
              </a:tr>
              <a:tr h="292608">
                <a:tc>
                  <a:txBody>
                    <a:bodyPr/>
                    <a:lstStyle/>
                    <a:p>
                      <a:pPr>
                        <a:buNone/>
                      </a:pPr>
                      <a:r>
                        <a:rPr sz="1100">
                          <a:solidFill>
                            <a:srgbClr val="FFFFFF"/>
                          </a:solidFill>
                          <a:latin typeface="Calibri"/>
                          <a:ea typeface="Calibri"/>
                          <a:cs typeface="Calibri"/>
                        </a:rPr>
                        <a:t>Comparativa</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No</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Polars vs. pandas</a:t>
                      </a:r>
                      <a:endParaRPr/>
                    </a:p>
                  </a:txBody>
                  <a:tcPr marL="91440" marR="91440" marT="45720" marB="45720">
                    <a:solidFill>
                      <a:srgbClr val="22223A"/>
                    </a:solidFill>
                  </a:tcPr>
                </a:tc>
                <a:tc>
                  <a:txBody>
                    <a:bodyPr/>
                    <a:lstStyle/>
                    <a:p>
                      <a:pPr>
                        <a:buNone/>
                      </a:pPr>
                      <a:r>
                        <a:rPr sz="1100">
                          <a:solidFill>
                            <a:srgbClr val="FFFFFF"/>
                          </a:solidFill>
                          <a:latin typeface="Calibri"/>
                          <a:ea typeface="Calibri"/>
                          <a:cs typeface="Calibri"/>
                        </a:rPr>
                        <a:t>Completa (5 operaciones)</a:t>
                      </a:r>
                      <a:endParaRPr/>
                    </a:p>
                  </a:txBody>
                  <a:tcPr marL="91440" marR="91440" marT="45720" marB="45720">
                    <a:solidFill>
                      <a:srgbClr val="22223A"/>
                    </a:solidFill>
                  </a:tcPr>
                </a:tc>
              </a:tr>
            </a:tbl>
          </a:graphicData>
        </a:graphic>
      </p:graphicFrame>
      <p:sp>
        <p:nvSpPr>
          <p:cNvPr id="5" name="TextBox 4">
            <a:extLst xmlns:a="http://schemas.openxmlformats.org/drawingml/2006/main">
              <a:ext uri="{FF2B5EF4-FFF2-40B4-BE49-F238E27FC236}">
                <a16:creationId xmlns:a16="http://schemas.microsoft.com/office/drawing/2014/main" id="{3EC1439B-E952-45B0-9087-CE056D5DBB7F}"/>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31</a:t>
            </a:r>
            <a:endParaRPr/>
          </a:p>
        </p:txBody>
      </p:sp>
    </p:spTree>
    <p:extLst>
      <p:ext uri="{BB962C8B-B14F-4D97-AF65-F5344CB8AC3E}">
        <p14:creationId xmlns:p14="http://schemas.microsoft.com/office/powerpoint/2010/main" val="627438333"/>
      </p:ext>
    </p:extLst>
  </p:cSld>
</p:sld>
</file>

<file path=ppt/slides/slide32.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8FF9CE2-CD27-4C3D-8EEC-2EFC5E77B2FE}"/>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03DC0F38-A1C7-4020-B48D-B3F536CF0882}"/>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Gráfico de radar (nivel 5)</a:t>
            </a:r>
            <a:endParaRPr/>
          </a:p>
        </p:txBody>
      </p:sp>
      <p:sp>
        <p:nvSpPr>
          <p:cNvPr id="4" name="TextBox 3">
            <a:extLst xmlns:a="http://schemas.openxmlformats.org/drawingml/2006/main">
              <a:ext uri="{FF2B5EF4-FFF2-40B4-BE49-F238E27FC236}">
                <a16:creationId xmlns:a16="http://schemas.microsoft.com/office/drawing/2014/main" id="{8E82758C-19BD-4853-8163-F6D9A317A320}"/>
              </a:ext>
            </a:extLst>
          </p:cNvPr>
          <p:cNvSpPr>
            <a:spLocks xmlns:a="http://schemas.openxmlformats.org/drawingml/2006/main" noGrp="1"/>
          </p:cNvSpPr>
          <p:nvPr/>
        </p:nvSpPr>
        <p:spPr>
          <a:xfrm xmlns:a="http://schemas.openxmlformats.org/drawingml/2006/main">
            <a:off x="457200" y="9144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6 criterios para evaluar la calidad integral de la solución:</a:t>
            </a:r>
            <a:endParaRPr/>
          </a:p>
        </p:txBody>
      </p:sp>
      <p:sp>
        <p:nvSpPr>
          <p:cNvPr id="5" name="Rectangle 4">
            <a:extLst xmlns:a="http://schemas.openxmlformats.org/drawingml/2006/main">
              <a:ext uri="{FF2B5EF4-FFF2-40B4-BE49-F238E27FC236}">
                <a16:creationId xmlns:a16="http://schemas.microsoft.com/office/drawing/2014/main" id="{44D79DB0-4575-4DEE-941B-DB2F97552061}"/>
              </a:ext>
            </a:extLst>
          </p:cNvPr>
          <p:cNvSpPr>
            <a:spLocks xmlns:a="http://schemas.openxmlformats.org/drawingml/2006/main" noGrp="1"/>
          </p:cNvSpPr>
          <p:nvPr/>
        </p:nvSpPr>
        <p:spPr>
          <a:xfrm xmlns:a="http://schemas.openxmlformats.org/drawingml/2006/main">
            <a:off x="457200" y="137160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2602EBB-D308-432D-8CBA-071EB94D4107}"/>
              </a:ext>
            </a:extLst>
          </p:cNvPr>
          <p:cNvSpPr>
            <a:spLocks xmlns:a="http://schemas.openxmlformats.org/drawingml/2006/main" noGrp="1"/>
          </p:cNvSpPr>
          <p:nvPr/>
        </p:nvSpPr>
        <p:spPr>
          <a:xfrm xmlns:a="http://schemas.openxmlformats.org/drawingml/2006/main">
            <a:off x="640080" y="1353312"/>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D9FF"/>
                </a:solidFill>
                <a:latin typeface="Calibri"/>
                <a:ea typeface="Calibri"/>
                <a:cs typeface="Calibri"/>
              </a:defRPr>
            </a:pPr>
            <a:r>
              <a:t>1. Calidad de los modelos</a:t>
            </a:r>
            <a:endParaRPr/>
          </a:p>
        </p:txBody>
      </p:sp>
      <p:sp>
        <p:nvSpPr>
          <p:cNvPr id="7" name="TextBox 6">
            <a:extLst xmlns:a="http://schemas.openxmlformats.org/drawingml/2006/main">
              <a:ext uri="{FF2B5EF4-FFF2-40B4-BE49-F238E27FC236}">
                <a16:creationId xmlns:a16="http://schemas.microsoft.com/office/drawing/2014/main" id="{BAD36F86-FA0A-4ACF-BA6B-072F0A33B357}"/>
              </a:ext>
            </a:extLst>
          </p:cNvPr>
          <p:cNvSpPr>
            <a:spLocks xmlns:a="http://schemas.openxmlformats.org/drawingml/2006/main" noGrp="1"/>
          </p:cNvSpPr>
          <p:nvPr/>
        </p:nvSpPr>
        <p:spPr>
          <a:xfrm xmlns:a="http://schemas.openxmlformats.org/drawingml/2006/main">
            <a:off x="4297680" y="1353312"/>
            <a:ext cx="7315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R² y RMSE en prueba</a:t>
            </a:r>
            <a:endParaRPr/>
          </a:p>
        </p:txBody>
      </p:sp>
      <p:sp>
        <p:nvSpPr>
          <p:cNvPr id="8" name="Rectangle 7">
            <a:extLst xmlns:a="http://schemas.openxmlformats.org/drawingml/2006/main">
              <a:ext uri="{FF2B5EF4-FFF2-40B4-BE49-F238E27FC236}">
                <a16:creationId xmlns:a16="http://schemas.microsoft.com/office/drawing/2014/main" id="{9E1B4D92-BDA6-4D7A-B5F6-6FD7993E6480}"/>
              </a:ext>
            </a:extLst>
          </p:cNvPr>
          <p:cNvSpPr>
            <a:spLocks xmlns:a="http://schemas.openxmlformats.org/drawingml/2006/main" noGrp="1"/>
          </p:cNvSpPr>
          <p:nvPr/>
        </p:nvSpPr>
        <p:spPr>
          <a:xfrm xmlns:a="http://schemas.openxmlformats.org/drawingml/2006/main">
            <a:off x="457200" y="1874519"/>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A552D5D-2938-46B5-BDC2-C7F87781D825}"/>
              </a:ext>
            </a:extLst>
          </p:cNvPr>
          <p:cNvSpPr>
            <a:spLocks xmlns:a="http://schemas.openxmlformats.org/drawingml/2006/main" noGrp="1"/>
          </p:cNvSpPr>
          <p:nvPr/>
        </p:nvSpPr>
        <p:spPr>
          <a:xfrm xmlns:a="http://schemas.openxmlformats.org/drawingml/2006/main">
            <a:off x="640080" y="1856231"/>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FF88"/>
                </a:solidFill>
                <a:latin typeface="Calibri"/>
                <a:ea typeface="Calibri"/>
                <a:cs typeface="Calibri"/>
              </a:defRPr>
            </a:pPr>
            <a:r>
              <a:t>2. Velocidad de inferencia</a:t>
            </a:r>
            <a:endParaRPr/>
          </a:p>
        </p:txBody>
      </p:sp>
      <p:sp>
        <p:nvSpPr>
          <p:cNvPr id="10" name="TextBox 9">
            <a:extLst xmlns:a="http://schemas.openxmlformats.org/drawingml/2006/main">
              <a:ext uri="{FF2B5EF4-FFF2-40B4-BE49-F238E27FC236}">
                <a16:creationId xmlns:a16="http://schemas.microsoft.com/office/drawing/2014/main" id="{8D6B2D42-BE20-4B71-A7AB-497548ECDB86}"/>
              </a:ext>
            </a:extLst>
          </p:cNvPr>
          <p:cNvSpPr>
            <a:spLocks xmlns:a="http://schemas.openxmlformats.org/drawingml/2006/main" noGrp="1"/>
          </p:cNvSpPr>
          <p:nvPr/>
        </p:nvSpPr>
        <p:spPr>
          <a:xfrm xmlns:a="http://schemas.openxmlformats.org/drawingml/2006/main">
            <a:off x="4297680" y="1856231"/>
            <a:ext cx="7315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Tiempo de predicción (ms/muestra)</a:t>
            </a:r>
            <a:endParaRPr/>
          </a:p>
        </p:txBody>
      </p:sp>
      <p:sp>
        <p:nvSpPr>
          <p:cNvPr id="11" name="Rectangle 10">
            <a:extLst xmlns:a="http://schemas.openxmlformats.org/drawingml/2006/main">
              <a:ext uri="{FF2B5EF4-FFF2-40B4-BE49-F238E27FC236}">
                <a16:creationId xmlns:a16="http://schemas.microsoft.com/office/drawing/2014/main" id="{FDEAAD10-4BD3-4067-9E6B-CDDEE2A2051A}"/>
              </a:ext>
            </a:extLst>
          </p:cNvPr>
          <p:cNvSpPr>
            <a:spLocks xmlns:a="http://schemas.openxmlformats.org/drawingml/2006/main" noGrp="1"/>
          </p:cNvSpPr>
          <p:nvPr/>
        </p:nvSpPr>
        <p:spPr>
          <a:xfrm xmlns:a="http://schemas.openxmlformats.org/drawingml/2006/main">
            <a:off x="457200" y="237744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592B545-2412-423F-BBEA-EEFFA2C1E4DC}"/>
              </a:ext>
            </a:extLst>
          </p:cNvPr>
          <p:cNvSpPr>
            <a:spLocks xmlns:a="http://schemas.openxmlformats.org/drawingml/2006/main" noGrp="1"/>
          </p:cNvSpPr>
          <p:nvPr/>
        </p:nvSpPr>
        <p:spPr>
          <a:xfrm xmlns:a="http://schemas.openxmlformats.org/drawingml/2006/main">
            <a:off x="640080" y="2359152"/>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A000"/>
                </a:solidFill>
                <a:latin typeface="Calibri"/>
                <a:ea typeface="Calibri"/>
                <a:cs typeface="Calibri"/>
              </a:defRPr>
            </a:pPr>
            <a:r>
              <a:t>3. Interpretabilidad</a:t>
            </a:r>
            <a:endParaRPr/>
          </a:p>
        </p:txBody>
      </p:sp>
      <p:sp>
        <p:nvSpPr>
          <p:cNvPr id="13" name="TextBox 12">
            <a:extLst xmlns:a="http://schemas.openxmlformats.org/drawingml/2006/main">
              <a:ext uri="{FF2B5EF4-FFF2-40B4-BE49-F238E27FC236}">
                <a16:creationId xmlns:a16="http://schemas.microsoft.com/office/drawing/2014/main" id="{D84C6776-68AC-45A3-B9EC-030C5FAAD100}"/>
              </a:ext>
            </a:extLst>
          </p:cNvPr>
          <p:cNvSpPr>
            <a:spLocks xmlns:a="http://schemas.openxmlformats.org/drawingml/2006/main" noGrp="1"/>
          </p:cNvSpPr>
          <p:nvPr/>
        </p:nvSpPr>
        <p:spPr>
          <a:xfrm xmlns:a="http://schemas.openxmlformats.org/drawingml/2006/main">
            <a:off x="4297680" y="2359152"/>
            <a:ext cx="7315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Cobertura de SHAP, LIME y PDP</a:t>
            </a:r>
            <a:endParaRPr/>
          </a:p>
        </p:txBody>
      </p:sp>
      <p:sp>
        <p:nvSpPr>
          <p:cNvPr id="14" name="Rectangle 13">
            <a:extLst xmlns:a="http://schemas.openxmlformats.org/drawingml/2006/main">
              <a:ext uri="{FF2B5EF4-FFF2-40B4-BE49-F238E27FC236}">
                <a16:creationId xmlns:a16="http://schemas.microsoft.com/office/drawing/2014/main" id="{CF8E1568-AF84-4BDA-BCD6-617FF0FE2BC5}"/>
              </a:ext>
            </a:extLst>
          </p:cNvPr>
          <p:cNvSpPr>
            <a:spLocks xmlns:a="http://schemas.openxmlformats.org/drawingml/2006/main" noGrp="1"/>
          </p:cNvSpPr>
          <p:nvPr/>
        </p:nvSpPr>
        <p:spPr>
          <a:xfrm xmlns:a="http://schemas.openxmlformats.org/drawingml/2006/main">
            <a:off x="457200" y="2880360"/>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0CF9870F-58AA-4451-92C3-069DC32FBA47}"/>
              </a:ext>
            </a:extLst>
          </p:cNvPr>
          <p:cNvSpPr>
            <a:spLocks xmlns:a="http://schemas.openxmlformats.org/drawingml/2006/main" noGrp="1"/>
          </p:cNvSpPr>
          <p:nvPr/>
        </p:nvSpPr>
        <p:spPr>
          <a:xfrm xmlns:a="http://schemas.openxmlformats.org/drawingml/2006/main">
            <a:off x="640080" y="2862072"/>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FF5555"/>
                </a:solidFill>
                <a:latin typeface="Calibri"/>
                <a:ea typeface="Calibri"/>
                <a:cs typeface="Calibri"/>
              </a:defRPr>
            </a:pPr>
            <a:r>
              <a:t>4. Robustez</a:t>
            </a:r>
            <a:endParaRPr/>
          </a:p>
        </p:txBody>
      </p:sp>
      <p:sp>
        <p:nvSpPr>
          <p:cNvPr id="16" name="TextBox 15">
            <a:extLst xmlns:a="http://schemas.openxmlformats.org/drawingml/2006/main">
              <a:ext uri="{FF2B5EF4-FFF2-40B4-BE49-F238E27FC236}">
                <a16:creationId xmlns:a16="http://schemas.microsoft.com/office/drawing/2014/main" id="{E1A39156-D309-4F44-885A-719BF4646D4F}"/>
              </a:ext>
            </a:extLst>
          </p:cNvPr>
          <p:cNvSpPr>
            <a:spLocks xmlns:a="http://schemas.openxmlformats.org/drawingml/2006/main" noGrp="1"/>
          </p:cNvSpPr>
          <p:nvPr/>
        </p:nvSpPr>
        <p:spPr>
          <a:xfrm xmlns:a="http://schemas.openxmlformats.org/drawingml/2006/main">
            <a:off x="4297680" y="2862072"/>
            <a:ext cx="7315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Puntuación de robustez (aumento de RMSE)</a:t>
            </a:r>
            <a:endParaRPr/>
          </a:p>
        </p:txBody>
      </p:sp>
      <p:sp>
        <p:nvSpPr>
          <p:cNvPr id="17" name="Rectangle 16">
            <a:extLst xmlns:a="http://schemas.openxmlformats.org/drawingml/2006/main">
              <a:ext uri="{FF2B5EF4-FFF2-40B4-BE49-F238E27FC236}">
                <a16:creationId xmlns:a16="http://schemas.microsoft.com/office/drawing/2014/main" id="{11154D0E-74AD-4E8B-B1E9-302E51D73C42}"/>
              </a:ext>
            </a:extLst>
          </p:cNvPr>
          <p:cNvSpPr>
            <a:spLocks xmlns:a="http://schemas.openxmlformats.org/drawingml/2006/main" noGrp="1"/>
          </p:cNvSpPr>
          <p:nvPr/>
        </p:nvSpPr>
        <p:spPr>
          <a:xfrm xmlns:a="http://schemas.openxmlformats.org/drawingml/2006/main">
            <a:off x="457200" y="3383280"/>
            <a:ext cx="73152" cy="36576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F43DE57E-22AD-4195-91F7-55C8DB8A9597}"/>
              </a:ext>
            </a:extLst>
          </p:cNvPr>
          <p:cNvSpPr>
            <a:spLocks xmlns:a="http://schemas.openxmlformats.org/drawingml/2006/main" noGrp="1"/>
          </p:cNvSpPr>
          <p:nvPr/>
        </p:nvSpPr>
        <p:spPr>
          <a:xfrm xmlns:a="http://schemas.openxmlformats.org/drawingml/2006/main">
            <a:off x="640080" y="3364992"/>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BB88FF"/>
                </a:solidFill>
                <a:latin typeface="Calibri"/>
                <a:ea typeface="Calibri"/>
                <a:cs typeface="Calibri"/>
              </a:defRPr>
            </a:pPr>
            <a:r>
              <a:t>5. Optimización</a:t>
            </a:r>
            <a:endParaRPr/>
          </a:p>
        </p:txBody>
      </p:sp>
      <p:sp>
        <p:nvSpPr>
          <p:cNvPr id="19" name="TextBox 18">
            <a:extLst xmlns:a="http://schemas.openxmlformats.org/drawingml/2006/main">
              <a:ext uri="{FF2B5EF4-FFF2-40B4-BE49-F238E27FC236}">
                <a16:creationId xmlns:a16="http://schemas.microsoft.com/office/drawing/2014/main" id="{9DCD1690-CC62-41F2-BAB1-0071B6A1B0DC}"/>
              </a:ext>
            </a:extLst>
          </p:cNvPr>
          <p:cNvSpPr>
            <a:spLocks xmlns:a="http://schemas.openxmlformats.org/drawingml/2006/main" noGrp="1"/>
          </p:cNvSpPr>
          <p:nvPr/>
        </p:nvSpPr>
        <p:spPr>
          <a:xfrm xmlns:a="http://schemas.openxmlformats.org/drawingml/2006/main">
            <a:off x="4297680" y="3364992"/>
            <a:ext cx="7315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Pruebas de Optuna e importancia de parámetros</a:t>
            </a:r>
            <a:endParaRPr/>
          </a:p>
        </p:txBody>
      </p:sp>
      <p:sp>
        <p:nvSpPr>
          <p:cNvPr id="20" name="Rectangle 19">
            <a:extLst xmlns:a="http://schemas.openxmlformats.org/drawingml/2006/main">
              <a:ext uri="{FF2B5EF4-FFF2-40B4-BE49-F238E27FC236}">
                <a16:creationId xmlns:a16="http://schemas.microsoft.com/office/drawing/2014/main" id="{F1BBCD6B-88D6-4E55-9FA8-6A466AEBA5AE}"/>
              </a:ext>
            </a:extLst>
          </p:cNvPr>
          <p:cNvSpPr>
            <a:spLocks xmlns:a="http://schemas.openxmlformats.org/drawingml/2006/main" noGrp="1"/>
          </p:cNvSpPr>
          <p:nvPr/>
        </p:nvSpPr>
        <p:spPr>
          <a:xfrm xmlns:a="http://schemas.openxmlformats.org/drawingml/2006/main">
            <a:off x="457200" y="388620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7D1829C-B31B-4CEA-AAC2-93223ADC6B54}"/>
              </a:ext>
            </a:extLst>
          </p:cNvPr>
          <p:cNvSpPr>
            <a:spLocks xmlns:a="http://schemas.openxmlformats.org/drawingml/2006/main" noGrp="1"/>
          </p:cNvSpPr>
          <p:nvPr/>
        </p:nvSpPr>
        <p:spPr>
          <a:xfrm xmlns:a="http://schemas.openxmlformats.org/drawingml/2006/main">
            <a:off x="640080" y="3867911"/>
            <a:ext cx="3657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D9FF"/>
                </a:solidFill>
                <a:latin typeface="Calibri"/>
                <a:ea typeface="Calibri"/>
                <a:cs typeface="Calibri"/>
              </a:defRPr>
            </a:pPr>
            <a:r>
              <a:t>6. Ingeniería</a:t>
            </a:r>
            <a:endParaRPr/>
          </a:p>
        </p:txBody>
      </p:sp>
      <p:sp>
        <p:nvSpPr>
          <p:cNvPr id="22" name="TextBox 21">
            <a:extLst xmlns:a="http://schemas.openxmlformats.org/drawingml/2006/main">
              <a:ext uri="{FF2B5EF4-FFF2-40B4-BE49-F238E27FC236}">
                <a16:creationId xmlns:a16="http://schemas.microsoft.com/office/drawing/2014/main" id="{9F32506C-519A-4959-96DE-40210BDD1968}"/>
              </a:ext>
            </a:extLst>
          </p:cNvPr>
          <p:cNvSpPr>
            <a:spLocks xmlns:a="http://schemas.openxmlformats.org/drawingml/2006/main" noGrp="1"/>
          </p:cNvSpPr>
          <p:nvPr/>
        </p:nvSpPr>
        <p:spPr>
          <a:xfrm xmlns:a="http://schemas.openxmlformats.org/drawingml/2006/main">
            <a:off x="4297680" y="3867911"/>
            <a:ext cx="7315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Ingeniería, codificación, streaming y GPU</a:t>
            </a:r>
            <a:endParaRPr/>
          </a:p>
        </p:txBody>
      </p:sp>
      <p:sp>
        <p:nvSpPr>
          <p:cNvPr id="23" name="TextBox 22">
            <a:extLst xmlns:a="http://schemas.openxmlformats.org/drawingml/2006/main">
              <a:ext uri="{FF2B5EF4-FFF2-40B4-BE49-F238E27FC236}">
                <a16:creationId xmlns:a16="http://schemas.microsoft.com/office/drawing/2014/main" id="{3D216033-EA99-4C98-BD21-92D2C81A5475}"/>
              </a:ext>
            </a:extLst>
          </p:cNvPr>
          <p:cNvSpPr>
            <a:spLocks xmlns:a="http://schemas.openxmlformats.org/drawingml/2006/main" noGrp="1"/>
          </p:cNvSpPr>
          <p:nvPr/>
        </p:nvSpPr>
        <p:spPr>
          <a:xfrm xmlns:a="http://schemas.openxmlformats.org/drawingml/2006/main">
            <a:off x="457200" y="475488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0">
                <a:solidFill>
                  <a:srgbClr val="B0B0C0"/>
                </a:solidFill>
                <a:latin typeface="Calibri"/>
                <a:ea typeface="Calibri"/>
                <a:cs typeface="Calibri"/>
              </a:defRPr>
            </a:pPr>
            <a:r>
              <a:t>Normalización [0, 1] → promedio de los 6 criterios → gráfico de radar</a:t>
            </a:r>
            <a:endParaRPr/>
          </a:p>
        </p:txBody>
      </p:sp>
      <p:sp>
        <p:nvSpPr>
          <p:cNvPr id="24" name="Rectangle 23">
            <a:extLst xmlns:a="http://schemas.openxmlformats.org/drawingml/2006/main">
              <a:ext uri="{FF2B5EF4-FFF2-40B4-BE49-F238E27FC236}">
                <a16:creationId xmlns:a16="http://schemas.microsoft.com/office/drawing/2014/main" id="{55F6FE7D-013E-4571-8C32-58BC7AEB03E1}"/>
              </a:ext>
            </a:extLst>
          </p:cNvPr>
          <p:cNvSpPr>
            <a:spLocks xmlns:a="http://schemas.openxmlformats.org/drawingml/2006/main" noGrp="1"/>
          </p:cNvSpPr>
          <p:nvPr/>
        </p:nvSpPr>
        <p:spPr>
          <a:xfrm xmlns:a="http://schemas.openxmlformats.org/drawingml/2006/main">
            <a:off x="457200" y="5212080"/>
            <a:ext cx="11247120" cy="914400"/>
          </a:xfrm>
          <a:prstGeom xmlns:a="http://schemas.openxmlformats.org/drawingml/2006/main" prst="rect">
            <a:avLst/>
          </a:prstGeom>
          <a:solidFill xmlns:a="http://schemas.openxmlformats.org/drawingml/2006/main">
            <a:srgbClr val="0D0D1A"/>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FFC27534-E78E-470C-B5DD-5E195906AE84}"/>
              </a:ext>
            </a:extLst>
          </p:cNvPr>
          <p:cNvSpPr>
            <a:spLocks xmlns:a="http://schemas.openxmlformats.org/drawingml/2006/main" noGrp="1"/>
          </p:cNvSpPr>
          <p:nvPr/>
        </p:nvSpPr>
        <p:spPr>
          <a:xfrm xmlns:a="http://schemas.openxmlformats.org/drawingml/2006/main">
            <a:off x="530352" y="5248656"/>
            <a:ext cx="11100816" cy="84124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spcBef>
                <a:spcPts val="0"/>
              </a:spcBef>
              <a:spcAft>
                <a:spcPts val="100"/>
              </a:spcAft>
              <a:buNone/>
              <a:defRPr sz="1200">
                <a:solidFill>
                  <a:srgbClr val="E0E0FF"/>
                </a:solidFill>
                <a:latin typeface="Consolas"/>
                <a:ea typeface="Consolas"/>
                <a:cs typeface="Consolas"/>
              </a:defRPr>
            </a:pPr>
            <a:r>
              <a:t>import plotly.graph_objects as go</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fig = go.Figure(data=go.Scatterpolar(r=scores, theta=criteria, fill='toself'))</a:t>
            </a:r>
            <a:endParaRPr/>
          </a:p>
          <a:p xmlns:a="http://schemas.openxmlformats.org/drawingml/2006/main">
            <a:pPr>
              <a:spcBef>
                <a:spcPts val="0"/>
              </a:spcBef>
              <a:spcAft>
                <a:spcPts val="100"/>
              </a:spcAft>
              <a:buNone/>
              <a:defRPr sz="1200">
                <a:solidFill>
                  <a:srgbClr val="E0E0FF"/>
                </a:solidFill>
                <a:latin typeface="Consolas"/>
                <a:ea typeface="Consolas"/>
                <a:cs typeface="Consolas"/>
              </a:defRPr>
            </a:pPr>
            <a:r>
              <a:t>fig.show()</a:t>
            </a:r>
            <a:endParaRPr/>
          </a:p>
        </p:txBody>
      </p:sp>
      <p:sp>
        <p:nvSpPr>
          <p:cNvPr id="26" name="TextBox 25">
            <a:extLst xmlns:a="http://schemas.openxmlformats.org/drawingml/2006/main">
              <a:ext uri="{FF2B5EF4-FFF2-40B4-BE49-F238E27FC236}">
                <a16:creationId xmlns:a16="http://schemas.microsoft.com/office/drawing/2014/main" id="{492F5544-0A90-49B3-ABEA-EC32D0C43627}"/>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32</a:t>
            </a:r>
            <a:endParaRPr/>
          </a:p>
        </p:txBody>
      </p:sp>
    </p:spTree>
    <p:extLst>
      <p:ext uri="{BB962C8B-B14F-4D97-AF65-F5344CB8AC3E}">
        <p14:creationId xmlns:p14="http://schemas.microsoft.com/office/powerpoint/2010/main" val="1922633422"/>
      </p:ext>
    </p:extLst>
  </p:cSld>
</p:sld>
</file>

<file path=ppt/slides/slide33.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20AC4E6-6EAC-4D13-BC00-F0EDEE9BDE3D}"/>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21FE36AB-4431-430A-A6A4-949A88152763}"/>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Requisitos del informe</a:t>
            </a:r>
            <a:endParaRPr/>
          </a:p>
        </p:txBody>
      </p:sp>
      <p:sp>
        <p:nvSpPr>
          <p:cNvPr id="4" name="Rectangle 3">
            <a:extLst xmlns:a="http://schemas.openxmlformats.org/drawingml/2006/main">
              <a:ext uri="{FF2B5EF4-FFF2-40B4-BE49-F238E27FC236}">
                <a16:creationId xmlns:a16="http://schemas.microsoft.com/office/drawing/2014/main" id="{EEAA4E98-D70E-4244-B6A8-803663DF9904}"/>
              </a:ext>
            </a:extLst>
          </p:cNvPr>
          <p:cNvSpPr>
            <a:spLocks xmlns:a="http://schemas.openxmlformats.org/drawingml/2006/main" noGrp="1"/>
          </p:cNvSpPr>
          <p:nvPr/>
        </p:nvSpPr>
        <p:spPr>
          <a:xfrm xmlns:a="http://schemas.openxmlformats.org/drawingml/2006/main">
            <a:off x="457200" y="914400"/>
            <a:ext cx="73152" cy="36576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A1D4D41-9F61-4DDA-8363-CF799ABC284E}"/>
              </a:ext>
            </a:extLst>
          </p:cNvPr>
          <p:cNvSpPr>
            <a:spLocks xmlns:a="http://schemas.openxmlformats.org/drawingml/2006/main" noGrp="1"/>
          </p:cNvSpPr>
          <p:nvPr/>
        </p:nvSpPr>
        <p:spPr>
          <a:xfrm xmlns:a="http://schemas.openxmlformats.org/drawingml/2006/main">
            <a:off x="640080" y="8961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1. Portada (variante, nivel y conjunto de datos)</a:t>
            </a:r>
            <a:endParaRPr/>
          </a:p>
        </p:txBody>
      </p:sp>
      <p:sp>
        <p:nvSpPr>
          <p:cNvPr id="6" name="Rectangle 5">
            <a:extLst xmlns:a="http://schemas.openxmlformats.org/drawingml/2006/main">
              <a:ext uri="{FF2B5EF4-FFF2-40B4-BE49-F238E27FC236}">
                <a16:creationId xmlns:a16="http://schemas.microsoft.com/office/drawing/2014/main" id="{F4813F47-8D27-443F-8BF0-7E424FDC3313}"/>
              </a:ext>
            </a:extLst>
          </p:cNvPr>
          <p:cNvSpPr>
            <a:spLocks xmlns:a="http://schemas.openxmlformats.org/drawingml/2006/main" noGrp="1"/>
          </p:cNvSpPr>
          <p:nvPr/>
        </p:nvSpPr>
        <p:spPr>
          <a:xfrm xmlns:a="http://schemas.openxmlformats.org/drawingml/2006/main">
            <a:off x="457200" y="1371600"/>
            <a:ext cx="73152" cy="36576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8EA80CC-D449-45F5-BFB8-3BC592F68F87}"/>
              </a:ext>
            </a:extLst>
          </p:cNvPr>
          <p:cNvSpPr>
            <a:spLocks xmlns:a="http://schemas.openxmlformats.org/drawingml/2006/main" noGrp="1"/>
          </p:cNvSpPr>
          <p:nvPr/>
        </p:nvSpPr>
        <p:spPr>
          <a:xfrm xmlns:a="http://schemas.openxmlformats.org/drawingml/2006/main">
            <a:off x="640080" y="13533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2. Descripción del conjunto: fuente, tamaño y características</a:t>
            </a:r>
            <a:endParaRPr/>
          </a:p>
        </p:txBody>
      </p:sp>
      <p:sp>
        <p:nvSpPr>
          <p:cNvPr id="8" name="Rectangle 7">
            <a:extLst xmlns:a="http://schemas.openxmlformats.org/drawingml/2006/main">
              <a:ext uri="{FF2B5EF4-FFF2-40B4-BE49-F238E27FC236}">
                <a16:creationId xmlns:a16="http://schemas.microsoft.com/office/drawing/2014/main" id="{7D08984A-54FE-4A73-B5F6-919CC7A01754}"/>
              </a:ext>
            </a:extLst>
          </p:cNvPr>
          <p:cNvSpPr>
            <a:spLocks xmlns:a="http://schemas.openxmlformats.org/drawingml/2006/main" noGrp="1"/>
          </p:cNvSpPr>
          <p:nvPr/>
        </p:nvSpPr>
        <p:spPr>
          <a:xfrm xmlns:a="http://schemas.openxmlformats.org/drawingml/2006/main">
            <a:off x="457200" y="1828800"/>
            <a:ext cx="73152" cy="36576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E65E3EB-D58B-4CEF-B4A3-F092BD581199}"/>
              </a:ext>
            </a:extLst>
          </p:cNvPr>
          <p:cNvSpPr>
            <a:spLocks xmlns:a="http://schemas.openxmlformats.org/drawingml/2006/main" noGrp="1"/>
          </p:cNvSpPr>
          <p:nvPr/>
        </p:nvSpPr>
        <p:spPr>
          <a:xfrm xmlns:a="http://schemas.openxmlformats.org/drawingml/2006/main">
            <a:off x="640080" y="18105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3. EDA: faltantes, tipos, distribuciones, correlaciones y valores atípicos</a:t>
            </a:r>
            <a:endParaRPr/>
          </a:p>
        </p:txBody>
      </p:sp>
      <p:sp>
        <p:nvSpPr>
          <p:cNvPr id="10" name="Rectangle 9">
            <a:extLst xmlns:a="http://schemas.openxmlformats.org/drawingml/2006/main">
              <a:ext uri="{FF2B5EF4-FFF2-40B4-BE49-F238E27FC236}">
                <a16:creationId xmlns:a16="http://schemas.microsoft.com/office/drawing/2014/main" id="{34968FC7-1C74-4E3C-8494-A6A8B6EB1142}"/>
              </a:ext>
            </a:extLst>
          </p:cNvPr>
          <p:cNvSpPr>
            <a:spLocks xmlns:a="http://schemas.openxmlformats.org/drawingml/2006/main" noGrp="1"/>
          </p:cNvSpPr>
          <p:nvPr/>
        </p:nvSpPr>
        <p:spPr>
          <a:xfrm xmlns:a="http://schemas.openxmlformats.org/drawingml/2006/main">
            <a:off x="457200" y="2286000"/>
            <a:ext cx="73152" cy="36576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D10AF748-3FF9-40E3-81A9-B899C360A38A}"/>
              </a:ext>
            </a:extLst>
          </p:cNvPr>
          <p:cNvSpPr>
            <a:spLocks xmlns:a="http://schemas.openxmlformats.org/drawingml/2006/main" noGrp="1"/>
          </p:cNvSpPr>
          <p:nvPr/>
        </p:nvSpPr>
        <p:spPr>
          <a:xfrm xmlns:a="http://schemas.openxmlformats.org/drawingml/2006/main">
            <a:off x="640080" y="22677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4. Preprocesamiento: codificación, ingeniería y selección de características</a:t>
            </a:r>
            <a:endParaRPr/>
          </a:p>
        </p:txBody>
      </p:sp>
      <p:sp>
        <p:nvSpPr>
          <p:cNvPr id="12" name="Rectangle 11">
            <a:extLst xmlns:a="http://schemas.openxmlformats.org/drawingml/2006/main">
              <a:ext uri="{FF2B5EF4-FFF2-40B4-BE49-F238E27FC236}">
                <a16:creationId xmlns:a16="http://schemas.microsoft.com/office/drawing/2014/main" id="{213D497C-5C94-460F-B0C3-22EFD2D88D42}"/>
              </a:ext>
            </a:extLst>
          </p:cNvPr>
          <p:cNvSpPr>
            <a:spLocks xmlns:a="http://schemas.openxmlformats.org/drawingml/2006/main" noGrp="1"/>
          </p:cNvSpPr>
          <p:nvPr/>
        </p:nvSpPr>
        <p:spPr>
          <a:xfrm xmlns:a="http://schemas.openxmlformats.org/drawingml/2006/main">
            <a:off x="457200" y="2743200"/>
            <a:ext cx="73152" cy="36576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B822F66-6822-4E7C-8E13-7AAE233CBFE7}"/>
              </a:ext>
            </a:extLst>
          </p:cNvPr>
          <p:cNvSpPr>
            <a:spLocks xmlns:a="http://schemas.openxmlformats.org/drawingml/2006/main" noGrp="1"/>
          </p:cNvSpPr>
          <p:nvPr/>
        </p:nvSpPr>
        <p:spPr>
          <a:xfrm xmlns:a="http://schemas.openxmlformats.org/drawingml/2006/main">
            <a:off x="640080" y="2724911"/>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5. Modelos: descripción, hiperparámetros y calidad de cada uno</a:t>
            </a:r>
            <a:endParaRPr/>
          </a:p>
        </p:txBody>
      </p:sp>
      <p:sp>
        <p:nvSpPr>
          <p:cNvPr id="14" name="Rectangle 13">
            <a:extLst xmlns:a="http://schemas.openxmlformats.org/drawingml/2006/main">
              <a:ext uri="{FF2B5EF4-FFF2-40B4-BE49-F238E27FC236}">
                <a16:creationId xmlns:a16="http://schemas.microsoft.com/office/drawing/2014/main" id="{8DC71C86-63C2-4814-B51F-316612BCAEB9}"/>
              </a:ext>
            </a:extLst>
          </p:cNvPr>
          <p:cNvSpPr>
            <a:spLocks xmlns:a="http://schemas.openxmlformats.org/drawingml/2006/main" noGrp="1"/>
          </p:cNvSpPr>
          <p:nvPr/>
        </p:nvSpPr>
        <p:spPr>
          <a:xfrm xmlns:a="http://schemas.openxmlformats.org/drawingml/2006/main">
            <a:off x="457200" y="3200400"/>
            <a:ext cx="73152" cy="36576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FDD1631-5705-4CEC-B2CD-9F9774E76FE3}"/>
              </a:ext>
            </a:extLst>
          </p:cNvPr>
          <p:cNvSpPr>
            <a:spLocks xmlns:a="http://schemas.openxmlformats.org/drawingml/2006/main" noGrp="1"/>
          </p:cNvSpPr>
          <p:nvPr/>
        </p:nvSpPr>
        <p:spPr>
          <a:xfrm xmlns:a="http://schemas.openxmlformats.org/drawingml/2006/main">
            <a:off x="640080" y="31821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6. Optimización: Optuna, historial e importancia de parámetros</a:t>
            </a:r>
            <a:endParaRPr/>
          </a:p>
        </p:txBody>
      </p:sp>
      <p:sp>
        <p:nvSpPr>
          <p:cNvPr id="16" name="Rectangle 15">
            <a:extLst xmlns:a="http://schemas.openxmlformats.org/drawingml/2006/main">
              <a:ext uri="{FF2B5EF4-FFF2-40B4-BE49-F238E27FC236}">
                <a16:creationId xmlns:a16="http://schemas.microsoft.com/office/drawing/2014/main" id="{0CC38AAD-D136-4D9E-8C72-164769A7BDF1}"/>
              </a:ext>
            </a:extLst>
          </p:cNvPr>
          <p:cNvSpPr>
            <a:spLocks xmlns:a="http://schemas.openxmlformats.org/drawingml/2006/main" noGrp="1"/>
          </p:cNvSpPr>
          <p:nvPr/>
        </p:nvSpPr>
        <p:spPr>
          <a:xfrm xmlns:a="http://schemas.openxmlformats.org/drawingml/2006/main">
            <a:off x="457200" y="3657600"/>
            <a:ext cx="73152" cy="36576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BE09582-611D-44DC-A127-2FE64BBC3FC3}"/>
              </a:ext>
            </a:extLst>
          </p:cNvPr>
          <p:cNvSpPr>
            <a:spLocks xmlns:a="http://schemas.openxmlformats.org/drawingml/2006/main" noGrp="1"/>
          </p:cNvSpPr>
          <p:nvPr/>
        </p:nvSpPr>
        <p:spPr>
          <a:xfrm xmlns:a="http://schemas.openxmlformats.org/drawingml/2006/main">
            <a:off x="640080" y="36393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7. Interpretación: SHAP, Permutation y PDP</a:t>
            </a:r>
            <a:endParaRPr/>
          </a:p>
        </p:txBody>
      </p:sp>
      <p:sp>
        <p:nvSpPr>
          <p:cNvPr id="18" name="Rectangle 17">
            <a:extLst xmlns:a="http://schemas.openxmlformats.org/drawingml/2006/main">
              <a:ext uri="{FF2B5EF4-FFF2-40B4-BE49-F238E27FC236}">
                <a16:creationId xmlns:a16="http://schemas.microsoft.com/office/drawing/2014/main" id="{2B68A987-C96E-41BE-B199-FBE2C6011032}"/>
              </a:ext>
            </a:extLst>
          </p:cNvPr>
          <p:cNvSpPr>
            <a:spLocks xmlns:a="http://schemas.openxmlformats.org/drawingml/2006/main" noGrp="1"/>
          </p:cNvSpPr>
          <p:nvPr/>
        </p:nvSpPr>
        <p:spPr>
          <a:xfrm xmlns:a="http://schemas.openxmlformats.org/drawingml/2006/main">
            <a:off x="457200" y="411480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72E110E9-0B0A-4365-9FCF-7068FCE2D57A}"/>
              </a:ext>
            </a:extLst>
          </p:cNvPr>
          <p:cNvSpPr>
            <a:spLocks xmlns:a="http://schemas.openxmlformats.org/drawingml/2006/main" noGrp="1"/>
          </p:cNvSpPr>
          <p:nvPr/>
        </p:nvSpPr>
        <p:spPr>
          <a:xfrm xmlns:a="http://schemas.openxmlformats.org/drawingml/2006/main">
            <a:off x="640080" y="40965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8. Avanzado (niveles 4–5): estadística, inferencia causal, predicción conformal, calibración y robustez</a:t>
            </a:r>
            <a:endParaRPr/>
          </a:p>
        </p:txBody>
      </p:sp>
      <p:sp>
        <p:nvSpPr>
          <p:cNvPr id="20" name="Rectangle 19">
            <a:extLst xmlns:a="http://schemas.openxmlformats.org/drawingml/2006/main">
              <a:ext uri="{FF2B5EF4-FFF2-40B4-BE49-F238E27FC236}">
                <a16:creationId xmlns:a16="http://schemas.microsoft.com/office/drawing/2014/main" id="{6A9F634D-CEEC-405A-AFB1-5FD27E68F0AE}"/>
              </a:ext>
            </a:extLst>
          </p:cNvPr>
          <p:cNvSpPr>
            <a:spLocks xmlns:a="http://schemas.openxmlformats.org/drawingml/2006/main" noGrp="1"/>
          </p:cNvSpPr>
          <p:nvPr/>
        </p:nvSpPr>
        <p:spPr>
          <a:xfrm xmlns:a="http://schemas.openxmlformats.org/drawingml/2006/main">
            <a:off x="457200" y="457200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5205077-B600-4B1D-9986-6C2D7D5953AE}"/>
              </a:ext>
            </a:extLst>
          </p:cNvPr>
          <p:cNvSpPr>
            <a:spLocks xmlns:a="http://schemas.openxmlformats.org/drawingml/2006/main" noGrp="1"/>
          </p:cNvSpPr>
          <p:nvPr/>
        </p:nvSpPr>
        <p:spPr>
          <a:xfrm xmlns:a="http://schemas.openxmlformats.org/drawingml/2006/main">
            <a:off x="640080" y="45537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9. Comparativa Polars vs. pandas</a:t>
            </a:r>
            <a:endParaRPr/>
          </a:p>
        </p:txBody>
      </p:sp>
      <p:sp>
        <p:nvSpPr>
          <p:cNvPr id="22" name="Rectangle 21">
            <a:extLst xmlns:a="http://schemas.openxmlformats.org/drawingml/2006/main">
              <a:ext uri="{FF2B5EF4-FFF2-40B4-BE49-F238E27FC236}">
                <a16:creationId xmlns:a16="http://schemas.microsoft.com/office/drawing/2014/main" id="{68D92F53-C906-4BE0-BC4D-E1C395CACDF8}"/>
              </a:ext>
            </a:extLst>
          </p:cNvPr>
          <p:cNvSpPr>
            <a:spLocks xmlns:a="http://schemas.openxmlformats.org/drawingml/2006/main" noGrp="1"/>
          </p:cNvSpPr>
          <p:nvPr/>
        </p:nvSpPr>
        <p:spPr>
          <a:xfrm xmlns:a="http://schemas.openxmlformats.org/drawingml/2006/main">
            <a:off x="457200" y="5029200"/>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AF6A5EA3-A9E2-463F-81F9-E7CAF1D1FB11}"/>
              </a:ext>
            </a:extLst>
          </p:cNvPr>
          <p:cNvSpPr>
            <a:spLocks xmlns:a="http://schemas.openxmlformats.org/drawingml/2006/main" noGrp="1"/>
          </p:cNvSpPr>
          <p:nvPr/>
        </p:nvSpPr>
        <p:spPr>
          <a:xfrm xmlns:a="http://schemas.openxmlformats.org/drawingml/2006/main">
            <a:off x="640080" y="50109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10. Conclusiones y recomendaciones</a:t>
            </a:r>
            <a:endParaRPr/>
          </a:p>
        </p:txBody>
      </p:sp>
      <p:sp>
        <p:nvSpPr>
          <p:cNvPr id="24" name="Rectangle 23">
            <a:extLst xmlns:a="http://schemas.openxmlformats.org/drawingml/2006/main">
              <a:ext uri="{FF2B5EF4-FFF2-40B4-BE49-F238E27FC236}">
                <a16:creationId xmlns:a16="http://schemas.microsoft.com/office/drawing/2014/main" id="{7910CA5A-19C5-4826-A4DF-8410501E2D91}"/>
              </a:ext>
            </a:extLst>
          </p:cNvPr>
          <p:cNvSpPr>
            <a:spLocks xmlns:a="http://schemas.openxmlformats.org/drawingml/2006/main" noGrp="1"/>
          </p:cNvSpPr>
          <p:nvPr/>
        </p:nvSpPr>
        <p:spPr>
          <a:xfrm xmlns:a="http://schemas.openxmlformats.org/drawingml/2006/main">
            <a:off x="457200" y="5486400"/>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FD5763D-C64D-4DE3-A1EB-C29508EC3C3A}"/>
              </a:ext>
            </a:extLst>
          </p:cNvPr>
          <p:cNvSpPr>
            <a:spLocks xmlns:a="http://schemas.openxmlformats.org/drawingml/2006/main" noGrp="1"/>
          </p:cNvSpPr>
          <p:nvPr/>
        </p:nvSpPr>
        <p:spPr>
          <a:xfrm xmlns:a="http://schemas.openxmlformats.org/drawingml/2006/main">
            <a:off x="640080" y="54681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11. Anexo: código completo</a:t>
            </a:r>
            <a:endParaRPr/>
          </a:p>
        </p:txBody>
      </p:sp>
      <p:sp>
        <p:nvSpPr>
          <p:cNvPr id="26" name="TextBox 25">
            <a:extLst xmlns:a="http://schemas.openxmlformats.org/drawingml/2006/main">
              <a:ext uri="{FF2B5EF4-FFF2-40B4-BE49-F238E27FC236}">
                <a16:creationId xmlns:a16="http://schemas.microsoft.com/office/drawing/2014/main" id="{D2B18E0D-3E52-468E-8B6E-914EC53654FB}"/>
              </a:ext>
            </a:extLst>
          </p:cNvPr>
          <p:cNvSpPr>
            <a:spLocks xmlns:a="http://schemas.openxmlformats.org/drawingml/2006/main" noGrp="1"/>
          </p:cNvSpPr>
          <p:nvPr/>
        </p:nvSpPr>
        <p:spPr>
          <a:xfrm xmlns:a="http://schemas.openxmlformats.org/drawingml/2006/main">
            <a:off x="457200" y="5943600"/>
            <a:ext cx="109728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400" b="1">
                <a:solidFill>
                  <a:srgbClr val="00D9FF"/>
                </a:solidFill>
                <a:latin typeface="Calibri"/>
                <a:ea typeface="Calibri"/>
                <a:cs typeface="Calibri"/>
              </a:defRPr>
            </a:pPr>
            <a:r>
              <a:t>Formato: PDF + Jupyter Notebook (.ipynb) con resultados</a:t>
            </a:r>
            <a:endParaRPr/>
          </a:p>
        </p:txBody>
      </p:sp>
      <p:sp>
        <p:nvSpPr>
          <p:cNvPr id="27" name="TextBox 26">
            <a:extLst xmlns:a="http://schemas.openxmlformats.org/drawingml/2006/main">
              <a:ext uri="{FF2B5EF4-FFF2-40B4-BE49-F238E27FC236}">
                <a16:creationId xmlns:a16="http://schemas.microsoft.com/office/drawing/2014/main" id="{1F625A33-E938-46FD-9F29-78A579F706B5}"/>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34</a:t>
            </a:r>
            <a:endParaRPr/>
          </a:p>
        </p:txBody>
      </p:sp>
    </p:spTree>
    <p:extLst>
      <p:ext uri="{BB962C8B-B14F-4D97-AF65-F5344CB8AC3E}">
        <p14:creationId xmlns:p14="http://schemas.microsoft.com/office/powerpoint/2010/main" val="1731537760"/>
      </p:ext>
    </p:extLst>
  </p:cSld>
</p:sld>
</file>

<file path=ppt/slides/slide34.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494EA57-5738-4D82-9E87-68C1DA386E75}"/>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D879CBE5-0AF3-49A0-9D9C-C45F09A19CF3}"/>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Errores típicos (9)</a:t>
            </a:r>
            <a:endParaRPr/>
          </a:p>
        </p:txBody>
      </p:sp>
      <p:sp>
        <p:nvSpPr>
          <p:cNvPr id="4" name="Rectangle 3">
            <a:extLst xmlns:a="http://schemas.openxmlformats.org/drawingml/2006/main">
              <a:ext uri="{FF2B5EF4-FFF2-40B4-BE49-F238E27FC236}">
                <a16:creationId xmlns:a16="http://schemas.microsoft.com/office/drawing/2014/main" id="{199BC21D-F638-4FC5-AD93-6C62E6ACB61B}"/>
              </a:ext>
            </a:extLst>
          </p:cNvPr>
          <p:cNvSpPr>
            <a:spLocks xmlns:a="http://schemas.openxmlformats.org/drawingml/2006/main" noGrp="1"/>
          </p:cNvSpPr>
          <p:nvPr/>
        </p:nvSpPr>
        <p:spPr>
          <a:xfrm xmlns:a="http://schemas.openxmlformats.org/drawingml/2006/main">
            <a:off x="457200" y="914400"/>
            <a:ext cx="73152" cy="41148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C975D71-0A35-4919-B332-0B52C05C92CF}"/>
              </a:ext>
            </a:extLst>
          </p:cNvPr>
          <p:cNvSpPr>
            <a:spLocks xmlns:a="http://schemas.openxmlformats.org/drawingml/2006/main" noGrp="1"/>
          </p:cNvSpPr>
          <p:nvPr/>
        </p:nvSpPr>
        <p:spPr>
          <a:xfrm xmlns:a="http://schemas.openxmlformats.org/drawingml/2006/main">
            <a:off x="640080" y="89611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5555"/>
                </a:solidFill>
                <a:latin typeface="Calibri"/>
                <a:ea typeface="Calibri"/>
                <a:cs typeface="Calibri"/>
              </a:defRPr>
            </a:pPr>
            <a:r>
              <a:t>1. Fuga de datos</a:t>
            </a:r>
            <a:endParaRPr/>
          </a:p>
        </p:txBody>
      </p:sp>
      <p:sp>
        <p:nvSpPr>
          <p:cNvPr id="6" name="TextBox 5">
            <a:extLst xmlns:a="http://schemas.openxmlformats.org/drawingml/2006/main">
              <a:ext uri="{FF2B5EF4-FFF2-40B4-BE49-F238E27FC236}">
                <a16:creationId xmlns:a16="http://schemas.microsoft.com/office/drawing/2014/main" id="{842FBCC6-BCD8-47C8-916C-F759ABDB12F4}"/>
              </a:ext>
            </a:extLst>
          </p:cNvPr>
          <p:cNvSpPr>
            <a:spLocks xmlns:a="http://schemas.openxmlformats.org/drawingml/2006/main" noGrp="1"/>
          </p:cNvSpPr>
          <p:nvPr/>
        </p:nvSpPr>
        <p:spPr>
          <a:xfrm xmlns:a="http://schemas.openxmlformats.org/drawingml/2006/main">
            <a:off x="3474720" y="89611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Codificación objetivo con todo el conjunto, no solo con entrenamiento</a:t>
            </a:r>
            <a:endParaRPr/>
          </a:p>
        </p:txBody>
      </p:sp>
      <p:sp>
        <p:nvSpPr>
          <p:cNvPr id="7" name="Rectangle 6">
            <a:extLst xmlns:a="http://schemas.openxmlformats.org/drawingml/2006/main">
              <a:ext uri="{FF2B5EF4-FFF2-40B4-BE49-F238E27FC236}">
                <a16:creationId xmlns:a16="http://schemas.microsoft.com/office/drawing/2014/main" id="{47633F62-3619-4A1E-9199-24674258CEC7}"/>
              </a:ext>
            </a:extLst>
          </p:cNvPr>
          <p:cNvSpPr>
            <a:spLocks xmlns:a="http://schemas.openxmlformats.org/drawingml/2006/main" noGrp="1"/>
          </p:cNvSpPr>
          <p:nvPr/>
        </p:nvSpPr>
        <p:spPr>
          <a:xfrm xmlns:a="http://schemas.openxmlformats.org/drawingml/2006/main">
            <a:off x="457200" y="1463040"/>
            <a:ext cx="73152" cy="41148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743AA4F2-D652-4CA6-99BA-E0D1860CE1CC}"/>
              </a:ext>
            </a:extLst>
          </p:cNvPr>
          <p:cNvSpPr>
            <a:spLocks xmlns:a="http://schemas.openxmlformats.org/drawingml/2006/main" noGrp="1"/>
          </p:cNvSpPr>
          <p:nvPr/>
        </p:nvSpPr>
        <p:spPr>
          <a:xfrm xmlns:a="http://schemas.openxmlformats.org/drawingml/2006/main">
            <a:off x="640080" y="144475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A000"/>
                </a:solidFill>
                <a:latin typeface="Calibri"/>
                <a:ea typeface="Calibri"/>
                <a:cs typeface="Calibri"/>
              </a:defRPr>
            </a:pPr>
            <a:r>
              <a:t>2. Ignorar valores faltantes</a:t>
            </a:r>
            <a:endParaRPr/>
          </a:p>
        </p:txBody>
      </p:sp>
      <p:sp>
        <p:nvSpPr>
          <p:cNvPr id="9" name="TextBox 8">
            <a:extLst xmlns:a="http://schemas.openxmlformats.org/drawingml/2006/main">
              <a:ext uri="{FF2B5EF4-FFF2-40B4-BE49-F238E27FC236}">
                <a16:creationId xmlns:a16="http://schemas.microsoft.com/office/drawing/2014/main" id="{389F6B5D-FE15-4607-BA9C-93699C07ABCD}"/>
              </a:ext>
            </a:extLst>
          </p:cNvPr>
          <p:cNvSpPr>
            <a:spLocks xmlns:a="http://schemas.openxmlformats.org/drawingml/2006/main" noGrp="1"/>
          </p:cNvSpPr>
          <p:nvPr/>
        </p:nvSpPr>
        <p:spPr>
          <a:xfrm xmlns:a="http://schemas.openxmlformats.org/drawingml/2006/main">
            <a:off x="3474720" y="144475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Eliminar filas en lugar de codificar como 'missing'</a:t>
            </a:r>
            <a:endParaRPr/>
          </a:p>
        </p:txBody>
      </p:sp>
      <p:sp>
        <p:nvSpPr>
          <p:cNvPr id="10" name="Rectangle 9">
            <a:extLst xmlns:a="http://schemas.openxmlformats.org/drawingml/2006/main">
              <a:ext uri="{FF2B5EF4-FFF2-40B4-BE49-F238E27FC236}">
                <a16:creationId xmlns:a16="http://schemas.microsoft.com/office/drawing/2014/main" id="{9F62E27C-F96D-4A44-9E3A-A5C610126646}"/>
              </a:ext>
            </a:extLst>
          </p:cNvPr>
          <p:cNvSpPr>
            <a:spLocks xmlns:a="http://schemas.openxmlformats.org/drawingml/2006/main" noGrp="1"/>
          </p:cNvSpPr>
          <p:nvPr/>
        </p:nvSpPr>
        <p:spPr>
          <a:xfrm xmlns:a="http://schemas.openxmlformats.org/drawingml/2006/main">
            <a:off x="457200" y="2011680"/>
            <a:ext cx="73152" cy="41148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D5D080AA-F544-4219-BC87-829E9559DF80}"/>
              </a:ext>
            </a:extLst>
          </p:cNvPr>
          <p:cNvSpPr>
            <a:spLocks xmlns:a="http://schemas.openxmlformats.org/drawingml/2006/main" noGrp="1"/>
          </p:cNvSpPr>
          <p:nvPr/>
        </p:nvSpPr>
        <p:spPr>
          <a:xfrm xmlns:a="http://schemas.openxmlformats.org/drawingml/2006/main">
            <a:off x="640080" y="199339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A000"/>
                </a:solidFill>
                <a:latin typeface="Calibri"/>
                <a:ea typeface="Calibri"/>
                <a:cs typeface="Calibri"/>
              </a:defRPr>
            </a:pPr>
            <a:r>
              <a:t>3. No comprobar OLS</a:t>
            </a:r>
            <a:endParaRPr/>
          </a:p>
        </p:txBody>
      </p:sp>
      <p:sp>
        <p:nvSpPr>
          <p:cNvPr id="12" name="TextBox 11">
            <a:extLst xmlns:a="http://schemas.openxmlformats.org/drawingml/2006/main">
              <a:ext uri="{FF2B5EF4-FFF2-40B4-BE49-F238E27FC236}">
                <a16:creationId xmlns:a16="http://schemas.microsoft.com/office/drawing/2014/main" id="{42F576FA-B464-47B9-8CCE-A6C349FA9394}"/>
              </a:ext>
            </a:extLst>
          </p:cNvPr>
          <p:cNvSpPr>
            <a:spLocks xmlns:a="http://schemas.openxmlformats.org/drawingml/2006/main" noGrp="1"/>
          </p:cNvSpPr>
          <p:nvPr/>
        </p:nvSpPr>
        <p:spPr>
          <a:xfrm xmlns:a="http://schemas.openxmlformats.org/drawingml/2006/main">
            <a:off x="3474720" y="199339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No comprobar los 5 supuestos de Gauss-Markov</a:t>
            </a:r>
            <a:endParaRPr/>
          </a:p>
        </p:txBody>
      </p:sp>
      <p:sp>
        <p:nvSpPr>
          <p:cNvPr id="13" name="Rectangle 12">
            <a:extLst xmlns:a="http://schemas.openxmlformats.org/drawingml/2006/main">
              <a:ext uri="{FF2B5EF4-FFF2-40B4-BE49-F238E27FC236}">
                <a16:creationId xmlns:a16="http://schemas.microsoft.com/office/drawing/2014/main" id="{6CADF79E-9923-4DE5-8206-B467AA723D5E}"/>
              </a:ext>
            </a:extLst>
          </p:cNvPr>
          <p:cNvSpPr>
            <a:spLocks xmlns:a="http://schemas.openxmlformats.org/drawingml/2006/main" noGrp="1"/>
          </p:cNvSpPr>
          <p:nvPr/>
        </p:nvSpPr>
        <p:spPr>
          <a:xfrm xmlns:a="http://schemas.openxmlformats.org/drawingml/2006/main">
            <a:off x="457200" y="2560320"/>
            <a:ext cx="73152" cy="41148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C3C6DCE-7FAD-4036-86B2-EBEE4CD97493}"/>
              </a:ext>
            </a:extLst>
          </p:cNvPr>
          <p:cNvSpPr>
            <a:spLocks xmlns:a="http://schemas.openxmlformats.org/drawingml/2006/main" noGrp="1"/>
          </p:cNvSpPr>
          <p:nvPr/>
        </p:nvSpPr>
        <p:spPr>
          <a:xfrm xmlns:a="http://schemas.openxmlformats.org/drawingml/2006/main">
            <a:off x="640080" y="254203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5555"/>
                </a:solidFill>
                <a:latin typeface="Calibri"/>
                <a:ea typeface="Calibri"/>
                <a:cs typeface="Calibri"/>
              </a:defRPr>
            </a:pPr>
            <a:r>
              <a:t>4. Sobreajuste sin validación cruzada</a:t>
            </a:r>
            <a:endParaRPr/>
          </a:p>
        </p:txBody>
      </p:sp>
      <p:sp>
        <p:nvSpPr>
          <p:cNvPr id="15" name="TextBox 14">
            <a:extLst xmlns:a="http://schemas.openxmlformats.org/drawingml/2006/main">
              <a:ext uri="{FF2B5EF4-FFF2-40B4-BE49-F238E27FC236}">
                <a16:creationId xmlns:a16="http://schemas.microsoft.com/office/drawing/2014/main" id="{FB294742-5D51-4A70-AE26-6685D9B36D02}"/>
              </a:ext>
            </a:extLst>
          </p:cNvPr>
          <p:cNvSpPr>
            <a:spLocks xmlns:a="http://schemas.openxmlformats.org/drawingml/2006/main" noGrp="1"/>
          </p:cNvSpPr>
          <p:nvPr/>
        </p:nvSpPr>
        <p:spPr>
          <a:xfrm xmlns:a="http://schemas.openxmlformats.org/drawingml/2006/main">
            <a:off x="3474720" y="254203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Evaluar con entrenamiento y omitir la validación cruzada</a:t>
            </a:r>
            <a:endParaRPr/>
          </a:p>
        </p:txBody>
      </p:sp>
      <p:sp>
        <p:nvSpPr>
          <p:cNvPr id="16" name="Rectangle 15">
            <a:extLst xmlns:a="http://schemas.openxmlformats.org/drawingml/2006/main">
              <a:ext uri="{FF2B5EF4-FFF2-40B4-BE49-F238E27FC236}">
                <a16:creationId xmlns:a16="http://schemas.microsoft.com/office/drawing/2014/main" id="{FFBC2C84-FCC5-4B80-8FD0-B2DA9F13AC9C}"/>
              </a:ext>
            </a:extLst>
          </p:cNvPr>
          <p:cNvSpPr>
            <a:spLocks xmlns:a="http://schemas.openxmlformats.org/drawingml/2006/main" noGrp="1"/>
          </p:cNvSpPr>
          <p:nvPr/>
        </p:nvSpPr>
        <p:spPr>
          <a:xfrm xmlns:a="http://schemas.openxmlformats.org/drawingml/2006/main">
            <a:off x="457200" y="3108960"/>
            <a:ext cx="73152" cy="41148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5846D8A-ECB3-454E-9A32-A66BB2636A70}"/>
              </a:ext>
            </a:extLst>
          </p:cNvPr>
          <p:cNvSpPr>
            <a:spLocks xmlns:a="http://schemas.openxmlformats.org/drawingml/2006/main" noGrp="1"/>
          </p:cNvSpPr>
          <p:nvPr/>
        </p:nvSpPr>
        <p:spPr>
          <a:xfrm xmlns:a="http://schemas.openxmlformats.org/drawingml/2006/main">
            <a:off x="640080" y="309067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BB88FF"/>
                </a:solidFill>
                <a:latin typeface="Calibri"/>
                <a:ea typeface="Calibri"/>
                <a:cs typeface="Calibri"/>
              </a:defRPr>
            </a:pPr>
            <a:r>
              <a:t>5. R² incorrecto</a:t>
            </a:r>
            <a:endParaRPr/>
          </a:p>
        </p:txBody>
      </p:sp>
      <p:sp>
        <p:nvSpPr>
          <p:cNvPr id="18" name="TextBox 17">
            <a:extLst xmlns:a="http://schemas.openxmlformats.org/drawingml/2006/main">
              <a:ext uri="{FF2B5EF4-FFF2-40B4-BE49-F238E27FC236}">
                <a16:creationId xmlns:a16="http://schemas.microsoft.com/office/drawing/2014/main" id="{99316B33-0AB8-4F65-9B9A-4583A5DF9CDD}"/>
              </a:ext>
            </a:extLst>
          </p:cNvPr>
          <p:cNvSpPr>
            <a:spLocks xmlns:a="http://schemas.openxmlformats.org/drawingml/2006/main" noGrp="1"/>
          </p:cNvSpPr>
          <p:nvPr/>
        </p:nvSpPr>
        <p:spPr>
          <a:xfrm xmlns:a="http://schemas.openxmlformats.org/drawingml/2006/main">
            <a:off x="3474720" y="309067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Interpretar incorrectamente R² con datos nuevos</a:t>
            </a:r>
            <a:endParaRPr/>
          </a:p>
        </p:txBody>
      </p:sp>
      <p:sp>
        <p:nvSpPr>
          <p:cNvPr id="19" name="Rectangle 18">
            <a:extLst xmlns:a="http://schemas.openxmlformats.org/drawingml/2006/main">
              <a:ext uri="{FF2B5EF4-FFF2-40B4-BE49-F238E27FC236}">
                <a16:creationId xmlns:a16="http://schemas.microsoft.com/office/drawing/2014/main" id="{BC8A6A1C-4E6A-4DA3-BF5C-96BEDCB14642}"/>
              </a:ext>
            </a:extLst>
          </p:cNvPr>
          <p:cNvSpPr>
            <a:spLocks xmlns:a="http://schemas.openxmlformats.org/drawingml/2006/main" noGrp="1"/>
          </p:cNvSpPr>
          <p:nvPr/>
        </p:nvSpPr>
        <p:spPr>
          <a:xfrm xmlns:a="http://schemas.openxmlformats.org/drawingml/2006/main">
            <a:off x="457200" y="3657600"/>
            <a:ext cx="73152" cy="41148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4607B640-86C9-4662-8097-CB9AFC2E9C58}"/>
              </a:ext>
            </a:extLst>
          </p:cNvPr>
          <p:cNvSpPr>
            <a:spLocks xmlns:a="http://schemas.openxmlformats.org/drawingml/2006/main" noGrp="1"/>
          </p:cNvSpPr>
          <p:nvPr/>
        </p:nvSpPr>
        <p:spPr>
          <a:xfrm xmlns:a="http://schemas.openxmlformats.org/drawingml/2006/main">
            <a:off x="640080" y="363931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D9FF"/>
                </a:solidFill>
                <a:latin typeface="Calibri"/>
                <a:ea typeface="Calibri"/>
                <a:cs typeface="Calibri"/>
              </a:defRPr>
            </a:pPr>
            <a:r>
              <a:t>6. Bucles for en Polars</a:t>
            </a:r>
            <a:endParaRPr/>
          </a:p>
        </p:txBody>
      </p:sp>
      <p:sp>
        <p:nvSpPr>
          <p:cNvPr id="21" name="TextBox 20">
            <a:extLst xmlns:a="http://schemas.openxmlformats.org/drawingml/2006/main">
              <a:ext uri="{FF2B5EF4-FFF2-40B4-BE49-F238E27FC236}">
                <a16:creationId xmlns:a16="http://schemas.microsoft.com/office/drawing/2014/main" id="{4D4E8B5C-3EF1-4093-BD47-3444ADBFA21F}"/>
              </a:ext>
            </a:extLst>
          </p:cNvPr>
          <p:cNvSpPr>
            <a:spLocks xmlns:a="http://schemas.openxmlformats.org/drawingml/2006/main" noGrp="1"/>
          </p:cNvSpPr>
          <p:nvPr/>
        </p:nvSpPr>
        <p:spPr>
          <a:xfrm xmlns:a="http://schemas.openxmlformats.org/drawingml/2006/main">
            <a:off x="3474720" y="363931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Usar .apply() en lugar de expresiones nativas</a:t>
            </a:r>
            <a:endParaRPr/>
          </a:p>
        </p:txBody>
      </p:sp>
      <p:sp>
        <p:nvSpPr>
          <p:cNvPr id="22" name="Rectangle 21">
            <a:extLst xmlns:a="http://schemas.openxmlformats.org/drawingml/2006/main">
              <a:ext uri="{FF2B5EF4-FFF2-40B4-BE49-F238E27FC236}">
                <a16:creationId xmlns:a16="http://schemas.microsoft.com/office/drawing/2014/main" id="{F527EB7A-111B-4876-AF54-10A65540B39C}"/>
              </a:ext>
            </a:extLst>
          </p:cNvPr>
          <p:cNvSpPr>
            <a:spLocks xmlns:a="http://schemas.openxmlformats.org/drawingml/2006/main" noGrp="1"/>
          </p:cNvSpPr>
          <p:nvPr/>
        </p:nvSpPr>
        <p:spPr>
          <a:xfrm xmlns:a="http://schemas.openxmlformats.org/drawingml/2006/main">
            <a:off x="457200" y="4206240"/>
            <a:ext cx="73152" cy="41148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B7377C76-2196-4960-92F1-8856E31EEB03}"/>
              </a:ext>
            </a:extLst>
          </p:cNvPr>
          <p:cNvSpPr>
            <a:spLocks xmlns:a="http://schemas.openxmlformats.org/drawingml/2006/main" noGrp="1"/>
          </p:cNvSpPr>
          <p:nvPr/>
        </p:nvSpPr>
        <p:spPr>
          <a:xfrm xmlns:a="http://schemas.openxmlformats.org/drawingml/2006/main">
            <a:off x="640080" y="418795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D9FF"/>
                </a:solidFill>
                <a:latin typeface="Calibri"/>
                <a:ea typeface="Calibri"/>
                <a:cs typeface="Calibri"/>
              </a:defRPr>
            </a:pPr>
            <a:r>
              <a:t>7. No usar la API Lazy</a:t>
            </a:r>
            <a:endParaRPr/>
          </a:p>
        </p:txBody>
      </p:sp>
      <p:sp>
        <p:nvSpPr>
          <p:cNvPr id="24" name="TextBox 23">
            <a:extLst xmlns:a="http://schemas.openxmlformats.org/drawingml/2006/main">
              <a:ext uri="{FF2B5EF4-FFF2-40B4-BE49-F238E27FC236}">
                <a16:creationId xmlns:a16="http://schemas.microsoft.com/office/drawing/2014/main" id="{BA3750D7-4B53-43D4-B8C9-4B1C59BF8662}"/>
              </a:ext>
            </a:extLst>
          </p:cNvPr>
          <p:cNvSpPr>
            <a:spLocks xmlns:a="http://schemas.openxmlformats.org/drawingml/2006/main" noGrp="1"/>
          </p:cNvSpPr>
          <p:nvPr/>
        </p:nvSpPr>
        <p:spPr>
          <a:xfrm xmlns:a="http://schemas.openxmlformats.org/drawingml/2006/main">
            <a:off x="3474720" y="418795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Cargar 3 M de filas con read_csv() en lugar de scan_csv()</a:t>
            </a:r>
            <a:endParaRPr/>
          </a:p>
        </p:txBody>
      </p:sp>
      <p:sp>
        <p:nvSpPr>
          <p:cNvPr id="25" name="Rectangle 24">
            <a:extLst xmlns:a="http://schemas.openxmlformats.org/drawingml/2006/main">
              <a:ext uri="{FF2B5EF4-FFF2-40B4-BE49-F238E27FC236}">
                <a16:creationId xmlns:a16="http://schemas.microsoft.com/office/drawing/2014/main" id="{3BE034C2-27A7-446B-9FE0-5B525E358562}"/>
              </a:ext>
            </a:extLst>
          </p:cNvPr>
          <p:cNvSpPr>
            <a:spLocks xmlns:a="http://schemas.openxmlformats.org/drawingml/2006/main" noGrp="1"/>
          </p:cNvSpPr>
          <p:nvPr/>
        </p:nvSpPr>
        <p:spPr>
          <a:xfrm xmlns:a="http://schemas.openxmlformats.org/drawingml/2006/main">
            <a:off x="457200" y="4754880"/>
            <a:ext cx="73152" cy="41148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44450D66-E30E-4449-A4E6-48EFDD302C37}"/>
              </a:ext>
            </a:extLst>
          </p:cNvPr>
          <p:cNvSpPr>
            <a:spLocks xmlns:a="http://schemas.openxmlformats.org/drawingml/2006/main" noGrp="1"/>
          </p:cNvSpPr>
          <p:nvPr/>
        </p:nvSpPr>
        <p:spPr>
          <a:xfrm xmlns:a="http://schemas.openxmlformats.org/drawingml/2006/main">
            <a:off x="640080" y="473659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FF88"/>
                </a:solidFill>
                <a:latin typeface="Calibri"/>
                <a:ea typeface="Calibri"/>
                <a:cs typeface="Calibri"/>
              </a:defRPr>
            </a:pPr>
            <a:r>
              <a:t>8. Olvidar Streaming</a:t>
            </a:r>
            <a:endParaRPr/>
          </a:p>
        </p:txBody>
      </p:sp>
      <p:sp>
        <p:nvSpPr>
          <p:cNvPr id="27" name="TextBox 26">
            <a:extLst xmlns:a="http://schemas.openxmlformats.org/drawingml/2006/main">
              <a:ext uri="{FF2B5EF4-FFF2-40B4-BE49-F238E27FC236}">
                <a16:creationId xmlns:a16="http://schemas.microsoft.com/office/drawing/2014/main" id="{AB21A747-1E52-4B41-83EC-67E5BEA42A6C}"/>
              </a:ext>
            </a:extLst>
          </p:cNvPr>
          <p:cNvSpPr>
            <a:spLocks xmlns:a="http://schemas.openxmlformats.org/drawingml/2006/main" noGrp="1"/>
          </p:cNvSpPr>
          <p:nvPr/>
        </p:nvSpPr>
        <p:spPr>
          <a:xfrm xmlns:a="http://schemas.openxmlformats.org/drawingml/2006/main">
            <a:off x="3474720" y="473659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Memoria agotada con datos grandes sin collect(streaming=True)</a:t>
            </a:r>
            <a:endParaRPr/>
          </a:p>
        </p:txBody>
      </p:sp>
      <p:sp>
        <p:nvSpPr>
          <p:cNvPr id="28" name="Rectangle 27">
            <a:extLst xmlns:a="http://schemas.openxmlformats.org/drawingml/2006/main">
              <a:ext uri="{FF2B5EF4-FFF2-40B4-BE49-F238E27FC236}">
                <a16:creationId xmlns:a16="http://schemas.microsoft.com/office/drawing/2014/main" id="{74B24C45-7E8C-4653-9CC5-43E73739B3C9}"/>
              </a:ext>
            </a:extLst>
          </p:cNvPr>
          <p:cNvSpPr>
            <a:spLocks xmlns:a="http://schemas.openxmlformats.org/drawingml/2006/main" noGrp="1"/>
          </p:cNvSpPr>
          <p:nvPr/>
        </p:nvSpPr>
        <p:spPr>
          <a:xfrm xmlns:a="http://schemas.openxmlformats.org/drawingml/2006/main">
            <a:off x="457200" y="5303520"/>
            <a:ext cx="73152" cy="41148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F01080DC-933A-4E98-A8D8-5AB7C3A977DE}"/>
              </a:ext>
            </a:extLst>
          </p:cNvPr>
          <p:cNvSpPr>
            <a:spLocks xmlns:a="http://schemas.openxmlformats.org/drawingml/2006/main" noGrp="1"/>
          </p:cNvSpPr>
          <p:nvPr/>
        </p:nvSpPr>
        <p:spPr>
          <a:xfrm xmlns:a="http://schemas.openxmlformats.org/drawingml/2006/main">
            <a:off x="640080" y="5285232"/>
            <a:ext cx="27432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FF88"/>
                </a:solidFill>
                <a:latin typeface="Calibri"/>
                <a:ea typeface="Calibri"/>
                <a:cs typeface="Calibri"/>
              </a:defRPr>
            </a:pPr>
            <a:r>
              <a:t>9. No hacer comparativas</a:t>
            </a:r>
            <a:endParaRPr/>
          </a:p>
        </p:txBody>
      </p:sp>
      <p:sp>
        <p:nvSpPr>
          <p:cNvPr id="30" name="TextBox 29">
            <a:extLst xmlns:a="http://schemas.openxmlformats.org/drawingml/2006/main">
              <a:ext uri="{FF2B5EF4-FFF2-40B4-BE49-F238E27FC236}">
                <a16:creationId xmlns:a16="http://schemas.microsoft.com/office/drawing/2014/main" id="{CE2200A0-C519-4D57-AE69-5D8550794D8E}"/>
              </a:ext>
            </a:extLst>
          </p:cNvPr>
          <p:cNvSpPr>
            <a:spLocks xmlns:a="http://schemas.openxmlformats.org/drawingml/2006/main" noGrp="1"/>
          </p:cNvSpPr>
          <p:nvPr/>
        </p:nvSpPr>
        <p:spPr>
          <a:xfrm xmlns:a="http://schemas.openxmlformats.org/drawingml/2006/main">
            <a:off x="3474720" y="5285232"/>
            <a:ext cx="82296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No comparar el tiempo de Polars y pandas</a:t>
            </a:r>
            <a:endParaRPr/>
          </a:p>
        </p:txBody>
      </p:sp>
      <p:sp>
        <p:nvSpPr>
          <p:cNvPr id="31" name="TextBox 30">
            <a:extLst xmlns:a="http://schemas.openxmlformats.org/drawingml/2006/main">
              <a:ext uri="{FF2B5EF4-FFF2-40B4-BE49-F238E27FC236}">
                <a16:creationId xmlns:a16="http://schemas.microsoft.com/office/drawing/2014/main" id="{0505CCA9-5966-4FFE-9028-84D81C8BF67F}"/>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35</a:t>
            </a:r>
            <a:endParaRPr/>
          </a:p>
        </p:txBody>
      </p:sp>
    </p:spTree>
    <p:extLst>
      <p:ext uri="{BB962C8B-B14F-4D97-AF65-F5344CB8AC3E}">
        <p14:creationId xmlns:p14="http://schemas.microsoft.com/office/powerpoint/2010/main" val="766820207"/>
      </p:ext>
    </p:extLst>
  </p:cSld>
</p:sld>
</file>

<file path=ppt/slides/slide35.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FDCF745-09F0-4FAE-A750-472405DA59BB}"/>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798D4C3D-C51A-44CC-A637-A995B5867F6F}"/>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Fuentes de datos y bibliotecas</a:t>
            </a:r>
            <a:endParaRPr/>
          </a:p>
        </p:txBody>
      </p:sp>
      <p:sp>
        <p:nvSpPr>
          <p:cNvPr id="4" name="TextBox 3">
            <a:extLst xmlns:a="http://schemas.openxmlformats.org/drawingml/2006/main">
              <a:ext uri="{FF2B5EF4-FFF2-40B4-BE49-F238E27FC236}">
                <a16:creationId xmlns:a16="http://schemas.microsoft.com/office/drawing/2014/main" id="{9FBF9A07-48C3-4EA8-8220-B81ACDF64A72}"/>
              </a:ext>
            </a:extLst>
          </p:cNvPr>
          <p:cNvSpPr>
            <a:spLocks xmlns:a="http://schemas.openxmlformats.org/drawingml/2006/main" noGrp="1"/>
          </p:cNvSpPr>
          <p:nvPr/>
        </p:nvSpPr>
        <p:spPr>
          <a:xfrm xmlns:a="http://schemas.openxmlformats.org/drawingml/2006/main">
            <a:off x="45720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Fuentes de conjuntos de datos:</a:t>
            </a:r>
            <a:endParaRPr/>
          </a:p>
        </p:txBody>
      </p:sp>
      <p:sp>
        <p:nvSpPr>
          <p:cNvPr id="5" name="Rectangle 4">
            <a:extLst xmlns:a="http://schemas.openxmlformats.org/drawingml/2006/main">
              <a:ext uri="{FF2B5EF4-FFF2-40B4-BE49-F238E27FC236}">
                <a16:creationId xmlns:a16="http://schemas.microsoft.com/office/drawing/2014/main" id="{4B6F469F-C295-49C4-8C96-5F6241BD41C8}"/>
              </a:ext>
            </a:extLst>
          </p:cNvPr>
          <p:cNvSpPr>
            <a:spLocks xmlns:a="http://schemas.openxmlformats.org/drawingml/2006/main" noGrp="1"/>
          </p:cNvSpPr>
          <p:nvPr/>
        </p:nvSpPr>
        <p:spPr>
          <a:xfrm xmlns:a="http://schemas.openxmlformats.org/drawingml/2006/main">
            <a:off x="457200" y="1280160"/>
            <a:ext cx="73152" cy="32004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7A32A7D-D372-4921-91AC-2BA4CFF502A6}"/>
              </a:ext>
            </a:extLst>
          </p:cNvPr>
          <p:cNvSpPr>
            <a:spLocks xmlns:a="http://schemas.openxmlformats.org/drawingml/2006/main" noGrp="1"/>
          </p:cNvSpPr>
          <p:nvPr/>
        </p:nvSpPr>
        <p:spPr>
          <a:xfrm xmlns:a="http://schemas.openxmlformats.org/drawingml/2006/main">
            <a:off x="640080" y="1261872"/>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D9FF"/>
                </a:solidFill>
                <a:latin typeface="Calibri"/>
                <a:ea typeface="Calibri"/>
                <a:cs typeface="Calibri"/>
              </a:defRPr>
            </a:pPr>
            <a:r>
              <a:t>Kaggle</a:t>
            </a:r>
            <a:endParaRPr/>
          </a:p>
        </p:txBody>
      </p:sp>
      <p:sp>
        <p:nvSpPr>
          <p:cNvPr id="7" name="TextBox 6">
            <a:extLst xmlns:a="http://schemas.openxmlformats.org/drawingml/2006/main">
              <a:ext uri="{FF2B5EF4-FFF2-40B4-BE49-F238E27FC236}">
                <a16:creationId xmlns:a16="http://schemas.microsoft.com/office/drawing/2014/main" id="{03F213B1-2DBA-4498-8646-3EEFCBD37E00}"/>
              </a:ext>
            </a:extLst>
          </p:cNvPr>
          <p:cNvSpPr>
            <a:spLocks xmlns:a="http://schemas.openxmlformats.org/drawingml/2006/main" noGrp="1"/>
          </p:cNvSpPr>
          <p:nvPr/>
        </p:nvSpPr>
        <p:spPr>
          <a:xfrm xmlns:a="http://schemas.openxmlformats.org/drawingml/2006/main">
            <a:off x="2926080" y="126187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https://www.kaggle.com/datasets</a:t>
            </a:r>
            <a:endParaRPr/>
          </a:p>
        </p:txBody>
      </p:sp>
      <p:sp>
        <p:nvSpPr>
          <p:cNvPr id="8" name="Rectangle 7">
            <a:extLst xmlns:a="http://schemas.openxmlformats.org/drawingml/2006/main">
              <a:ext uri="{FF2B5EF4-FFF2-40B4-BE49-F238E27FC236}">
                <a16:creationId xmlns:a16="http://schemas.microsoft.com/office/drawing/2014/main" id="{C63BFD0A-925C-4F47-88E5-F1D24679EF74}"/>
              </a:ext>
            </a:extLst>
          </p:cNvPr>
          <p:cNvSpPr>
            <a:spLocks xmlns:a="http://schemas.openxmlformats.org/drawingml/2006/main" noGrp="1"/>
          </p:cNvSpPr>
          <p:nvPr/>
        </p:nvSpPr>
        <p:spPr>
          <a:xfrm xmlns:a="http://schemas.openxmlformats.org/drawingml/2006/main">
            <a:off x="457200" y="1691639"/>
            <a:ext cx="73152" cy="32004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9BDC0F5-A22F-485D-8E9F-7414382BA00C}"/>
              </a:ext>
            </a:extLst>
          </p:cNvPr>
          <p:cNvSpPr>
            <a:spLocks xmlns:a="http://schemas.openxmlformats.org/drawingml/2006/main" noGrp="1"/>
          </p:cNvSpPr>
          <p:nvPr/>
        </p:nvSpPr>
        <p:spPr>
          <a:xfrm xmlns:a="http://schemas.openxmlformats.org/drawingml/2006/main">
            <a:off x="640080" y="1673351"/>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00FF88"/>
                </a:solidFill>
                <a:latin typeface="Calibri"/>
                <a:ea typeface="Calibri"/>
                <a:cs typeface="Calibri"/>
              </a:defRPr>
            </a:pPr>
            <a:r>
              <a:t>UCI ML Repository</a:t>
            </a:r>
            <a:endParaRPr/>
          </a:p>
        </p:txBody>
      </p:sp>
      <p:sp>
        <p:nvSpPr>
          <p:cNvPr id="10" name="TextBox 9">
            <a:extLst xmlns:a="http://schemas.openxmlformats.org/drawingml/2006/main">
              <a:ext uri="{FF2B5EF4-FFF2-40B4-BE49-F238E27FC236}">
                <a16:creationId xmlns:a16="http://schemas.microsoft.com/office/drawing/2014/main" id="{3A02D1F9-0B9E-43DB-8A31-0940B678D127}"/>
              </a:ext>
            </a:extLst>
          </p:cNvPr>
          <p:cNvSpPr>
            <a:spLocks xmlns:a="http://schemas.openxmlformats.org/drawingml/2006/main" noGrp="1"/>
          </p:cNvSpPr>
          <p:nvPr/>
        </p:nvSpPr>
        <p:spPr>
          <a:xfrm xmlns:a="http://schemas.openxmlformats.org/drawingml/2006/main">
            <a:off x="2926080" y="1673351"/>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https://archive.ics.uci.edu/</a:t>
            </a:r>
            <a:endParaRPr/>
          </a:p>
        </p:txBody>
      </p:sp>
      <p:sp>
        <p:nvSpPr>
          <p:cNvPr id="11" name="Rectangle 10">
            <a:extLst xmlns:a="http://schemas.openxmlformats.org/drawingml/2006/main">
              <a:ext uri="{FF2B5EF4-FFF2-40B4-BE49-F238E27FC236}">
                <a16:creationId xmlns:a16="http://schemas.microsoft.com/office/drawing/2014/main" id="{65B275E0-29B1-4591-841D-D3668F6569F3}"/>
              </a:ext>
            </a:extLst>
          </p:cNvPr>
          <p:cNvSpPr>
            <a:spLocks xmlns:a="http://schemas.openxmlformats.org/drawingml/2006/main" noGrp="1"/>
          </p:cNvSpPr>
          <p:nvPr/>
        </p:nvSpPr>
        <p:spPr>
          <a:xfrm xmlns:a="http://schemas.openxmlformats.org/drawingml/2006/main">
            <a:off x="457200" y="2103120"/>
            <a:ext cx="73152" cy="32004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D6C7D76-D40C-4142-9A20-442437104188}"/>
              </a:ext>
            </a:extLst>
          </p:cNvPr>
          <p:cNvSpPr>
            <a:spLocks xmlns:a="http://schemas.openxmlformats.org/drawingml/2006/main" noGrp="1"/>
          </p:cNvSpPr>
          <p:nvPr/>
        </p:nvSpPr>
        <p:spPr>
          <a:xfrm xmlns:a="http://schemas.openxmlformats.org/drawingml/2006/main">
            <a:off x="640080" y="2084831"/>
            <a:ext cx="2286000" cy="4876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FFA000"/>
                </a:solidFill>
                <a:latin typeface="Calibri"/>
                <a:ea typeface="Calibri"/>
                <a:cs typeface="Calibri"/>
              </a:defRPr>
            </a:pPr>
            <a:r>
              <a:t>Conjuntos de datos de scikit-learn</a:t>
            </a:r>
            <a:endParaRPr/>
          </a:p>
        </p:txBody>
      </p:sp>
      <p:sp>
        <p:nvSpPr>
          <p:cNvPr id="13" name="TextBox 12">
            <a:extLst xmlns:a="http://schemas.openxmlformats.org/drawingml/2006/main">
              <a:ext uri="{FF2B5EF4-FFF2-40B4-BE49-F238E27FC236}">
                <a16:creationId xmlns:a16="http://schemas.microsoft.com/office/drawing/2014/main" id="{24B4B3FA-200F-4D4D-ACB6-6A98349A93CF}"/>
              </a:ext>
            </a:extLst>
          </p:cNvPr>
          <p:cNvSpPr>
            <a:spLocks xmlns:a="http://schemas.openxmlformats.org/drawingml/2006/main" noGrp="1"/>
          </p:cNvSpPr>
          <p:nvPr/>
        </p:nvSpPr>
        <p:spPr>
          <a:xfrm xmlns:a="http://schemas.openxmlformats.org/drawingml/2006/main">
            <a:off x="2926080" y="2084831"/>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https://scikit-learn.org/</a:t>
            </a:r>
            <a:endParaRPr/>
          </a:p>
        </p:txBody>
      </p:sp>
      <p:sp>
        <p:nvSpPr>
          <p:cNvPr id="14" name="Rectangle 13">
            <a:extLst xmlns:a="http://schemas.openxmlformats.org/drawingml/2006/main">
              <a:ext uri="{FF2B5EF4-FFF2-40B4-BE49-F238E27FC236}">
                <a16:creationId xmlns:a16="http://schemas.microsoft.com/office/drawing/2014/main" id="{D6910362-B685-4FE0-972D-CAA108A71130}"/>
              </a:ext>
            </a:extLst>
          </p:cNvPr>
          <p:cNvSpPr>
            <a:spLocks xmlns:a="http://schemas.openxmlformats.org/drawingml/2006/main" noGrp="1"/>
          </p:cNvSpPr>
          <p:nvPr/>
        </p:nvSpPr>
        <p:spPr>
          <a:xfrm xmlns:a="http://schemas.openxmlformats.org/drawingml/2006/main">
            <a:off x="457200" y="2514600"/>
            <a:ext cx="73152" cy="32004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A775D7A-D862-4699-B20D-A7D2A476111A}"/>
              </a:ext>
            </a:extLst>
          </p:cNvPr>
          <p:cNvSpPr>
            <a:spLocks xmlns:a="http://schemas.openxmlformats.org/drawingml/2006/main" noGrp="1"/>
          </p:cNvSpPr>
          <p:nvPr/>
        </p:nvSpPr>
        <p:spPr>
          <a:xfrm xmlns:a="http://schemas.openxmlformats.org/drawingml/2006/main">
            <a:off x="640080" y="2496312"/>
            <a:ext cx="22860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1">
                <a:solidFill>
                  <a:srgbClr val="BB88FF"/>
                </a:solidFill>
                <a:latin typeface="Calibri"/>
                <a:ea typeface="Calibri"/>
                <a:cs typeface="Calibri"/>
              </a:defRPr>
            </a:pPr>
            <a:r>
              <a:t>seaborn-data</a:t>
            </a:r>
            <a:endParaRPr/>
          </a:p>
        </p:txBody>
      </p:sp>
      <p:sp>
        <p:nvSpPr>
          <p:cNvPr id="16" name="TextBox 15">
            <a:extLst xmlns:a="http://schemas.openxmlformats.org/drawingml/2006/main">
              <a:ext uri="{FF2B5EF4-FFF2-40B4-BE49-F238E27FC236}">
                <a16:creationId xmlns:a16="http://schemas.microsoft.com/office/drawing/2014/main" id="{8F4CADFC-7D7F-459F-8F9E-927BA3D38D3F}"/>
              </a:ext>
            </a:extLst>
          </p:cNvPr>
          <p:cNvSpPr>
            <a:spLocks xmlns:a="http://schemas.openxmlformats.org/drawingml/2006/main" noGrp="1"/>
          </p:cNvSpPr>
          <p:nvPr/>
        </p:nvSpPr>
        <p:spPr>
          <a:xfrm xmlns:a="http://schemas.openxmlformats.org/drawingml/2006/main">
            <a:off x="2926080" y="2496312"/>
            <a:ext cx="3200400" cy="2743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100" b="0">
                <a:solidFill>
                  <a:srgbClr val="B0B0C0"/>
                </a:solidFill>
                <a:latin typeface="Calibri"/>
                <a:ea typeface="Calibri"/>
                <a:cs typeface="Calibri"/>
              </a:defRPr>
            </a:pPr>
            <a:r>
              <a:t>https://github.com/mwaskom/seaborn-data</a:t>
            </a:r>
            <a:endParaRPr/>
          </a:p>
        </p:txBody>
      </p:sp>
      <p:sp>
        <p:nvSpPr>
          <p:cNvPr id="17" name="TextBox 16">
            <a:extLst xmlns:a="http://schemas.openxmlformats.org/drawingml/2006/main">
              <a:ext uri="{FF2B5EF4-FFF2-40B4-BE49-F238E27FC236}">
                <a16:creationId xmlns:a16="http://schemas.microsoft.com/office/drawing/2014/main" id="{B575F55F-6801-4A64-BB2B-42A0F4037EB9}"/>
              </a:ext>
            </a:extLst>
          </p:cNvPr>
          <p:cNvSpPr>
            <a:spLocks xmlns:a="http://schemas.openxmlformats.org/drawingml/2006/main" noGrp="1"/>
          </p:cNvSpPr>
          <p:nvPr/>
        </p:nvSpPr>
        <p:spPr>
          <a:xfrm xmlns:a="http://schemas.openxmlformats.org/drawingml/2006/main">
            <a:off x="6217920" y="914400"/>
            <a:ext cx="548640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500" b="1">
                <a:solidFill>
                  <a:srgbClr val="FFFFFF"/>
                </a:solidFill>
                <a:latin typeface="Calibri"/>
                <a:ea typeface="Calibri"/>
                <a:cs typeface="Calibri"/>
              </a:defRPr>
            </a:pPr>
            <a:r>
              <a:t>Bibliotecas:</a:t>
            </a:r>
            <a:endParaRPr/>
          </a:p>
        </p:txBody>
      </p:sp>
      <p:sp>
        <p:nvSpPr>
          <p:cNvPr id="18" name="Rectangle 17">
            <a:extLst xmlns:a="http://schemas.openxmlformats.org/drawingml/2006/main">
              <a:ext uri="{FF2B5EF4-FFF2-40B4-BE49-F238E27FC236}">
                <a16:creationId xmlns:a16="http://schemas.microsoft.com/office/drawing/2014/main" id="{A3B6D77B-A3DC-47B8-948F-188304970208}"/>
              </a:ext>
            </a:extLst>
          </p:cNvPr>
          <p:cNvSpPr>
            <a:spLocks xmlns:a="http://schemas.openxmlformats.org/drawingml/2006/main" noGrp="1"/>
          </p:cNvSpPr>
          <p:nvPr/>
        </p:nvSpPr>
        <p:spPr>
          <a:xfrm xmlns:a="http://schemas.openxmlformats.org/drawingml/2006/main">
            <a:off x="6217920" y="1280160"/>
            <a:ext cx="73152" cy="27432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F30A18A-51A2-4870-B148-C866469C58A0}"/>
              </a:ext>
            </a:extLst>
          </p:cNvPr>
          <p:cNvSpPr>
            <a:spLocks xmlns:a="http://schemas.openxmlformats.org/drawingml/2006/main" noGrp="1"/>
          </p:cNvSpPr>
          <p:nvPr/>
        </p:nvSpPr>
        <p:spPr>
          <a:xfrm xmlns:a="http://schemas.openxmlformats.org/drawingml/2006/main">
            <a:off x="6400800" y="126187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D9FF"/>
                </a:solidFill>
                <a:latin typeface="Calibri"/>
                <a:ea typeface="Calibri"/>
                <a:cs typeface="Calibri"/>
              </a:defRPr>
            </a:pPr>
            <a:r>
              <a:t>Polars</a:t>
            </a:r>
            <a:endParaRPr/>
          </a:p>
        </p:txBody>
      </p:sp>
      <p:sp>
        <p:nvSpPr>
          <p:cNvPr id="20" name="TextBox 19">
            <a:extLst xmlns:a="http://schemas.openxmlformats.org/drawingml/2006/main">
              <a:ext uri="{FF2B5EF4-FFF2-40B4-BE49-F238E27FC236}">
                <a16:creationId xmlns:a16="http://schemas.microsoft.com/office/drawing/2014/main" id="{2A64075C-38E4-4803-8128-A28DFCB3A7CA}"/>
              </a:ext>
            </a:extLst>
          </p:cNvPr>
          <p:cNvSpPr>
            <a:spLocks xmlns:a="http://schemas.openxmlformats.org/drawingml/2006/main" noGrp="1"/>
          </p:cNvSpPr>
          <p:nvPr/>
        </p:nvSpPr>
        <p:spPr>
          <a:xfrm xmlns:a="http://schemas.openxmlformats.org/drawingml/2006/main">
            <a:off x="9144000" y="126187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https://pola.rs/</a:t>
            </a:r>
            <a:endParaRPr/>
          </a:p>
        </p:txBody>
      </p:sp>
      <p:sp>
        <p:nvSpPr>
          <p:cNvPr id="21" name="Rectangle 20">
            <a:extLst xmlns:a="http://schemas.openxmlformats.org/drawingml/2006/main">
              <a:ext uri="{FF2B5EF4-FFF2-40B4-BE49-F238E27FC236}">
                <a16:creationId xmlns:a16="http://schemas.microsoft.com/office/drawing/2014/main" id="{EB20F42D-119D-4276-B3E1-88E4BD485837}"/>
              </a:ext>
            </a:extLst>
          </p:cNvPr>
          <p:cNvSpPr>
            <a:spLocks xmlns:a="http://schemas.openxmlformats.org/drawingml/2006/main" noGrp="1"/>
          </p:cNvSpPr>
          <p:nvPr/>
        </p:nvSpPr>
        <p:spPr>
          <a:xfrm xmlns:a="http://schemas.openxmlformats.org/drawingml/2006/main">
            <a:off x="6217920" y="1645919"/>
            <a:ext cx="73152" cy="27432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15F255F0-2A83-490E-AC70-371730BF674B}"/>
              </a:ext>
            </a:extLst>
          </p:cNvPr>
          <p:cNvSpPr>
            <a:spLocks xmlns:a="http://schemas.openxmlformats.org/drawingml/2006/main" noGrp="1"/>
          </p:cNvSpPr>
          <p:nvPr/>
        </p:nvSpPr>
        <p:spPr>
          <a:xfrm xmlns:a="http://schemas.openxmlformats.org/drawingml/2006/main">
            <a:off x="6400800" y="1627631"/>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A000"/>
                </a:solidFill>
                <a:latin typeface="Calibri"/>
                <a:ea typeface="Calibri"/>
                <a:cs typeface="Calibri"/>
              </a:defRPr>
            </a:pPr>
            <a:r>
              <a:t>Optuna</a:t>
            </a:r>
            <a:endParaRPr/>
          </a:p>
        </p:txBody>
      </p:sp>
      <p:sp>
        <p:nvSpPr>
          <p:cNvPr id="23" name="TextBox 22">
            <a:extLst xmlns:a="http://schemas.openxmlformats.org/drawingml/2006/main">
              <a:ext uri="{FF2B5EF4-FFF2-40B4-BE49-F238E27FC236}">
                <a16:creationId xmlns:a16="http://schemas.microsoft.com/office/drawing/2014/main" id="{1F383F11-AAE3-4643-B46C-AFE5A16B5585}"/>
              </a:ext>
            </a:extLst>
          </p:cNvPr>
          <p:cNvSpPr>
            <a:spLocks xmlns:a="http://schemas.openxmlformats.org/drawingml/2006/main" noGrp="1"/>
          </p:cNvSpPr>
          <p:nvPr/>
        </p:nvSpPr>
        <p:spPr>
          <a:xfrm xmlns:a="http://schemas.openxmlformats.org/drawingml/2006/main">
            <a:off x="9144000" y="1627631"/>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https://optuna.org/</a:t>
            </a:r>
            <a:endParaRPr/>
          </a:p>
        </p:txBody>
      </p:sp>
      <p:sp>
        <p:nvSpPr>
          <p:cNvPr id="24" name="Rectangle 23">
            <a:extLst xmlns:a="http://schemas.openxmlformats.org/drawingml/2006/main">
              <a:ext uri="{FF2B5EF4-FFF2-40B4-BE49-F238E27FC236}">
                <a16:creationId xmlns:a16="http://schemas.microsoft.com/office/drawing/2014/main" id="{052B3E0D-7A68-4FFD-BB1B-5793DB837628}"/>
              </a:ext>
            </a:extLst>
          </p:cNvPr>
          <p:cNvSpPr>
            <a:spLocks xmlns:a="http://schemas.openxmlformats.org/drawingml/2006/main" noGrp="1"/>
          </p:cNvSpPr>
          <p:nvPr/>
        </p:nvSpPr>
        <p:spPr>
          <a:xfrm xmlns:a="http://schemas.openxmlformats.org/drawingml/2006/main">
            <a:off x="6217920" y="2011680"/>
            <a:ext cx="73152" cy="27432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B25F8CB-46BB-45E6-BC7B-930FAD832676}"/>
              </a:ext>
            </a:extLst>
          </p:cNvPr>
          <p:cNvSpPr>
            <a:spLocks xmlns:a="http://schemas.openxmlformats.org/drawingml/2006/main" noGrp="1"/>
          </p:cNvSpPr>
          <p:nvPr/>
        </p:nvSpPr>
        <p:spPr>
          <a:xfrm xmlns:a="http://schemas.openxmlformats.org/drawingml/2006/main">
            <a:off x="6400800" y="199339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5555"/>
                </a:solidFill>
                <a:latin typeface="Calibri"/>
                <a:ea typeface="Calibri"/>
                <a:cs typeface="Calibri"/>
              </a:defRPr>
            </a:pPr>
            <a:r>
              <a:t>SHAP</a:t>
            </a:r>
            <a:endParaRPr/>
          </a:p>
        </p:txBody>
      </p:sp>
      <p:sp>
        <p:nvSpPr>
          <p:cNvPr id="26" name="TextBox 25">
            <a:extLst xmlns:a="http://schemas.openxmlformats.org/drawingml/2006/main">
              <a:ext uri="{FF2B5EF4-FFF2-40B4-BE49-F238E27FC236}">
                <a16:creationId xmlns:a16="http://schemas.microsoft.com/office/drawing/2014/main" id="{77E7BBA9-5EA5-4D84-A2D2-B0E33561236F}"/>
              </a:ext>
            </a:extLst>
          </p:cNvPr>
          <p:cNvSpPr>
            <a:spLocks xmlns:a="http://schemas.openxmlformats.org/drawingml/2006/main" noGrp="1"/>
          </p:cNvSpPr>
          <p:nvPr/>
        </p:nvSpPr>
        <p:spPr>
          <a:xfrm xmlns:a="http://schemas.openxmlformats.org/drawingml/2006/main">
            <a:off x="9144000" y="199339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github.com/shap/shap</a:t>
            </a:r>
            <a:endParaRPr/>
          </a:p>
        </p:txBody>
      </p:sp>
      <p:sp>
        <p:nvSpPr>
          <p:cNvPr id="27" name="Rectangle 26">
            <a:extLst xmlns:a="http://schemas.openxmlformats.org/drawingml/2006/main">
              <a:ext uri="{FF2B5EF4-FFF2-40B4-BE49-F238E27FC236}">
                <a16:creationId xmlns:a16="http://schemas.microsoft.com/office/drawing/2014/main" id="{2C694B08-CCAA-42CD-BB36-32E543A48D0C}"/>
              </a:ext>
            </a:extLst>
          </p:cNvPr>
          <p:cNvSpPr>
            <a:spLocks xmlns:a="http://schemas.openxmlformats.org/drawingml/2006/main" noGrp="1"/>
          </p:cNvSpPr>
          <p:nvPr/>
        </p:nvSpPr>
        <p:spPr>
          <a:xfrm xmlns:a="http://schemas.openxmlformats.org/drawingml/2006/main">
            <a:off x="6217920" y="2377440"/>
            <a:ext cx="73152" cy="27432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13827AA1-FB01-4E79-A7BB-AA6D68C7F487}"/>
              </a:ext>
            </a:extLst>
          </p:cNvPr>
          <p:cNvSpPr>
            <a:spLocks xmlns:a="http://schemas.openxmlformats.org/drawingml/2006/main" noGrp="1"/>
          </p:cNvSpPr>
          <p:nvPr/>
        </p:nvSpPr>
        <p:spPr>
          <a:xfrm xmlns:a="http://schemas.openxmlformats.org/drawingml/2006/main">
            <a:off x="6400800" y="235915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5555"/>
                </a:solidFill>
                <a:latin typeface="Calibri"/>
                <a:ea typeface="Calibri"/>
                <a:cs typeface="Calibri"/>
              </a:defRPr>
            </a:pPr>
            <a:r>
              <a:t>DoWhy</a:t>
            </a:r>
            <a:endParaRPr/>
          </a:p>
        </p:txBody>
      </p:sp>
      <p:sp>
        <p:nvSpPr>
          <p:cNvPr id="29" name="TextBox 28">
            <a:extLst xmlns:a="http://schemas.openxmlformats.org/drawingml/2006/main">
              <a:ext uri="{FF2B5EF4-FFF2-40B4-BE49-F238E27FC236}">
                <a16:creationId xmlns:a16="http://schemas.microsoft.com/office/drawing/2014/main" id="{3FC0C7AB-39D7-4A09-B10C-0A85E9FBA6D8}"/>
              </a:ext>
            </a:extLst>
          </p:cNvPr>
          <p:cNvSpPr>
            <a:spLocks xmlns:a="http://schemas.openxmlformats.org/drawingml/2006/main" noGrp="1"/>
          </p:cNvSpPr>
          <p:nvPr/>
        </p:nvSpPr>
        <p:spPr>
          <a:xfrm xmlns:a="http://schemas.openxmlformats.org/drawingml/2006/main">
            <a:off x="9144000" y="235915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github.com/py-why/dowhy</a:t>
            </a:r>
            <a:endParaRPr/>
          </a:p>
        </p:txBody>
      </p:sp>
      <p:sp>
        <p:nvSpPr>
          <p:cNvPr id="30" name="Rectangle 29">
            <a:extLst xmlns:a="http://schemas.openxmlformats.org/drawingml/2006/main">
              <a:ext uri="{FF2B5EF4-FFF2-40B4-BE49-F238E27FC236}">
                <a16:creationId xmlns:a16="http://schemas.microsoft.com/office/drawing/2014/main" id="{D0F8A75D-0972-4950-A2A3-A72DD7D1EC36}"/>
              </a:ext>
            </a:extLst>
          </p:cNvPr>
          <p:cNvSpPr>
            <a:spLocks xmlns:a="http://schemas.openxmlformats.org/drawingml/2006/main" noGrp="1"/>
          </p:cNvSpPr>
          <p:nvPr/>
        </p:nvSpPr>
        <p:spPr>
          <a:xfrm xmlns:a="http://schemas.openxmlformats.org/drawingml/2006/main">
            <a:off x="6217920" y="2743200"/>
            <a:ext cx="73152" cy="27432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E52CE2C6-AB78-4DD1-8791-C11013AD26E9}"/>
              </a:ext>
            </a:extLst>
          </p:cNvPr>
          <p:cNvSpPr>
            <a:spLocks xmlns:a="http://schemas.openxmlformats.org/drawingml/2006/main" noGrp="1"/>
          </p:cNvSpPr>
          <p:nvPr/>
        </p:nvSpPr>
        <p:spPr>
          <a:xfrm xmlns:a="http://schemas.openxmlformats.org/drawingml/2006/main">
            <a:off x="6400800" y="2724911"/>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BB88FF"/>
                </a:solidFill>
                <a:latin typeface="Calibri"/>
                <a:ea typeface="Calibri"/>
                <a:cs typeface="Calibri"/>
              </a:defRPr>
            </a:pPr>
            <a:r>
              <a:t>MAPIE</a:t>
            </a:r>
            <a:endParaRPr/>
          </a:p>
        </p:txBody>
      </p:sp>
      <p:sp>
        <p:nvSpPr>
          <p:cNvPr id="32" name="TextBox 31">
            <a:extLst xmlns:a="http://schemas.openxmlformats.org/drawingml/2006/main">
              <a:ext uri="{FF2B5EF4-FFF2-40B4-BE49-F238E27FC236}">
                <a16:creationId xmlns:a16="http://schemas.microsoft.com/office/drawing/2014/main" id="{7A475D1A-D07B-40A8-92E8-F75B6B0C8E74}"/>
              </a:ext>
            </a:extLst>
          </p:cNvPr>
          <p:cNvSpPr>
            <a:spLocks xmlns:a="http://schemas.openxmlformats.org/drawingml/2006/main" noGrp="1"/>
          </p:cNvSpPr>
          <p:nvPr/>
        </p:nvSpPr>
        <p:spPr>
          <a:xfrm xmlns:a="http://schemas.openxmlformats.org/drawingml/2006/main">
            <a:off x="9144000" y="2724911"/>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github.com/scikit-learn-contrib/MAPIE</a:t>
            </a:r>
            <a:endParaRPr/>
          </a:p>
        </p:txBody>
      </p:sp>
      <p:sp>
        <p:nvSpPr>
          <p:cNvPr id="33" name="Rectangle 32">
            <a:extLst xmlns:a="http://schemas.openxmlformats.org/drawingml/2006/main">
              <a:ext uri="{FF2B5EF4-FFF2-40B4-BE49-F238E27FC236}">
                <a16:creationId xmlns:a16="http://schemas.microsoft.com/office/drawing/2014/main" id="{AFB3CE2D-C14F-4803-AD97-D0D0A3096851}"/>
              </a:ext>
            </a:extLst>
          </p:cNvPr>
          <p:cNvSpPr>
            <a:spLocks xmlns:a="http://schemas.openxmlformats.org/drawingml/2006/main" noGrp="1"/>
          </p:cNvSpPr>
          <p:nvPr/>
        </p:nvSpPr>
        <p:spPr>
          <a:xfrm xmlns:a="http://schemas.openxmlformats.org/drawingml/2006/main">
            <a:off x="6217920" y="3108960"/>
            <a:ext cx="73152" cy="27432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6305B0B6-0441-4F0E-B2F5-665BFEEF9898}"/>
              </a:ext>
            </a:extLst>
          </p:cNvPr>
          <p:cNvSpPr>
            <a:spLocks xmlns:a="http://schemas.openxmlformats.org/drawingml/2006/main" noGrp="1"/>
          </p:cNvSpPr>
          <p:nvPr/>
        </p:nvSpPr>
        <p:spPr>
          <a:xfrm xmlns:a="http://schemas.openxmlformats.org/drawingml/2006/main">
            <a:off x="6400800" y="309067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FF88"/>
                </a:solidFill>
                <a:latin typeface="Calibri"/>
                <a:ea typeface="Calibri"/>
                <a:cs typeface="Calibri"/>
              </a:defRPr>
            </a:pPr>
            <a:r>
              <a:t>DuckDB</a:t>
            </a:r>
            <a:endParaRPr/>
          </a:p>
        </p:txBody>
      </p:sp>
      <p:sp>
        <p:nvSpPr>
          <p:cNvPr id="35" name="TextBox 34">
            <a:extLst xmlns:a="http://schemas.openxmlformats.org/drawingml/2006/main">
              <a:ext uri="{FF2B5EF4-FFF2-40B4-BE49-F238E27FC236}">
                <a16:creationId xmlns:a16="http://schemas.microsoft.com/office/drawing/2014/main" id="{86515B4B-3303-4834-912E-97EDEA9B18BB}"/>
              </a:ext>
            </a:extLst>
          </p:cNvPr>
          <p:cNvSpPr>
            <a:spLocks xmlns:a="http://schemas.openxmlformats.org/drawingml/2006/main" noGrp="1"/>
          </p:cNvSpPr>
          <p:nvPr/>
        </p:nvSpPr>
        <p:spPr>
          <a:xfrm xmlns:a="http://schemas.openxmlformats.org/drawingml/2006/main">
            <a:off x="9144000" y="309067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https://duckdb.org/</a:t>
            </a:r>
            <a:endParaRPr/>
          </a:p>
        </p:txBody>
      </p:sp>
      <p:sp>
        <p:nvSpPr>
          <p:cNvPr id="36" name="Rectangle 35">
            <a:extLst xmlns:a="http://schemas.openxmlformats.org/drawingml/2006/main">
              <a:ext uri="{FF2B5EF4-FFF2-40B4-BE49-F238E27FC236}">
                <a16:creationId xmlns:a16="http://schemas.microsoft.com/office/drawing/2014/main" id="{0C28F0C6-0FB6-443B-8513-6396A92AB2CB}"/>
              </a:ext>
            </a:extLst>
          </p:cNvPr>
          <p:cNvSpPr>
            <a:spLocks xmlns:a="http://schemas.openxmlformats.org/drawingml/2006/main" noGrp="1"/>
          </p:cNvSpPr>
          <p:nvPr/>
        </p:nvSpPr>
        <p:spPr>
          <a:xfrm xmlns:a="http://schemas.openxmlformats.org/drawingml/2006/main">
            <a:off x="6217920" y="3474720"/>
            <a:ext cx="73152" cy="27432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801323C7-A327-443B-8951-F1079C26187C}"/>
              </a:ext>
            </a:extLst>
          </p:cNvPr>
          <p:cNvSpPr>
            <a:spLocks xmlns:a="http://schemas.openxmlformats.org/drawingml/2006/main" noGrp="1"/>
          </p:cNvSpPr>
          <p:nvPr/>
        </p:nvSpPr>
        <p:spPr>
          <a:xfrm xmlns:a="http://schemas.openxmlformats.org/drawingml/2006/main">
            <a:off x="6400800" y="345643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FFA000"/>
                </a:solidFill>
                <a:latin typeface="Calibri"/>
                <a:ea typeface="Calibri"/>
                <a:cs typeface="Calibri"/>
              </a:defRPr>
            </a:pPr>
            <a:r>
              <a:t>Sentence-Transformers</a:t>
            </a:r>
            <a:endParaRPr/>
          </a:p>
        </p:txBody>
      </p:sp>
      <p:sp>
        <p:nvSpPr>
          <p:cNvPr id="38" name="TextBox 37">
            <a:extLst xmlns:a="http://schemas.openxmlformats.org/drawingml/2006/main">
              <a:ext uri="{FF2B5EF4-FFF2-40B4-BE49-F238E27FC236}">
                <a16:creationId xmlns:a16="http://schemas.microsoft.com/office/drawing/2014/main" id="{D5238C5E-7BC4-48B3-A8FB-477682FA7C32}"/>
              </a:ext>
            </a:extLst>
          </p:cNvPr>
          <p:cNvSpPr>
            <a:spLocks xmlns:a="http://schemas.openxmlformats.org/drawingml/2006/main" noGrp="1"/>
          </p:cNvSpPr>
          <p:nvPr/>
        </p:nvSpPr>
        <p:spPr>
          <a:xfrm xmlns:a="http://schemas.openxmlformats.org/drawingml/2006/main">
            <a:off x="9144000" y="345643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sbert.net/</a:t>
            </a:r>
            <a:endParaRPr/>
          </a:p>
        </p:txBody>
      </p:sp>
      <p:sp>
        <p:nvSpPr>
          <p:cNvPr id="39" name="Rectangle 38">
            <a:extLst xmlns:a="http://schemas.openxmlformats.org/drawingml/2006/main">
              <a:ext uri="{FF2B5EF4-FFF2-40B4-BE49-F238E27FC236}">
                <a16:creationId xmlns:a16="http://schemas.microsoft.com/office/drawing/2014/main" id="{FC1634FE-E9B8-450A-923C-1609E13FBD6A}"/>
              </a:ext>
            </a:extLst>
          </p:cNvPr>
          <p:cNvSpPr>
            <a:spLocks xmlns:a="http://schemas.openxmlformats.org/drawingml/2006/main" noGrp="1"/>
          </p:cNvSpPr>
          <p:nvPr/>
        </p:nvSpPr>
        <p:spPr>
          <a:xfrm xmlns:a="http://schemas.openxmlformats.org/drawingml/2006/main">
            <a:off x="6217920" y="3840480"/>
            <a:ext cx="73152" cy="27432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1536F4D9-2F76-44D0-BF3C-444AEE9AB45B}"/>
              </a:ext>
            </a:extLst>
          </p:cNvPr>
          <p:cNvSpPr>
            <a:spLocks xmlns:a="http://schemas.openxmlformats.org/drawingml/2006/main" noGrp="1"/>
          </p:cNvSpPr>
          <p:nvPr/>
        </p:nvSpPr>
        <p:spPr>
          <a:xfrm xmlns:a="http://schemas.openxmlformats.org/drawingml/2006/main">
            <a:off x="6400800" y="382219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1">
                <a:solidFill>
                  <a:srgbClr val="00D9FF"/>
                </a:solidFill>
                <a:latin typeface="Calibri"/>
                <a:ea typeface="Calibri"/>
                <a:cs typeface="Calibri"/>
              </a:defRPr>
            </a:pPr>
            <a:r>
              <a:t>XGBoost / LightGBM / CatBoost</a:t>
            </a:r>
            <a:endParaRPr/>
          </a:p>
        </p:txBody>
      </p:sp>
      <p:sp>
        <p:nvSpPr>
          <p:cNvPr id="41" name="TextBox 40">
            <a:extLst xmlns:a="http://schemas.openxmlformats.org/drawingml/2006/main">
              <a:ext uri="{FF2B5EF4-FFF2-40B4-BE49-F238E27FC236}">
                <a16:creationId xmlns:a16="http://schemas.microsoft.com/office/drawing/2014/main" id="{50CE1D6A-CFFC-4FC5-AE99-9E2C846F82D6}"/>
              </a:ext>
            </a:extLst>
          </p:cNvPr>
          <p:cNvSpPr>
            <a:spLocks xmlns:a="http://schemas.openxmlformats.org/drawingml/2006/main" noGrp="1"/>
          </p:cNvSpPr>
          <p:nvPr/>
        </p:nvSpPr>
        <p:spPr>
          <a:xfrm xmlns:a="http://schemas.openxmlformats.org/drawingml/2006/main">
            <a:off x="9144000" y="3822192"/>
            <a:ext cx="2743200" cy="2560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000" b="0">
                <a:solidFill>
                  <a:srgbClr val="B0B0C0"/>
                </a:solidFill>
                <a:latin typeface="Calibri"/>
                <a:ea typeface="Calibri"/>
                <a:cs typeface="Calibri"/>
              </a:defRPr>
            </a:pPr>
            <a:r>
              <a:t>GPU + CPU</a:t>
            </a:r>
            <a:endParaRPr/>
          </a:p>
        </p:txBody>
      </p:sp>
      <p:sp>
        <p:nvSpPr>
          <p:cNvPr id="42" name="TextBox 41">
            <a:extLst xmlns:a="http://schemas.openxmlformats.org/drawingml/2006/main">
              <a:ext uri="{FF2B5EF4-FFF2-40B4-BE49-F238E27FC236}">
                <a16:creationId xmlns:a16="http://schemas.microsoft.com/office/drawing/2014/main" id="{27539F8A-9851-48A2-AA8A-961DA9B035EE}"/>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36</a:t>
            </a:r>
            <a:endParaRPr/>
          </a:p>
        </p:txBody>
      </p:sp>
    </p:spTree>
    <p:extLst>
      <p:ext uri="{BB962C8B-B14F-4D97-AF65-F5344CB8AC3E}">
        <p14:creationId xmlns:p14="http://schemas.microsoft.com/office/powerpoint/2010/main" val="66755730"/>
      </p:ext>
    </p:extLst>
  </p:cSld>
</p:sld>
</file>

<file path=ppt/slides/slide36.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0BBA5A4C-4C29-4E3B-A490-F2E0A5B88851}"/>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FFDD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0FA588CF-9397-4708-9078-2CA979DA69B4}"/>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Conclusiones principales (12)</a:t>
            </a:r>
            <a:endParaRPr/>
          </a:p>
        </p:txBody>
      </p:sp>
      <p:sp>
        <p:nvSpPr>
          <p:cNvPr id="4" name="Rectangle 3">
            <a:extLst xmlns:a="http://schemas.openxmlformats.org/drawingml/2006/main">
              <a:ext uri="{FF2B5EF4-FFF2-40B4-BE49-F238E27FC236}">
                <a16:creationId xmlns:a16="http://schemas.microsoft.com/office/drawing/2014/main" id="{1AED2A86-99AA-4C89-84BC-A665B0F4A5C4}"/>
              </a:ext>
            </a:extLst>
          </p:cNvPr>
          <p:cNvSpPr>
            <a:spLocks xmlns:a="http://schemas.openxmlformats.org/drawingml/2006/main" noGrp="1"/>
          </p:cNvSpPr>
          <p:nvPr/>
        </p:nvSpPr>
        <p:spPr>
          <a:xfrm xmlns:a="http://schemas.openxmlformats.org/drawingml/2006/main">
            <a:off x="457200" y="91440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E639658-0034-47EF-A531-D1AC8B998EE8}"/>
              </a:ext>
            </a:extLst>
          </p:cNvPr>
          <p:cNvSpPr>
            <a:spLocks xmlns:a="http://schemas.openxmlformats.org/drawingml/2006/main" noGrp="1"/>
          </p:cNvSpPr>
          <p:nvPr/>
        </p:nvSpPr>
        <p:spPr>
          <a:xfrm xmlns:a="http://schemas.openxmlformats.org/drawingml/2006/main">
            <a:off x="640080" y="8961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1. Polars &gt; pandas: paralelismo, API Lazy, streaming y menos memoria</a:t>
            </a:r>
            <a:endParaRPr/>
          </a:p>
        </p:txBody>
      </p:sp>
      <p:sp>
        <p:nvSpPr>
          <p:cNvPr id="6" name="Rectangle 5">
            <a:extLst xmlns:a="http://schemas.openxmlformats.org/drawingml/2006/main">
              <a:ext uri="{FF2B5EF4-FFF2-40B4-BE49-F238E27FC236}">
                <a16:creationId xmlns:a16="http://schemas.microsoft.com/office/drawing/2014/main" id="{46AA0FA6-744C-4066-8596-D426D04BACFD}"/>
              </a:ext>
            </a:extLst>
          </p:cNvPr>
          <p:cNvSpPr>
            <a:spLocks xmlns:a="http://schemas.openxmlformats.org/drawingml/2006/main" noGrp="1"/>
          </p:cNvSpPr>
          <p:nvPr/>
        </p:nvSpPr>
        <p:spPr>
          <a:xfrm xmlns:a="http://schemas.openxmlformats.org/drawingml/2006/main">
            <a:off x="457200" y="1353312"/>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5371FD97-FCDA-4D73-9347-F02566C7A911}"/>
              </a:ext>
            </a:extLst>
          </p:cNvPr>
          <p:cNvSpPr>
            <a:spLocks xmlns:a="http://schemas.openxmlformats.org/drawingml/2006/main" noGrp="1"/>
          </p:cNvSpPr>
          <p:nvPr/>
        </p:nvSpPr>
        <p:spPr>
          <a:xfrm xmlns:a="http://schemas.openxmlformats.org/drawingml/2006/main">
            <a:off x="640080" y="1335024"/>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2. La API Lazy es obligatoria para &gt;100 mil: optimiza el plan antes de ejecutar</a:t>
            </a:r>
            <a:endParaRPr/>
          </a:p>
        </p:txBody>
      </p:sp>
      <p:sp>
        <p:nvSpPr>
          <p:cNvPr id="8" name="Rectangle 7">
            <a:extLst xmlns:a="http://schemas.openxmlformats.org/drawingml/2006/main">
              <a:ext uri="{FF2B5EF4-FFF2-40B4-BE49-F238E27FC236}">
                <a16:creationId xmlns:a16="http://schemas.microsoft.com/office/drawing/2014/main" id="{EAF4C633-CB26-4522-BC6A-5AFC2AE055C9}"/>
              </a:ext>
            </a:extLst>
          </p:cNvPr>
          <p:cNvSpPr>
            <a:spLocks xmlns:a="http://schemas.openxmlformats.org/drawingml/2006/main" noGrp="1"/>
          </p:cNvSpPr>
          <p:nvPr/>
        </p:nvSpPr>
        <p:spPr>
          <a:xfrm xmlns:a="http://schemas.openxmlformats.org/drawingml/2006/main">
            <a:off x="457200" y="1792224"/>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516D9B4-52CB-4130-9232-8DE5F7508698}"/>
              </a:ext>
            </a:extLst>
          </p:cNvPr>
          <p:cNvSpPr>
            <a:spLocks xmlns:a="http://schemas.openxmlformats.org/drawingml/2006/main" noGrp="1"/>
          </p:cNvSpPr>
          <p:nvPr/>
        </p:nvSpPr>
        <p:spPr>
          <a:xfrm xmlns:a="http://schemas.openxmlformats.org/drawingml/2006/main">
            <a:off x="640080" y="1773936"/>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3. Streaming + Parquet: procesa datos que no caben en la RAM</a:t>
            </a:r>
            <a:endParaRPr/>
          </a:p>
        </p:txBody>
      </p:sp>
      <p:sp>
        <p:nvSpPr>
          <p:cNvPr id="10" name="Rectangle 9">
            <a:extLst xmlns:a="http://schemas.openxmlformats.org/drawingml/2006/main">
              <a:ext uri="{FF2B5EF4-FFF2-40B4-BE49-F238E27FC236}">
                <a16:creationId xmlns:a16="http://schemas.microsoft.com/office/drawing/2014/main" id="{21BEB748-E7AA-4719-9F8C-CD76528F53B2}"/>
              </a:ext>
            </a:extLst>
          </p:cNvPr>
          <p:cNvSpPr>
            <a:spLocks xmlns:a="http://schemas.openxmlformats.org/drawingml/2006/main" noGrp="1"/>
          </p:cNvSpPr>
          <p:nvPr/>
        </p:nvSpPr>
        <p:spPr>
          <a:xfrm xmlns:a="http://schemas.openxmlformats.org/drawingml/2006/main">
            <a:off x="457200" y="2231136"/>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4D357323-420E-4304-AA9C-60947F0D3003}"/>
              </a:ext>
            </a:extLst>
          </p:cNvPr>
          <p:cNvSpPr>
            <a:spLocks xmlns:a="http://schemas.openxmlformats.org/drawingml/2006/main" noGrp="1"/>
          </p:cNvSpPr>
          <p:nvPr/>
        </p:nvSpPr>
        <p:spPr>
          <a:xfrm xmlns:a="http://schemas.openxmlformats.org/drawingml/2006/main">
            <a:off x="640080" y="221284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4. Codificación: One-Hot para lineales, Target para alta cardinalidad y SBERT para texto</a:t>
            </a:r>
            <a:endParaRPr/>
          </a:p>
        </p:txBody>
      </p:sp>
      <p:sp>
        <p:nvSpPr>
          <p:cNvPr id="12" name="Rectangle 11">
            <a:extLst xmlns:a="http://schemas.openxmlformats.org/drawingml/2006/main">
              <a:ext uri="{FF2B5EF4-FFF2-40B4-BE49-F238E27FC236}">
                <a16:creationId xmlns:a16="http://schemas.microsoft.com/office/drawing/2014/main" id="{E5FF3ECB-279E-4DE8-8F55-4684AEFB6348}"/>
              </a:ext>
            </a:extLst>
          </p:cNvPr>
          <p:cNvSpPr>
            <a:spLocks xmlns:a="http://schemas.openxmlformats.org/drawingml/2006/main" noGrp="1"/>
          </p:cNvSpPr>
          <p:nvPr/>
        </p:nvSpPr>
        <p:spPr>
          <a:xfrm xmlns:a="http://schemas.openxmlformats.org/drawingml/2006/main">
            <a:off x="457200" y="2670048"/>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3325EFEC-E85E-4605-B9A7-48DCE177FAED}"/>
              </a:ext>
            </a:extLst>
          </p:cNvPr>
          <p:cNvSpPr>
            <a:spLocks xmlns:a="http://schemas.openxmlformats.org/drawingml/2006/main" noGrp="1"/>
          </p:cNvSpPr>
          <p:nvPr/>
        </p:nvSpPr>
        <p:spPr>
          <a:xfrm xmlns:a="http://schemas.openxmlformats.org/drawingml/2006/main">
            <a:off x="640080" y="265176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5. La fuga de datos es el error principal: Target Encoding solo con entrenamiento</a:t>
            </a:r>
            <a:endParaRPr/>
          </a:p>
        </p:txBody>
      </p:sp>
      <p:sp>
        <p:nvSpPr>
          <p:cNvPr id="14" name="Rectangle 13">
            <a:extLst xmlns:a="http://schemas.openxmlformats.org/drawingml/2006/main">
              <a:ext uri="{FF2B5EF4-FFF2-40B4-BE49-F238E27FC236}">
                <a16:creationId xmlns:a16="http://schemas.microsoft.com/office/drawing/2014/main" id="{FBFBE3B4-E2DE-434D-810B-251D92AAD215}"/>
              </a:ext>
            </a:extLst>
          </p:cNvPr>
          <p:cNvSpPr>
            <a:spLocks xmlns:a="http://schemas.openxmlformats.org/drawingml/2006/main" noGrp="1"/>
          </p:cNvSpPr>
          <p:nvPr/>
        </p:nvSpPr>
        <p:spPr>
          <a:xfrm xmlns:a="http://schemas.openxmlformats.org/drawingml/2006/main">
            <a:off x="457200" y="3108960"/>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CF454AC-2B74-4A5A-8395-00EA92A8DBEE}"/>
              </a:ext>
            </a:extLst>
          </p:cNvPr>
          <p:cNvSpPr>
            <a:spLocks xmlns:a="http://schemas.openxmlformats.org/drawingml/2006/main" noGrp="1"/>
          </p:cNvSpPr>
          <p:nvPr/>
        </p:nvSpPr>
        <p:spPr>
          <a:xfrm xmlns:a="http://schemas.openxmlformats.org/drawingml/2006/main">
            <a:off x="640080" y="309067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6. VIF &gt; 10 → eliminar; correlación &gt; 0,95 → eliminar</a:t>
            </a:r>
            <a:endParaRPr/>
          </a:p>
        </p:txBody>
      </p:sp>
      <p:sp>
        <p:nvSpPr>
          <p:cNvPr id="16" name="Rectangle 15">
            <a:extLst xmlns:a="http://schemas.openxmlformats.org/drawingml/2006/main">
              <a:ext uri="{FF2B5EF4-FFF2-40B4-BE49-F238E27FC236}">
                <a16:creationId xmlns:a16="http://schemas.microsoft.com/office/drawing/2014/main" id="{A60E99C3-CC77-4C6C-BA6E-C4B888398CB0}"/>
              </a:ext>
            </a:extLst>
          </p:cNvPr>
          <p:cNvSpPr>
            <a:spLocks xmlns:a="http://schemas.openxmlformats.org/drawingml/2006/main" noGrp="1"/>
          </p:cNvSpPr>
          <p:nvPr/>
        </p:nvSpPr>
        <p:spPr>
          <a:xfrm xmlns:a="http://schemas.openxmlformats.org/drawingml/2006/main">
            <a:off x="457200" y="3547872"/>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E006985-9DB2-448E-A881-6EC3354E74BE}"/>
              </a:ext>
            </a:extLst>
          </p:cNvPr>
          <p:cNvSpPr>
            <a:spLocks xmlns:a="http://schemas.openxmlformats.org/drawingml/2006/main" noGrp="1"/>
          </p:cNvSpPr>
          <p:nvPr/>
        </p:nvSpPr>
        <p:spPr>
          <a:xfrm xmlns:a="http://schemas.openxmlformats.org/drawingml/2006/main">
            <a:off x="640080" y="3529584"/>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7. Optuna (TPE) supera a Grid Search: la búsqueda adaptativa es más eficiente</a:t>
            </a:r>
            <a:endParaRPr/>
          </a:p>
        </p:txBody>
      </p:sp>
      <p:sp>
        <p:nvSpPr>
          <p:cNvPr id="18" name="Rectangle 17">
            <a:extLst xmlns:a="http://schemas.openxmlformats.org/drawingml/2006/main">
              <a:ext uri="{FF2B5EF4-FFF2-40B4-BE49-F238E27FC236}">
                <a16:creationId xmlns:a16="http://schemas.microsoft.com/office/drawing/2014/main" id="{158DCE71-550B-4320-BD8C-41C8592F8AAD}"/>
              </a:ext>
            </a:extLst>
          </p:cNvPr>
          <p:cNvSpPr>
            <a:spLocks xmlns:a="http://schemas.openxmlformats.org/drawingml/2006/main" noGrp="1"/>
          </p:cNvSpPr>
          <p:nvPr/>
        </p:nvSpPr>
        <p:spPr>
          <a:xfrm xmlns:a="http://schemas.openxmlformats.org/drawingml/2006/main">
            <a:off x="457200" y="3986783"/>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BBE16E4F-B348-4E97-80A5-F9E6875569BE}"/>
              </a:ext>
            </a:extLst>
          </p:cNvPr>
          <p:cNvSpPr>
            <a:spLocks xmlns:a="http://schemas.openxmlformats.org/drawingml/2006/main" noGrp="1"/>
          </p:cNvSpPr>
          <p:nvPr/>
        </p:nvSpPr>
        <p:spPr>
          <a:xfrm xmlns:a="http://schemas.openxmlformats.org/drawingml/2006/main">
            <a:off x="640080" y="3968496"/>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8. SHAP es esencial para interpretar; TreeSHAP para árboles</a:t>
            </a:r>
            <a:endParaRPr/>
          </a:p>
        </p:txBody>
      </p:sp>
      <p:sp>
        <p:nvSpPr>
          <p:cNvPr id="20" name="Rectangle 19">
            <a:extLst xmlns:a="http://schemas.openxmlformats.org/drawingml/2006/main">
              <a:ext uri="{FF2B5EF4-FFF2-40B4-BE49-F238E27FC236}">
                <a16:creationId xmlns:a16="http://schemas.microsoft.com/office/drawing/2014/main" id="{06B6A8CD-5C03-4BC0-B004-86D9DEEE8127}"/>
              </a:ext>
            </a:extLst>
          </p:cNvPr>
          <p:cNvSpPr>
            <a:spLocks xmlns:a="http://schemas.openxmlformats.org/drawingml/2006/main" noGrp="1"/>
          </p:cNvSpPr>
          <p:nvPr/>
        </p:nvSpPr>
        <p:spPr>
          <a:xfrm xmlns:a="http://schemas.openxmlformats.org/drawingml/2006/main">
            <a:off x="457200" y="4425696"/>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46FF585-3C92-44E3-99B9-0DE1981FF448}"/>
              </a:ext>
            </a:extLst>
          </p:cNvPr>
          <p:cNvSpPr>
            <a:spLocks xmlns:a="http://schemas.openxmlformats.org/drawingml/2006/main" noGrp="1"/>
          </p:cNvSpPr>
          <p:nvPr/>
        </p:nvSpPr>
        <p:spPr>
          <a:xfrm xmlns:a="http://schemas.openxmlformats.org/drawingml/2006/main">
            <a:off x="640080" y="4407408"/>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9. Predicción conformal: cobertura garantizada del 90 %</a:t>
            </a:r>
            <a:endParaRPr/>
          </a:p>
        </p:txBody>
      </p:sp>
      <p:sp>
        <p:nvSpPr>
          <p:cNvPr id="22" name="Rectangle 21">
            <a:extLst xmlns:a="http://schemas.openxmlformats.org/drawingml/2006/main">
              <a:ext uri="{FF2B5EF4-FFF2-40B4-BE49-F238E27FC236}">
                <a16:creationId xmlns:a16="http://schemas.microsoft.com/office/drawing/2014/main" id="{1078B9BB-65A7-4D02-B485-AED455534B4D}"/>
              </a:ext>
            </a:extLst>
          </p:cNvPr>
          <p:cNvSpPr>
            <a:spLocks xmlns:a="http://schemas.openxmlformats.org/drawingml/2006/main" noGrp="1"/>
          </p:cNvSpPr>
          <p:nvPr/>
        </p:nvSpPr>
        <p:spPr>
          <a:xfrm xmlns:a="http://schemas.openxmlformats.org/drawingml/2006/main">
            <a:off x="457200" y="4864607"/>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0A996362-C6EB-4E94-882F-4A8DAC8F5C10}"/>
              </a:ext>
            </a:extLst>
          </p:cNvPr>
          <p:cNvSpPr>
            <a:spLocks xmlns:a="http://schemas.openxmlformats.org/drawingml/2006/main" noGrp="1"/>
          </p:cNvSpPr>
          <p:nvPr/>
        </p:nvSpPr>
        <p:spPr>
          <a:xfrm xmlns:a="http://schemas.openxmlformats.org/drawingml/2006/main">
            <a:off x="640080" y="4846320"/>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10. Inferencia causal: ATE mediante emparejamiento por puntaje de propensión</a:t>
            </a:r>
            <a:endParaRPr/>
          </a:p>
        </p:txBody>
      </p:sp>
      <p:sp>
        <p:nvSpPr>
          <p:cNvPr id="24" name="Rectangle 23">
            <a:extLst xmlns:a="http://schemas.openxmlformats.org/drawingml/2006/main">
              <a:ext uri="{FF2B5EF4-FFF2-40B4-BE49-F238E27FC236}">
                <a16:creationId xmlns:a16="http://schemas.microsoft.com/office/drawing/2014/main" id="{6C707CE6-8316-463B-87C7-3A6812073E6A}"/>
              </a:ext>
            </a:extLst>
          </p:cNvPr>
          <p:cNvSpPr>
            <a:spLocks xmlns:a="http://schemas.openxmlformats.org/drawingml/2006/main" noGrp="1"/>
          </p:cNvSpPr>
          <p:nvPr/>
        </p:nvSpPr>
        <p:spPr>
          <a:xfrm xmlns:a="http://schemas.openxmlformats.org/drawingml/2006/main">
            <a:off x="457200" y="5303520"/>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352F041-C0B8-460D-A06B-F79EBFA38554}"/>
              </a:ext>
            </a:extLst>
          </p:cNvPr>
          <p:cNvSpPr>
            <a:spLocks xmlns:a="http://schemas.openxmlformats.org/drawingml/2006/main" noGrp="1"/>
          </p:cNvSpPr>
          <p:nvPr/>
        </p:nvSpPr>
        <p:spPr>
          <a:xfrm xmlns:a="http://schemas.openxmlformats.org/drawingml/2006/main">
            <a:off x="640080" y="528523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11. Robustez: prueba con ruido y faltantes → estabilidad del modelo</a:t>
            </a:r>
            <a:endParaRPr/>
          </a:p>
        </p:txBody>
      </p:sp>
      <p:sp>
        <p:nvSpPr>
          <p:cNvPr id="26" name="Rectangle 25">
            <a:extLst xmlns:a="http://schemas.openxmlformats.org/drawingml/2006/main">
              <a:ext uri="{FF2B5EF4-FFF2-40B4-BE49-F238E27FC236}">
                <a16:creationId xmlns:a16="http://schemas.microsoft.com/office/drawing/2014/main" id="{434DE51F-6342-4B24-8F2B-D83B6753548F}"/>
              </a:ext>
            </a:extLst>
          </p:cNvPr>
          <p:cNvSpPr>
            <a:spLocks xmlns:a="http://schemas.openxmlformats.org/drawingml/2006/main" noGrp="1"/>
          </p:cNvSpPr>
          <p:nvPr/>
        </p:nvSpPr>
        <p:spPr>
          <a:xfrm xmlns:a="http://schemas.openxmlformats.org/drawingml/2006/main">
            <a:off x="457200" y="5742431"/>
            <a:ext cx="73152" cy="365760"/>
          </a:xfrm>
          <a:prstGeom xmlns:a="http://schemas.openxmlformats.org/drawingml/2006/main" prst="rect">
            <a:avLst/>
          </a:prstGeom>
          <a:solidFill xmlns:a="http://schemas.openxmlformats.org/drawingml/2006/main">
            <a:srgbClr val="FF5555"/>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BAA2F07-FC4C-47ED-9A1E-09D88333D194}"/>
              </a:ext>
            </a:extLst>
          </p:cNvPr>
          <p:cNvSpPr>
            <a:spLocks xmlns:a="http://schemas.openxmlformats.org/drawingml/2006/main" noGrp="1"/>
          </p:cNvSpPr>
          <p:nvPr/>
        </p:nvSpPr>
        <p:spPr>
          <a:xfrm xmlns:a="http://schemas.openxmlformats.org/drawingml/2006/main">
            <a:off x="640080" y="5724144"/>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300" b="0">
                <a:solidFill>
                  <a:srgbClr val="FFFFFF"/>
                </a:solidFill>
                <a:latin typeface="Calibri"/>
                <a:ea typeface="Calibri"/>
                <a:cs typeface="Calibri"/>
              </a:defRPr>
            </a:pPr>
            <a:r>
              <a:t>12. GPU: XGBoost + PyTorch → aceleración de 5 a 20 veces</a:t>
            </a:r>
            <a:endParaRPr/>
          </a:p>
        </p:txBody>
      </p:sp>
      <p:sp>
        <p:nvSpPr>
          <p:cNvPr id="28" name="TextBox 27">
            <a:extLst xmlns:a="http://schemas.openxmlformats.org/drawingml/2006/main">
              <a:ext uri="{FF2B5EF4-FFF2-40B4-BE49-F238E27FC236}">
                <a16:creationId xmlns:a16="http://schemas.microsoft.com/office/drawing/2014/main" id="{449728AA-33FA-4728-B704-4A43DB521884}"/>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37</a:t>
            </a:r>
            <a:endParaRPr/>
          </a:p>
        </p:txBody>
      </p:sp>
    </p:spTree>
    <p:extLst>
      <p:ext uri="{BB962C8B-B14F-4D97-AF65-F5344CB8AC3E}">
        <p14:creationId xmlns:p14="http://schemas.microsoft.com/office/powerpoint/2010/main" val="1299966917"/>
      </p:ext>
    </p:extLst>
  </p:cSld>
</p:sld>
</file>

<file path=ppt/slides/slide37.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130741E-3402-4BC5-9582-36480640DE28}"/>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6FDE59DD-7F40-4029-AEC5-BC8647177303}"/>
              </a:ext>
            </a:extLst>
          </p:cNvPr>
          <p:cNvSpPr>
            <a:spLocks xmlns:a="http://schemas.openxmlformats.org/drawingml/2006/main" noGrp="1"/>
          </p:cNvSpPr>
          <p:nvPr/>
        </p:nvSpPr>
        <p:spPr>
          <a:xfrm xmlns:a="http://schemas.openxmlformats.org/drawingml/2006/main">
            <a:off x="457200" y="365760"/>
            <a:ext cx="10972800" cy="5486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2600" b="1">
                <a:solidFill>
                  <a:srgbClr val="FFFFFF"/>
                </a:solidFill>
                <a:latin typeface="Calibri"/>
                <a:ea typeface="Calibri"/>
                <a:cs typeface="Calibri"/>
              </a:defRPr>
            </a:pPr>
            <a:r>
              <a:t>Puntos comunes de la tarea (todos los niveles)</a:t>
            </a:r>
            <a:endParaRPr/>
          </a:p>
        </p:txBody>
      </p:sp>
      <p:sp>
        <p:nvSpPr>
          <p:cNvPr id="4" name="Rectangle 3">
            <a:extLst xmlns:a="http://schemas.openxmlformats.org/drawingml/2006/main">
              <a:ext uri="{FF2B5EF4-FFF2-40B4-BE49-F238E27FC236}">
                <a16:creationId xmlns:a16="http://schemas.microsoft.com/office/drawing/2014/main" id="{4998F1CA-8863-4425-B660-30B7B1EB6F7F}"/>
              </a:ext>
            </a:extLst>
          </p:cNvPr>
          <p:cNvSpPr>
            <a:spLocks xmlns:a="http://schemas.openxmlformats.org/drawingml/2006/main" noGrp="1"/>
          </p:cNvSpPr>
          <p:nvPr/>
        </p:nvSpPr>
        <p:spPr>
          <a:xfrm xmlns:a="http://schemas.openxmlformats.org/drawingml/2006/main">
            <a:off x="457200" y="91440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76754EC-BD34-45C1-81EF-7CD0EE0D7F0A}"/>
              </a:ext>
            </a:extLst>
          </p:cNvPr>
          <p:cNvSpPr>
            <a:spLocks xmlns:a="http://schemas.openxmlformats.org/drawingml/2006/main" noGrp="1"/>
          </p:cNvSpPr>
          <p:nvPr/>
        </p:nvSpPr>
        <p:spPr>
          <a:xfrm xmlns:a="http://schemas.openxmlformats.org/drawingml/2006/main">
            <a:off x="640080" y="8961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1. Cargue los datos (read_csv / scan_csv). Muestre las primeras 10 filas.</a:t>
            </a:r>
            <a:endParaRPr/>
          </a:p>
        </p:txBody>
      </p:sp>
      <p:sp>
        <p:nvSpPr>
          <p:cNvPr id="6" name="Rectangle 5">
            <a:extLst xmlns:a="http://schemas.openxmlformats.org/drawingml/2006/main">
              <a:ext uri="{FF2B5EF4-FFF2-40B4-BE49-F238E27FC236}">
                <a16:creationId xmlns:a16="http://schemas.microsoft.com/office/drawing/2014/main" id="{6FAFF3E6-FFF5-4D36-995C-040D0768ACCF}"/>
              </a:ext>
            </a:extLst>
          </p:cNvPr>
          <p:cNvSpPr>
            <a:spLocks xmlns:a="http://schemas.openxmlformats.org/drawingml/2006/main" noGrp="1"/>
          </p:cNvSpPr>
          <p:nvPr/>
        </p:nvSpPr>
        <p:spPr>
          <a:xfrm xmlns:a="http://schemas.openxmlformats.org/drawingml/2006/main">
            <a:off x="457200" y="137160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8503A27-ABC0-4F93-9F82-B7888CF3BD34}"/>
              </a:ext>
            </a:extLst>
          </p:cNvPr>
          <p:cNvSpPr>
            <a:spLocks xmlns:a="http://schemas.openxmlformats.org/drawingml/2006/main" noGrp="1"/>
          </p:cNvSpPr>
          <p:nvPr/>
        </p:nvSpPr>
        <p:spPr>
          <a:xfrm xmlns:a="http://schemas.openxmlformats.org/drawingml/2006/main">
            <a:off x="640080" y="13533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2. Calcule las dimensiones de los datos (filas × columnas).</a:t>
            </a:r>
            <a:endParaRPr/>
          </a:p>
        </p:txBody>
      </p:sp>
      <p:sp>
        <p:nvSpPr>
          <p:cNvPr id="8" name="Rectangle 7">
            <a:extLst xmlns:a="http://schemas.openxmlformats.org/drawingml/2006/main">
              <a:ext uri="{FF2B5EF4-FFF2-40B4-BE49-F238E27FC236}">
                <a16:creationId xmlns:a16="http://schemas.microsoft.com/office/drawing/2014/main" id="{3F04139B-8F3A-46B9-9412-849077723D54}"/>
              </a:ext>
            </a:extLst>
          </p:cNvPr>
          <p:cNvSpPr>
            <a:spLocks xmlns:a="http://schemas.openxmlformats.org/drawingml/2006/main" noGrp="1"/>
          </p:cNvSpPr>
          <p:nvPr/>
        </p:nvSpPr>
        <p:spPr>
          <a:xfrm xmlns:a="http://schemas.openxmlformats.org/drawingml/2006/main">
            <a:off x="457200" y="1828800"/>
            <a:ext cx="73152" cy="36576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4534236-00E9-405F-98FC-43B2AF3A81F0}"/>
              </a:ext>
            </a:extLst>
          </p:cNvPr>
          <p:cNvSpPr>
            <a:spLocks xmlns:a="http://schemas.openxmlformats.org/drawingml/2006/main" noGrp="1"/>
          </p:cNvSpPr>
          <p:nvPr/>
        </p:nvSpPr>
        <p:spPr>
          <a:xfrm xmlns:a="http://schemas.openxmlformats.org/drawingml/2006/main">
            <a:off x="640080" y="18105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3. Cuente los faltantes con df.null_count() en cada variable.</a:t>
            </a:r>
            <a:endParaRPr/>
          </a:p>
        </p:txBody>
      </p:sp>
      <p:sp>
        <p:nvSpPr>
          <p:cNvPr id="10" name="Rectangle 9">
            <a:extLst xmlns:a="http://schemas.openxmlformats.org/drawingml/2006/main">
              <a:ext uri="{FF2B5EF4-FFF2-40B4-BE49-F238E27FC236}">
                <a16:creationId xmlns:a16="http://schemas.microsoft.com/office/drawing/2014/main" id="{5D86A5D4-1387-4579-B1F4-1CB68EE476FC}"/>
              </a:ext>
            </a:extLst>
          </p:cNvPr>
          <p:cNvSpPr>
            <a:spLocks xmlns:a="http://schemas.openxmlformats.org/drawingml/2006/main" noGrp="1"/>
          </p:cNvSpPr>
          <p:nvPr/>
        </p:nvSpPr>
        <p:spPr>
          <a:xfrm xmlns:a="http://schemas.openxmlformats.org/drawingml/2006/main">
            <a:off x="457200" y="2286000"/>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F6969F3-FAEE-4312-9A9B-72562B292D8C}"/>
              </a:ext>
            </a:extLst>
          </p:cNvPr>
          <p:cNvSpPr>
            <a:spLocks xmlns:a="http://schemas.openxmlformats.org/drawingml/2006/main" noGrp="1"/>
          </p:cNvSpPr>
          <p:nvPr/>
        </p:nvSpPr>
        <p:spPr>
          <a:xfrm xmlns:a="http://schemas.openxmlformats.org/drawingml/2006/main">
            <a:off x="640080" y="22677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4. Muestre los tipos (df.schema). Conviértalos si es necesario.</a:t>
            </a:r>
            <a:endParaRPr/>
          </a:p>
        </p:txBody>
      </p:sp>
      <p:sp>
        <p:nvSpPr>
          <p:cNvPr id="12" name="Rectangle 11">
            <a:extLst xmlns:a="http://schemas.openxmlformats.org/drawingml/2006/main">
              <a:ext uri="{FF2B5EF4-FFF2-40B4-BE49-F238E27FC236}">
                <a16:creationId xmlns:a16="http://schemas.microsoft.com/office/drawing/2014/main" id="{48C07F68-6C4C-4D90-9A07-A5DC19B399B3}"/>
              </a:ext>
            </a:extLst>
          </p:cNvPr>
          <p:cNvSpPr>
            <a:spLocks xmlns:a="http://schemas.openxmlformats.org/drawingml/2006/main" noGrp="1"/>
          </p:cNvSpPr>
          <p:nvPr/>
        </p:nvSpPr>
        <p:spPr>
          <a:xfrm xmlns:a="http://schemas.openxmlformats.org/drawingml/2006/main">
            <a:off x="457200" y="2743200"/>
            <a:ext cx="73152" cy="365760"/>
          </a:xfrm>
          <a:prstGeom xmlns:a="http://schemas.openxmlformats.org/drawingml/2006/main" prst="rect">
            <a:avLst/>
          </a:prstGeom>
          <a:solidFill xmlns:a="http://schemas.openxmlformats.org/drawingml/2006/main">
            <a:srgbClr val="00FF88"/>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1064E5D-FA4A-4705-8982-84E0A5F6CF65}"/>
              </a:ext>
            </a:extLst>
          </p:cNvPr>
          <p:cNvSpPr>
            <a:spLocks xmlns:a="http://schemas.openxmlformats.org/drawingml/2006/main" noGrp="1"/>
          </p:cNvSpPr>
          <p:nvPr/>
        </p:nvSpPr>
        <p:spPr>
          <a:xfrm xmlns:a="http://schemas.openxmlformats.org/drawingml/2006/main">
            <a:off x="640080" y="2724911"/>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5. Cree una variable categórica (pl.when().then()). Elimine los valores sin categoría.</a:t>
            </a:r>
            <a:endParaRPr/>
          </a:p>
        </p:txBody>
      </p:sp>
      <p:sp>
        <p:nvSpPr>
          <p:cNvPr id="14" name="Rectangle 13">
            <a:extLst xmlns:a="http://schemas.openxmlformats.org/drawingml/2006/main">
              <a:ext uri="{FF2B5EF4-FFF2-40B4-BE49-F238E27FC236}">
                <a16:creationId xmlns:a16="http://schemas.microsoft.com/office/drawing/2014/main" id="{75E91EA4-0557-4559-966E-4968BCADC8DD}"/>
              </a:ext>
            </a:extLst>
          </p:cNvPr>
          <p:cNvSpPr>
            <a:spLocks xmlns:a="http://schemas.openxmlformats.org/drawingml/2006/main" noGrp="1"/>
          </p:cNvSpPr>
          <p:nvPr/>
        </p:nvSpPr>
        <p:spPr>
          <a:xfrm xmlns:a="http://schemas.openxmlformats.org/drawingml/2006/main">
            <a:off x="457200" y="320040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0D56D44-433E-4516-99CB-D550E07ACABE}"/>
              </a:ext>
            </a:extLst>
          </p:cNvPr>
          <p:cNvSpPr>
            <a:spLocks xmlns:a="http://schemas.openxmlformats.org/drawingml/2006/main" noGrp="1"/>
          </p:cNvSpPr>
          <p:nvPr/>
        </p:nvSpPr>
        <p:spPr>
          <a:xfrm xmlns:a="http://schemas.openxmlformats.org/drawingml/2006/main">
            <a:off x="640080" y="31821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6. Visualice las distribuciones de las variables numéricas.</a:t>
            </a:r>
            <a:endParaRPr/>
          </a:p>
        </p:txBody>
      </p:sp>
      <p:sp>
        <p:nvSpPr>
          <p:cNvPr id="16" name="Rectangle 15">
            <a:extLst xmlns:a="http://schemas.openxmlformats.org/drawingml/2006/main">
              <a:ext uri="{FF2B5EF4-FFF2-40B4-BE49-F238E27FC236}">
                <a16:creationId xmlns:a16="http://schemas.microsoft.com/office/drawing/2014/main" id="{7D90F7EC-F17E-4D05-8DA7-122819F31704}"/>
              </a:ext>
            </a:extLst>
          </p:cNvPr>
          <p:cNvSpPr>
            <a:spLocks xmlns:a="http://schemas.openxmlformats.org/drawingml/2006/main" noGrp="1"/>
          </p:cNvSpPr>
          <p:nvPr/>
        </p:nvSpPr>
        <p:spPr>
          <a:xfrm xmlns:a="http://schemas.openxmlformats.org/drawingml/2006/main">
            <a:off x="457200" y="3657600"/>
            <a:ext cx="73152" cy="365760"/>
          </a:xfrm>
          <a:prstGeom xmlns:a="http://schemas.openxmlformats.org/drawingml/2006/main" prst="rect">
            <a:avLst/>
          </a:prstGeom>
          <a:solidFill xmlns:a="http://schemas.openxmlformats.org/drawingml/2006/main">
            <a:srgbClr val="FFA0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5C72189-78D2-49E5-A05C-4A1933D10FBA}"/>
              </a:ext>
            </a:extLst>
          </p:cNvPr>
          <p:cNvSpPr>
            <a:spLocks xmlns:a="http://schemas.openxmlformats.org/drawingml/2006/main" noGrp="1"/>
          </p:cNvSpPr>
          <p:nvPr/>
        </p:nvSpPr>
        <p:spPr>
          <a:xfrm xmlns:a="http://schemas.openxmlformats.org/drawingml/2006/main">
            <a:off x="640080" y="36393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7. Para cada categoría: media, mediana y cantidad. Mín./máx. de la variable objetivo.</a:t>
            </a:r>
            <a:endParaRPr/>
          </a:p>
        </p:txBody>
      </p:sp>
      <p:sp>
        <p:nvSpPr>
          <p:cNvPr id="18" name="Rectangle 17">
            <a:extLst xmlns:a="http://schemas.openxmlformats.org/drawingml/2006/main">
              <a:ext uri="{FF2B5EF4-FFF2-40B4-BE49-F238E27FC236}">
                <a16:creationId xmlns:a16="http://schemas.microsoft.com/office/drawing/2014/main" id="{6E73C60C-8955-4CD7-B26B-69B04B54CCF4}"/>
              </a:ext>
            </a:extLst>
          </p:cNvPr>
          <p:cNvSpPr>
            <a:spLocks xmlns:a="http://schemas.openxmlformats.org/drawingml/2006/main" noGrp="1"/>
          </p:cNvSpPr>
          <p:nvPr/>
        </p:nvSpPr>
        <p:spPr>
          <a:xfrm xmlns:a="http://schemas.openxmlformats.org/drawingml/2006/main">
            <a:off x="457200" y="4114800"/>
            <a:ext cx="73152" cy="36576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C5586E2-6666-475D-9893-471139C3E6BE}"/>
              </a:ext>
            </a:extLst>
          </p:cNvPr>
          <p:cNvSpPr>
            <a:spLocks xmlns:a="http://schemas.openxmlformats.org/drawingml/2006/main" noGrp="1"/>
          </p:cNvSpPr>
          <p:nvPr/>
        </p:nvSpPr>
        <p:spPr>
          <a:xfrm xmlns:a="http://schemas.openxmlformats.org/drawingml/2006/main">
            <a:off x="640080" y="40965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8. Divida en entrenamiento/prueba (80/20).</a:t>
            </a:r>
            <a:endParaRPr/>
          </a:p>
        </p:txBody>
      </p:sp>
      <p:sp>
        <p:nvSpPr>
          <p:cNvPr id="20" name="Rectangle 19">
            <a:extLst xmlns:a="http://schemas.openxmlformats.org/drawingml/2006/main">
              <a:ext uri="{FF2B5EF4-FFF2-40B4-BE49-F238E27FC236}">
                <a16:creationId xmlns:a16="http://schemas.microsoft.com/office/drawing/2014/main" id="{F65E2BFA-D7AC-4A75-B21F-5D573BF24FF5}"/>
              </a:ext>
            </a:extLst>
          </p:cNvPr>
          <p:cNvSpPr>
            <a:spLocks xmlns:a="http://schemas.openxmlformats.org/drawingml/2006/main" noGrp="1"/>
          </p:cNvSpPr>
          <p:nvPr/>
        </p:nvSpPr>
        <p:spPr>
          <a:xfrm xmlns:a="http://schemas.openxmlformats.org/drawingml/2006/main">
            <a:off x="457200" y="4572000"/>
            <a:ext cx="73152" cy="36576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1EAD3F4-9D96-4C8C-92D8-F2C354336A68}"/>
              </a:ext>
            </a:extLst>
          </p:cNvPr>
          <p:cNvSpPr>
            <a:spLocks xmlns:a="http://schemas.openxmlformats.org/drawingml/2006/main" noGrp="1"/>
          </p:cNvSpPr>
          <p:nvPr/>
        </p:nvSpPr>
        <p:spPr>
          <a:xfrm xmlns:a="http://schemas.openxmlformats.org/drawingml/2006/main">
            <a:off x="640080" y="45537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9. Construya un modelo de regresión. Visualice predicciones frente a valores reales.</a:t>
            </a:r>
            <a:endParaRPr/>
          </a:p>
        </p:txBody>
      </p:sp>
      <p:sp>
        <p:nvSpPr>
          <p:cNvPr id="22" name="Rectangle 21">
            <a:extLst xmlns:a="http://schemas.openxmlformats.org/drawingml/2006/main">
              <a:ext uri="{FF2B5EF4-FFF2-40B4-BE49-F238E27FC236}">
                <a16:creationId xmlns:a16="http://schemas.microsoft.com/office/drawing/2014/main" id="{8A119069-062C-4D1E-8C31-47E626D54EDC}"/>
              </a:ext>
            </a:extLst>
          </p:cNvPr>
          <p:cNvSpPr>
            <a:spLocks xmlns:a="http://schemas.openxmlformats.org/drawingml/2006/main" noGrp="1"/>
          </p:cNvSpPr>
          <p:nvPr/>
        </p:nvSpPr>
        <p:spPr>
          <a:xfrm xmlns:a="http://schemas.openxmlformats.org/drawingml/2006/main">
            <a:off x="457200" y="5029200"/>
            <a:ext cx="73152" cy="365760"/>
          </a:xfrm>
          <a:prstGeom xmlns:a="http://schemas.openxmlformats.org/drawingml/2006/main" prst="rect">
            <a:avLst/>
          </a:prstGeom>
          <a:solidFill xmlns:a="http://schemas.openxmlformats.org/drawingml/2006/main">
            <a:srgbClr val="BB88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9A153BC1-FF4D-4AFF-9FFD-B75A098F665D}"/>
              </a:ext>
            </a:extLst>
          </p:cNvPr>
          <p:cNvSpPr>
            <a:spLocks xmlns:a="http://schemas.openxmlformats.org/drawingml/2006/main" noGrp="1"/>
          </p:cNvSpPr>
          <p:nvPr/>
        </p:nvSpPr>
        <p:spPr>
          <a:xfrm xmlns:a="http://schemas.openxmlformats.org/drawingml/2006/main">
            <a:off x="640080" y="5010912"/>
            <a:ext cx="10972800" cy="32004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l">
              <a:buNone/>
              <a:defRPr sz="1200" b="0">
                <a:solidFill>
                  <a:srgbClr val="FFFFFF"/>
                </a:solidFill>
                <a:latin typeface="Calibri"/>
                <a:ea typeface="Calibri"/>
                <a:cs typeface="Calibri"/>
              </a:defRPr>
            </a:pPr>
            <a:r>
              <a:t>10. Evalúe la calidad en prueba (MSE, RMSE, MAE y R²).</a:t>
            </a:r>
            <a:endParaRPr/>
          </a:p>
        </p:txBody>
      </p:sp>
      <p:sp>
        <p:nvSpPr>
          <p:cNvPr id="24" name="TextBox 23">
            <a:extLst xmlns:a="http://schemas.openxmlformats.org/drawingml/2006/main">
              <a:ext uri="{FF2B5EF4-FFF2-40B4-BE49-F238E27FC236}">
                <a16:creationId xmlns:a16="http://schemas.microsoft.com/office/drawing/2014/main" id="{FBF2FDBA-B8A5-4415-8379-FBA6FF06E1E4}"/>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39</a:t>
            </a:r>
            <a:endParaRPr/>
          </a:p>
        </p:txBody>
      </p:sp>
    </p:spTree>
    <p:extLst>
      <p:ext uri="{BB962C8B-B14F-4D97-AF65-F5344CB8AC3E}">
        <p14:creationId xmlns:p14="http://schemas.microsoft.com/office/powerpoint/2010/main" val="2045083245"/>
      </p:ext>
    </p:extLst>
  </p:cSld>
</p:sld>
</file>

<file path=ppt/slides/slide38.xml><?xml version="1.0" encoding="utf-8"?>
<p:sld xmlns:p="http://schemas.openxmlformats.org/presentationml/2006/main">
  <p:cSld>
    <p:bg>
      <p:bgPr>
        <a:solidFill xmlns:a="http://schemas.openxmlformats.org/drawingml/2006/main">
          <a:srgbClr val="1A1A2E"/>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512E5990-560D-4336-BFEB-1BEBD3BA08D0}"/>
              </a:ext>
            </a:extLst>
          </p:cNvPr>
          <p:cNvSpPr>
            <a:spLocks xmlns:a="http://schemas.openxmlformats.org/drawingml/2006/main" noGrp="1"/>
          </p:cNvSpPr>
          <p:nvPr/>
        </p:nvSpPr>
        <p:spPr>
          <a:xfrm xmlns:a="http://schemas.openxmlformats.org/drawingml/2006/main">
            <a:off x="0" y="0"/>
            <a:ext cx="109728" cy="6858000"/>
          </a:xfrm>
          <a:prstGeom xmlns:a="http://schemas.openxmlformats.org/drawingml/2006/main" prst="rect">
            <a:avLst/>
          </a:prstGeom>
          <a:solidFill xmlns:a="http://schemas.openxmlformats.org/drawingml/2006/main">
            <a:srgbClr val="00D9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 name="TextBox 2">
            <a:extLst xmlns:a="http://schemas.openxmlformats.org/drawingml/2006/main">
              <a:ext uri="{FF2B5EF4-FFF2-40B4-BE49-F238E27FC236}">
                <a16:creationId xmlns:a16="http://schemas.microsoft.com/office/drawing/2014/main" id="{E711339D-4B73-4F4E-AC51-9AFC9ADA7057}"/>
              </a:ext>
            </a:extLst>
          </p:cNvPr>
          <p:cNvSpPr>
            <a:spLocks xmlns:a="http://schemas.openxmlformats.org/drawingml/2006/main" noGrp="1"/>
          </p:cNvSpPr>
          <p:nvPr/>
        </p:nvSpPr>
        <p:spPr>
          <a:xfrm xmlns:a="http://schemas.openxmlformats.org/drawingml/2006/main">
            <a:off x="914400" y="1828800"/>
            <a:ext cx="10058400" cy="9144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3600" b="1">
                <a:solidFill>
                  <a:srgbClr val="FFFFFF"/>
                </a:solidFill>
                <a:latin typeface="Calibri"/>
                <a:ea typeface="Calibri"/>
                <a:cs typeface="Calibri"/>
              </a:defRPr>
            </a:pPr>
            <a:r>
              <a:t>¡Gracias por su atención!</a:t>
            </a:r>
            <a:endParaRPr/>
          </a:p>
        </p:txBody>
      </p:sp>
      <p:sp>
        <p:nvSpPr>
          <p:cNvPr id="4" name="TextBox 3">
            <a:extLst xmlns:a="http://schemas.openxmlformats.org/drawingml/2006/main">
              <a:ext uri="{FF2B5EF4-FFF2-40B4-BE49-F238E27FC236}">
                <a16:creationId xmlns:a16="http://schemas.microsoft.com/office/drawing/2014/main" id="{AE3B6855-4664-4169-9BDD-80D7550EF135}"/>
              </a:ext>
            </a:extLst>
          </p:cNvPr>
          <p:cNvSpPr>
            <a:spLocks xmlns:a="http://schemas.openxmlformats.org/drawingml/2006/main" noGrp="1"/>
          </p:cNvSpPr>
          <p:nvPr/>
        </p:nvSpPr>
        <p:spPr>
          <a:xfrm xmlns:a="http://schemas.openxmlformats.org/drawingml/2006/main">
            <a:off x="914400" y="2926080"/>
            <a:ext cx="10078559" cy="1006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000" b="0">
                <a:solidFill>
                  <a:srgbClr val="00D9FF"/>
                </a:solidFill>
                <a:latin typeface="Calibri"/>
                <a:ea typeface="Calibri"/>
                <a:cs typeface="Calibri"/>
              </a:defRPr>
            </a:pPr>
            <a:r>
              <a:t/>
            </a:r>
            <a:endParaRPr/>
          </a:p>
          <a:p xmlns:a="http://schemas.openxmlformats.org/drawingml/2006/main">
            <a:pPr algn="ctr">
              <a:buNone/>
              <a:defRPr sz="2000" b="0">
                <a:solidFill>
                  <a:srgbClr val="00D9FF"/>
                </a:solidFill>
                <a:latin typeface="Calibri"/>
                <a:ea typeface="Calibri"/>
                <a:cs typeface="Calibri"/>
              </a:defRPr>
            </a:pPr>
            <a:r>
              <a:t>La variante es la última cifra del número de matrícula</a:t>
            </a:r>
            <a:endParaRPr/>
          </a:p>
          <a:p xmlns:a="http://schemas.openxmlformats.org/drawingml/2006/main">
            <a:pPr algn="ctr">
              <a:buNone/>
              <a:defRPr sz="2000" b="0">
                <a:solidFill>
                  <a:srgbClr val="00D9FF"/>
                </a:solidFill>
                <a:latin typeface="Calibri"/>
                <a:ea typeface="Calibri"/>
                <a:cs typeface="Calibri"/>
              </a:defRPr>
            </a:pPr>
            <a:r>
              <a:t/>
            </a:r>
            <a:endParaRPr/>
          </a:p>
        </p:txBody>
      </p:sp>
      <p:sp>
        <p:nvSpPr>
          <p:cNvPr id="6" name="TextBox 5">
            <a:extLst xmlns:a="http://schemas.openxmlformats.org/drawingml/2006/main">
              <a:ext uri="{FF2B5EF4-FFF2-40B4-BE49-F238E27FC236}">
                <a16:creationId xmlns:a16="http://schemas.microsoft.com/office/drawing/2014/main" id="{FF197FCA-DF24-4F22-B204-F2C9F5941239}"/>
              </a:ext>
            </a:extLst>
          </p:cNvPr>
          <p:cNvSpPr>
            <a:spLocks xmlns:a="http://schemas.openxmlformats.org/drawingml/2006/main" noGrp="1"/>
          </p:cNvSpPr>
          <p:nvPr/>
        </p:nvSpPr>
        <p:spPr>
          <a:xfrm xmlns:a="http://schemas.openxmlformats.org/drawingml/2006/main">
            <a:off x="914400" y="4572000"/>
            <a:ext cx="10060199" cy="30515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1400" b="0">
                <a:solidFill>
                  <a:srgbClr val="B0B0C0"/>
                </a:solidFill>
                <a:latin typeface="Calibri"/>
                <a:ea typeface="Calibri"/>
                <a:cs typeface="Calibri"/>
              </a:defRPr>
            </a:pPr>
            <a:r>
              <a:t>Formato: PDF + .ipynb | ¿Preguntas?</a:t>
            </a:r>
            <a:endParaRPr/>
          </a:p>
        </p:txBody>
      </p:sp>
      <p:sp>
        <p:nvSpPr>
          <p:cNvPr id="7" name="TextBox 6">
            <a:extLst xmlns:a="http://schemas.openxmlformats.org/drawingml/2006/main">
              <a:ext uri="{FF2B5EF4-FFF2-40B4-BE49-F238E27FC236}">
                <a16:creationId xmlns:a16="http://schemas.microsoft.com/office/drawing/2014/main" id="{BF61E14E-49BF-4317-A1A0-951327C21F53}"/>
              </a:ext>
            </a:extLst>
          </p:cNvPr>
          <p:cNvSpPr>
            <a:spLocks xmlns:a="http://schemas.openxmlformats.org/drawingml/2006/main" noGrp="1"/>
          </p:cNvSpPr>
          <p:nvPr/>
        </p:nvSpPr>
        <p:spPr>
          <a:xfrm xmlns:a="http://schemas.openxmlformats.org/drawingml/2006/main">
            <a:off x="914400" y="5486400"/>
            <a:ext cx="10058400" cy="45720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defRPr sz="2400" b="1">
                <a:solidFill>
                  <a:srgbClr val="00FF88"/>
                </a:solidFill>
                <a:latin typeface="Calibri"/>
                <a:ea typeface="Calibri"/>
                <a:cs typeface="Calibri"/>
              </a:defRPr>
            </a:pPr>
            <a:r>
              <a:t>¡Mucho éxito!</a:t>
            </a:r>
            <a:endParaRPr/>
          </a:p>
        </p:txBody>
      </p:sp>
      <p:sp>
        <p:nvSpPr>
          <p:cNvPr id="8" name="TextBox 7">
            <a:extLst xmlns:a="http://schemas.openxmlformats.org/drawingml/2006/main">
              <a:ext uri="{FF2B5EF4-FFF2-40B4-BE49-F238E27FC236}">
                <a16:creationId xmlns:a16="http://schemas.microsoft.com/office/drawing/2014/main" id="{0B736C77-B1A2-42A0-BE81-C315E2D2A9E5}"/>
              </a:ext>
            </a:extLst>
          </p:cNvPr>
          <p:cNvSpPr>
            <a:spLocks xmlns:a="http://schemas.openxmlformats.org/drawingml/2006/main" noGrp="1"/>
          </p:cNvSpPr>
          <p:nvPr/>
        </p:nvSpPr>
        <p:spPr>
          <a:xfrm xmlns:a="http://schemas.openxmlformats.org/drawingml/2006/main">
            <a:off x="11521440" y="6400800"/>
            <a:ext cx="640080"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r">
              <a:buNone/>
              <a:defRPr sz="1100" b="0">
                <a:solidFill>
                  <a:srgbClr val="B0B0C0"/>
                </a:solidFill>
                <a:latin typeface="Calibri"/>
                <a:ea typeface="Calibri"/>
                <a:cs typeface="Calibri"/>
              </a:defRPr>
            </a:pPr>
            <a:r>
              <a:t>40</a:t>
            </a:r>
            <a:endParaRPr/>
          </a:p>
        </p:txBody>
      </p:sp>
    </p:spTree>
    <p:extLst>
      <p:ext uri="{BB962C8B-B14F-4D97-AF65-F5344CB8AC3E}">
        <p14:creationId xmlns:p14="http://schemas.microsoft.com/office/powerpoint/2010/main" val="67745772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Liberation Sans"/>
        <a:cs typeface="Liberation Sans"/>
      </a:majorFont>
      <a:minorFont>
        <a:latin typeface="Calibri"/>
        <a:ea typeface="Liberation Sans"/>
        <a:cs typeface="Liberation Sans"/>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2026-10-02T12:39:30.8220000Z</dcterms:created>
  <dcterms:modified xsi:type="dcterms:W3CDTF">2026-10-02T12:39:30.8220000Z</dcterms:modified>
</coreProperties>
</file>